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58" r:id="rId5"/>
    <p:sldId id="259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12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3677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F60DE-49C1-F050-DA56-46A52F2E9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A23B3-4384-5871-EAF1-6BB089F384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ACD016-44F2-483A-543C-7FE975127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5640D-C18A-18A4-4BF2-0C14B622AE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851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33400" y="838894"/>
            <a:ext cx="8077200" cy="219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640"/>
              </a:lnSpc>
              <a:buNone/>
            </a:pPr>
            <a:r>
              <a:rPr lang="en-US" sz="5760">
                <a:solidFill>
                  <a:srgbClr val="0F172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ADT Coverage and Classification Review</a:t>
            </a:r>
            <a:endParaRPr lang="en-US" sz="5760" dirty="0"/>
          </a:p>
        </p:txBody>
      </p:sp>
      <p:sp>
        <p:nvSpPr>
          <p:cNvPr id="5" name="Text 2"/>
          <p:cNvSpPr/>
          <p:nvPr/>
        </p:nvSpPr>
        <p:spPr>
          <a:xfrm>
            <a:off x="452628" y="3185616"/>
            <a:ext cx="8238744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30"/>
              </a:lnSpc>
              <a:buNone/>
            </a:pPr>
            <a:r>
              <a:rPr lang="en-US" sz="162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ED, inpatient, and observation events for CareAllies members</a:t>
            </a:r>
            <a:endParaRPr lang="en-US" sz="1620" dirty="0"/>
          </a:p>
        </p:txBody>
      </p:sp>
      <p:sp>
        <p:nvSpPr>
          <p:cNvPr id="6" name="Text 3"/>
          <p:cNvSpPr/>
          <p:nvPr/>
        </p:nvSpPr>
        <p:spPr>
          <a:xfrm>
            <a:off x="914400" y="3722737"/>
            <a:ext cx="7315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 summarize matched ADT coverage, identify observation-classification risk, and highlight source-mapping limits that affect operational use.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33400" y="845641"/>
            <a:ext cx="8077200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76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Discharge coverage is stronger than admission coverage.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3400" y="2537222"/>
            <a:ext cx="3943350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About half</a:t>
            </a:r>
            <a:r>
              <a:rPr lang="en-US" sz="1200" dirty="0">
                <a:solidFill>
                  <a:srgbClr val="0F172A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 of ED and inpatient events had no matched notification.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33400" y="3554313"/>
            <a:ext cx="3943350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Only a small share of observation matches are explicitly coded as </a:t>
            </a:r>
            <a:r>
              <a:rPr lang="en-US" sz="1200" b="1" dirty="0">
                <a:solidFill>
                  <a:srgbClr val="0F172A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OBS</a:t>
            </a:r>
            <a:r>
              <a:rPr lang="en-US" sz="1200" dirty="0">
                <a:solidFill>
                  <a:srgbClr val="0F172A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 in ADT.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667250" y="3554313"/>
            <a:ext cx="3943350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High-volume sources remain mapped to </a:t>
            </a:r>
            <a:r>
              <a:rPr lang="en-US" sz="1200" b="1" dirty="0">
                <a:solidFill>
                  <a:srgbClr val="0F172A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OTHER</a:t>
            </a:r>
            <a:r>
              <a:rPr lang="en-US" sz="1200" dirty="0">
                <a:solidFill>
                  <a:srgbClr val="0F172A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, limiting source-level comparisons.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3400" y="4609505"/>
            <a:ext cx="8238744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0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 results as matched notification coverage, not proof that unmatched events had no notification in source systems.</a:t>
            </a:r>
            <a:endParaRPr lang="en-US" sz="1008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92856F-1D2D-587B-E2CA-E1016D13F59A}"/>
              </a:ext>
            </a:extLst>
          </p:cNvPr>
          <p:cNvSpPr txBox="1"/>
          <p:nvPr/>
        </p:nvSpPr>
        <p:spPr>
          <a:xfrm>
            <a:off x="422031" y="43237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EF98A1-6ABD-C698-E12A-DD7EDEA16726}"/>
              </a:ext>
            </a:extLst>
          </p:cNvPr>
          <p:cNvSpPr txBox="1"/>
          <p:nvPr/>
        </p:nvSpPr>
        <p:spPr>
          <a:xfrm>
            <a:off x="4572000" y="253722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Observation coverage depends heavily on allowing ED and inpatient fallback classes.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95521E-FFFE-D59B-B53D-7C444CA8F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D41546E1-49A0-CFEC-E004-C9E46B32BCFD}"/>
              </a:ext>
            </a:extLst>
          </p:cNvPr>
          <p:cNvSpPr/>
          <p:nvPr/>
        </p:nvSpPr>
        <p:spPr>
          <a:xfrm>
            <a:off x="533400" y="845641"/>
            <a:ext cx="8077200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76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Discharge coverage is stronger than admission coverage.</a:t>
            </a:r>
            <a:endParaRPr lang="en-US"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6DB6323-58C5-FA7F-C7DD-6745F234FE7D}"/>
              </a:ext>
            </a:extLst>
          </p:cNvPr>
          <p:cNvSpPr/>
          <p:nvPr/>
        </p:nvSpPr>
        <p:spPr>
          <a:xfrm>
            <a:off x="533399" y="1672232"/>
            <a:ext cx="7159869" cy="2477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ADT discharge coverage is stronger than admission coverage for both ED and inpatient events.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Approximately half of ED and inpatient claims events have no matched notification under the approved matching criteria.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Observation coverage is highly dependent on allowing ED and inpatient ADT classifications as valid fallbacks.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Only a small percentage of matched observation records are explicitly classified as OBS in the ADT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Several major hospital and HIE sources are currently classified as OTHER, limiting reliable source-level comparisons.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Results should be interpreted as matched notification coverage, not proof that unmatched events had no notification anywhere in the source systems.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D47FF5A-F185-79E7-A217-76BA15743FEE}"/>
              </a:ext>
            </a:extLst>
          </p:cNvPr>
          <p:cNvSpPr/>
          <p:nvPr/>
        </p:nvSpPr>
        <p:spPr>
          <a:xfrm>
            <a:off x="533400" y="4609505"/>
            <a:ext cx="8238744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0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 results as matched notification coverage, not proof that unmatched events had no notification in source systems.</a:t>
            </a:r>
            <a:endParaRPr lang="en-US" sz="1008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52A645-3729-51DC-8FC8-B3081A9EB090}"/>
              </a:ext>
            </a:extLst>
          </p:cNvPr>
          <p:cNvSpPr txBox="1"/>
          <p:nvPr/>
        </p:nvSpPr>
        <p:spPr>
          <a:xfrm>
            <a:off x="422031" y="43237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0840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3400" y="592485"/>
            <a:ext cx="807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Event-level claims were matched to admission and discharge notifications.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1525" y="2696319"/>
            <a:ext cx="3517011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endParaRPr lang="en-US" sz="936" dirty="0"/>
          </a:p>
        </p:txBody>
      </p:sp>
      <p:sp>
        <p:nvSpPr>
          <p:cNvPr id="7" name="Text 5"/>
          <p:cNvSpPr/>
          <p:nvPr/>
        </p:nvSpPr>
        <p:spPr>
          <a:xfrm>
            <a:off x="771525" y="2950815"/>
            <a:ext cx="34480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2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CareAllies-managed members.</a:t>
            </a:r>
            <a:endParaRPr lang="en-US" sz="1224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2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ED, inpatient, and observation discharges.</a:t>
            </a:r>
            <a:endParaRPr lang="en-US" sz="1224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2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Included only when enrolled on event discharge date.</a:t>
            </a:r>
            <a:endParaRPr lang="en-US" sz="1224" dirty="0"/>
          </a:p>
        </p:txBody>
      </p:sp>
      <p:sp>
        <p:nvSpPr>
          <p:cNvPr id="8" name="Text 6"/>
          <p:cNvSpPr/>
          <p:nvPr/>
        </p:nvSpPr>
        <p:spPr>
          <a:xfrm>
            <a:off x="4924425" y="2696319"/>
            <a:ext cx="3517011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</a:t>
            </a:r>
            <a:endParaRPr lang="en-US" sz="936" dirty="0"/>
          </a:p>
        </p:txBody>
      </p:sp>
      <p:sp>
        <p:nvSpPr>
          <p:cNvPr id="9" name="Text 7"/>
          <p:cNvSpPr/>
          <p:nvPr/>
        </p:nvSpPr>
        <p:spPr>
          <a:xfrm>
            <a:off x="4924425" y="2950815"/>
            <a:ext cx="344805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2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Matched admission and discharge separately.</a:t>
            </a:r>
            <a:endParaRPr lang="en-US" sz="1224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2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person, date, class, facility, and ranking logic.</a:t>
            </a:r>
            <a:endParaRPr lang="en-US" sz="1224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24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 ED/IP fallback for observation events.</a:t>
            </a:r>
            <a:endParaRPr lang="en-US" sz="1224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19DCF7-F71D-04A9-A949-35F2015396B3}"/>
              </a:ext>
            </a:extLst>
          </p:cNvPr>
          <p:cNvSpPr txBox="1"/>
          <p:nvPr/>
        </p:nvSpPr>
        <p:spPr>
          <a:xfrm>
            <a:off x="439615" y="26589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and method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533400" y="378023"/>
            <a:ext cx="807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2400" dirty="0">
                <a:solidFill>
                  <a:srgbClr val="0F172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ED and inpatient show a clear discharge-over-admission pattern.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25686" y="2162919"/>
            <a:ext cx="2224394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 complete</a:t>
            </a:r>
            <a:endParaRPr lang="en-US" sz="936" dirty="0"/>
          </a:p>
        </p:txBody>
      </p:sp>
      <p:sp>
        <p:nvSpPr>
          <p:cNvPr id="11" name="Text 9"/>
          <p:cNvSpPr/>
          <p:nvPr/>
        </p:nvSpPr>
        <p:spPr>
          <a:xfrm>
            <a:off x="725686" y="2341215"/>
            <a:ext cx="2224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34.6%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25686" y="2874615"/>
            <a:ext cx="21807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46.6% had no matched notification.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81536" y="2162919"/>
            <a:ext cx="2224394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Inpatient complete</a:t>
            </a:r>
            <a:endParaRPr lang="en-US" sz="936" dirty="0"/>
          </a:p>
        </p:txBody>
      </p:sp>
      <p:sp>
        <p:nvSpPr>
          <p:cNvPr id="14" name="Text 12"/>
          <p:cNvSpPr/>
          <p:nvPr/>
        </p:nvSpPr>
        <p:spPr>
          <a:xfrm>
            <a:off x="3481536" y="2341215"/>
            <a:ext cx="2224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481536" y="2874615"/>
            <a:ext cx="21807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51.4% had no matched notification.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37387" y="2162919"/>
            <a:ext cx="2224546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 complete</a:t>
            </a:r>
            <a:endParaRPr lang="en-US" sz="936" dirty="0"/>
          </a:p>
        </p:txBody>
      </p:sp>
      <p:sp>
        <p:nvSpPr>
          <p:cNvPr id="17" name="Text 15"/>
          <p:cNvSpPr/>
          <p:nvPr/>
        </p:nvSpPr>
        <p:spPr>
          <a:xfrm>
            <a:off x="6237387" y="2341215"/>
            <a:ext cx="22245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30.3%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237387" y="2874615"/>
            <a:ext cx="2180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45.9% had no matched notification.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3400" y="3821311"/>
            <a:ext cx="8452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 discharge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42393" y="3821311"/>
            <a:ext cx="4274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52.2%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3400" y="4354711"/>
            <a:ext cx="12338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Inpatient discharge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161443" y="4354711"/>
            <a:ext cx="4080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47.9%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3400" y="4888111"/>
            <a:ext cx="14476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 discharge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32868" y="4888111"/>
            <a:ext cx="4371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43.2%</a:t>
            </a:r>
            <a:endParaRPr lang="en-US" sz="10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FA58A8-EAD5-9793-4233-500D3B4A8841}"/>
              </a:ext>
            </a:extLst>
          </p:cNvPr>
          <p:cNvSpPr txBox="1"/>
          <p:nvPr/>
        </p:nvSpPr>
        <p:spPr>
          <a:xfrm>
            <a:off x="457200" y="19335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 results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375</Words>
  <Application>Microsoft Macintosh PowerPoint</Application>
  <PresentationFormat>On-screen Show (16:9)</PresentationFormat>
  <Paragraphs>51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Instrument Serif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Bassel Dakhlallah</cp:lastModifiedBy>
  <cp:revision>3</cp:revision>
  <dcterms:created xsi:type="dcterms:W3CDTF">2026-07-21T13:01:39Z</dcterms:created>
  <dcterms:modified xsi:type="dcterms:W3CDTF">2026-07-21T17:47:34Z</dcterms:modified>
</cp:coreProperties>
</file>