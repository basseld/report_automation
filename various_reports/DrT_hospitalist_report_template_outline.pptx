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Hospitalist volume patterns are concentrated by facility, with Harlingen showing the clearest multi-group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VOP observation and acute utilization review, 2025 with corrected readmission logic and provider reliability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583680" cy="29718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/>
            <a:r>
              <a:rPr b="1" sz="1300">
                <a:solidFill>
                  <a:srgbClr val="002850"/>
                </a:solidFill>
              </a:rPr>
              <a:t>Key findings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Hospitalist volume is not evenly distributed across facilities, with most hospitals showing a dominant group pattern.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Harlingen Medical Center remains the clearest competitive split, with Catalyst leading the bundled Beyond and Benchmark view.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Group-level observation rates are more stable and interpretable once low-volume provider noise is separated out.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Corrected readmission logic now adds a directional quality lens to the routing and utilization 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52360" y="1234440"/>
            <a:ext cx="416052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What changed in this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563624"/>
            <a:ext cx="4160520" cy="172821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Beyond and Benchmark are bundled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Readmission logic has been corrected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Provider volume is flagged as low, moderate, or reliable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Extreme low-volume provider rates are no longer over-weighted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3611880"/>
            <a:ext cx="41605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E6C8F"/>
                </a:solidFill>
              </a:rPr>
              <a:t>Optional mini summary table or KPI snapshot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36792"/>
            <a:ext cx="112928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200" b="1">
                <a:solidFill>
                  <a:srgbClr val="FFFFFF"/>
                </a:solidFill>
              </a:rPr>
              <a:t>This deck answers who is getting the business by facility, how observation use differs across groups, and where readmission signals may warrant follow-up.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The analysis uses authorization events as the backbone and professional claims to infer hospitalist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Designed to balance operational relevance, attribution completeness, and low-volume noise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2542032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Event 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9384"/>
            <a:ext cx="2542032" cy="113385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Observation and acute authorization events for VOP are used as the core hospitalization record.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600200"/>
            <a:ext cx="2542032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Hospitalist attribution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929384"/>
            <a:ext cx="2542032" cy="113385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Professional claims are matched to the hospitalization window, using specialty priority logic to infer the managing hospitalist.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600200"/>
            <a:ext cx="2542032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Group normalization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929384"/>
            <a:ext cx="2542032" cy="113385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Hospital names were standardized and Beyond plus Benchmark were bundled into a single comparison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600200"/>
            <a:ext cx="2542032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Reliability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1929384"/>
            <a:ext cx="2542032" cy="113385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Providers are flagged as low, moderate, or reliable volume so that small-number distortion does not drive interpretation.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553212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Important data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78223"/>
            <a:ext cx="5532120" cy="90525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Observation-to-acute conversions are typically bundled as acute in the authorization workflow.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49039"/>
            <a:ext cx="544068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Interpretation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078223"/>
            <a:ext cx="5440680" cy="90525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Provider-level extremes should only be interpreted when event volume is sufficient.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336792"/>
            <a:ext cx="112928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200" b="1">
                <a:solidFill>
                  <a:srgbClr val="FFFFFF"/>
                </a:solidFill>
              </a:rPr>
              <a:t>This is a hybrid framework. Authorization defines the event, and claims help identify the hospitalist.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Hospitalist group share varies materially by facility, with most hospitals showing clear routing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Facility-level share of hospitalized VOP volume by hospitalist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E6C8F"/>
                </a:solidFill>
              </a:rPr>
              <a:t>Insert 100% stacked bar chart by facility and hospitalist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1234440"/>
            <a:ext cx="274320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563624"/>
            <a:ext cx="2743200" cy="163677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Most facilities are predominantly served by one primary hospitalist group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Harlingen shows the most meaningful head-to-head split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Routing patterns appear operationally meaningful rather than random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3474720"/>
            <a:ext cx="274320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Interpretation 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3803904"/>
            <a:ext cx="2743200" cy="95097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Share is calculated as group total volume divided by total identified hospitalized volume at the facility.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336792"/>
            <a:ext cx="112928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200" b="1">
                <a:solidFill>
                  <a:srgbClr val="FFFFFF"/>
                </a:solidFill>
              </a:rPr>
              <a:t>This is the core business view. Most facilities are effectively controlled by one group, while Harlingen stands out as the clearest competitive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At Harlingen Medical Center, Catalyst holds the larger share of identified hospitalized volume versus bundled Beyond and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Most relevant facility for comparing competing hospitalist groups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2237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E6C8F"/>
                </a:solidFill>
              </a:rPr>
              <a:t>Insert Harlingen-focused grouped bar chart or summary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234440"/>
            <a:ext cx="356616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563624"/>
            <a:ext cx="3566160" cy="168249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Confirms the prior concern that routing is not evenly distributed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Moves the discussion from anecdotal perception to measurable volume share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Creates a concrete baseline for future facility-level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611880"/>
            <a:ext cx="35661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E6C8F"/>
                </a:solidFill>
              </a:rPr>
              <a:t>Optional callout number
Catalyst share vs Beyond+Benchmark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36792"/>
            <a:ext cx="112928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200" b="1">
                <a:solidFill>
                  <a:srgbClr val="FFFFFF"/>
                </a:solidFill>
              </a:rPr>
              <a:t>Harlingen is the clearest operational watchpoint for preferred-provider routing and future group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Observation rates are generally more interpretable at the group level, while extreme values are concentrated in smaller-volume combinations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Observation rate defined as Observation divided by Observation plus Acute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E6C8F"/>
                </a:solidFill>
              </a:rPr>
              <a:t>Insert heatmap by facility and hospitalist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1234440"/>
            <a:ext cx="274320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What to focus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563624"/>
            <a:ext cx="2743200" cy="191109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Larger-volume group patterns are more decision-useful than isolated provider extremes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Most meaningful combinations fall within a more workable range after low-volume noise is filtered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A smaller set of elevated facility-group combinations may warrant drilldown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3794760"/>
            <a:ext cx="274320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Method 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4123944"/>
            <a:ext cx="2743200" cy="58521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Low-volume provider outliers were not treated as stable operating patterns.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336792"/>
            <a:ext cx="112928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200" b="1">
                <a:solidFill>
                  <a:srgbClr val="FFFFFF"/>
                </a:solidFill>
              </a:rPr>
              <a:t>Interpret this slide from the group perspective first. The goal is to identify real utilization patterns, not chase dramatic percentages caused by small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Provider-level variation is best interpreted through the reliability lens, with most extreme rates driven by low-volume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Low, moderate, and reliable volume flags help separate true practice patterns from small-number distortion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8181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E6C8F"/>
                </a:solidFill>
              </a:rPr>
              <a:t>Insert provider-level table with reliability flag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1080" y="1234440"/>
            <a:ext cx="297180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Reliability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1080" y="1563624"/>
            <a:ext cx="2971800" cy="259689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Reliable volume: enough activity to interpret the rate as a stable operating signal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Moderate volume: potentially useful for follow-up, but still sensitive to case mix and timing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Low volume: useful for awareness only and should not drive conclusions on its 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336792"/>
            <a:ext cx="112928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200" b="1">
                <a:solidFill>
                  <a:srgbClr val="FFFFFF"/>
                </a:solidFill>
              </a:rPr>
              <a:t>The reliability flag makes the provider drilldown actionable without allowing low-volume noise to dominate the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Corrected readmission results now provide a usable directional quality signal when reviewed alongside volume and facility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Readmissions should be interpreted as a complement to routing and utilization, not as a standalone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2694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E6C8F"/>
                </a:solidFill>
              </a:rPr>
              <a:t>Insert simple readmission chart or summary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1234440"/>
            <a:ext cx="35204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How to read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2440" y="1563624"/>
            <a:ext cx="3520440" cy="200253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Readmission results are now directionally usable after logic correction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Volume and facility context should remain part of the interpretation</a:t>
            </a:r>
          </a:p>
          <a:p>
            <a:pPr>
              <a:defRPr sz="1100">
                <a:solidFill>
                  <a:srgbClr val="243447"/>
                </a:solidFill>
              </a:defRPr>
            </a:pPr>
            <a:r>
              <a:t>This creates a path toward future quality monitoring without overextending the first 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3886200"/>
            <a:ext cx="35204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4215384"/>
            <a:ext cx="3520440" cy="768096"/>
          </a:xfrm>
          <a:prstGeom prst="rect">
            <a:avLst/>
          </a:prstGeom>
          <a:solidFill>
            <a:srgbClr val="E9F0F5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01600"/>
          <a:lstStyle/>
          <a:p>
            <a:pPr algn="ctr">
              <a:defRPr sz="1100">
                <a:solidFill>
                  <a:srgbClr val="243447"/>
                </a:solidFill>
              </a:defRPr>
            </a:pPr>
            <a:r>
              <a:t>Readmissions should not be used as a standalone performance judgment without case mix, facility, and discharge context.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336792"/>
            <a:ext cx="112928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200" b="1">
                <a:solidFill>
                  <a:srgbClr val="FFFFFF"/>
                </a:solidFill>
              </a:rPr>
              <a:t>This adds an early quality lens to the utilization story and should sit alongside facility share and observation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The analysis now supports hospital-level routing conversations and provides a repeatable framework for ongoing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Immediate value for VOP, with a path to broader reuse where data supports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53949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/>
            <a:r>
              <a:rPr b="1" sz="1300">
                <a:solidFill>
                  <a:srgbClr val="002850"/>
                </a:solidFill>
              </a:rPr>
              <a:t>Immediate implications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Facility-level routing is now measurable rather than anecdotal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Harlingen should remain the primary competitive watchpoint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Observation and readmission patterns can be layered into future refreshes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25880"/>
            <a:ext cx="53949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/>
            <a:r>
              <a:rPr b="1" sz="1300">
                <a:solidFill>
                  <a:srgbClr val="002850"/>
                </a:solidFill>
              </a:rPr>
              <a:t>Next steps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Refresh 2026 once claims mature further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Continue reviewing elevated observation combinations with reliable volume</a:t>
            </a:r>
          </a:p>
          <a:p>
            <a:pPr>
              <a:defRPr sz="1200">
                <a:solidFill>
                  <a:srgbClr val="243447"/>
                </a:solidFill>
              </a:defRPr>
            </a:pPr>
            <a:r>
              <a:t>Reuse the framework in other markets where attribution data is sufficient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54880"/>
            <a:ext cx="11109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E6C8F"/>
                </a:solidFill>
              </a:rPr>
              <a:t>Optional closing note or ownership / refresh cadence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336792"/>
            <a:ext cx="11292840" cy="329184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200" b="1">
                <a:solidFill>
                  <a:srgbClr val="FFFFFF"/>
                </a:solidFill>
              </a:rPr>
              <a:t>This report provides an operationally usable foundation for routing, utilization, and future quality monitoring discussions.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850"/>
                </a:solidFill>
              </a:rPr>
              <a:t>Definitions and interpretation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3017520" cy="347472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1325880"/>
            <a:ext cx="7863840" cy="347472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7335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243447"/>
                </a:solidFill>
              </a:rPr>
              <a:t>Observation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673352"/>
            <a:ext cx="7863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050">
                <a:solidFill>
                  <a:srgbClr val="243447"/>
                </a:solidFill>
              </a:rPr>
              <a:t>Observation divided by Observation plus Acute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03704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243447"/>
                </a:solidFill>
              </a:rPr>
              <a:t>Share of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203704"/>
            <a:ext cx="7863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050">
                <a:solidFill>
                  <a:srgbClr val="243447"/>
                </a:solidFill>
              </a:rPr>
              <a:t>Group total volume divided by total identified hospitalized volume at the facility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34056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243447"/>
                </a:solidFill>
              </a:rPr>
              <a:t>Readmission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734056"/>
            <a:ext cx="7863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050">
                <a:solidFill>
                  <a:srgbClr val="243447"/>
                </a:solidFill>
              </a:rPr>
              <a:t>Corrected readmission numerator divided by applicable acute denominator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6440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243447"/>
                </a:solidFill>
              </a:rPr>
              <a:t>Provider reliability flag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264408"/>
            <a:ext cx="7863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050">
                <a:solidFill>
                  <a:srgbClr val="243447"/>
                </a:solidFill>
              </a:rPr>
              <a:t>Volume-based classification used to distinguish low, moderate, and reliable provider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94760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243447"/>
                </a:solidFill>
              </a:rPr>
              <a:t>Bundled group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3794760"/>
            <a:ext cx="7863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050">
                <a:solidFill>
                  <a:srgbClr val="243447"/>
                </a:solidFill>
              </a:rPr>
              <a:t>Beyond and Benchmark are combined into a single comparison group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251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243447"/>
                </a:solidFill>
              </a:rPr>
              <a:t>Attribution 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325112"/>
            <a:ext cx="7863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050">
                <a:solidFill>
                  <a:srgbClr val="243447"/>
                </a:solidFill>
              </a:rPr>
              <a:t>Hospitalist inferred from professional claims during the hospitalization window using specialty priority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CareAllies | Dr. T Hospitalist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