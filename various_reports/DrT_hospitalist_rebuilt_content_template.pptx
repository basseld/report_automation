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32588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Hospitalist Utilization and Readmission Review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3504" y="1975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VOP observation and acute utilization review, 2025 with early 2026 directional refresh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3504" y="2788920"/>
            <a:ext cx="74980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deck structure rebuilt for Dr. T feedback: facility routing first, Harlingen focus, observation reliability, provider drilldown, and corrected readmission signal.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504" y="3749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final charts and tables in the marked placeholder areas.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" y="62636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78440" y="6217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Hospitalist volume is concentrated by facility, with Harlingen confirming the clearest competitive routing concern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summary. Replace placeholders with final validated metrics after Benchmark + Beyond bundling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875520" y="6473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E8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KPI STRIP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1783080" cy="694944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[n]
</a:t>
            </a:r>
            <a:endParaRPr lang="en-US" sz="19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acute + observation events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606040" y="1627632"/>
            <a:ext cx="1783080" cy="694944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 / %]
</a:t>
            </a:r>
            <a:endParaRPr lang="en-US" sz="19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hospitalist group volume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0" y="1627632"/>
            <a:ext cx="1783080" cy="694944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[facility]
</a:t>
            </a:r>
            <a:endParaRPr lang="en-US" sz="19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Highest-volume facility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2587752"/>
            <a:ext cx="1783080" cy="694944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
</a:t>
            </a:r>
            <a:endParaRPr lang="en-US" sz="19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Harlingen leading group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606040" y="2587752"/>
            <a:ext cx="1783080" cy="694944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~33–35%
</a:t>
            </a:r>
            <a:endParaRPr lang="en-US" sz="19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 benchmark range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2587752"/>
            <a:ext cx="1783080" cy="694944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
</a:t>
            </a:r>
            <a:endParaRPr lang="en-US" sz="19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Readmission logic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66560" y="1325880"/>
            <a:ext cx="4526280" cy="2880360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major facilities show a dominant hospitalist group pattern rather than balanced distribution.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Harlingen Medical Center is the clearest competitive split, with Catalyst leading the bundled Beyond/Benchmark view.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Extreme provider-level observation rates should be interpreted through the reliability lens before drawing conclusions.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Readmissions should be used as a directional quality signal, not a standalone performance scorecard.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6080760" cy="1234440"/>
          </a:xfrm>
          <a:prstGeom prst="rect">
            <a:avLst/>
          </a:prstGeom>
          <a:solidFill>
            <a:srgbClr val="EAF3F7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T emphasis to preserve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answers who is driving the ship at each major facility.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Harlingen should remain the preferred-provider routing watchpoint.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Large-volume group patterns matter more than low-volume provider outliers.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0" y="4370832"/>
            <a:ext cx="452628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E8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to add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2–3 final validated metrics after charts are refreshed.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5897880"/>
            <a:ext cx="11109960" cy="34747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is now strong enough to support hospital routing, preferred-provider alignment, and utilization follow-up conversations.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analysis uses authorization events as the backbone and professional claims to infer hospitalist attribution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balance operational relevance, attribution completeness, and low-volume noise control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875520" y="6473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5257800" cy="566928"/>
          </a:xfrm>
          <a:prstGeom prst="rect">
            <a:avLst/>
          </a:prstGeom>
          <a:solidFill>
            <a:srgbClr val="F2F4F6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Event backbone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+ acute authorization events define the hospitalization record.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240280"/>
            <a:ext cx="5257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Hospitalist attribution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claims matched to the hospitalization window using specialty priority logic.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017520"/>
            <a:ext cx="5257800" cy="566928"/>
          </a:xfrm>
          <a:prstGeom prst="rect">
            <a:avLst/>
          </a:prstGeom>
          <a:solidFill>
            <a:srgbClr val="F2F4F6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Group normalization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+ Beyond bundled; hospital names and group mappings standardized.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3794760"/>
            <a:ext cx="52578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Reliability framework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 flagged as low, moderate, or reliable volume for interpretation discipline.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1417320"/>
            <a:ext cx="4251960" cy="2359152"/>
          </a:xfrm>
          <a:prstGeom prst="rect">
            <a:avLst/>
          </a:prstGeom>
          <a:solidFill>
            <a:srgbClr val="F8FAFB"/>
          </a:solidFill>
          <a:ln w="1524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methodology visual
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existing specialty funnel or four-box process diagram. Keep it simple and decision-useful.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4005072"/>
            <a:ext cx="4251960" cy="1097280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guardrails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Observation-to-acute conversions are counted as acute in the authorization workflow.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Provider-level outliers should only be interpreted when volume is sufficient.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Group-level patterns are more reliable than isolated provider extremes.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5897880"/>
            <a:ext cx="11109960" cy="34747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practical hybrid method: authorizations define the event, while claims improve hospitalist attribution.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Hospitalist group share varies materially by facility, with most hospitals showing clear routing concentration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Facility-level share of identified VOP hospitalized volume by hospitalist group, 2025 DoS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875520" y="6473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6903720" cy="4315968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cleaned 100% stacked bar chart
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Top 8 Facility Market Share chart after modifications: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Merge Benchmark + Beyond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Exclude “None” from main chart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Sort by total identified volume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n= labels at bar ends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18120" y="1353312"/>
            <a:ext cx="3611880" cy="1645920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chart shows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major facilities appear to be predominantly served by one primary hospitalist group.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Harlingen Medical Center shows the clearest meaningful head-to-head split.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Facility-level concentration suggests hospital routing patterns are operationally important.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18120" y="3273552"/>
            <a:ext cx="3611880" cy="1499616"/>
          </a:xfrm>
          <a:prstGeom prst="rect">
            <a:avLst/>
          </a:prstGeom>
          <a:solidFill>
            <a:srgbClr val="EAF3F7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T interpretation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Knapp appears predominantly Catalyst.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Valley Regional appears predominantly HNI.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Valley Baptist Brownsville appears predominantly Femi.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Harlingen is the primary competitive watchpoint.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18120" y="5010912"/>
            <a:ext cx="36118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E8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note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full “None” version only in appendix as attribution coverage backup.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5897880"/>
            <a:ext cx="11109960" cy="34747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facility view confirms that hospitalist volume is not evenly distributed, making hospital-level routing the right lens for action.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Harlingen Medical Center, Catalyst holds the larger share of identified hospitalized volume versus bundled Beyond/Benchmark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relevant facility for preferred-provider routing and competitive group comparison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875520" y="6473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5715000" cy="297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Build: Harlingen horizontal stacked bar
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Rows: Catalyst, Benchmark + Beyond, HNI, Femi, MHG / Other if meaningful.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length = Total events; segments = Acute and Obs.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labels: total volume, share of identified volume, optional Obs rate.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4572000"/>
            <a:ext cx="5715000" cy="877824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Hospitalist group      Acute   Obs   Total   Share   Obs rate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               x       x     x       x%      x%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+ Beyond     x       x     x       x%      x%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meaningful groups x      x     x       x%      x%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6675120" y="1353312"/>
            <a:ext cx="4526280" cy="1828800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implication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 currently holds the larger share of identified hospitalized volume at Harlingen.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confirms the prior concern that admissions may not be evenly distributed across competing groups.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Harlingen should remain the primary facility for monitoring preferred-provider alignment over time.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0" y="3493008"/>
            <a:ext cx="4526280" cy="1234440"/>
          </a:xfrm>
          <a:prstGeom prst="rect">
            <a:avLst/>
          </a:prstGeom>
          <a:solidFill>
            <a:srgbClr val="EAF3F7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recipe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facility = Harlingen Medical Center, Admit Year = 2025.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Benchmark + Beyond before calculating share.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= group total / total identified Harlingen volume.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5897880"/>
            <a:ext cx="11109960" cy="34747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Harlingen moves the discussion from anecdotal concern to measurable routing pattern.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rates are more decision-useful at the group level, while extreme values often reflect low-volume combinations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rate = Observation / Observation + Acute, reviewed with volume thresholds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875520" y="6473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6995160" cy="42519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cleaned observation heatmap
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Preferred: 2025 main panel.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Optional: 2026 directional inset or appendix.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Required: merge Benchmark + Beyond; mask low-volume cells; show blanks/NA instead of zeroes where no meaningful volume.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18120" y="1298448"/>
            <a:ext cx="3611880" cy="1536192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guidance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Rates near one-third remain a practical operating benchmark.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 rates should be discounted when driven by low-volume combinations.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Larger-volume facility-group patterns are more meaningful than isolated provider extremes.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18120" y="3063240"/>
            <a:ext cx="3611880" cy="1115568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 rate band     Interpretation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&lt;25%              Low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25–35%           Practical benchmark range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35–45%           Elevated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&gt;45%             High, review if volume sufficient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818120" y="4480560"/>
            <a:ext cx="3611880" cy="1078992"/>
          </a:xfrm>
          <a:prstGeom prst="rect">
            <a:avLst/>
          </a:prstGeom>
          <a:solidFill>
            <a:srgbClr val="EAF3F7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note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color/label cells above agreed volume threshold, for example n ≥ 10 or n ≥ 15.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 out low-volume cells instead of letting them drive the story.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5897880"/>
            <a:ext cx="11109960" cy="34747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heatmap should guide where to drill down, not serve as a standalone judgment of group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Provider-level variation is best interpreted through the reliability lens, with most extreme rates driven by low-volume providers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Low, moderate, and reliable volume flags separate stable patterns from small-number distortion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875520" y="6473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7178040" cy="3127248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    Group      Facility      Acute  Obs  Total  Obs rate  Reliability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[Provider]   [Group]    [Facility]    x      x    x      x%        Reliable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[Provider]   [Group]    [Facility]    x      x    x      x%        Reliable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[Provider]   [Group]    [Facility]    x      x    x      x%        Moderate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[Provider]   [Group]    [Facility]    x      x    x      x%        Low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[Provider]   [Group]    [Facility]    x      x    x      x%        Low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66928" y="4681728"/>
            <a:ext cx="7178040" cy="685800"/>
          </a:xfrm>
          <a:prstGeom prst="rect">
            <a:avLst/>
          </a:prstGeom>
          <a:solidFill>
            <a:srgbClr val="F8FAFB"/>
          </a:solidFill>
          <a:ln w="1524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logic
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first → Total volume descending → Observation rate descending. Show 10–15 rows max in main deck.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01000" y="1325880"/>
            <a:ext cx="3337560" cy="1536192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this view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Reliable-volume providers provide the cleanest read on actual practice patterns.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Low-volume outliers are useful for awareness, but should not drive conclusions.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Provider-level follow-up should focus on sufficient-volume patterns, not dramatic percentages alone.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01000" y="3154680"/>
            <a:ext cx="3337560" cy="1143000"/>
          </a:xfrm>
          <a:prstGeom prst="rect">
            <a:avLst/>
          </a:prstGeom>
          <a:solidFill>
            <a:srgbClr val="EAF3F7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reliability thresholds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Low: 1–9 events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Moderate: 10–24 events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Reliable: 25+ events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with final agreed thresholds if different.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5897880"/>
            <a:ext cx="11109960" cy="34747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reliability flag makes the provider drilldown actionable without allowing small denominators to dominate the story.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Corrected readmission results provide a directional quality signal when reviewed alongside volume and facility mix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Readmissions should complement routing and utilization findings, not replace them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875520" y="6473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521208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Build: readmission rate by group
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A: simple bar chart by hospitalist group.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each bar with rate % and n= denominator.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acute index denominator unless corrected logic defines otherwise.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3657600"/>
            <a:ext cx="5212080" cy="1371600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             Acute index volume   Readmissions   Readmit rate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           x                    x              x%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+ Beyond x                    x              x%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HNI                x                    x              x%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Femi               x                    x              x%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groups       x                    x              x%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172200" y="1325880"/>
            <a:ext cx="2514600" cy="1874520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interpret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logic makes readmissions suitable for directional review.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Rates should be interpreted with acute volume, facility mix, and discharge context.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to identify follow-up areas, not standalone physician scorecards.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79408" y="1325880"/>
            <a:ext cx="2514600" cy="1874520"/>
          </a:xfrm>
          <a:prstGeom prst="rect">
            <a:avLst/>
          </a:prstGeom>
          <a:solidFill>
            <a:srgbClr val="EAF3F7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steps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Harlingen routing over time.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elevated observation combinations with reliable volume.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2026 once claims and authorization lag mature.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readmissions into recurring monitoring.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3657600"/>
            <a:ext cx="5321808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E8A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Footnote to include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Readmission results are directional and should be interpreted with volume, facility mix, and case mix context.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position as a standalone group or provider performance judgment.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897880"/>
            <a:ext cx="11109960" cy="34747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Readmissions add an early quality lens, but the primary story remains facility routing, observation behavior, and volume reliability.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28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Definitions and appendix visual inventory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1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for backup details, definitions, and content that should not crowd the main story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 | Dr. T Hospitalist Review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875520" y="6473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CareAllies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1325880"/>
            <a:ext cx="5669280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/ rule              Definition / use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rate           Observation / (Observation + Acute)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business          Group total / total identified facility volume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Readmission rate           Corrected numerator / applicable acute denominator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reliability flag  Low, moderate, and reliable volume patterns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group rule         Benchmark + Beyond combined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 rule           Hospitalist inferred from professional claims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20840" y="1325880"/>
            <a:ext cx="4526280" cy="2331720"/>
          </a:xfrm>
          <a:prstGeom prst="rect">
            <a:avLst/>
          </a:prstGeom>
          <a:solidFill>
            <a:srgbClr val="F2F4F6"/>
          </a:solidFill>
          <a:ln w="10160">
            <a:solidFill>
              <a:srgbClr val="D9DEE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these visuals to appendix if needed
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 / identification donut or identified vs not identified bar.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hospitalists by event volume and bed type.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Length-of-stay boxplot.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admitting diagnoses and bed type mix.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acute / obs summary table.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directional heatmap.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readmission detail by group and facility.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3977640"/>
            <a:ext cx="10625328" cy="1051560"/>
          </a:xfrm>
          <a:prstGeom prst="rect">
            <a:avLst/>
          </a:prstGeom>
          <a:solidFill>
            <a:srgbClr val="F8FAFB"/>
          </a:solidFill>
          <a:ln w="1524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appendix chart area
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E5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this slide for each backup visual that needs to be retained.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5897880"/>
            <a:ext cx="11109960" cy="347472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3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28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main deck focused; use appendix only for questions or methodological backup.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CareAllies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Hospitalist Utilization and Readmission Review</dc:title>
  <dc:subject>Dr. T Hospitalist Review deck template</dc:subject>
  <dc:creator>OpenAI</dc:creator>
  <cp:lastModifiedBy>OpenAI</cp:lastModifiedBy>
  <cp:revision>1</cp:revision>
  <dcterms:created xsi:type="dcterms:W3CDTF">2026-04-27T16:13:48Z</dcterms:created>
  <dcterms:modified xsi:type="dcterms:W3CDTF">2026-04-27T16:13:48Z</dcterms:modified>
</cp:coreProperties>
</file>