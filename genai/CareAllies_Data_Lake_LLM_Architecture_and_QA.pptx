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6685424e8264e38" /><Relationship Type="http://schemas.openxmlformats.org/officeDocument/2006/relationships/extended-properties" Target="/docProps/app.xml" Id="Rbd92b8abcd5a44ed" /><Relationship Type="http://schemas.openxmlformats.org/officeDocument/2006/relationships/officeDocument" Target="/ppt/presentation.xml" Id="R84ac1686b6f248e3" /></Relationships>
</file>

<file path=ppt/presentation.xml><?xml version="1.0" encoding="utf-8"?>
<p:presentation xmlns:p="http://schemas.openxmlformats.org/presentationml/2006/main">
  <p:sldMasterIdLst>
    <p:sldMasterId xmlns:r="http://schemas.openxmlformats.org/officeDocument/2006/relationships" id="2147483648" r:id="R697ad058f15a4a5e"/>
  </p:sldMasterIdLst>
  <p:notesMasterIdLst>
    <p:notesMasterId xmlns:r="http://schemas.openxmlformats.org/officeDocument/2006/relationships" r:id="R319ad70135284b85"/>
  </p:notesMasterIdLst>
  <p:sldIdLst>
    <p:sldId xmlns:r="http://schemas.openxmlformats.org/officeDocument/2006/relationships" id="256" r:id="R6d031dff81c84ca7"/>
    <p:sldId xmlns:r="http://schemas.openxmlformats.org/officeDocument/2006/relationships" id="257" r:id="Ra5faf87cbbd74386"/>
    <p:sldId xmlns:r="http://schemas.openxmlformats.org/officeDocument/2006/relationships" id="258" r:id="Rfa6dc769a22e4665"/>
    <p:sldId xmlns:r="http://schemas.openxmlformats.org/officeDocument/2006/relationships" id="259" r:id="Rf0a0774d56194f77"/>
    <p:sldId xmlns:r="http://schemas.openxmlformats.org/officeDocument/2006/relationships" id="260" r:id="R9ce0631fcba349da"/>
    <p:sldId xmlns:r="http://schemas.openxmlformats.org/officeDocument/2006/relationships" id="261" r:id="Raa026cb5867b4fbe"/>
    <p:sldId xmlns:r="http://schemas.openxmlformats.org/officeDocument/2006/relationships" id="262" r:id="R514798c5b33d4c7d"/>
    <p:sldId xmlns:r="http://schemas.openxmlformats.org/officeDocument/2006/relationships" id="263" r:id="R479f3e98dad34f81"/>
    <p:sldId xmlns:r="http://schemas.openxmlformats.org/officeDocument/2006/relationships" id="264" r:id="R1d2d9a5203b64a96"/>
    <p:sldId xmlns:r="http://schemas.openxmlformats.org/officeDocument/2006/relationships" id="265" r:id="R112881ea40a64c59"/>
    <p:sldId xmlns:r="http://schemas.openxmlformats.org/officeDocument/2006/relationships" id="266" r:id="R0fe4f5e29dfe444d"/>
    <p:sldId xmlns:r="http://schemas.openxmlformats.org/officeDocument/2006/relationships" id="267" r:id="Rfff34c95ae7f4db3"/>
    <p:sldId xmlns:r="http://schemas.openxmlformats.org/officeDocument/2006/relationships" id="268" r:id="R8fa671561ddd42c8"/>
    <p:sldId xmlns:r="http://schemas.openxmlformats.org/officeDocument/2006/relationships" id="269" r:id="R00dbce9ceea046e3"/>
    <p:sldId xmlns:r="http://schemas.openxmlformats.org/officeDocument/2006/relationships" id="270" r:id="Rcebe288d45c647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bd6a231293471b" /><Relationship Type="http://schemas.openxmlformats.org/officeDocument/2006/relationships/slideMaster" Target="/ppt/slideMasters/slideMaster1.xml" Id="R697ad058f15a4a5e" /><Relationship Type="http://schemas.openxmlformats.org/officeDocument/2006/relationships/notesMaster" Target="/ppt/notesMasters/notesMaster1.xml" Id="R319ad70135284b85" /><Relationship Type="http://schemas.openxmlformats.org/officeDocument/2006/relationships/presProps" Target="/ppt/presProps.xml" Id="R0d4f5315b3f64eb5" /><Relationship Type="http://schemas.openxmlformats.org/officeDocument/2006/relationships/tableStyles" Target="/ppt/tableStyles.xml" Id="R9de899cfd59a49fd" /><Relationship Type="http://schemas.openxmlformats.org/officeDocument/2006/relationships/slide" Target="/ppt/slides/slide1.xml" Id="R6d031dff81c84ca7" /><Relationship Type="http://schemas.openxmlformats.org/officeDocument/2006/relationships/slide" Target="/ppt/slides/slide2.xml" Id="Ra5faf87cbbd74386" /><Relationship Type="http://schemas.openxmlformats.org/officeDocument/2006/relationships/slide" Target="/ppt/slides/slide3.xml" Id="Rfa6dc769a22e4665" /><Relationship Type="http://schemas.openxmlformats.org/officeDocument/2006/relationships/slide" Target="/ppt/slides/slide4.xml" Id="Rf0a0774d56194f77" /><Relationship Type="http://schemas.openxmlformats.org/officeDocument/2006/relationships/slide" Target="/ppt/slides/slide5.xml" Id="R9ce0631fcba349da" /><Relationship Type="http://schemas.openxmlformats.org/officeDocument/2006/relationships/slide" Target="/ppt/slides/slide6.xml" Id="Raa026cb5867b4fbe" /><Relationship Type="http://schemas.openxmlformats.org/officeDocument/2006/relationships/slide" Target="/ppt/slides/slide7.xml" Id="R514798c5b33d4c7d" /><Relationship Type="http://schemas.openxmlformats.org/officeDocument/2006/relationships/slide" Target="/ppt/slides/slide8.xml" Id="R479f3e98dad34f81" /><Relationship Type="http://schemas.openxmlformats.org/officeDocument/2006/relationships/slide" Target="/ppt/slides/slide9.xml" Id="R1d2d9a5203b64a96" /><Relationship Type="http://schemas.openxmlformats.org/officeDocument/2006/relationships/slide" Target="/ppt/slides/slide10.xml" Id="R112881ea40a64c59" /><Relationship Type="http://schemas.openxmlformats.org/officeDocument/2006/relationships/slide" Target="/ppt/slides/slide11.xml" Id="R0fe4f5e29dfe444d" /><Relationship Type="http://schemas.openxmlformats.org/officeDocument/2006/relationships/slide" Target="/ppt/slides/slide12.xml" Id="Rfff34c95ae7f4db3" /><Relationship Type="http://schemas.openxmlformats.org/officeDocument/2006/relationships/slide" Target="/ppt/slides/slide13.xml" Id="R8fa671561ddd42c8" /><Relationship Type="http://schemas.openxmlformats.org/officeDocument/2006/relationships/slide" Target="/ppt/slides/slide14.xml" Id="R00dbce9ceea046e3" /><Relationship Type="http://schemas.openxmlformats.org/officeDocument/2006/relationships/slide" Target="/ppt/slides/slide15.xml" Id="Rcebe288d45c647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314905422c498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4ee5394e61a4721" /><Relationship Type="http://schemas.openxmlformats.org/officeDocument/2006/relationships/notesMaster" Target="/ppt/notesMasters/notesMaster1.xml" Id="R1ffbe2ca8d084b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9080c76906d14a99" /><Relationship Type="http://schemas.openxmlformats.org/officeDocument/2006/relationships/notesMaster" Target="/ppt/notesMasters/notesMaster1.xml" Id="Rc3586cf529a94e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0b8fe51d8534659" /><Relationship Type="http://schemas.openxmlformats.org/officeDocument/2006/relationships/notesMaster" Target="/ppt/notesMasters/notesMaster1.xml" Id="R4b0914f1cb5e40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43bd9383a846da" /><Relationship Type="http://schemas.openxmlformats.org/officeDocument/2006/relationships/notesMaster" Target="/ppt/notesMasters/notesMaster1.xml" Id="Rc3cd0e2dee4f45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c9b08b20bfa4007" /><Relationship Type="http://schemas.openxmlformats.org/officeDocument/2006/relationships/notesMaster" Target="/ppt/notesMasters/notesMaster1.xml" Id="R8b46abd244d84bb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3eed780f574113" /><Relationship Type="http://schemas.openxmlformats.org/officeDocument/2006/relationships/notesMaster" Target="/ppt/notesMasters/notesMaster1.xml" Id="R2f07ab4ce5d54ca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30891162f74ece" /><Relationship Type="http://schemas.openxmlformats.org/officeDocument/2006/relationships/notesMaster" Target="/ppt/notesMasters/notesMaster1.xml" Id="R1996021bb0ad41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7b3c5e88874ed7" /><Relationship Type="http://schemas.openxmlformats.org/officeDocument/2006/relationships/notesMaster" Target="/ppt/notesMasters/notesMaster1.xml" Id="Rbd235e228edf447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c38421992542dc" /><Relationship Type="http://schemas.openxmlformats.org/officeDocument/2006/relationships/notesMaster" Target="/ppt/notesMasters/notesMaster1.xml" Id="R45635fe9def1448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2142f9dcc2147dd" /><Relationship Type="http://schemas.openxmlformats.org/officeDocument/2006/relationships/notesMaster" Target="/ppt/notesMasters/notesMaster1.xml" Id="R8118b2145a45413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74390d8d9a94a33" /><Relationship Type="http://schemas.openxmlformats.org/officeDocument/2006/relationships/notesMaster" Target="/ppt/notesMasters/notesMaster1.xml" Id="R9b1014ddfc07410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34d6e55c7d44bb6" /><Relationship Type="http://schemas.openxmlformats.org/officeDocument/2006/relationships/notesMaster" Target="/ppt/notesMasters/notesMaster1.xml" Id="R6fdfdabcab87410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7fcc5b05a014aba" /><Relationship Type="http://schemas.openxmlformats.org/officeDocument/2006/relationships/notesMaster" Target="/ppt/notesMasters/notesMaster1.xml" Id="R159282c3fc1a480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ebb595a011c4492" /><Relationship Type="http://schemas.openxmlformats.org/officeDocument/2006/relationships/notesMaster" Target="/ppt/notesMasters/notesMaster1.xml" Id="R3979183194fd470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20a306aa645481a" /><Relationship Type="http://schemas.openxmlformats.org/officeDocument/2006/relationships/notesMaster" Target="/ppt/notesMasters/notesMaster1.xml" Id="R383d942500d5407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Position the deck as the bridge between a successful notebook demonstration and a production-ready healthcare intelligence service.</a:t>
            </a:r>
          </a:p>
          <a:p xmlns:a="http://schemas.openxmlformats.org/drawingml/2006/main">
            <a:r>
              <a:t/>
            </a:r>
          </a:p>
          <a:p xmlns:a="http://schemas.openxmlformats.org/drawingml/2006/main">
            <a:r>
              <a:t>[Sources]</a:t>
            </a:r>
          </a:p>
          <a:p xmlns:a="http://schemas.openxmlformats.org/drawingml/2006/main">
            <a:r>
              <a:t>- User-provided CareAllies project conversation and V5 notebook output review, August–September 2026.</a:t>
            </a:r>
          </a:p>
          <a:p xmlns:a="http://schemas.openxmlformats.org/drawingml/2006/main">
            <a:r>
              <a:t>- User-provided Q&amp;A layout reference image,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establish clear separation of responsibilities. It is the organizing principle for the rest of the deck.</a:t>
            </a:r>
          </a:p>
          <a:p xmlns:a="http://schemas.openxmlformats.org/drawingml/2006/main">
            <a:r>
              <a:t/>
            </a:r>
          </a:p>
          <a:p xmlns:a="http://schemas.openxmlformats.org/drawingml/2006/main">
            <a:r>
              <a:t>[Sources]</a:t>
            </a:r>
          </a:p>
          <a:p xmlns:a="http://schemas.openxmlformats.org/drawingml/2006/main">
            <a:r>
              <a:t>- User-provided CareAllies project conversation and V5 notebook output review, August–September 2026.</a:t>
            </a:r>
          </a:p>
          <a:p xmlns:a="http://schemas.openxmlformats.org/drawingml/2006/main">
            <a:r>
              <a:t>- User-provided Q&amp;A layout reference image,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counts and source descriptions reflect the synthetic V5 demonstration discussed in the conversation.</a:t>
            </a:r>
          </a:p>
          <a:p xmlns:a="http://schemas.openxmlformats.org/drawingml/2006/main">
            <a:r>
              <a:t/>
            </a:r>
          </a:p>
          <a:p xmlns:a="http://schemas.openxmlformats.org/drawingml/2006/main">
            <a:r>
              <a:t>[Sources]</a:t>
            </a:r>
          </a:p>
          <a:p xmlns:a="http://schemas.openxmlformats.org/drawingml/2006/main">
            <a:r>
              <a:t>- User-provided CareAllies project conversation and V5 notebook output review, August–September 2026.</a:t>
            </a:r>
          </a:p>
          <a:p xmlns:a="http://schemas.openxmlformats.org/drawingml/2006/main">
            <a:r>
              <a:t>- User-provided Q&amp;A layout reference image,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Emphasize that no raw data source connects directly to the model.</a:t>
            </a:r>
          </a:p>
          <a:p xmlns:a="http://schemas.openxmlformats.org/drawingml/2006/main">
            <a:r>
              <a:t/>
            </a:r>
          </a:p>
          <a:p xmlns:a="http://schemas.openxmlformats.org/drawingml/2006/main">
            <a:r>
              <a:t>[Sources]</a:t>
            </a:r>
          </a:p>
          <a:p xmlns:a="http://schemas.openxmlformats.org/drawingml/2006/main">
            <a:r>
              <a:t>- User-provided CareAllies project conversation and V5 notebook output review, August–September 2026.</a:t>
            </a:r>
          </a:p>
          <a:p xmlns:a="http://schemas.openxmlformats.org/drawingml/2006/main">
            <a:r>
              <a:t>- User-provided Q&amp;A layout reference image,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question is converted into a traceable plan before retrieval. The final validation step is designed to catch model statements that conflict with deterministic outputs.</a:t>
            </a:r>
          </a:p>
          <a:p xmlns:a="http://schemas.openxmlformats.org/drawingml/2006/main">
            <a:r>
              <a:t/>
            </a:r>
          </a:p>
          <a:p xmlns:a="http://schemas.openxmlformats.org/drawingml/2006/main">
            <a:r>
              <a:t>[Sources]</a:t>
            </a:r>
          </a:p>
          <a:p xmlns:a="http://schemas.openxmlformats.org/drawingml/2006/main">
            <a:r>
              <a:t>- User-provided CareAllies project conversation and V5 notebook output review, August–September 2026.</a:t>
            </a:r>
          </a:p>
          <a:p xmlns:a="http://schemas.openxmlformats.org/drawingml/2006/main">
            <a:r>
              <a:t>- User-provided Q&amp;A layout reference image,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an answer is wrong, this design identifies whether the failure came from entity resolution, routing, SQL, retrieval, rules, generation, or validation.</a:t>
            </a:r>
          </a:p>
          <a:p xmlns:a="http://schemas.openxmlformats.org/drawingml/2006/main">
            <a:r>
              <a:t/>
            </a:r>
          </a:p>
          <a:p xmlns:a="http://schemas.openxmlformats.org/drawingml/2006/main">
            <a:r>
              <a:t>[Sources]</a:t>
            </a:r>
          </a:p>
          <a:p xmlns:a="http://schemas.openxmlformats.org/drawingml/2006/main">
            <a:r>
              <a:t>- User-provided CareAllies project conversation and V5 notebook output review, August–September 2026.</a:t>
            </a:r>
          </a:p>
          <a:p xmlns:a="http://schemas.openxmlformats.org/drawingml/2006/main">
            <a:r>
              <a:t>- User-provided Q&amp;A layout reference image,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prototype contains simplified Python logic. This slide shows the production replacement: governed rules plus retrieval of authoritative passages.</a:t>
            </a:r>
          </a:p>
          <a:p xmlns:a="http://schemas.openxmlformats.org/drawingml/2006/main">
            <a:r>
              <a:t/>
            </a:r>
          </a:p>
          <a:p xmlns:a="http://schemas.openxmlformats.org/drawingml/2006/main">
            <a:r>
              <a:t>[Sources]</a:t>
            </a:r>
          </a:p>
          <a:p xmlns:a="http://schemas.openxmlformats.org/drawingml/2006/main">
            <a:r>
              <a:t>- User-provided CareAllies project conversation and V5 notebook output review, August–September 2026.</a:t>
            </a:r>
          </a:p>
          <a:p xmlns:a="http://schemas.openxmlformats.org/drawingml/2006/main">
            <a:r>
              <a:t>- User-provided Q&amp;A layout reference image,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semantic layer shields the application from physical schema changes and constrains the model-facing data surface.</a:t>
            </a:r>
          </a:p>
          <a:p xmlns:a="http://schemas.openxmlformats.org/drawingml/2006/main">
            <a:r>
              <a:t/>
            </a:r>
          </a:p>
          <a:p xmlns:a="http://schemas.openxmlformats.org/drawingml/2006/main">
            <a:r>
              <a:t>[Sources]</a:t>
            </a:r>
          </a:p>
          <a:p xmlns:a="http://schemas.openxmlformats.org/drawingml/2006/main">
            <a:r>
              <a:t>- User-provided CareAllies project conversation and V5 notebook output review, August–September 2026.</a:t>
            </a:r>
          </a:p>
          <a:p xmlns:a="http://schemas.openxmlformats.org/drawingml/2006/main">
            <a:r>
              <a:t>- User-provided Q&amp;A layout reference image,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minimum control set for a PHI-bearing production design. Formal enterprise security review remains required.</a:t>
            </a:r>
          </a:p>
          <a:p xmlns:a="http://schemas.openxmlformats.org/drawingml/2006/main">
            <a:r>
              <a:t/>
            </a:r>
          </a:p>
          <a:p xmlns:a="http://schemas.openxmlformats.org/drawingml/2006/main">
            <a:r>
              <a:t>[Sources]</a:t>
            </a:r>
          </a:p>
          <a:p xmlns:a="http://schemas.openxmlformats.org/drawingml/2006/main">
            <a:r>
              <a:t>- User-provided CareAllies project conversation and V5 notebook output review, August–September 2026.</a:t>
            </a:r>
          </a:p>
          <a:p xmlns:a="http://schemas.openxmlformats.org/drawingml/2006/main">
            <a:r>
              <a:t>- User-provided Q&amp;A layout reference image,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questions surfaced the two most important architecture gaps: exact entity resolution and authoritative rule governance.</a:t>
            </a:r>
          </a:p>
          <a:p xmlns:a="http://schemas.openxmlformats.org/drawingml/2006/main">
            <a:r>
              <a:t/>
            </a:r>
          </a:p>
          <a:p xmlns:a="http://schemas.openxmlformats.org/drawingml/2006/main">
            <a:r>
              <a:t>[Sources]</a:t>
            </a:r>
          </a:p>
          <a:p xmlns:a="http://schemas.openxmlformats.org/drawingml/2006/main">
            <a:r>
              <a:t>- User-provided CareAllies project conversation and V5 notebook output review, August–September 2026.</a:t>
            </a:r>
          </a:p>
          <a:p xmlns:a="http://schemas.openxmlformats.org/drawingml/2006/main">
            <a:r>
              <a:t>- User-provided Q&amp;A layout reference image,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claims answer differentiates what the notebook currently demonstrates from the recommended production implementation.</a:t>
            </a:r>
          </a:p>
          <a:p xmlns:a="http://schemas.openxmlformats.org/drawingml/2006/main">
            <a:r>
              <a:t/>
            </a:r>
          </a:p>
          <a:p xmlns:a="http://schemas.openxmlformats.org/drawingml/2006/main">
            <a:r>
              <a:t>[Sources]</a:t>
            </a:r>
          </a:p>
          <a:p xmlns:a="http://schemas.openxmlformats.org/drawingml/2006/main">
            <a:r>
              <a:t>- User-provided CareAllies project conversation and V5 notebook output review, August–September 2026.</a:t>
            </a:r>
          </a:p>
          <a:p xmlns:a="http://schemas.openxmlformats.org/drawingml/2006/main">
            <a:r>
              <a:t>- User-provided Q&amp;A layout reference image,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Stress that hyperparameters are downstream of architecture correctness. Most current problems are routing and instruction-following issues, not sampling issues.</a:t>
            </a:r>
          </a:p>
          <a:p xmlns:a="http://schemas.openxmlformats.org/drawingml/2006/main">
            <a:r>
              <a:t/>
            </a:r>
          </a:p>
          <a:p xmlns:a="http://schemas.openxmlformats.org/drawingml/2006/main">
            <a:r>
              <a:t>[Sources]</a:t>
            </a:r>
          </a:p>
          <a:p xmlns:a="http://schemas.openxmlformats.org/drawingml/2006/main">
            <a:r>
              <a:t>- User-provided CareAllies project conversation and V5 notebook output review, August–September 2026.</a:t>
            </a:r>
          </a:p>
          <a:p xmlns:a="http://schemas.openxmlformats.org/drawingml/2006/main">
            <a:r>
              <a:t>- User-provided Q&amp;A layout reference image,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output review is based on the executed V5 notebook evaluation summarized in the conversation.</a:t>
            </a:r>
          </a:p>
          <a:p xmlns:a="http://schemas.openxmlformats.org/drawingml/2006/main">
            <a:r>
              <a:t/>
            </a:r>
          </a:p>
          <a:p xmlns:a="http://schemas.openxmlformats.org/drawingml/2006/main">
            <a:r>
              <a:t>[Sources]</a:t>
            </a:r>
          </a:p>
          <a:p xmlns:a="http://schemas.openxmlformats.org/drawingml/2006/main">
            <a:r>
              <a:t>- User-provided CareAllies project conversation and V5 notebook output review, August–September 2026.</a:t>
            </a:r>
          </a:p>
          <a:p xmlns:a="http://schemas.openxmlformats.org/drawingml/2006/main">
            <a:r>
              <a:t>- User-provided Q&amp;A layout reference image,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ordering is intentional: resolve the right entity, preserve the rule result, then improve conversation and model quality.</a:t>
            </a:r>
          </a:p>
          <a:p xmlns:a="http://schemas.openxmlformats.org/drawingml/2006/main">
            <a:r>
              <a:t/>
            </a:r>
          </a:p>
          <a:p xmlns:a="http://schemas.openxmlformats.org/drawingml/2006/main">
            <a:r>
              <a:t>[Sources]</a:t>
            </a:r>
          </a:p>
          <a:p xmlns:a="http://schemas.openxmlformats.org/drawingml/2006/main">
            <a:r>
              <a:t>- User-provided CareAllies project conversation and V5 notebook output review, August–September 2026.</a:t>
            </a:r>
          </a:p>
          <a:p xmlns:a="http://schemas.openxmlformats.org/drawingml/2006/main">
            <a:r>
              <a:t>- User-provided Q&amp;A layout reference image,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asking for agreement on the constrained POC scope and the two initial measures to govern and validate.</a:t>
            </a:r>
          </a:p>
          <a:p xmlns:a="http://schemas.openxmlformats.org/drawingml/2006/main">
            <a:r>
              <a:t/>
            </a:r>
          </a:p>
          <a:p xmlns:a="http://schemas.openxmlformats.org/drawingml/2006/main">
            <a:r>
              <a:t>[Sources]</a:t>
            </a:r>
          </a:p>
          <a:p xmlns:a="http://schemas.openxmlformats.org/drawingml/2006/main">
            <a:r>
              <a:t>- User-provided CareAllies project conversation and V5 notebook output review, August–September 2026.</a:t>
            </a:r>
          </a:p>
          <a:p xmlns:a="http://schemas.openxmlformats.org/drawingml/2006/main">
            <a:r>
              <a:t>- User-provided Q&amp;A layout reference image, September 2026.</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8d4854d7036425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251443aed1497c" /><Relationship Type="http://schemas.openxmlformats.org/officeDocument/2006/relationships/slideLayout" Target="/ppt/slideLayouts/slideLayout1.xml" Id="R486929a2e5f648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6929a2e5f648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bfc06371f674735" /><Relationship Type="http://schemas.openxmlformats.org/officeDocument/2006/relationships/notesSlide" Target="/ppt/notesSlides/notesSlide1.xml" Id="Re87f03429f014e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42ff549c2b64d61" /><Relationship Type="http://schemas.openxmlformats.org/officeDocument/2006/relationships/notesSlide" Target="/ppt/notesSlides/notesSlide2.xml" Id="R8552abed2c194f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2c0fd96c4504949" /><Relationship Type="http://schemas.openxmlformats.org/officeDocument/2006/relationships/notesSlide" Target="/ppt/notesSlides/notesSlide3.xml" Id="R67b7f7aeb6fb44e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6a2a1e57cc24e25" /><Relationship Type="http://schemas.openxmlformats.org/officeDocument/2006/relationships/notesSlide" Target="/ppt/notesSlides/notesSlide4.xml" Id="R3431f03817fb44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b9a378518fa4080" /><Relationship Type="http://schemas.openxmlformats.org/officeDocument/2006/relationships/notesSlide" Target="/ppt/notesSlides/notesSlide5.xml" Id="R2c85c77523ad47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e0908a7cc934bd8" /><Relationship Type="http://schemas.openxmlformats.org/officeDocument/2006/relationships/notesSlide" Target="/ppt/notesSlides/notesSlide6.xml" Id="R6933ff0e6afd4a6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e6d6a3c31e457e" /><Relationship Type="http://schemas.openxmlformats.org/officeDocument/2006/relationships/notesSlide" Target="/ppt/notesSlides/notesSlide7.xml" Id="Rf0ba24670e4a4c6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8ab724f6e664713" /><Relationship Type="http://schemas.openxmlformats.org/officeDocument/2006/relationships/notesSlide" Target="/ppt/notesSlides/notesSlide8.xml" Id="R8045319f1af24c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81a83b5cf8f48ee" /><Relationship Type="http://schemas.openxmlformats.org/officeDocument/2006/relationships/notesSlide" Target="/ppt/notesSlides/notesSlide9.xml" Id="Rc57c673f81c0422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5dba6d1ee864482" /><Relationship Type="http://schemas.openxmlformats.org/officeDocument/2006/relationships/notesSlide" Target="/ppt/notesSlides/notesSlide10.xml" Id="R42e6807d2046441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87eb2e393944069" /><Relationship Type="http://schemas.openxmlformats.org/officeDocument/2006/relationships/notesSlide" Target="/ppt/notesSlides/notesSlide11.xml" Id="R400ec80b50f8498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8c59c3520f24019" /><Relationship Type="http://schemas.openxmlformats.org/officeDocument/2006/relationships/notesSlide" Target="/ppt/notesSlides/notesSlide12.xml" Id="Reac6d0b06819440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588839b854340c5" /><Relationship Type="http://schemas.openxmlformats.org/officeDocument/2006/relationships/notesSlide" Target="/ppt/notesSlides/notesSlide13.xml" Id="R9bdfdc82b8ce4b5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239660e839b489b" /><Relationship Type="http://schemas.openxmlformats.org/officeDocument/2006/relationships/notesSlide" Target="/ppt/notesSlides/notesSlide14.xml" Id="Rbc64b8d81161440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5fd11c9606845cc" /><Relationship Type="http://schemas.openxmlformats.org/officeDocument/2006/relationships/notesSlide" Target="/ppt/notesSlides/notesSlide15.xml" Id="Rfc21242b9f554a11" /></Relationships>
</file>

<file path=ppt/slides/slide1.xml><?xml version="1.0" encoding="utf-8"?>
<p:sld xmlns:p="http://schemas.openxmlformats.org/presentationml/2006/main">
  <p:cSld>
    <p:bg>
      <p:bgPr>
        <a:solidFill xmlns:a="http://schemas.openxmlformats.org/drawingml/2006/main">
          <a:srgbClr val="00285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C483D13-E23E-40CA-B5A3-DCF80AB8D42D}"/>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D9A8A"/>
          </a:solidFill>
          <a:ln xmlns:a="http://schemas.openxmlformats.org/drawingml/2006/main" w="0">
            <a:solidFill>
              <a:srgbClr val="1D9A8A"/>
            </a:solidFill>
            <a:prstDash val="solid"/>
          </a:ln>
        </p:spPr>
      </p:sp>
      <p:sp>
        <p:nvSpPr>
          <p:cNvPr id="2" name="">
            <a:extLst xmlns:a="http://schemas.openxmlformats.org/drawingml/2006/main">
              <a:ext uri="{FF2B5EF4-FFF2-40B4-BE49-F238E27FC236}">
                <a16:creationId xmlns:a16="http://schemas.microsoft.com/office/drawing/2014/main" id="{8B220C38-1F8B-4D9D-B152-0265755844AE}"/>
              </a:ext>
            </a:extLst>
          </p:cNvPr>
          <p:cNvSpPr>
            <a:spLocks xmlns:a="http://schemas.openxmlformats.org/drawingml/2006/main" noGrp="1"/>
          </p:cNvSpPr>
          <p:nvPr/>
        </p:nvSpPr>
        <p:spPr>
          <a:xfrm xmlns:a="http://schemas.openxmlformats.org/drawingml/2006/main">
            <a:off x="8239125" y="0"/>
            <a:ext cx="3952875" cy="3714750"/>
          </a:xfrm>
          <a:prstGeom xmlns:a="http://schemas.openxmlformats.org/drawingml/2006/main" prst="ellipse">
            <a:avLst/>
          </a:prstGeom>
          <a:solidFill xmlns:a="http://schemas.openxmlformats.org/drawingml/2006/main">
            <a:srgbClr val="0B3C66"/>
          </a:solidFill>
          <a:ln xmlns:a="http://schemas.openxmlformats.org/drawingml/2006/main" w="0">
            <a:solidFill>
              <a:srgbClr val="0B3C66"/>
            </a:solidFill>
            <a:prstDash val="solid"/>
          </a:ln>
        </p:spPr>
      </p:sp>
      <p:sp>
        <p:nvSpPr>
          <p:cNvPr id="3" name="">
            <a:extLst xmlns:a="http://schemas.openxmlformats.org/drawingml/2006/main">
              <a:ext uri="{FF2B5EF4-FFF2-40B4-BE49-F238E27FC236}">
                <a16:creationId xmlns:a16="http://schemas.microsoft.com/office/drawing/2014/main" id="{BC5678AA-BB61-417D-A4C5-5BA85319A320}"/>
              </a:ext>
            </a:extLst>
          </p:cNvPr>
          <p:cNvSpPr>
            <a:spLocks xmlns:a="http://schemas.openxmlformats.org/drawingml/2006/main" noGrp="1"/>
          </p:cNvSpPr>
          <p:nvPr/>
        </p:nvSpPr>
        <p:spPr>
          <a:xfrm xmlns:a="http://schemas.openxmlformats.org/drawingml/2006/main">
            <a:off x="8858250" y="2047875"/>
            <a:ext cx="3333750" cy="3333750"/>
          </a:xfrm>
          <a:prstGeom xmlns:a="http://schemas.openxmlformats.org/drawingml/2006/main" prst="ellipse">
            <a:avLst/>
          </a:prstGeom>
          <a:solidFill xmlns:a="http://schemas.openxmlformats.org/drawingml/2006/main">
            <a:srgbClr val="15517C"/>
          </a:solidFill>
          <a:ln xmlns:a="http://schemas.openxmlformats.org/drawingml/2006/main" w="0">
            <a:solidFill>
              <a:srgbClr val="15517C"/>
            </a:solidFill>
            <a:prstDash val="solid"/>
          </a:ln>
        </p:spPr>
      </p:sp>
      <p:sp>
        <p:nvSpPr>
          <p:cNvPr id="4" name="">
            <a:extLst xmlns:a="http://schemas.openxmlformats.org/drawingml/2006/main">
              <a:ext uri="{FF2B5EF4-FFF2-40B4-BE49-F238E27FC236}">
                <a16:creationId xmlns:a16="http://schemas.microsoft.com/office/drawing/2014/main" id="{60A95922-3FCD-499F-B707-50E46DD070DD}"/>
              </a:ext>
            </a:extLst>
          </p:cNvPr>
          <p:cNvSpPr>
            <a:spLocks xmlns:a="http://schemas.openxmlformats.org/drawingml/2006/main" noGrp="1"/>
          </p:cNvSpPr>
          <p:nvPr/>
        </p:nvSpPr>
        <p:spPr>
          <a:xfrm xmlns:a="http://schemas.openxmlformats.org/drawingml/2006/main">
            <a:off x="7239000" y="4476750"/>
            <a:ext cx="4953000" cy="876300"/>
          </a:xfrm>
          <a:prstGeom xmlns:a="http://schemas.openxmlformats.org/drawingml/2006/main" prst="roundRect">
            <a:avLst>
              <a:gd name="adj" fmla="val 50000"/>
            </a:avLst>
          </a:prstGeom>
          <a:solidFill xmlns:a="http://schemas.openxmlformats.org/drawingml/2006/main">
            <a:srgbClr val="1D9A8A"/>
          </a:solidFill>
          <a:ln xmlns:a="http://schemas.openxmlformats.org/drawingml/2006/main" w="0">
            <a:solidFill>
              <a:srgbClr val="1D9A8A"/>
            </a:solidFill>
            <a:prstDash val="solid"/>
          </a:ln>
        </p:spPr>
      </p:sp>
      <p:sp>
        <p:nvSpPr>
          <p:cNvPr id="5" name="">
            <a:extLst xmlns:a="http://schemas.openxmlformats.org/drawingml/2006/main">
              <a:ext uri="{FF2B5EF4-FFF2-40B4-BE49-F238E27FC236}">
                <a16:creationId xmlns:a16="http://schemas.microsoft.com/office/drawing/2014/main" id="{71CBEE56-7F15-4B16-923F-2F0EB658863B}"/>
              </a:ext>
            </a:extLst>
          </p:cNvPr>
          <p:cNvSpPr>
            <a:spLocks xmlns:a="http://schemas.openxmlformats.org/drawingml/2006/main" noGrp="1"/>
          </p:cNvSpPr>
          <p:nvPr/>
        </p:nvSpPr>
        <p:spPr>
          <a:xfrm xmlns:a="http://schemas.openxmlformats.org/drawingml/2006/main">
            <a:off x="685800" y="6096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BB8D1"/>
                </a:solidFill>
              </a:defRPr>
            </a:pPr>
            <a:r>
              <a:rPr sz="975" b="1">
                <a:solidFill>
                  <a:srgbClr val="5BB8D1"/>
                </a:solidFill>
              </a:rPr>
              <a:t>CAREALLIES  |  DATA + AI</a:t>
            </a:r>
          </a:p>
        </p:txBody>
      </p:sp>
      <p:sp>
        <p:nvSpPr>
          <p:cNvPr id="6" name="">
            <a:extLst xmlns:a="http://schemas.openxmlformats.org/drawingml/2006/main">
              <a:ext uri="{FF2B5EF4-FFF2-40B4-BE49-F238E27FC236}">
                <a16:creationId xmlns:a16="http://schemas.microsoft.com/office/drawing/2014/main" id="{6823FA35-217B-46C3-89F6-B26F04F1B530}"/>
              </a:ext>
            </a:extLst>
          </p:cNvPr>
          <p:cNvSpPr>
            <a:spLocks xmlns:a="http://schemas.openxmlformats.org/drawingml/2006/main" noGrp="1"/>
          </p:cNvSpPr>
          <p:nvPr/>
        </p:nvSpPr>
        <p:spPr>
          <a:xfrm xmlns:a="http://schemas.openxmlformats.org/drawingml/2006/main">
            <a:off x="685800" y="1485900"/>
            <a:ext cx="657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4350" b="1">
                <a:solidFill>
                  <a:srgbClr val="FFFFFF"/>
                </a:solidFill>
              </a:defRPr>
            </a:pPr>
            <a:r>
              <a:rPr sz="4350" b="1">
                <a:solidFill>
                  <a:srgbClr val="FFFFFF"/>
                </a:solidFill>
              </a:rPr>
              <a:t>Data Lake LLM</a:t>
            </a:r>
          </a:p>
        </p:txBody>
      </p:sp>
      <p:sp>
        <p:nvSpPr>
          <p:cNvPr id="7" name="">
            <a:extLst xmlns:a="http://schemas.openxmlformats.org/drawingml/2006/main">
              <a:ext uri="{FF2B5EF4-FFF2-40B4-BE49-F238E27FC236}">
                <a16:creationId xmlns:a16="http://schemas.microsoft.com/office/drawing/2014/main" id="{C85BE3A6-42A0-4261-B63A-AC85CFA064EF}"/>
              </a:ext>
            </a:extLst>
          </p:cNvPr>
          <p:cNvSpPr>
            <a:spLocks xmlns:a="http://schemas.openxmlformats.org/drawingml/2006/main" noGrp="1"/>
          </p:cNvSpPr>
          <p:nvPr/>
        </p:nvSpPr>
        <p:spPr>
          <a:xfrm xmlns:a="http://schemas.openxmlformats.org/drawingml/2006/main">
            <a:off x="685800" y="2209800"/>
            <a:ext cx="65722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0">
                <a:solidFill>
                  <a:srgbClr val="DCE8F0"/>
                </a:solidFill>
              </a:defRPr>
            </a:pPr>
            <a:r>
              <a:rPr sz="2250" b="0">
                <a:solidFill>
                  <a:srgbClr val="DCE8F0"/>
                </a:solidFill>
              </a:rPr>
              <a:t>A governed path from file-based RAG to production intelligence</a:t>
            </a:r>
          </a:p>
        </p:txBody>
      </p:sp>
      <p:sp>
        <p:nvSpPr>
          <p:cNvPr id="8" name="">
            <a:extLst xmlns:a="http://schemas.openxmlformats.org/drawingml/2006/main">
              <a:ext uri="{FF2B5EF4-FFF2-40B4-BE49-F238E27FC236}">
                <a16:creationId xmlns:a16="http://schemas.microsoft.com/office/drawing/2014/main" id="{B252FA14-E329-4544-9C0A-FF7F4537BB4E}"/>
              </a:ext>
            </a:extLst>
          </p:cNvPr>
          <p:cNvSpPr>
            <a:spLocks xmlns:a="http://schemas.openxmlformats.org/drawingml/2006/main" noGrp="1"/>
          </p:cNvSpPr>
          <p:nvPr/>
        </p:nvSpPr>
        <p:spPr>
          <a:xfrm xmlns:a="http://schemas.openxmlformats.org/drawingml/2006/main">
            <a:off x="685800" y="3381375"/>
            <a:ext cx="1257300" cy="47625"/>
          </a:xfrm>
          <a:prstGeom xmlns:a="http://schemas.openxmlformats.org/drawingml/2006/main" prst="rect">
            <a:avLst/>
          </a:prstGeom>
          <a:solidFill xmlns:a="http://schemas.openxmlformats.org/drawingml/2006/main">
            <a:srgbClr val="1D9A8A"/>
          </a:solidFill>
          <a:ln xmlns:a="http://schemas.openxmlformats.org/drawingml/2006/main" w="0">
            <a:solidFill>
              <a:srgbClr val="1D9A8A"/>
            </a:solidFill>
            <a:prstDash val="solid"/>
          </a:ln>
        </p:spPr>
      </p:sp>
      <p:sp>
        <p:nvSpPr>
          <p:cNvPr id="9" name="">
            <a:extLst xmlns:a="http://schemas.openxmlformats.org/drawingml/2006/main">
              <a:ext uri="{FF2B5EF4-FFF2-40B4-BE49-F238E27FC236}">
                <a16:creationId xmlns:a16="http://schemas.microsoft.com/office/drawing/2014/main" id="{234EE5EA-1F8A-4847-B8AE-0473A597A5E1}"/>
              </a:ext>
            </a:extLst>
          </p:cNvPr>
          <p:cNvSpPr>
            <a:spLocks xmlns:a="http://schemas.openxmlformats.org/drawingml/2006/main" noGrp="1"/>
          </p:cNvSpPr>
          <p:nvPr/>
        </p:nvSpPr>
        <p:spPr>
          <a:xfrm xmlns:a="http://schemas.openxmlformats.org/drawingml/2006/main">
            <a:off x="685800" y="3705225"/>
            <a:ext cx="666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C5D6E2"/>
                </a:solidFill>
              </a:defRPr>
            </a:pPr>
            <a:r>
              <a:rPr sz="1350" b="0">
                <a:solidFill>
                  <a:srgbClr val="C5D6E2"/>
                </a:solidFill>
              </a:rPr>
              <a:t>Data feeds  •  Architecture modules  •  Conversation Q&amp;A  •  Improvement roadmap</a:t>
            </a:r>
          </a:p>
        </p:txBody>
      </p:sp>
      <p:sp>
        <p:nvSpPr>
          <p:cNvPr id="10" name="">
            <a:extLst xmlns:a="http://schemas.openxmlformats.org/drawingml/2006/main">
              <a:ext uri="{FF2B5EF4-FFF2-40B4-BE49-F238E27FC236}">
                <a16:creationId xmlns:a16="http://schemas.microsoft.com/office/drawing/2014/main" id="{B24DC836-8BF3-4E38-B057-1C1A184B46B8}"/>
              </a:ext>
            </a:extLst>
          </p:cNvPr>
          <p:cNvSpPr>
            <a:spLocks xmlns:a="http://schemas.openxmlformats.org/drawingml/2006/main" noGrp="1"/>
          </p:cNvSpPr>
          <p:nvPr/>
        </p:nvSpPr>
        <p:spPr>
          <a:xfrm xmlns:a="http://schemas.openxmlformats.org/drawingml/2006/main">
            <a:off x="685800" y="58674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BB8D1"/>
                </a:solidFill>
              </a:defRPr>
            </a:pPr>
            <a:r>
              <a:rPr sz="1050" b="0">
                <a:solidFill>
                  <a:srgbClr val="5BB8D1"/>
                </a:solidFill>
              </a:rPr>
              <a:t>Technical architecture narrative</a:t>
            </a:r>
          </a:p>
        </p:txBody>
      </p:sp>
      <p:sp>
        <p:nvSpPr>
          <p:cNvPr id="11" name="">
            <a:extLst xmlns:a="http://schemas.openxmlformats.org/drawingml/2006/main">
              <a:ext uri="{FF2B5EF4-FFF2-40B4-BE49-F238E27FC236}">
                <a16:creationId xmlns:a16="http://schemas.microsoft.com/office/drawing/2014/main" id="{D1C6C855-4D38-4F96-86DA-B8DD20BE323F}"/>
              </a:ext>
            </a:extLst>
          </p:cNvPr>
          <p:cNvSpPr>
            <a:spLocks xmlns:a="http://schemas.openxmlformats.org/drawingml/2006/main" noGrp="1"/>
          </p:cNvSpPr>
          <p:nvPr/>
        </p:nvSpPr>
        <p:spPr>
          <a:xfrm xmlns:a="http://schemas.openxmlformats.org/drawingml/2006/main">
            <a:off x="685800" y="6162675"/>
            <a:ext cx="457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9FB8C9"/>
                </a:solidFill>
              </a:defRPr>
            </a:pPr>
            <a:r>
              <a:rPr sz="825" b="1">
                <a:solidFill>
                  <a:srgbClr val="9FB8C9"/>
                </a:solidFill>
              </a:rPr>
              <a:t>SEPTEMBER 2026</a:t>
            </a:r>
          </a:p>
        </p:txBody>
      </p:sp>
    </p:spTree>
    <p:extLst>
      <p:ext uri="{BB962C8B-B14F-4D97-AF65-F5344CB8AC3E}">
        <p14:creationId xmlns:p14="http://schemas.microsoft.com/office/powerpoint/2010/main" val="1665733016"/>
      </p:ext>
    </p:extLst>
  </p:cSld>
</p:sld>
</file>

<file path=ppt/slides/slide2.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43616123-5957-4210-A512-90C10747A567}"/>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D9A8A"/>
                </a:solidFill>
              </a:defRPr>
            </a:pPr>
            <a:r>
              <a:rPr sz="900" b="1">
                <a:solidFill>
                  <a:srgbClr val="1D9A8A"/>
                </a:solidFill>
              </a:rPr>
              <a:t>EXECUTIVE VIEW</a:t>
            </a:r>
          </a:p>
        </p:txBody>
      </p:sp>
      <p:sp>
        <p:nvSpPr>
          <p:cNvPr id="2" name="">
            <a:extLst xmlns:a="http://schemas.openxmlformats.org/drawingml/2006/main">
              <a:ext uri="{FF2B5EF4-FFF2-40B4-BE49-F238E27FC236}">
                <a16:creationId xmlns:a16="http://schemas.microsoft.com/office/drawing/2014/main" id="{4D345627-1362-4DDB-93C8-32CCE46FD5E3}"/>
              </a:ext>
            </a:extLst>
          </p:cNvPr>
          <p:cNvSpPr>
            <a:spLocks xmlns:a="http://schemas.openxmlformats.org/drawingml/2006/main" noGrp="1"/>
          </p:cNvSpPr>
          <p:nvPr/>
        </p:nvSpPr>
        <p:spPr>
          <a:xfrm xmlns:a="http://schemas.openxmlformats.org/drawingml/2006/main">
            <a:off x="609600" y="6477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2850"/>
                </a:solidFill>
              </a:defRPr>
            </a:pPr>
            <a:r>
              <a:rPr sz="2700" b="1">
                <a:solidFill>
                  <a:srgbClr val="002850"/>
                </a:solidFill>
              </a:rPr>
              <a:t>The production answer is hybrid, not ‘RAG over everything’</a:t>
            </a:r>
          </a:p>
        </p:txBody>
      </p:sp>
      <p:sp>
        <p:nvSpPr>
          <p:cNvPr id="3" name="">
            <a:extLst xmlns:a="http://schemas.openxmlformats.org/drawingml/2006/main">
              <a:ext uri="{FF2B5EF4-FFF2-40B4-BE49-F238E27FC236}">
                <a16:creationId xmlns:a16="http://schemas.microsoft.com/office/drawing/2014/main" id="{0BEC91DE-9FEE-4678-BAFC-BDFCD7CAA24E}"/>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4" name="">
            <a:extLst xmlns:a="http://schemas.openxmlformats.org/drawingml/2006/main">
              <a:ext uri="{FF2B5EF4-FFF2-40B4-BE49-F238E27FC236}">
                <a16:creationId xmlns:a16="http://schemas.microsoft.com/office/drawing/2014/main" id="{696F22E4-BC24-4687-A420-10F09535D3A9}"/>
              </a:ext>
            </a:extLst>
          </p:cNvPr>
          <p:cNvSpPr>
            <a:spLocks xmlns:a="http://schemas.openxmlformats.org/drawingml/2006/main" noGrp="1"/>
          </p:cNvSpPr>
          <p:nvPr/>
        </p:nvSpPr>
        <p:spPr>
          <a:xfrm xmlns:a="http://schemas.openxmlformats.org/drawingml/2006/main">
            <a:off x="11087100" y="3619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788B98"/>
                </a:solidFill>
              </a:defRPr>
            </a:pPr>
            <a:r>
              <a:rPr sz="900" b="1">
                <a:solidFill>
                  <a:srgbClr val="788B98"/>
                </a:solidFill>
              </a:rPr>
              <a:t>02</a:t>
            </a:r>
          </a:p>
        </p:txBody>
      </p:sp>
      <p:sp>
        <p:nvSpPr>
          <p:cNvPr id="5" name="">
            <a:extLst xmlns:a="http://schemas.openxmlformats.org/drawingml/2006/main">
              <a:ext uri="{FF2B5EF4-FFF2-40B4-BE49-F238E27FC236}">
                <a16:creationId xmlns:a16="http://schemas.microsoft.com/office/drawing/2014/main" id="{25E0225C-4A89-441A-A96C-02704842FFE7}"/>
              </a:ext>
            </a:extLst>
          </p:cNvPr>
          <p:cNvSpPr>
            <a:spLocks xmlns:a="http://schemas.openxmlformats.org/drawingml/2006/main" noGrp="1"/>
          </p:cNvSpPr>
          <p:nvPr/>
        </p:nvSpPr>
        <p:spPr>
          <a:xfrm xmlns:a="http://schemas.openxmlformats.org/drawingml/2006/main">
            <a:off x="609600" y="1466850"/>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0">
                <a:solidFill>
                  <a:srgbClr val="516575"/>
                </a:solidFill>
              </a:defRPr>
            </a:pPr>
            <a:r>
              <a:rPr sz="1725" b="0">
                <a:solidFill>
                  <a:srgbClr val="516575"/>
                </a:solidFill>
              </a:rPr>
              <a:t>Structured data needs exact retrieval. Specifications need governed logic. Narrative evidence needs semantic retrieval. The LLM connects the pieces and explains them.</a:t>
            </a:r>
          </a:p>
        </p:txBody>
      </p:sp>
      <p:sp>
        <p:nvSpPr>
          <p:cNvPr id="6" name="">
            <a:extLst xmlns:a="http://schemas.openxmlformats.org/drawingml/2006/main">
              <a:ext uri="{FF2B5EF4-FFF2-40B4-BE49-F238E27FC236}">
                <a16:creationId xmlns:a16="http://schemas.microsoft.com/office/drawing/2014/main" id="{C5ED7E9E-EE61-4FF2-B80C-F8F38835AB13}"/>
              </a:ext>
            </a:extLst>
          </p:cNvPr>
          <p:cNvSpPr>
            <a:spLocks xmlns:a="http://schemas.openxmlformats.org/drawingml/2006/main" noGrp="1"/>
          </p:cNvSpPr>
          <p:nvPr/>
        </p:nvSpPr>
        <p:spPr>
          <a:xfrm xmlns:a="http://schemas.openxmlformats.org/drawingml/2006/main">
            <a:off x="609600" y="2476500"/>
            <a:ext cx="2428875" cy="2647950"/>
          </a:xfrm>
          <a:prstGeom xmlns:a="http://schemas.openxmlformats.org/drawingml/2006/main" prst="roundRect">
            <a:avLst>
              <a:gd name="adj" fmla="val 4706"/>
            </a:avLst>
          </a:prstGeom>
          <a:solidFill xmlns:a="http://schemas.openxmlformats.org/drawingml/2006/main">
            <a:srgbClr val="E5F0F7"/>
          </a:solidFill>
          <a:ln xmlns:a="http://schemas.openxmlformats.org/drawingml/2006/main" w="9525">
            <a:solidFill>
              <a:srgbClr val="D5E0E8"/>
            </a:solidFill>
            <a:prstDash val="solid"/>
          </a:ln>
        </p:spPr>
      </p:sp>
      <p:sp>
        <p:nvSpPr>
          <p:cNvPr id="7" name="">
            <a:extLst xmlns:a="http://schemas.openxmlformats.org/drawingml/2006/main">
              <a:ext uri="{FF2B5EF4-FFF2-40B4-BE49-F238E27FC236}">
                <a16:creationId xmlns:a16="http://schemas.microsoft.com/office/drawing/2014/main" id="{56B751C5-1742-4AFC-A85D-14E6C22796D7}"/>
              </a:ext>
            </a:extLst>
          </p:cNvPr>
          <p:cNvSpPr>
            <a:spLocks xmlns:a="http://schemas.openxmlformats.org/drawingml/2006/main" noGrp="1"/>
          </p:cNvSpPr>
          <p:nvPr/>
        </p:nvSpPr>
        <p:spPr>
          <a:xfrm xmlns:a="http://schemas.openxmlformats.org/drawingml/2006/main">
            <a:off x="800100" y="2686050"/>
            <a:ext cx="381000" cy="381000"/>
          </a:xfrm>
          <a:prstGeom xmlns:a="http://schemas.openxmlformats.org/drawingml/2006/main" prst="ellipse">
            <a:avLst/>
          </a:prstGeom>
          <a:solidFill xmlns:a="http://schemas.openxmlformats.org/drawingml/2006/main">
            <a:srgbClr val="2B6F9F"/>
          </a:solidFill>
          <a:ln xmlns:a="http://schemas.openxmlformats.org/drawingml/2006/main" w="0">
            <a:solidFill>
              <a:srgbClr val="2B6F9F"/>
            </a:solidFill>
            <a:prstDash val="solid"/>
          </a:ln>
        </p:spPr>
      </p:sp>
      <p:sp>
        <p:nvSpPr>
          <p:cNvPr id="8" name="">
            <a:extLst xmlns:a="http://schemas.openxmlformats.org/drawingml/2006/main">
              <a:ext uri="{FF2B5EF4-FFF2-40B4-BE49-F238E27FC236}">
                <a16:creationId xmlns:a16="http://schemas.microsoft.com/office/drawing/2014/main" id="{7919B22B-6726-419B-9EE6-6E39BF66D691}"/>
              </a:ext>
            </a:extLst>
          </p:cNvPr>
          <p:cNvSpPr>
            <a:spLocks xmlns:a="http://schemas.openxmlformats.org/drawingml/2006/main" noGrp="1"/>
          </p:cNvSpPr>
          <p:nvPr/>
        </p:nvSpPr>
        <p:spPr>
          <a:xfrm xmlns:a="http://schemas.openxmlformats.org/drawingml/2006/main">
            <a:off x="800100" y="2695575"/>
            <a:ext cx="38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1</a:t>
            </a:r>
          </a:p>
        </p:txBody>
      </p:sp>
      <p:sp>
        <p:nvSpPr>
          <p:cNvPr id="9" name="">
            <a:extLst xmlns:a="http://schemas.openxmlformats.org/drawingml/2006/main">
              <a:ext uri="{FF2B5EF4-FFF2-40B4-BE49-F238E27FC236}">
                <a16:creationId xmlns:a16="http://schemas.microsoft.com/office/drawing/2014/main" id="{E1393BD6-4192-4895-8BAB-6759B5A5D95B}"/>
              </a:ext>
            </a:extLst>
          </p:cNvPr>
          <p:cNvSpPr>
            <a:spLocks xmlns:a="http://schemas.openxmlformats.org/drawingml/2006/main" noGrp="1"/>
          </p:cNvSpPr>
          <p:nvPr/>
        </p:nvSpPr>
        <p:spPr>
          <a:xfrm xmlns:a="http://schemas.openxmlformats.org/drawingml/2006/main">
            <a:off x="800100" y="3267075"/>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02850"/>
                </a:solidFill>
              </a:defRPr>
            </a:pPr>
            <a:r>
              <a:rPr sz="1500" b="1">
                <a:solidFill>
                  <a:srgbClr val="002850"/>
                </a:solidFill>
              </a:rPr>
              <a:t>QUERY</a:t>
            </a:r>
          </a:p>
        </p:txBody>
      </p:sp>
      <p:sp>
        <p:nvSpPr>
          <p:cNvPr id="10" name="">
            <a:extLst xmlns:a="http://schemas.openxmlformats.org/drawingml/2006/main">
              <a:ext uri="{FF2B5EF4-FFF2-40B4-BE49-F238E27FC236}">
                <a16:creationId xmlns:a16="http://schemas.microsoft.com/office/drawing/2014/main" id="{3386EF8B-3EDE-44E5-80E9-7A82B9BDEEDA}"/>
              </a:ext>
            </a:extLst>
          </p:cNvPr>
          <p:cNvSpPr>
            <a:spLocks xmlns:a="http://schemas.openxmlformats.org/drawingml/2006/main" noGrp="1"/>
          </p:cNvSpPr>
          <p:nvPr/>
        </p:nvSpPr>
        <p:spPr>
          <a:xfrm xmlns:a="http://schemas.openxmlformats.org/drawingml/2006/main">
            <a:off x="800100" y="3714750"/>
            <a:ext cx="204787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72A3A"/>
                </a:solidFill>
              </a:defRPr>
            </a:pPr>
            <a:r>
              <a:rPr sz="1275" b="0">
                <a:solidFill>
                  <a:srgbClr val="172A3A"/>
                </a:solidFill>
              </a:rPr>
              <a:t>Teradata SQL for claims, Stars, alignment, eligibility, and metrics.</a:t>
            </a:r>
          </a:p>
        </p:txBody>
      </p:sp>
      <p:sp>
        <p:nvSpPr>
          <p:cNvPr id="11" name="">
            <a:extLst xmlns:a="http://schemas.openxmlformats.org/drawingml/2006/main">
              <a:ext uri="{FF2B5EF4-FFF2-40B4-BE49-F238E27FC236}">
                <a16:creationId xmlns:a16="http://schemas.microsoft.com/office/drawing/2014/main" id="{9B542C1F-82C7-4E14-A4C1-E5F9A63DCB6A}"/>
              </a:ext>
            </a:extLst>
          </p:cNvPr>
          <p:cNvSpPr>
            <a:spLocks xmlns:a="http://schemas.openxmlformats.org/drawingml/2006/main" noGrp="1"/>
          </p:cNvSpPr>
          <p:nvPr/>
        </p:nvSpPr>
        <p:spPr>
          <a:xfrm xmlns:a="http://schemas.openxmlformats.org/drawingml/2006/main">
            <a:off x="3343275" y="2476500"/>
            <a:ext cx="2428875" cy="2647950"/>
          </a:xfrm>
          <a:prstGeom xmlns:a="http://schemas.openxmlformats.org/drawingml/2006/main" prst="roundRect">
            <a:avLst>
              <a:gd name="adj" fmla="val 4706"/>
            </a:avLst>
          </a:prstGeom>
          <a:solidFill xmlns:a="http://schemas.openxmlformats.org/drawingml/2006/main">
            <a:srgbClr val="E7F4F1"/>
          </a:solidFill>
          <a:ln xmlns:a="http://schemas.openxmlformats.org/drawingml/2006/main" w="9525">
            <a:solidFill>
              <a:srgbClr val="D5E0E8"/>
            </a:solidFill>
            <a:prstDash val="solid"/>
          </a:ln>
        </p:spPr>
      </p:sp>
      <p:sp>
        <p:nvSpPr>
          <p:cNvPr id="12" name="">
            <a:extLst xmlns:a="http://schemas.openxmlformats.org/drawingml/2006/main">
              <a:ext uri="{FF2B5EF4-FFF2-40B4-BE49-F238E27FC236}">
                <a16:creationId xmlns:a16="http://schemas.microsoft.com/office/drawing/2014/main" id="{08D40ED8-FE33-416C-9D92-763F7C7B984E}"/>
              </a:ext>
            </a:extLst>
          </p:cNvPr>
          <p:cNvSpPr>
            <a:spLocks xmlns:a="http://schemas.openxmlformats.org/drawingml/2006/main" noGrp="1"/>
          </p:cNvSpPr>
          <p:nvPr/>
        </p:nvSpPr>
        <p:spPr>
          <a:xfrm xmlns:a="http://schemas.openxmlformats.org/drawingml/2006/main">
            <a:off x="3533775" y="2686050"/>
            <a:ext cx="381000" cy="381000"/>
          </a:xfrm>
          <a:prstGeom xmlns:a="http://schemas.openxmlformats.org/drawingml/2006/main" prst="ellipse">
            <a:avLst/>
          </a:prstGeom>
          <a:solidFill xmlns:a="http://schemas.openxmlformats.org/drawingml/2006/main">
            <a:srgbClr val="1D9A8A"/>
          </a:solidFill>
          <a:ln xmlns:a="http://schemas.openxmlformats.org/drawingml/2006/main" w="0">
            <a:solidFill>
              <a:srgbClr val="1D9A8A"/>
            </a:solidFill>
            <a:prstDash val="solid"/>
          </a:ln>
        </p:spPr>
      </p:sp>
      <p:sp>
        <p:nvSpPr>
          <p:cNvPr id="13" name="">
            <a:extLst xmlns:a="http://schemas.openxmlformats.org/drawingml/2006/main">
              <a:ext uri="{FF2B5EF4-FFF2-40B4-BE49-F238E27FC236}">
                <a16:creationId xmlns:a16="http://schemas.microsoft.com/office/drawing/2014/main" id="{9D350D07-6ACF-409D-9C28-B37FBECCCFCA}"/>
              </a:ext>
            </a:extLst>
          </p:cNvPr>
          <p:cNvSpPr>
            <a:spLocks xmlns:a="http://schemas.openxmlformats.org/drawingml/2006/main" noGrp="1"/>
          </p:cNvSpPr>
          <p:nvPr/>
        </p:nvSpPr>
        <p:spPr>
          <a:xfrm xmlns:a="http://schemas.openxmlformats.org/drawingml/2006/main">
            <a:off x="3533775" y="2695575"/>
            <a:ext cx="38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2</a:t>
            </a:r>
          </a:p>
        </p:txBody>
      </p:sp>
      <p:sp>
        <p:nvSpPr>
          <p:cNvPr id="14" name="">
            <a:extLst xmlns:a="http://schemas.openxmlformats.org/drawingml/2006/main">
              <a:ext uri="{FF2B5EF4-FFF2-40B4-BE49-F238E27FC236}">
                <a16:creationId xmlns:a16="http://schemas.microsoft.com/office/drawing/2014/main" id="{EFE39634-F553-4DAF-8A4E-ECAFDCF811D4}"/>
              </a:ext>
            </a:extLst>
          </p:cNvPr>
          <p:cNvSpPr>
            <a:spLocks xmlns:a="http://schemas.openxmlformats.org/drawingml/2006/main" noGrp="1"/>
          </p:cNvSpPr>
          <p:nvPr/>
        </p:nvSpPr>
        <p:spPr>
          <a:xfrm xmlns:a="http://schemas.openxmlformats.org/drawingml/2006/main">
            <a:off x="3533775" y="3267075"/>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02850"/>
                </a:solidFill>
              </a:defRPr>
            </a:pPr>
            <a:r>
              <a:rPr sz="1500" b="1">
                <a:solidFill>
                  <a:srgbClr val="002850"/>
                </a:solidFill>
              </a:rPr>
              <a:t>DECIDE</a:t>
            </a:r>
          </a:p>
        </p:txBody>
      </p:sp>
      <p:sp>
        <p:nvSpPr>
          <p:cNvPr id="15" name="">
            <a:extLst xmlns:a="http://schemas.openxmlformats.org/drawingml/2006/main">
              <a:ext uri="{FF2B5EF4-FFF2-40B4-BE49-F238E27FC236}">
                <a16:creationId xmlns:a16="http://schemas.microsoft.com/office/drawing/2014/main" id="{982602C5-AACF-420C-A517-2D23CC9BC872}"/>
              </a:ext>
            </a:extLst>
          </p:cNvPr>
          <p:cNvSpPr>
            <a:spLocks xmlns:a="http://schemas.openxmlformats.org/drawingml/2006/main" noGrp="1"/>
          </p:cNvSpPr>
          <p:nvPr/>
        </p:nvSpPr>
        <p:spPr>
          <a:xfrm xmlns:a="http://schemas.openxmlformats.org/drawingml/2006/main">
            <a:off x="3533775" y="3714750"/>
            <a:ext cx="204787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72A3A"/>
                </a:solidFill>
              </a:defRPr>
            </a:pPr>
            <a:r>
              <a:rPr sz="1275" b="0">
                <a:solidFill>
                  <a:srgbClr val="172A3A"/>
                </a:solidFill>
              </a:rPr>
              <a:t>Versioned deterministic rules for measure logic and reconciliation.</a:t>
            </a:r>
          </a:p>
        </p:txBody>
      </p:sp>
      <p:sp>
        <p:nvSpPr>
          <p:cNvPr id="16" name="">
            <a:extLst xmlns:a="http://schemas.openxmlformats.org/drawingml/2006/main">
              <a:ext uri="{FF2B5EF4-FFF2-40B4-BE49-F238E27FC236}">
                <a16:creationId xmlns:a16="http://schemas.microsoft.com/office/drawing/2014/main" id="{1DD17523-C3A2-4630-ABFF-0704B278A915}"/>
              </a:ext>
            </a:extLst>
          </p:cNvPr>
          <p:cNvSpPr>
            <a:spLocks xmlns:a="http://schemas.openxmlformats.org/drawingml/2006/main" noGrp="1"/>
          </p:cNvSpPr>
          <p:nvPr/>
        </p:nvSpPr>
        <p:spPr>
          <a:xfrm xmlns:a="http://schemas.openxmlformats.org/drawingml/2006/main">
            <a:off x="6076950" y="2476500"/>
            <a:ext cx="2428875" cy="2647950"/>
          </a:xfrm>
          <a:prstGeom xmlns:a="http://schemas.openxmlformats.org/drawingml/2006/main" prst="roundRect">
            <a:avLst>
              <a:gd name="adj" fmla="val 4706"/>
            </a:avLst>
          </a:prstGeom>
          <a:solidFill xmlns:a="http://schemas.openxmlformats.org/drawingml/2006/main">
            <a:srgbClr val="FFF2E6"/>
          </a:solidFill>
          <a:ln xmlns:a="http://schemas.openxmlformats.org/drawingml/2006/main" w="9525">
            <a:solidFill>
              <a:srgbClr val="D5E0E8"/>
            </a:solidFill>
            <a:prstDash val="solid"/>
          </a:ln>
        </p:spPr>
      </p:sp>
      <p:sp>
        <p:nvSpPr>
          <p:cNvPr id="17" name="">
            <a:extLst xmlns:a="http://schemas.openxmlformats.org/drawingml/2006/main">
              <a:ext uri="{FF2B5EF4-FFF2-40B4-BE49-F238E27FC236}">
                <a16:creationId xmlns:a16="http://schemas.microsoft.com/office/drawing/2014/main" id="{534675D0-5F64-44EF-B67A-228E99C7C318}"/>
              </a:ext>
            </a:extLst>
          </p:cNvPr>
          <p:cNvSpPr>
            <a:spLocks xmlns:a="http://schemas.openxmlformats.org/drawingml/2006/main" noGrp="1"/>
          </p:cNvSpPr>
          <p:nvPr/>
        </p:nvSpPr>
        <p:spPr>
          <a:xfrm xmlns:a="http://schemas.openxmlformats.org/drawingml/2006/main">
            <a:off x="6267450" y="2686050"/>
            <a:ext cx="381000" cy="381000"/>
          </a:xfrm>
          <a:prstGeom xmlns:a="http://schemas.openxmlformats.org/drawingml/2006/main" prst="ellipse">
            <a:avLst/>
          </a:prstGeom>
          <a:solidFill xmlns:a="http://schemas.openxmlformats.org/drawingml/2006/main">
            <a:srgbClr val="E58A3A"/>
          </a:solidFill>
          <a:ln xmlns:a="http://schemas.openxmlformats.org/drawingml/2006/main" w="0">
            <a:solidFill>
              <a:srgbClr val="E58A3A"/>
            </a:solidFill>
            <a:prstDash val="solid"/>
          </a:ln>
        </p:spPr>
      </p:sp>
      <p:sp>
        <p:nvSpPr>
          <p:cNvPr id="18" name="">
            <a:extLst xmlns:a="http://schemas.openxmlformats.org/drawingml/2006/main">
              <a:ext uri="{FF2B5EF4-FFF2-40B4-BE49-F238E27FC236}">
                <a16:creationId xmlns:a16="http://schemas.microsoft.com/office/drawing/2014/main" id="{55C531E4-7ADF-450A-BB4C-5163B7C6289E}"/>
              </a:ext>
            </a:extLst>
          </p:cNvPr>
          <p:cNvSpPr>
            <a:spLocks xmlns:a="http://schemas.openxmlformats.org/drawingml/2006/main" noGrp="1"/>
          </p:cNvSpPr>
          <p:nvPr/>
        </p:nvSpPr>
        <p:spPr>
          <a:xfrm xmlns:a="http://schemas.openxmlformats.org/drawingml/2006/main">
            <a:off x="6267450" y="2695575"/>
            <a:ext cx="38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3</a:t>
            </a:r>
          </a:p>
        </p:txBody>
      </p:sp>
      <p:sp>
        <p:nvSpPr>
          <p:cNvPr id="19" name="">
            <a:extLst xmlns:a="http://schemas.openxmlformats.org/drawingml/2006/main">
              <a:ext uri="{FF2B5EF4-FFF2-40B4-BE49-F238E27FC236}">
                <a16:creationId xmlns:a16="http://schemas.microsoft.com/office/drawing/2014/main" id="{D5AEA8E4-A78F-4BE1-9F1F-A59CAD7E47F2}"/>
              </a:ext>
            </a:extLst>
          </p:cNvPr>
          <p:cNvSpPr>
            <a:spLocks xmlns:a="http://schemas.openxmlformats.org/drawingml/2006/main" noGrp="1"/>
          </p:cNvSpPr>
          <p:nvPr/>
        </p:nvSpPr>
        <p:spPr>
          <a:xfrm xmlns:a="http://schemas.openxmlformats.org/drawingml/2006/main">
            <a:off x="6267450" y="3267075"/>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02850"/>
                </a:solidFill>
              </a:defRPr>
            </a:pPr>
            <a:r>
              <a:rPr sz="1500" b="1">
                <a:solidFill>
                  <a:srgbClr val="002850"/>
                </a:solidFill>
              </a:rPr>
              <a:t>RETRIEVE</a:t>
            </a:r>
          </a:p>
        </p:txBody>
      </p:sp>
      <p:sp>
        <p:nvSpPr>
          <p:cNvPr id="20" name="">
            <a:extLst xmlns:a="http://schemas.openxmlformats.org/drawingml/2006/main">
              <a:ext uri="{FF2B5EF4-FFF2-40B4-BE49-F238E27FC236}">
                <a16:creationId xmlns:a16="http://schemas.microsoft.com/office/drawing/2014/main" id="{933801B2-E295-4956-97AC-D963C37523D6}"/>
              </a:ext>
            </a:extLst>
          </p:cNvPr>
          <p:cNvSpPr>
            <a:spLocks xmlns:a="http://schemas.openxmlformats.org/drawingml/2006/main" noGrp="1"/>
          </p:cNvSpPr>
          <p:nvPr/>
        </p:nvSpPr>
        <p:spPr>
          <a:xfrm xmlns:a="http://schemas.openxmlformats.org/drawingml/2006/main">
            <a:off x="6267450" y="3714750"/>
            <a:ext cx="204787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72A3A"/>
                </a:solidFill>
              </a:defRPr>
            </a:pPr>
            <a:r>
              <a:rPr sz="1275" b="0">
                <a:solidFill>
                  <a:srgbClr val="172A3A"/>
                </a:solidFill>
              </a:rPr>
              <a:t>RAG for clinical notes, specifications, methodology, and citations.</a:t>
            </a:r>
          </a:p>
        </p:txBody>
      </p:sp>
      <p:sp>
        <p:nvSpPr>
          <p:cNvPr id="21" name="">
            <a:extLst xmlns:a="http://schemas.openxmlformats.org/drawingml/2006/main">
              <a:ext uri="{FF2B5EF4-FFF2-40B4-BE49-F238E27FC236}">
                <a16:creationId xmlns:a16="http://schemas.microsoft.com/office/drawing/2014/main" id="{89C568EB-65AA-4ADC-B0DF-7EACE35CCC0A}"/>
              </a:ext>
            </a:extLst>
          </p:cNvPr>
          <p:cNvSpPr>
            <a:spLocks xmlns:a="http://schemas.openxmlformats.org/drawingml/2006/main" noGrp="1"/>
          </p:cNvSpPr>
          <p:nvPr/>
        </p:nvSpPr>
        <p:spPr>
          <a:xfrm xmlns:a="http://schemas.openxmlformats.org/drawingml/2006/main">
            <a:off x="8810625" y="2476500"/>
            <a:ext cx="2428875" cy="2647950"/>
          </a:xfrm>
          <a:prstGeom xmlns:a="http://schemas.openxmlformats.org/drawingml/2006/main" prst="roundRect">
            <a:avLst>
              <a:gd name="adj" fmla="val 4706"/>
            </a:avLst>
          </a:prstGeom>
          <a:solidFill xmlns:a="http://schemas.openxmlformats.org/drawingml/2006/main">
            <a:srgbClr val="FFFFFF"/>
          </a:solidFill>
          <a:ln xmlns:a="http://schemas.openxmlformats.org/drawingml/2006/main" w="9525">
            <a:solidFill>
              <a:srgbClr val="D5E0E8"/>
            </a:solidFill>
            <a:prstDash val="solid"/>
          </a:ln>
        </p:spPr>
      </p:sp>
      <p:sp>
        <p:nvSpPr>
          <p:cNvPr id="22" name="">
            <a:extLst xmlns:a="http://schemas.openxmlformats.org/drawingml/2006/main">
              <a:ext uri="{FF2B5EF4-FFF2-40B4-BE49-F238E27FC236}">
                <a16:creationId xmlns:a16="http://schemas.microsoft.com/office/drawing/2014/main" id="{23633BC2-41F3-4A06-BC10-C3AE01AA9C90}"/>
              </a:ext>
            </a:extLst>
          </p:cNvPr>
          <p:cNvSpPr>
            <a:spLocks xmlns:a="http://schemas.openxmlformats.org/drawingml/2006/main" noGrp="1"/>
          </p:cNvSpPr>
          <p:nvPr/>
        </p:nvSpPr>
        <p:spPr>
          <a:xfrm xmlns:a="http://schemas.openxmlformats.org/drawingml/2006/main">
            <a:off x="9001125" y="2686050"/>
            <a:ext cx="381000" cy="381000"/>
          </a:xfrm>
          <a:prstGeom xmlns:a="http://schemas.openxmlformats.org/drawingml/2006/main" prst="ellipse">
            <a:avLst/>
          </a:prstGeom>
          <a:solidFill xmlns:a="http://schemas.openxmlformats.org/drawingml/2006/main">
            <a:srgbClr val="002850"/>
          </a:solidFill>
          <a:ln xmlns:a="http://schemas.openxmlformats.org/drawingml/2006/main" w="0">
            <a:solidFill>
              <a:srgbClr val="002850"/>
            </a:solidFill>
            <a:prstDash val="solid"/>
          </a:ln>
        </p:spPr>
      </p:sp>
      <p:sp>
        <p:nvSpPr>
          <p:cNvPr id="23" name="">
            <a:extLst xmlns:a="http://schemas.openxmlformats.org/drawingml/2006/main">
              <a:ext uri="{FF2B5EF4-FFF2-40B4-BE49-F238E27FC236}">
                <a16:creationId xmlns:a16="http://schemas.microsoft.com/office/drawing/2014/main" id="{8B52E7BA-4157-4771-8DE2-5700B40CDE34}"/>
              </a:ext>
            </a:extLst>
          </p:cNvPr>
          <p:cNvSpPr>
            <a:spLocks xmlns:a="http://schemas.openxmlformats.org/drawingml/2006/main" noGrp="1"/>
          </p:cNvSpPr>
          <p:nvPr/>
        </p:nvSpPr>
        <p:spPr>
          <a:xfrm xmlns:a="http://schemas.openxmlformats.org/drawingml/2006/main">
            <a:off x="9001125" y="2695575"/>
            <a:ext cx="381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FFFFFF"/>
                </a:solidFill>
              </a:defRPr>
            </a:pPr>
            <a:r>
              <a:rPr sz="1200" b="1">
                <a:solidFill>
                  <a:srgbClr val="FFFFFF"/>
                </a:solidFill>
              </a:rPr>
              <a:t>4</a:t>
            </a:r>
          </a:p>
        </p:txBody>
      </p:sp>
      <p:sp>
        <p:nvSpPr>
          <p:cNvPr id="24" name="">
            <a:extLst xmlns:a="http://schemas.openxmlformats.org/drawingml/2006/main">
              <a:ext uri="{FF2B5EF4-FFF2-40B4-BE49-F238E27FC236}">
                <a16:creationId xmlns:a16="http://schemas.microsoft.com/office/drawing/2014/main" id="{ABEF5A26-33D7-4863-812C-BCD9A52D1D88}"/>
              </a:ext>
            </a:extLst>
          </p:cNvPr>
          <p:cNvSpPr>
            <a:spLocks xmlns:a="http://schemas.openxmlformats.org/drawingml/2006/main" noGrp="1"/>
          </p:cNvSpPr>
          <p:nvPr/>
        </p:nvSpPr>
        <p:spPr>
          <a:xfrm xmlns:a="http://schemas.openxmlformats.org/drawingml/2006/main">
            <a:off x="9001125" y="3267075"/>
            <a:ext cx="2047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02850"/>
                </a:solidFill>
              </a:defRPr>
            </a:pPr>
            <a:r>
              <a:rPr sz="1500" b="1">
                <a:solidFill>
                  <a:srgbClr val="002850"/>
                </a:solidFill>
              </a:rPr>
              <a:t>EXPLAIN</a:t>
            </a:r>
          </a:p>
        </p:txBody>
      </p:sp>
      <p:sp>
        <p:nvSpPr>
          <p:cNvPr id="25" name="">
            <a:extLst xmlns:a="http://schemas.openxmlformats.org/drawingml/2006/main">
              <a:ext uri="{FF2B5EF4-FFF2-40B4-BE49-F238E27FC236}">
                <a16:creationId xmlns:a16="http://schemas.microsoft.com/office/drawing/2014/main" id="{54092D3C-C77A-48C8-BD79-A95FE909D1F9}"/>
              </a:ext>
            </a:extLst>
          </p:cNvPr>
          <p:cNvSpPr>
            <a:spLocks xmlns:a="http://schemas.openxmlformats.org/drawingml/2006/main" noGrp="1"/>
          </p:cNvSpPr>
          <p:nvPr/>
        </p:nvSpPr>
        <p:spPr>
          <a:xfrm xmlns:a="http://schemas.openxmlformats.org/drawingml/2006/main">
            <a:off x="9001125" y="3714750"/>
            <a:ext cx="2047875"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72A3A"/>
                </a:solidFill>
              </a:defRPr>
            </a:pPr>
            <a:r>
              <a:rPr sz="1275" b="0">
                <a:solidFill>
                  <a:srgbClr val="172A3A"/>
                </a:solidFill>
              </a:rPr>
              <a:t>An approved LLM converts the evidence bundle into a clear answer.</a:t>
            </a:r>
          </a:p>
        </p:txBody>
      </p:sp>
      <p:sp>
        <p:nvSpPr>
          <p:cNvPr id="26" name="">
            <a:extLst xmlns:a="http://schemas.openxmlformats.org/drawingml/2006/main">
              <a:ext uri="{FF2B5EF4-FFF2-40B4-BE49-F238E27FC236}">
                <a16:creationId xmlns:a16="http://schemas.microsoft.com/office/drawing/2014/main" id="{90F747B3-AC8D-4E29-AE74-8754DC64BB04}"/>
              </a:ext>
            </a:extLst>
          </p:cNvPr>
          <p:cNvSpPr>
            <a:spLocks xmlns:a="http://schemas.openxmlformats.org/drawingml/2006/main" noGrp="1"/>
          </p:cNvSpPr>
          <p:nvPr/>
        </p:nvSpPr>
        <p:spPr>
          <a:xfrm xmlns:a="http://schemas.openxmlformats.org/drawingml/2006/main">
            <a:off x="609600" y="5467350"/>
            <a:ext cx="10629900" cy="571500"/>
          </a:xfrm>
          <a:prstGeom xmlns:a="http://schemas.openxmlformats.org/drawingml/2006/main" prst="roundRect">
            <a:avLst>
              <a:gd name="adj" fmla="val 20000"/>
            </a:avLst>
          </a:prstGeom>
          <a:solidFill xmlns:a="http://schemas.openxmlformats.org/drawingml/2006/main">
            <a:srgbClr val="002850"/>
          </a:solidFill>
          <a:ln xmlns:a="http://schemas.openxmlformats.org/drawingml/2006/main" w="0">
            <a:solidFill>
              <a:srgbClr val="002850"/>
            </a:solidFill>
            <a:prstDash val="solid"/>
          </a:ln>
        </p:spPr>
      </p:sp>
      <p:sp>
        <p:nvSpPr>
          <p:cNvPr id="27" name="">
            <a:extLst xmlns:a="http://schemas.openxmlformats.org/drawingml/2006/main">
              <a:ext uri="{FF2B5EF4-FFF2-40B4-BE49-F238E27FC236}">
                <a16:creationId xmlns:a16="http://schemas.microsoft.com/office/drawing/2014/main" id="{133E38C6-3E56-4B32-8CB1-CB5FED4770AD}"/>
              </a:ext>
            </a:extLst>
          </p:cNvPr>
          <p:cNvSpPr>
            <a:spLocks xmlns:a="http://schemas.openxmlformats.org/drawingml/2006/main" noGrp="1"/>
          </p:cNvSpPr>
          <p:nvPr/>
        </p:nvSpPr>
        <p:spPr>
          <a:xfrm xmlns:a="http://schemas.openxmlformats.org/drawingml/2006/main">
            <a:off x="876300" y="5600700"/>
            <a:ext cx="1009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FFFFFF"/>
                </a:solidFill>
              </a:defRPr>
            </a:pPr>
            <a:r>
              <a:rPr sz="1500" b="1">
                <a:solidFill>
                  <a:srgbClr val="FFFFFF"/>
                </a:solidFill>
              </a:rPr>
              <a:t>Core principle: the rule engine makes the judgment. RAG shows where the rule came from. The LLM explains the result.</a:t>
            </a:r>
          </a:p>
        </p:txBody>
      </p:sp>
      <p:sp>
        <p:nvSpPr>
          <p:cNvPr id="28" name="">
            <a:extLst xmlns:a="http://schemas.openxmlformats.org/drawingml/2006/main">
              <a:ext uri="{FF2B5EF4-FFF2-40B4-BE49-F238E27FC236}">
                <a16:creationId xmlns:a16="http://schemas.microsoft.com/office/drawing/2014/main" id="{DD7B249A-82BF-41F6-9D5C-DF3AEE9234B2}"/>
              </a:ext>
            </a:extLst>
          </p:cNvPr>
          <p:cNvSpPr>
            <a:spLocks xmlns:a="http://schemas.openxmlformats.org/drawingml/2006/main" noGrp="1"/>
          </p:cNvSpPr>
          <p:nvPr/>
        </p:nvSpPr>
        <p:spPr>
          <a:xfrm xmlns:a="http://schemas.openxmlformats.org/drawingml/2006/main">
            <a:off x="609600" y="6486525"/>
            <a:ext cx="523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788B98"/>
                </a:solidFill>
              </a:defRPr>
            </a:pPr>
            <a:r>
              <a:rPr sz="750" b="0">
                <a:solidFill>
                  <a:srgbClr val="788B98"/>
                </a:solidFill>
              </a:rPr>
              <a:t>CareAllies Data Lake LLM</a:t>
            </a:r>
          </a:p>
        </p:txBody>
      </p:sp>
      <p:sp>
        <p:nvSpPr>
          <p:cNvPr id="29" name="">
            <a:extLst xmlns:a="http://schemas.openxmlformats.org/drawingml/2006/main">
              <a:ext uri="{FF2B5EF4-FFF2-40B4-BE49-F238E27FC236}">
                <a16:creationId xmlns:a16="http://schemas.microsoft.com/office/drawing/2014/main" id="{5B01F5B8-11B7-4ABB-AA58-9E7D174D5675}"/>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Tree>
    <p:extLst>
      <p:ext uri="{BB962C8B-B14F-4D97-AF65-F5344CB8AC3E}">
        <p14:creationId xmlns:p14="http://schemas.microsoft.com/office/powerpoint/2010/main" val="644627000"/>
      </p:ext>
    </p:extLst>
  </p:cSld>
</p:sld>
</file>

<file path=ppt/slides/slide3.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DDF8CE67-3265-496F-9128-5FC1DF27A8AD}"/>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D9A8A"/>
                </a:solidFill>
              </a:defRPr>
            </a:pPr>
            <a:r>
              <a:rPr sz="900" b="1">
                <a:solidFill>
                  <a:srgbClr val="1D9A8A"/>
                </a:solidFill>
              </a:rPr>
              <a:t>CURRENT PROOF OF CONCEPT</a:t>
            </a:r>
          </a:p>
        </p:txBody>
      </p:sp>
      <p:sp>
        <p:nvSpPr>
          <p:cNvPr id="2" name="">
            <a:extLst xmlns:a="http://schemas.openxmlformats.org/drawingml/2006/main">
              <a:ext uri="{FF2B5EF4-FFF2-40B4-BE49-F238E27FC236}">
                <a16:creationId xmlns:a16="http://schemas.microsoft.com/office/drawing/2014/main" id="{86B294B0-3852-4616-9EC8-B06227E46008}"/>
              </a:ext>
            </a:extLst>
          </p:cNvPr>
          <p:cNvSpPr>
            <a:spLocks xmlns:a="http://schemas.openxmlformats.org/drawingml/2006/main" noGrp="1"/>
          </p:cNvSpPr>
          <p:nvPr/>
        </p:nvSpPr>
        <p:spPr>
          <a:xfrm xmlns:a="http://schemas.openxmlformats.org/drawingml/2006/main">
            <a:off x="609600" y="6477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2850"/>
                </a:solidFill>
              </a:defRPr>
            </a:pPr>
            <a:r>
              <a:rPr sz="2700" b="1">
                <a:solidFill>
                  <a:srgbClr val="002850"/>
                </a:solidFill>
              </a:rPr>
              <a:t>The notebook already combines four evidence layers</a:t>
            </a:r>
          </a:p>
        </p:txBody>
      </p:sp>
      <p:sp>
        <p:nvSpPr>
          <p:cNvPr id="3" name="">
            <a:extLst xmlns:a="http://schemas.openxmlformats.org/drawingml/2006/main">
              <a:ext uri="{FF2B5EF4-FFF2-40B4-BE49-F238E27FC236}">
                <a16:creationId xmlns:a16="http://schemas.microsoft.com/office/drawing/2014/main" id="{19C74D0A-947C-499B-BCE6-DAED04911906}"/>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4" name="">
            <a:extLst xmlns:a="http://schemas.openxmlformats.org/drawingml/2006/main">
              <a:ext uri="{FF2B5EF4-FFF2-40B4-BE49-F238E27FC236}">
                <a16:creationId xmlns:a16="http://schemas.microsoft.com/office/drawing/2014/main" id="{007A364D-1B74-477E-86DD-A05568A02B3B}"/>
              </a:ext>
            </a:extLst>
          </p:cNvPr>
          <p:cNvSpPr>
            <a:spLocks xmlns:a="http://schemas.openxmlformats.org/drawingml/2006/main" noGrp="1"/>
          </p:cNvSpPr>
          <p:nvPr/>
        </p:nvSpPr>
        <p:spPr>
          <a:xfrm xmlns:a="http://schemas.openxmlformats.org/drawingml/2006/main">
            <a:off x="11087100" y="3619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788B98"/>
                </a:solidFill>
              </a:defRPr>
            </a:pPr>
            <a:r>
              <a:rPr sz="900" b="1">
                <a:solidFill>
                  <a:srgbClr val="788B98"/>
                </a:solidFill>
              </a:rPr>
              <a:t>03</a:t>
            </a:r>
          </a:p>
        </p:txBody>
      </p:sp>
      <p:sp>
        <p:nvSpPr>
          <p:cNvPr id="5" name="">
            <a:extLst xmlns:a="http://schemas.openxmlformats.org/drawingml/2006/main">
              <a:ext uri="{FF2B5EF4-FFF2-40B4-BE49-F238E27FC236}">
                <a16:creationId xmlns:a16="http://schemas.microsoft.com/office/drawing/2014/main" id="{92AE61A9-9F19-409F-9644-D841E9DD2635}"/>
              </a:ext>
            </a:extLst>
          </p:cNvPr>
          <p:cNvSpPr>
            <a:spLocks xmlns:a="http://schemas.openxmlformats.org/drawingml/2006/main" noGrp="1"/>
          </p:cNvSpPr>
          <p:nvPr/>
        </p:nvSpPr>
        <p:spPr>
          <a:xfrm xmlns:a="http://schemas.openxmlformats.org/drawingml/2006/main">
            <a:off x="609600" y="1638300"/>
            <a:ext cx="2457450" cy="2543175"/>
          </a:xfrm>
          <a:prstGeom xmlns:a="http://schemas.openxmlformats.org/drawingml/2006/main" prst="roundRect">
            <a:avLst>
              <a:gd name="adj" fmla="val 4651"/>
            </a:avLst>
          </a:prstGeom>
          <a:solidFill xmlns:a="http://schemas.openxmlformats.org/drawingml/2006/main">
            <a:srgbClr val="E7F4F1"/>
          </a:solidFill>
          <a:ln xmlns:a="http://schemas.openxmlformats.org/drawingml/2006/main" w="9525">
            <a:solidFill>
              <a:srgbClr val="D5E0E8"/>
            </a:solidFill>
            <a:prstDash val="solid"/>
          </a:ln>
        </p:spPr>
      </p:sp>
      <p:sp>
        <p:nvSpPr>
          <p:cNvPr id="6" name="">
            <a:extLst xmlns:a="http://schemas.openxmlformats.org/drawingml/2006/main">
              <a:ext uri="{FF2B5EF4-FFF2-40B4-BE49-F238E27FC236}">
                <a16:creationId xmlns:a16="http://schemas.microsoft.com/office/drawing/2014/main" id="{4C7DEC93-C880-4389-AEDB-B5342F9003D6}"/>
              </a:ext>
            </a:extLst>
          </p:cNvPr>
          <p:cNvSpPr>
            <a:spLocks xmlns:a="http://schemas.openxmlformats.org/drawingml/2006/main" noGrp="1"/>
          </p:cNvSpPr>
          <p:nvPr/>
        </p:nvSpPr>
        <p:spPr>
          <a:xfrm xmlns:a="http://schemas.openxmlformats.org/drawingml/2006/main">
            <a:off x="800100" y="184785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D9A8A"/>
                </a:solidFill>
              </a:defRPr>
            </a:pPr>
            <a:r>
              <a:rPr sz="900" b="1">
                <a:solidFill>
                  <a:srgbClr val="1D9A8A"/>
                </a:solidFill>
              </a:rPr>
              <a:t>CLINICAL NOTES</a:t>
            </a:r>
          </a:p>
        </p:txBody>
      </p:sp>
      <p:sp>
        <p:nvSpPr>
          <p:cNvPr id="7" name="">
            <a:extLst xmlns:a="http://schemas.openxmlformats.org/drawingml/2006/main">
              <a:ext uri="{FF2B5EF4-FFF2-40B4-BE49-F238E27FC236}">
                <a16:creationId xmlns:a16="http://schemas.microsoft.com/office/drawing/2014/main" id="{CF7058EC-A63C-4152-BFB0-AA1C25478A4F}"/>
              </a:ext>
            </a:extLst>
          </p:cNvPr>
          <p:cNvSpPr>
            <a:spLocks xmlns:a="http://schemas.openxmlformats.org/drawingml/2006/main" noGrp="1"/>
          </p:cNvSpPr>
          <p:nvPr/>
        </p:nvSpPr>
        <p:spPr>
          <a:xfrm xmlns:a="http://schemas.openxmlformats.org/drawingml/2006/main">
            <a:off x="800100" y="2257425"/>
            <a:ext cx="2076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002850"/>
                </a:solidFill>
              </a:defRPr>
            </a:pPr>
            <a:r>
              <a:rPr sz="3450" b="1">
                <a:solidFill>
                  <a:srgbClr val="002850"/>
                </a:solidFill>
              </a:rPr>
              <a:t>60</a:t>
            </a:r>
          </a:p>
        </p:txBody>
      </p:sp>
      <p:sp>
        <p:nvSpPr>
          <p:cNvPr id="8" name="">
            <a:extLst xmlns:a="http://schemas.openxmlformats.org/drawingml/2006/main">
              <a:ext uri="{FF2B5EF4-FFF2-40B4-BE49-F238E27FC236}">
                <a16:creationId xmlns:a16="http://schemas.microsoft.com/office/drawing/2014/main" id="{524F5464-DDE2-492E-AB74-95CCD69876A5}"/>
              </a:ext>
            </a:extLst>
          </p:cNvPr>
          <p:cNvSpPr>
            <a:spLocks xmlns:a="http://schemas.openxmlformats.org/drawingml/2006/main" noGrp="1"/>
          </p:cNvSpPr>
          <p:nvPr/>
        </p:nvSpPr>
        <p:spPr>
          <a:xfrm xmlns:a="http://schemas.openxmlformats.org/drawingml/2006/main">
            <a:off x="800100" y="3067050"/>
            <a:ext cx="20764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16575"/>
                </a:solidFill>
              </a:defRPr>
            </a:pPr>
            <a:r>
              <a:rPr sz="1200" b="0">
                <a:solidFill>
                  <a:srgbClr val="516575"/>
                </a:solidFill>
              </a:rPr>
              <a:t>Synthetic OCR-style notes</a:t>
            </a:r>
          </a:p>
          <a:p xmlns:a="http://schemas.openxmlformats.org/drawingml/2006/main">
            <a:pPr algn="l">
              <a:defRPr sz="1200" b="0">
                <a:solidFill>
                  <a:srgbClr val="516575"/>
                </a:solidFill>
              </a:defRPr>
            </a:pPr>
            <a:r>
              <a:rPr sz="1200" b="0">
                <a:solidFill>
                  <a:srgbClr val="516575"/>
                </a:solidFill>
              </a:rPr>
              <a:t>Narrative preventive-care evidence</a:t>
            </a:r>
          </a:p>
        </p:txBody>
      </p:sp>
      <p:sp>
        <p:nvSpPr>
          <p:cNvPr id="9" name="">
            <a:extLst xmlns:a="http://schemas.openxmlformats.org/drawingml/2006/main">
              <a:ext uri="{FF2B5EF4-FFF2-40B4-BE49-F238E27FC236}">
                <a16:creationId xmlns:a16="http://schemas.microsoft.com/office/drawing/2014/main" id="{C408E130-5E87-43B4-A4EE-1FCA220E508B}"/>
              </a:ext>
            </a:extLst>
          </p:cNvPr>
          <p:cNvSpPr>
            <a:spLocks xmlns:a="http://schemas.openxmlformats.org/drawingml/2006/main" noGrp="1"/>
          </p:cNvSpPr>
          <p:nvPr/>
        </p:nvSpPr>
        <p:spPr>
          <a:xfrm xmlns:a="http://schemas.openxmlformats.org/drawingml/2006/main">
            <a:off x="3333750" y="1638300"/>
            <a:ext cx="2457450" cy="2543175"/>
          </a:xfrm>
          <a:prstGeom xmlns:a="http://schemas.openxmlformats.org/drawingml/2006/main" prst="roundRect">
            <a:avLst>
              <a:gd name="adj" fmla="val 4651"/>
            </a:avLst>
          </a:prstGeom>
          <a:solidFill xmlns:a="http://schemas.openxmlformats.org/drawingml/2006/main">
            <a:srgbClr val="E5F0F7"/>
          </a:solidFill>
          <a:ln xmlns:a="http://schemas.openxmlformats.org/drawingml/2006/main" w="9525">
            <a:solidFill>
              <a:srgbClr val="D5E0E8"/>
            </a:solidFill>
            <a:prstDash val="solid"/>
          </a:ln>
        </p:spPr>
      </p:sp>
      <p:sp>
        <p:nvSpPr>
          <p:cNvPr id="10" name="">
            <a:extLst xmlns:a="http://schemas.openxmlformats.org/drawingml/2006/main">
              <a:ext uri="{FF2B5EF4-FFF2-40B4-BE49-F238E27FC236}">
                <a16:creationId xmlns:a16="http://schemas.microsoft.com/office/drawing/2014/main" id="{A63EB705-09CF-4781-B58E-9042C7EFFCF7}"/>
              </a:ext>
            </a:extLst>
          </p:cNvPr>
          <p:cNvSpPr>
            <a:spLocks xmlns:a="http://schemas.openxmlformats.org/drawingml/2006/main" noGrp="1"/>
          </p:cNvSpPr>
          <p:nvPr/>
        </p:nvSpPr>
        <p:spPr>
          <a:xfrm xmlns:a="http://schemas.openxmlformats.org/drawingml/2006/main">
            <a:off x="3524250" y="184785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B6F9F"/>
                </a:solidFill>
              </a:defRPr>
            </a:pPr>
            <a:r>
              <a:rPr sz="900" b="1">
                <a:solidFill>
                  <a:srgbClr val="2B6F9F"/>
                </a:solidFill>
              </a:rPr>
              <a:t>STARS RECORDS</a:t>
            </a:r>
          </a:p>
        </p:txBody>
      </p:sp>
      <p:sp>
        <p:nvSpPr>
          <p:cNvPr id="11" name="">
            <a:extLst xmlns:a="http://schemas.openxmlformats.org/drawingml/2006/main">
              <a:ext uri="{FF2B5EF4-FFF2-40B4-BE49-F238E27FC236}">
                <a16:creationId xmlns:a16="http://schemas.microsoft.com/office/drawing/2014/main" id="{979F63FA-A835-4E6F-A35A-A3629296937B}"/>
              </a:ext>
            </a:extLst>
          </p:cNvPr>
          <p:cNvSpPr>
            <a:spLocks xmlns:a="http://schemas.openxmlformats.org/drawingml/2006/main" noGrp="1"/>
          </p:cNvSpPr>
          <p:nvPr/>
        </p:nvSpPr>
        <p:spPr>
          <a:xfrm xmlns:a="http://schemas.openxmlformats.org/drawingml/2006/main">
            <a:off x="3524250" y="2257425"/>
            <a:ext cx="2076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002850"/>
                </a:solidFill>
              </a:defRPr>
            </a:pPr>
            <a:r>
              <a:rPr sz="3450" b="1">
                <a:solidFill>
                  <a:srgbClr val="002850"/>
                </a:solidFill>
              </a:rPr>
              <a:t>60</a:t>
            </a:r>
          </a:p>
        </p:txBody>
      </p:sp>
      <p:sp>
        <p:nvSpPr>
          <p:cNvPr id="12" name="">
            <a:extLst xmlns:a="http://schemas.openxmlformats.org/drawingml/2006/main">
              <a:ext uri="{FF2B5EF4-FFF2-40B4-BE49-F238E27FC236}">
                <a16:creationId xmlns:a16="http://schemas.microsoft.com/office/drawing/2014/main" id="{23B68CB5-D80F-41AE-8BC6-076B107AB75D}"/>
              </a:ext>
            </a:extLst>
          </p:cNvPr>
          <p:cNvSpPr>
            <a:spLocks xmlns:a="http://schemas.openxmlformats.org/drawingml/2006/main" noGrp="1"/>
          </p:cNvSpPr>
          <p:nvPr/>
        </p:nvSpPr>
        <p:spPr>
          <a:xfrm xmlns:a="http://schemas.openxmlformats.org/drawingml/2006/main">
            <a:off x="3524250" y="3067050"/>
            <a:ext cx="20764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16575"/>
                </a:solidFill>
              </a:defRPr>
            </a:pPr>
            <a:r>
              <a:rPr sz="1200" b="0">
                <a:solidFill>
                  <a:srgbClr val="516575"/>
                </a:solidFill>
              </a:rPr>
              <a:t>Structured patient-measure status</a:t>
            </a:r>
          </a:p>
          <a:p xmlns:a="http://schemas.openxmlformats.org/drawingml/2006/main">
            <a:pPr algn="l">
              <a:defRPr sz="1200" b="0">
                <a:solidFill>
                  <a:srgbClr val="516575"/>
                </a:solidFill>
              </a:defRPr>
            </a:pPr>
            <a:r>
              <a:rPr sz="1200" b="0">
                <a:solidFill>
                  <a:srgbClr val="516575"/>
                </a:solidFill>
              </a:rPr>
              <a:t>Gaps, closures, and PDC</a:t>
            </a:r>
          </a:p>
        </p:txBody>
      </p:sp>
      <p:sp>
        <p:nvSpPr>
          <p:cNvPr id="13" name="">
            <a:extLst xmlns:a="http://schemas.openxmlformats.org/drawingml/2006/main">
              <a:ext uri="{FF2B5EF4-FFF2-40B4-BE49-F238E27FC236}">
                <a16:creationId xmlns:a16="http://schemas.microsoft.com/office/drawing/2014/main" id="{A4C293BF-4A13-4D83-A425-20EE44FA8A3A}"/>
              </a:ext>
            </a:extLst>
          </p:cNvPr>
          <p:cNvSpPr>
            <a:spLocks xmlns:a="http://schemas.openxmlformats.org/drawingml/2006/main" noGrp="1"/>
          </p:cNvSpPr>
          <p:nvPr/>
        </p:nvSpPr>
        <p:spPr>
          <a:xfrm xmlns:a="http://schemas.openxmlformats.org/drawingml/2006/main">
            <a:off x="6057900" y="1638300"/>
            <a:ext cx="2457450" cy="2543175"/>
          </a:xfrm>
          <a:prstGeom xmlns:a="http://schemas.openxmlformats.org/drawingml/2006/main" prst="roundRect">
            <a:avLst>
              <a:gd name="adj" fmla="val 4651"/>
            </a:avLst>
          </a:prstGeom>
          <a:solidFill xmlns:a="http://schemas.openxmlformats.org/drawingml/2006/main">
            <a:srgbClr val="FFF2E6"/>
          </a:solidFill>
          <a:ln xmlns:a="http://schemas.openxmlformats.org/drawingml/2006/main" w="9525">
            <a:solidFill>
              <a:srgbClr val="D5E0E8"/>
            </a:solidFill>
            <a:prstDash val="solid"/>
          </a:ln>
        </p:spPr>
      </p:sp>
      <p:sp>
        <p:nvSpPr>
          <p:cNvPr id="14" name="">
            <a:extLst xmlns:a="http://schemas.openxmlformats.org/drawingml/2006/main">
              <a:ext uri="{FF2B5EF4-FFF2-40B4-BE49-F238E27FC236}">
                <a16:creationId xmlns:a16="http://schemas.microsoft.com/office/drawing/2014/main" id="{6F40F0D2-AB8E-4FE7-BEBA-0BE1C139B659}"/>
              </a:ext>
            </a:extLst>
          </p:cNvPr>
          <p:cNvSpPr>
            <a:spLocks xmlns:a="http://schemas.openxmlformats.org/drawingml/2006/main" noGrp="1"/>
          </p:cNvSpPr>
          <p:nvPr/>
        </p:nvSpPr>
        <p:spPr>
          <a:xfrm xmlns:a="http://schemas.openxmlformats.org/drawingml/2006/main">
            <a:off x="6248400" y="184785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E58A3A"/>
                </a:solidFill>
              </a:defRPr>
            </a:pPr>
            <a:r>
              <a:rPr sz="900" b="1">
                <a:solidFill>
                  <a:srgbClr val="E58A3A"/>
                </a:solidFill>
              </a:rPr>
              <a:t>PAID CLAIM LINES</a:t>
            </a:r>
          </a:p>
        </p:txBody>
      </p:sp>
      <p:sp>
        <p:nvSpPr>
          <p:cNvPr id="15" name="">
            <a:extLst xmlns:a="http://schemas.openxmlformats.org/drawingml/2006/main">
              <a:ext uri="{FF2B5EF4-FFF2-40B4-BE49-F238E27FC236}">
                <a16:creationId xmlns:a16="http://schemas.microsoft.com/office/drawing/2014/main" id="{401CD1A5-F625-4197-8881-970A79C6F7A6}"/>
              </a:ext>
            </a:extLst>
          </p:cNvPr>
          <p:cNvSpPr>
            <a:spLocks xmlns:a="http://schemas.openxmlformats.org/drawingml/2006/main" noGrp="1"/>
          </p:cNvSpPr>
          <p:nvPr/>
        </p:nvSpPr>
        <p:spPr>
          <a:xfrm xmlns:a="http://schemas.openxmlformats.org/drawingml/2006/main">
            <a:off x="6248400" y="2257425"/>
            <a:ext cx="2076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002850"/>
                </a:solidFill>
              </a:defRPr>
            </a:pPr>
            <a:r>
              <a:rPr sz="3450" b="1">
                <a:solidFill>
                  <a:srgbClr val="002850"/>
                </a:solidFill>
              </a:rPr>
              <a:t>594</a:t>
            </a:r>
          </a:p>
        </p:txBody>
      </p:sp>
      <p:sp>
        <p:nvSpPr>
          <p:cNvPr id="16" name="">
            <a:extLst xmlns:a="http://schemas.openxmlformats.org/drawingml/2006/main">
              <a:ext uri="{FF2B5EF4-FFF2-40B4-BE49-F238E27FC236}">
                <a16:creationId xmlns:a16="http://schemas.microsoft.com/office/drawing/2014/main" id="{A3B37E97-17F9-4A52-B3D7-9DF5CCEB1A43}"/>
              </a:ext>
            </a:extLst>
          </p:cNvPr>
          <p:cNvSpPr>
            <a:spLocks xmlns:a="http://schemas.openxmlformats.org/drawingml/2006/main" noGrp="1"/>
          </p:cNvSpPr>
          <p:nvPr/>
        </p:nvSpPr>
        <p:spPr>
          <a:xfrm xmlns:a="http://schemas.openxmlformats.org/drawingml/2006/main">
            <a:off x="6248400" y="3067050"/>
            <a:ext cx="20764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16575"/>
                </a:solidFill>
              </a:defRPr>
            </a:pPr>
            <a:r>
              <a:rPr sz="1200" b="0">
                <a:solidFill>
                  <a:srgbClr val="516575"/>
                </a:solidFill>
              </a:rPr>
              <a:t>Medical and pharmacy evidence</a:t>
            </a:r>
          </a:p>
          <a:p xmlns:a="http://schemas.openxmlformats.org/drawingml/2006/main">
            <a:pPr algn="l">
              <a:defRPr sz="1200" b="0">
                <a:solidFill>
                  <a:srgbClr val="516575"/>
                </a:solidFill>
              </a:defRPr>
            </a:pPr>
            <a:r>
              <a:rPr sz="1200" b="0">
                <a:solidFill>
                  <a:srgbClr val="516575"/>
                </a:solidFill>
              </a:rPr>
              <a:t>CPT, CPT-II, NDC, days supply</a:t>
            </a:r>
          </a:p>
        </p:txBody>
      </p:sp>
      <p:sp>
        <p:nvSpPr>
          <p:cNvPr id="17" name="">
            <a:extLst xmlns:a="http://schemas.openxmlformats.org/drawingml/2006/main">
              <a:ext uri="{FF2B5EF4-FFF2-40B4-BE49-F238E27FC236}">
                <a16:creationId xmlns:a16="http://schemas.microsoft.com/office/drawing/2014/main" id="{978C7D78-9DFC-489A-B29D-9AC2583CFE0D}"/>
              </a:ext>
            </a:extLst>
          </p:cNvPr>
          <p:cNvSpPr>
            <a:spLocks xmlns:a="http://schemas.openxmlformats.org/drawingml/2006/main" noGrp="1"/>
          </p:cNvSpPr>
          <p:nvPr/>
        </p:nvSpPr>
        <p:spPr>
          <a:xfrm xmlns:a="http://schemas.openxmlformats.org/drawingml/2006/main">
            <a:off x="8782050" y="1638300"/>
            <a:ext cx="2457450" cy="2543175"/>
          </a:xfrm>
          <a:prstGeom xmlns:a="http://schemas.openxmlformats.org/drawingml/2006/main" prst="roundRect">
            <a:avLst>
              <a:gd name="adj" fmla="val 4651"/>
            </a:avLst>
          </a:prstGeom>
          <a:solidFill xmlns:a="http://schemas.openxmlformats.org/drawingml/2006/main">
            <a:srgbClr val="FFFFFF"/>
          </a:solidFill>
          <a:ln xmlns:a="http://schemas.openxmlformats.org/drawingml/2006/main" w="9525">
            <a:solidFill>
              <a:srgbClr val="D5E0E8"/>
            </a:solidFill>
            <a:prstDash val="solid"/>
          </a:ln>
        </p:spPr>
      </p:sp>
      <p:sp>
        <p:nvSpPr>
          <p:cNvPr id="18" name="">
            <a:extLst xmlns:a="http://schemas.openxmlformats.org/drawingml/2006/main">
              <a:ext uri="{FF2B5EF4-FFF2-40B4-BE49-F238E27FC236}">
                <a16:creationId xmlns:a16="http://schemas.microsoft.com/office/drawing/2014/main" id="{07005AEF-B0DA-4944-ABA4-8691556DDFAD}"/>
              </a:ext>
            </a:extLst>
          </p:cNvPr>
          <p:cNvSpPr>
            <a:spLocks xmlns:a="http://schemas.openxmlformats.org/drawingml/2006/main" noGrp="1"/>
          </p:cNvSpPr>
          <p:nvPr/>
        </p:nvSpPr>
        <p:spPr>
          <a:xfrm xmlns:a="http://schemas.openxmlformats.org/drawingml/2006/main">
            <a:off x="8972550" y="1847850"/>
            <a:ext cx="2076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002850"/>
                </a:solidFill>
              </a:defRPr>
            </a:pPr>
            <a:r>
              <a:rPr sz="900" b="1">
                <a:solidFill>
                  <a:srgbClr val="002850"/>
                </a:solidFill>
              </a:rPr>
              <a:t>IDENTITY + PANEL</a:t>
            </a:r>
          </a:p>
        </p:txBody>
      </p:sp>
      <p:sp>
        <p:nvSpPr>
          <p:cNvPr id="19" name="">
            <a:extLst xmlns:a="http://schemas.openxmlformats.org/drawingml/2006/main">
              <a:ext uri="{FF2B5EF4-FFF2-40B4-BE49-F238E27FC236}">
                <a16:creationId xmlns:a16="http://schemas.microsoft.com/office/drawing/2014/main" id="{89CAF4A2-888E-4C12-BF39-B26E2EAC9EBC}"/>
              </a:ext>
            </a:extLst>
          </p:cNvPr>
          <p:cNvSpPr>
            <a:spLocks xmlns:a="http://schemas.openxmlformats.org/drawingml/2006/main" noGrp="1"/>
          </p:cNvSpPr>
          <p:nvPr/>
        </p:nvSpPr>
        <p:spPr>
          <a:xfrm xmlns:a="http://schemas.openxmlformats.org/drawingml/2006/main">
            <a:off x="8972550" y="2257425"/>
            <a:ext cx="20764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450" b="1">
                <a:solidFill>
                  <a:srgbClr val="002850"/>
                </a:solidFill>
              </a:defRPr>
            </a:pPr>
            <a:r>
              <a:rPr sz="3450" b="1">
                <a:solidFill>
                  <a:srgbClr val="002850"/>
                </a:solidFill>
              </a:rPr>
              <a:t>LINK</a:t>
            </a:r>
          </a:p>
        </p:txBody>
      </p:sp>
      <p:sp>
        <p:nvSpPr>
          <p:cNvPr id="20" name="">
            <a:extLst xmlns:a="http://schemas.openxmlformats.org/drawingml/2006/main">
              <a:ext uri="{FF2B5EF4-FFF2-40B4-BE49-F238E27FC236}">
                <a16:creationId xmlns:a16="http://schemas.microsoft.com/office/drawing/2014/main" id="{C23EB67B-4E13-4E01-9609-6B2408C5D666}"/>
              </a:ext>
            </a:extLst>
          </p:cNvPr>
          <p:cNvSpPr>
            <a:spLocks xmlns:a="http://schemas.openxmlformats.org/drawingml/2006/main" noGrp="1"/>
          </p:cNvSpPr>
          <p:nvPr/>
        </p:nvSpPr>
        <p:spPr>
          <a:xfrm xmlns:a="http://schemas.openxmlformats.org/drawingml/2006/main">
            <a:off x="8972550" y="3067050"/>
            <a:ext cx="20764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16575"/>
                </a:solidFill>
              </a:defRPr>
            </a:pPr>
            <a:r>
              <a:rPr sz="1200" b="0">
                <a:solidFill>
                  <a:srgbClr val="516575"/>
                </a:solidFill>
              </a:rPr>
              <a:t>Member and provider identifiers</a:t>
            </a:r>
          </a:p>
          <a:p xmlns:a="http://schemas.openxmlformats.org/drawingml/2006/main">
            <a:pPr algn="l">
              <a:defRPr sz="1200" b="0">
                <a:solidFill>
                  <a:srgbClr val="516575"/>
                </a:solidFill>
              </a:defRPr>
            </a:pPr>
            <a:r>
              <a:rPr sz="1200" b="0">
                <a:solidFill>
                  <a:srgbClr val="516575"/>
                </a:solidFill>
              </a:rPr>
              <a:t>Panel-level summaries</a:t>
            </a:r>
          </a:p>
        </p:txBody>
      </p:sp>
      <p:sp>
        <p:nvSpPr>
          <p:cNvPr id="21" name="">
            <a:extLst xmlns:a="http://schemas.openxmlformats.org/drawingml/2006/main">
              <a:ext uri="{FF2B5EF4-FFF2-40B4-BE49-F238E27FC236}">
                <a16:creationId xmlns:a16="http://schemas.microsoft.com/office/drawing/2014/main" id="{3BFB811E-243D-471E-9EAC-1DE2E4684A56}"/>
              </a:ext>
            </a:extLst>
          </p:cNvPr>
          <p:cNvSpPr>
            <a:spLocks xmlns:a="http://schemas.openxmlformats.org/drawingml/2006/main" noGrp="1"/>
          </p:cNvSpPr>
          <p:nvPr/>
        </p:nvSpPr>
        <p:spPr>
          <a:xfrm xmlns:a="http://schemas.openxmlformats.org/drawingml/2006/main">
            <a:off x="609600" y="455295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2850"/>
                </a:solidFill>
              </a:defRPr>
            </a:pPr>
            <a:r>
              <a:rPr sz="1725" b="1">
                <a:solidFill>
                  <a:srgbClr val="002850"/>
                </a:solidFill>
              </a:rPr>
              <a:t>What the POC proves</a:t>
            </a:r>
          </a:p>
        </p:txBody>
      </p:sp>
      <p:sp>
        <p:nvSpPr>
          <p:cNvPr id="22" name="">
            <a:extLst xmlns:a="http://schemas.openxmlformats.org/drawingml/2006/main">
              <a:ext uri="{FF2B5EF4-FFF2-40B4-BE49-F238E27FC236}">
                <a16:creationId xmlns:a16="http://schemas.microsoft.com/office/drawing/2014/main" id="{A8EF6C11-C738-48BD-BC30-CCE14B666FE1}"/>
              </a:ext>
            </a:extLst>
          </p:cNvPr>
          <p:cNvSpPr>
            <a:spLocks xmlns:a="http://schemas.openxmlformats.org/drawingml/2006/main" noGrp="1"/>
          </p:cNvSpPr>
          <p:nvPr/>
        </p:nvSpPr>
        <p:spPr>
          <a:xfrm xmlns:a="http://schemas.openxmlformats.org/drawingml/2006/main">
            <a:off x="609600" y="5029200"/>
            <a:ext cx="228600" cy="228600"/>
          </a:xfrm>
          <a:prstGeom xmlns:a="http://schemas.openxmlformats.org/drawingml/2006/main" prst="ellipse">
            <a:avLst/>
          </a:prstGeom>
          <a:solidFill xmlns:a="http://schemas.openxmlformats.org/drawingml/2006/main">
            <a:srgbClr val="E7F4F1"/>
          </a:solidFill>
          <a:ln xmlns:a="http://schemas.openxmlformats.org/drawingml/2006/main" w="0">
            <a:solidFill>
              <a:srgbClr val="E7F4F1"/>
            </a:solidFill>
            <a:prstDash val="solid"/>
          </a:ln>
        </p:spPr>
      </p:sp>
      <p:sp>
        <p:nvSpPr>
          <p:cNvPr id="23" name="">
            <a:extLst xmlns:a="http://schemas.openxmlformats.org/drawingml/2006/main">
              <a:ext uri="{FF2B5EF4-FFF2-40B4-BE49-F238E27FC236}">
                <a16:creationId xmlns:a16="http://schemas.microsoft.com/office/drawing/2014/main" id="{7E3980B8-DA57-485C-BCAE-07E4DBDA3A64}"/>
              </a:ext>
            </a:extLst>
          </p:cNvPr>
          <p:cNvSpPr>
            <a:spLocks xmlns:a="http://schemas.openxmlformats.org/drawingml/2006/main" noGrp="1"/>
          </p:cNvSpPr>
          <p:nvPr/>
        </p:nvSpPr>
        <p:spPr>
          <a:xfrm xmlns:a="http://schemas.openxmlformats.org/drawingml/2006/main">
            <a:off x="609600" y="503872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D9A8A"/>
                </a:solidFill>
              </a:defRPr>
            </a:pPr>
            <a:r>
              <a:rPr sz="1275" b="1">
                <a:solidFill>
                  <a:srgbClr val="1D9A8A"/>
                </a:solidFill>
              </a:rPr>
              <a:t>•</a:t>
            </a:r>
          </a:p>
        </p:txBody>
      </p:sp>
      <p:sp>
        <p:nvSpPr>
          <p:cNvPr id="24" name="">
            <a:extLst xmlns:a="http://schemas.openxmlformats.org/drawingml/2006/main">
              <a:ext uri="{FF2B5EF4-FFF2-40B4-BE49-F238E27FC236}">
                <a16:creationId xmlns:a16="http://schemas.microsoft.com/office/drawing/2014/main" id="{5B60397B-4BC4-4B3C-9534-DEF86939D333}"/>
              </a:ext>
            </a:extLst>
          </p:cNvPr>
          <p:cNvSpPr>
            <a:spLocks xmlns:a="http://schemas.openxmlformats.org/drawingml/2006/main" noGrp="1"/>
          </p:cNvSpPr>
          <p:nvPr/>
        </p:nvSpPr>
        <p:spPr>
          <a:xfrm xmlns:a="http://schemas.openxmlformats.org/drawingml/2006/main">
            <a:off x="971550" y="5010150"/>
            <a:ext cx="10306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Patient and provider questions can be routed to different evidence sources.</a:t>
            </a:r>
          </a:p>
        </p:txBody>
      </p:sp>
      <p:sp>
        <p:nvSpPr>
          <p:cNvPr id="25" name="">
            <a:extLst xmlns:a="http://schemas.openxmlformats.org/drawingml/2006/main">
              <a:ext uri="{FF2B5EF4-FFF2-40B4-BE49-F238E27FC236}">
                <a16:creationId xmlns:a16="http://schemas.microsoft.com/office/drawing/2014/main" id="{D2558E38-7AF4-4BA1-96AB-89A369CA5C1D}"/>
              </a:ext>
            </a:extLst>
          </p:cNvPr>
          <p:cNvSpPr>
            <a:spLocks xmlns:a="http://schemas.openxmlformats.org/drawingml/2006/main" noGrp="1"/>
          </p:cNvSpPr>
          <p:nvPr/>
        </p:nvSpPr>
        <p:spPr>
          <a:xfrm xmlns:a="http://schemas.openxmlformats.org/drawingml/2006/main">
            <a:off x="609600" y="5429250"/>
            <a:ext cx="228600" cy="228600"/>
          </a:xfrm>
          <a:prstGeom xmlns:a="http://schemas.openxmlformats.org/drawingml/2006/main" prst="ellipse">
            <a:avLst/>
          </a:prstGeom>
          <a:solidFill xmlns:a="http://schemas.openxmlformats.org/drawingml/2006/main">
            <a:srgbClr val="E7F4F1"/>
          </a:solidFill>
          <a:ln xmlns:a="http://schemas.openxmlformats.org/drawingml/2006/main" w="0">
            <a:solidFill>
              <a:srgbClr val="E7F4F1"/>
            </a:solidFill>
            <a:prstDash val="solid"/>
          </a:ln>
        </p:spPr>
      </p:sp>
      <p:sp>
        <p:nvSpPr>
          <p:cNvPr id="26" name="">
            <a:extLst xmlns:a="http://schemas.openxmlformats.org/drawingml/2006/main">
              <a:ext uri="{FF2B5EF4-FFF2-40B4-BE49-F238E27FC236}">
                <a16:creationId xmlns:a16="http://schemas.microsoft.com/office/drawing/2014/main" id="{8BA8BF53-D013-4D3C-ABA3-AA6B6F1FE9A6}"/>
              </a:ext>
            </a:extLst>
          </p:cNvPr>
          <p:cNvSpPr>
            <a:spLocks xmlns:a="http://schemas.openxmlformats.org/drawingml/2006/main" noGrp="1"/>
          </p:cNvSpPr>
          <p:nvPr/>
        </p:nvSpPr>
        <p:spPr>
          <a:xfrm xmlns:a="http://schemas.openxmlformats.org/drawingml/2006/main">
            <a:off x="609600" y="54387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D9A8A"/>
                </a:solidFill>
              </a:defRPr>
            </a:pPr>
            <a:r>
              <a:rPr sz="1275" b="1">
                <a:solidFill>
                  <a:srgbClr val="1D9A8A"/>
                </a:solidFill>
              </a:rPr>
              <a:t>•</a:t>
            </a:r>
          </a:p>
        </p:txBody>
      </p:sp>
      <p:sp>
        <p:nvSpPr>
          <p:cNvPr id="27" name="">
            <a:extLst xmlns:a="http://schemas.openxmlformats.org/drawingml/2006/main">
              <a:ext uri="{FF2B5EF4-FFF2-40B4-BE49-F238E27FC236}">
                <a16:creationId xmlns:a16="http://schemas.microsoft.com/office/drawing/2014/main" id="{4EDB2557-7992-4F69-B8A6-067F547D239F}"/>
              </a:ext>
            </a:extLst>
          </p:cNvPr>
          <p:cNvSpPr>
            <a:spLocks xmlns:a="http://schemas.openxmlformats.org/drawingml/2006/main" noGrp="1"/>
          </p:cNvSpPr>
          <p:nvPr/>
        </p:nvSpPr>
        <p:spPr>
          <a:xfrm xmlns:a="http://schemas.openxmlformats.org/drawingml/2006/main">
            <a:off x="971550" y="5410200"/>
            <a:ext cx="10306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Claims-derived evidence can be reconciled against structured Stars results.</a:t>
            </a:r>
          </a:p>
        </p:txBody>
      </p:sp>
      <p:sp>
        <p:nvSpPr>
          <p:cNvPr id="28" name="">
            <a:extLst xmlns:a="http://schemas.openxmlformats.org/drawingml/2006/main">
              <a:ext uri="{FF2B5EF4-FFF2-40B4-BE49-F238E27FC236}">
                <a16:creationId xmlns:a16="http://schemas.microsoft.com/office/drawing/2014/main" id="{C3329BA4-E24B-4083-9054-FC47B2701391}"/>
              </a:ext>
            </a:extLst>
          </p:cNvPr>
          <p:cNvSpPr>
            <a:spLocks xmlns:a="http://schemas.openxmlformats.org/drawingml/2006/main" noGrp="1"/>
          </p:cNvSpPr>
          <p:nvPr/>
        </p:nvSpPr>
        <p:spPr>
          <a:xfrm xmlns:a="http://schemas.openxmlformats.org/drawingml/2006/main">
            <a:off x="609600" y="5829300"/>
            <a:ext cx="228600" cy="228600"/>
          </a:xfrm>
          <a:prstGeom xmlns:a="http://schemas.openxmlformats.org/drawingml/2006/main" prst="ellipse">
            <a:avLst/>
          </a:prstGeom>
          <a:solidFill xmlns:a="http://schemas.openxmlformats.org/drawingml/2006/main">
            <a:srgbClr val="E7F4F1"/>
          </a:solidFill>
          <a:ln xmlns:a="http://schemas.openxmlformats.org/drawingml/2006/main" w="0">
            <a:solidFill>
              <a:srgbClr val="E7F4F1"/>
            </a:solidFill>
            <a:prstDash val="solid"/>
          </a:ln>
        </p:spPr>
      </p:sp>
      <p:sp>
        <p:nvSpPr>
          <p:cNvPr id="29" name="">
            <a:extLst xmlns:a="http://schemas.openxmlformats.org/drawingml/2006/main">
              <a:ext uri="{FF2B5EF4-FFF2-40B4-BE49-F238E27FC236}">
                <a16:creationId xmlns:a16="http://schemas.microsoft.com/office/drawing/2014/main" id="{337E7D2B-7807-4EF2-A63C-8271A7478A17}"/>
              </a:ext>
            </a:extLst>
          </p:cNvPr>
          <p:cNvSpPr>
            <a:spLocks xmlns:a="http://schemas.openxmlformats.org/drawingml/2006/main" noGrp="1"/>
          </p:cNvSpPr>
          <p:nvPr/>
        </p:nvSpPr>
        <p:spPr>
          <a:xfrm xmlns:a="http://schemas.openxmlformats.org/drawingml/2006/main">
            <a:off x="609600" y="583882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D9A8A"/>
                </a:solidFill>
              </a:defRPr>
            </a:pPr>
            <a:r>
              <a:rPr sz="1275" b="1">
                <a:solidFill>
                  <a:srgbClr val="1D9A8A"/>
                </a:solidFill>
              </a:rPr>
              <a:t>•</a:t>
            </a:r>
          </a:p>
        </p:txBody>
      </p:sp>
      <p:sp>
        <p:nvSpPr>
          <p:cNvPr id="30" name="">
            <a:extLst xmlns:a="http://schemas.openxmlformats.org/drawingml/2006/main">
              <a:ext uri="{FF2B5EF4-FFF2-40B4-BE49-F238E27FC236}">
                <a16:creationId xmlns:a16="http://schemas.microsoft.com/office/drawing/2014/main" id="{3F0E08A7-CF87-4453-9DBD-77AFDF532C63}"/>
              </a:ext>
            </a:extLst>
          </p:cNvPr>
          <p:cNvSpPr>
            <a:spLocks xmlns:a="http://schemas.openxmlformats.org/drawingml/2006/main" noGrp="1"/>
          </p:cNvSpPr>
          <p:nvPr/>
        </p:nvSpPr>
        <p:spPr>
          <a:xfrm xmlns:a="http://schemas.openxmlformats.org/drawingml/2006/main">
            <a:off x="971550" y="5810250"/>
            <a:ext cx="103060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The narrative layer can explain findings, but it still needs stronger constraints.</a:t>
            </a:r>
          </a:p>
        </p:txBody>
      </p:sp>
      <p:sp>
        <p:nvSpPr>
          <p:cNvPr id="31" name="">
            <a:extLst xmlns:a="http://schemas.openxmlformats.org/drawingml/2006/main">
              <a:ext uri="{FF2B5EF4-FFF2-40B4-BE49-F238E27FC236}">
                <a16:creationId xmlns:a16="http://schemas.microsoft.com/office/drawing/2014/main" id="{CC97B1D5-73B9-4CB0-929F-AEE845450910}"/>
              </a:ext>
            </a:extLst>
          </p:cNvPr>
          <p:cNvSpPr>
            <a:spLocks xmlns:a="http://schemas.openxmlformats.org/drawingml/2006/main" noGrp="1"/>
          </p:cNvSpPr>
          <p:nvPr/>
        </p:nvSpPr>
        <p:spPr>
          <a:xfrm xmlns:a="http://schemas.openxmlformats.org/drawingml/2006/main">
            <a:off x="609600" y="6486525"/>
            <a:ext cx="523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788B98"/>
                </a:solidFill>
              </a:defRPr>
            </a:pPr>
            <a:r>
              <a:rPr sz="750" b="0">
                <a:solidFill>
                  <a:srgbClr val="788B98"/>
                </a:solidFill>
              </a:rPr>
              <a:t>CareAllies Data Lake LLM</a:t>
            </a:r>
          </a:p>
        </p:txBody>
      </p:sp>
      <p:sp>
        <p:nvSpPr>
          <p:cNvPr id="32" name="">
            <a:extLst xmlns:a="http://schemas.openxmlformats.org/drawingml/2006/main">
              <a:ext uri="{FF2B5EF4-FFF2-40B4-BE49-F238E27FC236}">
                <a16:creationId xmlns:a16="http://schemas.microsoft.com/office/drawing/2014/main" id="{E745530D-FE70-4710-B430-B2A372DF2DAB}"/>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Tree>
    <p:extLst>
      <p:ext uri="{BB962C8B-B14F-4D97-AF65-F5344CB8AC3E}">
        <p14:creationId xmlns:p14="http://schemas.microsoft.com/office/powerpoint/2010/main" val="2086241394"/>
      </p:ext>
    </p:extLst>
  </p:cSld>
</p:sld>
</file>

<file path=ppt/slides/slide4.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58" name="">
            <a:extLst xmlns:a="http://schemas.openxmlformats.org/drawingml/2006/main">
              <a:ext uri="{FF2B5EF4-FFF2-40B4-BE49-F238E27FC236}">
                <a16:creationId xmlns:a16="http://schemas.microsoft.com/office/drawing/2014/main" id="{6680E7D6-36E5-497F-AF93-D0AED9661F0A}"/>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D9A8A"/>
                </a:solidFill>
              </a:defRPr>
            </a:pPr>
            <a:r>
              <a:rPr sz="900" b="1">
                <a:solidFill>
                  <a:srgbClr val="1D9A8A"/>
                </a:solidFill>
              </a:rPr>
              <a:t>TARGET ARCHITECTURE</a:t>
            </a:r>
          </a:p>
        </p:txBody>
      </p:sp>
      <p:sp>
        <p:nvSpPr>
          <p:cNvPr id="2" name="">
            <a:extLst xmlns:a="http://schemas.openxmlformats.org/drawingml/2006/main">
              <a:ext uri="{FF2B5EF4-FFF2-40B4-BE49-F238E27FC236}">
                <a16:creationId xmlns:a16="http://schemas.microsoft.com/office/drawing/2014/main" id="{954E7AAB-0489-49FD-BA2B-23444591388E}"/>
              </a:ext>
            </a:extLst>
          </p:cNvPr>
          <p:cNvSpPr>
            <a:spLocks xmlns:a="http://schemas.openxmlformats.org/drawingml/2006/main" noGrp="1"/>
          </p:cNvSpPr>
          <p:nvPr/>
        </p:nvSpPr>
        <p:spPr>
          <a:xfrm xmlns:a="http://schemas.openxmlformats.org/drawingml/2006/main">
            <a:off x="609600" y="6477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2850"/>
                </a:solidFill>
              </a:defRPr>
            </a:pPr>
            <a:r>
              <a:rPr sz="2700" b="1">
                <a:solidFill>
                  <a:srgbClr val="002850"/>
                </a:solidFill>
              </a:rPr>
              <a:t>Governed modules control what the LLM sees</a:t>
            </a:r>
          </a:p>
        </p:txBody>
      </p:sp>
      <p:sp>
        <p:nvSpPr>
          <p:cNvPr id="3" name="">
            <a:extLst xmlns:a="http://schemas.openxmlformats.org/drawingml/2006/main">
              <a:ext uri="{FF2B5EF4-FFF2-40B4-BE49-F238E27FC236}">
                <a16:creationId xmlns:a16="http://schemas.microsoft.com/office/drawing/2014/main" id="{7F20682D-0A1F-4C74-B56B-415C9778B087}"/>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4" name="">
            <a:extLst xmlns:a="http://schemas.openxmlformats.org/drawingml/2006/main">
              <a:ext uri="{FF2B5EF4-FFF2-40B4-BE49-F238E27FC236}">
                <a16:creationId xmlns:a16="http://schemas.microsoft.com/office/drawing/2014/main" id="{2F05B191-630E-4889-94EC-1041CC0AE36D}"/>
              </a:ext>
            </a:extLst>
          </p:cNvPr>
          <p:cNvSpPr>
            <a:spLocks xmlns:a="http://schemas.openxmlformats.org/drawingml/2006/main" noGrp="1"/>
          </p:cNvSpPr>
          <p:nvPr/>
        </p:nvSpPr>
        <p:spPr>
          <a:xfrm xmlns:a="http://schemas.openxmlformats.org/drawingml/2006/main">
            <a:off x="11087100" y="3619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788B98"/>
                </a:solidFill>
              </a:defRPr>
            </a:pPr>
            <a:r>
              <a:rPr sz="900" b="1">
                <a:solidFill>
                  <a:srgbClr val="788B98"/>
                </a:solidFill>
              </a:rPr>
              <a:t>04</a:t>
            </a:r>
          </a:p>
        </p:txBody>
      </p:sp>
      <p:sp>
        <p:nvSpPr>
          <p:cNvPr id="5" name="">
            <a:extLst xmlns:a="http://schemas.openxmlformats.org/drawingml/2006/main">
              <a:ext uri="{FF2B5EF4-FFF2-40B4-BE49-F238E27FC236}">
                <a16:creationId xmlns:a16="http://schemas.microsoft.com/office/drawing/2014/main" id="{5E63AEE6-5E8E-4C23-B53F-3997A4C69226}"/>
              </a:ext>
            </a:extLst>
          </p:cNvPr>
          <p:cNvSpPr>
            <a:spLocks xmlns:a="http://schemas.openxmlformats.org/drawingml/2006/main" noGrp="1"/>
          </p:cNvSpPr>
          <p:nvPr/>
        </p:nvSpPr>
        <p:spPr>
          <a:xfrm xmlns:a="http://schemas.openxmlformats.org/drawingml/2006/main">
            <a:off x="609600" y="14382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788B98"/>
                </a:solidFill>
              </a:defRPr>
            </a:pPr>
            <a:r>
              <a:rPr sz="825" b="1">
                <a:solidFill>
                  <a:srgbClr val="788B98"/>
                </a:solidFill>
              </a:rPr>
              <a:t>SOURCE FEEDS</a:t>
            </a:r>
          </a:p>
        </p:txBody>
      </p:sp>
      <p:sp>
        <p:nvSpPr>
          <p:cNvPr id="6" name="">
            <a:extLst xmlns:a="http://schemas.openxmlformats.org/drawingml/2006/main">
              <a:ext uri="{FF2B5EF4-FFF2-40B4-BE49-F238E27FC236}">
                <a16:creationId xmlns:a16="http://schemas.microsoft.com/office/drawing/2014/main" id="{82B93522-2CC6-40EF-A8D9-567F0FC5C5EB}"/>
              </a:ext>
            </a:extLst>
          </p:cNvPr>
          <p:cNvSpPr>
            <a:spLocks xmlns:a="http://schemas.openxmlformats.org/drawingml/2006/main" noGrp="1"/>
          </p:cNvSpPr>
          <p:nvPr/>
        </p:nvSpPr>
        <p:spPr>
          <a:xfrm xmlns:a="http://schemas.openxmlformats.org/drawingml/2006/main">
            <a:off x="2952750" y="143827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788B98"/>
                </a:solidFill>
              </a:defRPr>
            </a:pPr>
            <a:r>
              <a:rPr sz="825" b="1">
                <a:solidFill>
                  <a:srgbClr val="788B98"/>
                </a:solidFill>
              </a:rPr>
              <a:t>GOVERNED DATA LAYER</a:t>
            </a:r>
          </a:p>
        </p:txBody>
      </p:sp>
      <p:sp>
        <p:nvSpPr>
          <p:cNvPr id="7" name="">
            <a:extLst xmlns:a="http://schemas.openxmlformats.org/drawingml/2006/main">
              <a:ext uri="{FF2B5EF4-FFF2-40B4-BE49-F238E27FC236}">
                <a16:creationId xmlns:a16="http://schemas.microsoft.com/office/drawing/2014/main" id="{CBACCC3D-3671-4A0B-A5B8-68FBDF9A8EFE}"/>
              </a:ext>
            </a:extLst>
          </p:cNvPr>
          <p:cNvSpPr>
            <a:spLocks xmlns:a="http://schemas.openxmlformats.org/drawingml/2006/main" noGrp="1"/>
          </p:cNvSpPr>
          <p:nvPr/>
        </p:nvSpPr>
        <p:spPr>
          <a:xfrm xmlns:a="http://schemas.openxmlformats.org/drawingml/2006/main">
            <a:off x="6076950" y="1438275"/>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788B98"/>
                </a:solidFill>
              </a:defRPr>
            </a:pPr>
            <a:r>
              <a:rPr sz="825" b="1">
                <a:solidFill>
                  <a:srgbClr val="788B98"/>
                </a:solidFill>
              </a:rPr>
              <a:t>INTELLIGENCE MODULES</a:t>
            </a:r>
          </a:p>
        </p:txBody>
      </p:sp>
      <p:sp>
        <p:nvSpPr>
          <p:cNvPr id="8" name="">
            <a:extLst xmlns:a="http://schemas.openxmlformats.org/drawingml/2006/main">
              <a:ext uri="{FF2B5EF4-FFF2-40B4-BE49-F238E27FC236}">
                <a16:creationId xmlns:a16="http://schemas.microsoft.com/office/drawing/2014/main" id="{C27F56EE-F0AE-4382-8A4D-3D9D915A8D0F}"/>
              </a:ext>
            </a:extLst>
          </p:cNvPr>
          <p:cNvSpPr>
            <a:spLocks xmlns:a="http://schemas.openxmlformats.org/drawingml/2006/main" noGrp="1"/>
          </p:cNvSpPr>
          <p:nvPr/>
        </p:nvSpPr>
        <p:spPr>
          <a:xfrm xmlns:a="http://schemas.openxmlformats.org/drawingml/2006/main">
            <a:off x="9639300" y="14382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788B98"/>
                </a:solidFill>
              </a:defRPr>
            </a:pPr>
            <a:r>
              <a:rPr sz="825" b="1">
                <a:solidFill>
                  <a:srgbClr val="788B98"/>
                </a:solidFill>
              </a:rPr>
              <a:t>EXPERIENCE</a:t>
            </a:r>
          </a:p>
        </p:txBody>
      </p:sp>
      <p:sp>
        <p:nvSpPr>
          <p:cNvPr id="9" name="">
            <a:extLst xmlns:a="http://schemas.openxmlformats.org/drawingml/2006/main">
              <a:ext uri="{FF2B5EF4-FFF2-40B4-BE49-F238E27FC236}">
                <a16:creationId xmlns:a16="http://schemas.microsoft.com/office/drawing/2014/main" id="{7504791D-273E-49AA-8679-8AA3C13F0118}"/>
              </a:ext>
            </a:extLst>
          </p:cNvPr>
          <p:cNvSpPr>
            <a:spLocks xmlns:a="http://schemas.openxmlformats.org/drawingml/2006/main" noGrp="1"/>
          </p:cNvSpPr>
          <p:nvPr/>
        </p:nvSpPr>
        <p:spPr>
          <a:xfrm xmlns:a="http://schemas.openxmlformats.org/drawingml/2006/main">
            <a:off x="609600" y="1790700"/>
            <a:ext cx="1809750" cy="590550"/>
          </a:xfrm>
          <a:prstGeom xmlns:a="http://schemas.openxmlformats.org/drawingml/2006/main" prst="roundRect">
            <a:avLst>
              <a:gd name="adj" fmla="val 19355"/>
            </a:avLst>
          </a:prstGeom>
          <a:solidFill xmlns:a="http://schemas.openxmlformats.org/drawingml/2006/main">
            <a:srgbClr val="E5F0F7"/>
          </a:solidFill>
          <a:ln xmlns:a="http://schemas.openxmlformats.org/drawingml/2006/main" w="9525">
            <a:solidFill>
              <a:srgbClr val="D5E0E8"/>
            </a:solidFill>
            <a:prstDash val="solid"/>
          </a:ln>
        </p:spPr>
      </p:sp>
      <p:sp>
        <p:nvSpPr>
          <p:cNvPr id="10" name="">
            <a:extLst xmlns:a="http://schemas.openxmlformats.org/drawingml/2006/main">
              <a:ext uri="{FF2B5EF4-FFF2-40B4-BE49-F238E27FC236}">
                <a16:creationId xmlns:a16="http://schemas.microsoft.com/office/drawing/2014/main" id="{132FE15B-4607-469A-A6F6-CF11B1369E43}"/>
              </a:ext>
            </a:extLst>
          </p:cNvPr>
          <p:cNvSpPr>
            <a:spLocks xmlns:a="http://schemas.openxmlformats.org/drawingml/2006/main" noGrp="1"/>
          </p:cNvSpPr>
          <p:nvPr/>
        </p:nvSpPr>
        <p:spPr>
          <a:xfrm xmlns:a="http://schemas.openxmlformats.org/drawingml/2006/main">
            <a:off x="762000" y="1905000"/>
            <a:ext cx="1504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2850"/>
                </a:solidFill>
              </a:defRPr>
            </a:pPr>
            <a:r>
              <a:rPr sz="1200" b="1">
                <a:solidFill>
                  <a:srgbClr val="002850"/>
                </a:solidFill>
              </a:rPr>
              <a:t>Claims + pharmacy</a:t>
            </a:r>
          </a:p>
        </p:txBody>
      </p:sp>
      <p:sp>
        <p:nvSpPr>
          <p:cNvPr id="11" name="">
            <a:extLst xmlns:a="http://schemas.openxmlformats.org/drawingml/2006/main">
              <a:ext uri="{FF2B5EF4-FFF2-40B4-BE49-F238E27FC236}">
                <a16:creationId xmlns:a16="http://schemas.microsoft.com/office/drawing/2014/main" id="{DE12263C-3EF4-4767-8D01-6668313E9C1D}"/>
              </a:ext>
            </a:extLst>
          </p:cNvPr>
          <p:cNvSpPr>
            <a:spLocks xmlns:a="http://schemas.openxmlformats.org/drawingml/2006/main" noGrp="1"/>
          </p:cNvSpPr>
          <p:nvPr/>
        </p:nvSpPr>
        <p:spPr>
          <a:xfrm xmlns:a="http://schemas.openxmlformats.org/drawingml/2006/main">
            <a:off x="609600" y="2647950"/>
            <a:ext cx="1809750" cy="590550"/>
          </a:xfrm>
          <a:prstGeom xmlns:a="http://schemas.openxmlformats.org/drawingml/2006/main" prst="roundRect">
            <a:avLst>
              <a:gd name="adj" fmla="val 19355"/>
            </a:avLst>
          </a:prstGeom>
          <a:solidFill xmlns:a="http://schemas.openxmlformats.org/drawingml/2006/main">
            <a:srgbClr val="E5F0F7"/>
          </a:solidFill>
          <a:ln xmlns:a="http://schemas.openxmlformats.org/drawingml/2006/main" w="9525">
            <a:solidFill>
              <a:srgbClr val="D5E0E8"/>
            </a:solidFill>
            <a:prstDash val="solid"/>
          </a:ln>
        </p:spPr>
      </p:sp>
      <p:sp>
        <p:nvSpPr>
          <p:cNvPr id="12" name="">
            <a:extLst xmlns:a="http://schemas.openxmlformats.org/drawingml/2006/main">
              <a:ext uri="{FF2B5EF4-FFF2-40B4-BE49-F238E27FC236}">
                <a16:creationId xmlns:a16="http://schemas.microsoft.com/office/drawing/2014/main" id="{B634F883-74EF-4969-BCC4-3E6B09194DCB}"/>
              </a:ext>
            </a:extLst>
          </p:cNvPr>
          <p:cNvSpPr>
            <a:spLocks xmlns:a="http://schemas.openxmlformats.org/drawingml/2006/main" noGrp="1"/>
          </p:cNvSpPr>
          <p:nvPr/>
        </p:nvSpPr>
        <p:spPr>
          <a:xfrm xmlns:a="http://schemas.openxmlformats.org/drawingml/2006/main">
            <a:off x="762000" y="2762250"/>
            <a:ext cx="1504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2850"/>
                </a:solidFill>
              </a:defRPr>
            </a:pPr>
            <a:r>
              <a:rPr sz="1200" b="1">
                <a:solidFill>
                  <a:srgbClr val="002850"/>
                </a:solidFill>
              </a:rPr>
              <a:t>Stars + eligibility</a:t>
            </a:r>
          </a:p>
        </p:txBody>
      </p:sp>
      <p:sp>
        <p:nvSpPr>
          <p:cNvPr id="13" name="">
            <a:extLst xmlns:a="http://schemas.openxmlformats.org/drawingml/2006/main">
              <a:ext uri="{FF2B5EF4-FFF2-40B4-BE49-F238E27FC236}">
                <a16:creationId xmlns:a16="http://schemas.microsoft.com/office/drawing/2014/main" id="{0EC5F6A8-F89A-4943-A73F-6268318E0BDC}"/>
              </a:ext>
            </a:extLst>
          </p:cNvPr>
          <p:cNvSpPr>
            <a:spLocks xmlns:a="http://schemas.openxmlformats.org/drawingml/2006/main" noGrp="1"/>
          </p:cNvSpPr>
          <p:nvPr/>
        </p:nvSpPr>
        <p:spPr>
          <a:xfrm xmlns:a="http://schemas.openxmlformats.org/drawingml/2006/main">
            <a:off x="609600" y="3505200"/>
            <a:ext cx="1809750" cy="590550"/>
          </a:xfrm>
          <a:prstGeom xmlns:a="http://schemas.openxmlformats.org/drawingml/2006/main" prst="roundRect">
            <a:avLst>
              <a:gd name="adj" fmla="val 19355"/>
            </a:avLst>
          </a:prstGeom>
          <a:solidFill xmlns:a="http://schemas.openxmlformats.org/drawingml/2006/main">
            <a:srgbClr val="E7F4F1"/>
          </a:solidFill>
          <a:ln xmlns:a="http://schemas.openxmlformats.org/drawingml/2006/main" w="9525">
            <a:solidFill>
              <a:srgbClr val="D5E0E8"/>
            </a:solidFill>
            <a:prstDash val="solid"/>
          </a:ln>
        </p:spPr>
      </p:sp>
      <p:sp>
        <p:nvSpPr>
          <p:cNvPr id="14" name="">
            <a:extLst xmlns:a="http://schemas.openxmlformats.org/drawingml/2006/main">
              <a:ext uri="{FF2B5EF4-FFF2-40B4-BE49-F238E27FC236}">
                <a16:creationId xmlns:a16="http://schemas.microsoft.com/office/drawing/2014/main" id="{E458E69F-9905-46BC-9F6B-9BF516623D6A}"/>
              </a:ext>
            </a:extLst>
          </p:cNvPr>
          <p:cNvSpPr>
            <a:spLocks xmlns:a="http://schemas.openxmlformats.org/drawingml/2006/main" noGrp="1"/>
          </p:cNvSpPr>
          <p:nvPr/>
        </p:nvSpPr>
        <p:spPr>
          <a:xfrm xmlns:a="http://schemas.openxmlformats.org/drawingml/2006/main">
            <a:off x="762000" y="3619500"/>
            <a:ext cx="1504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2850"/>
                </a:solidFill>
              </a:defRPr>
            </a:pPr>
            <a:r>
              <a:rPr sz="1200" b="1">
                <a:solidFill>
                  <a:srgbClr val="002850"/>
                </a:solidFill>
              </a:rPr>
              <a:t>Clinical notes</a:t>
            </a:r>
          </a:p>
        </p:txBody>
      </p:sp>
      <p:sp>
        <p:nvSpPr>
          <p:cNvPr id="15" name="">
            <a:extLst xmlns:a="http://schemas.openxmlformats.org/drawingml/2006/main">
              <a:ext uri="{FF2B5EF4-FFF2-40B4-BE49-F238E27FC236}">
                <a16:creationId xmlns:a16="http://schemas.microsoft.com/office/drawing/2014/main" id="{F9C9BA70-9822-4319-9BCA-C30716DFB102}"/>
              </a:ext>
            </a:extLst>
          </p:cNvPr>
          <p:cNvSpPr>
            <a:spLocks xmlns:a="http://schemas.openxmlformats.org/drawingml/2006/main" noGrp="1"/>
          </p:cNvSpPr>
          <p:nvPr/>
        </p:nvSpPr>
        <p:spPr>
          <a:xfrm xmlns:a="http://schemas.openxmlformats.org/drawingml/2006/main">
            <a:off x="609600" y="4362450"/>
            <a:ext cx="1809750" cy="590550"/>
          </a:xfrm>
          <a:prstGeom xmlns:a="http://schemas.openxmlformats.org/drawingml/2006/main" prst="roundRect">
            <a:avLst>
              <a:gd name="adj" fmla="val 19355"/>
            </a:avLst>
          </a:prstGeom>
          <a:solidFill xmlns:a="http://schemas.openxmlformats.org/drawingml/2006/main">
            <a:srgbClr val="FFF2E6"/>
          </a:solidFill>
          <a:ln xmlns:a="http://schemas.openxmlformats.org/drawingml/2006/main" w="9525">
            <a:solidFill>
              <a:srgbClr val="D5E0E8"/>
            </a:solidFill>
            <a:prstDash val="solid"/>
          </a:ln>
        </p:spPr>
      </p:sp>
      <p:sp>
        <p:nvSpPr>
          <p:cNvPr id="16" name="">
            <a:extLst xmlns:a="http://schemas.openxmlformats.org/drawingml/2006/main">
              <a:ext uri="{FF2B5EF4-FFF2-40B4-BE49-F238E27FC236}">
                <a16:creationId xmlns:a16="http://schemas.microsoft.com/office/drawing/2014/main" id="{2817B68F-6CB6-492F-AB77-EC60535917E3}"/>
              </a:ext>
            </a:extLst>
          </p:cNvPr>
          <p:cNvSpPr>
            <a:spLocks xmlns:a="http://schemas.openxmlformats.org/drawingml/2006/main" noGrp="1"/>
          </p:cNvSpPr>
          <p:nvPr/>
        </p:nvSpPr>
        <p:spPr>
          <a:xfrm xmlns:a="http://schemas.openxmlformats.org/drawingml/2006/main">
            <a:off x="762000" y="4476750"/>
            <a:ext cx="15049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2850"/>
                </a:solidFill>
              </a:defRPr>
            </a:pPr>
            <a:r>
              <a:rPr sz="1200" b="1">
                <a:solidFill>
                  <a:srgbClr val="002850"/>
                </a:solidFill>
              </a:rPr>
              <a:t>Specifications</a:t>
            </a:r>
          </a:p>
        </p:txBody>
      </p:sp>
      <p:sp>
        <p:nvSpPr>
          <p:cNvPr id="17" name="">
            <a:extLst xmlns:a="http://schemas.openxmlformats.org/drawingml/2006/main">
              <a:ext uri="{FF2B5EF4-FFF2-40B4-BE49-F238E27FC236}">
                <a16:creationId xmlns:a16="http://schemas.microsoft.com/office/drawing/2014/main" id="{E59C9AB1-70B1-488C-8A15-866507D3AD74}"/>
              </a:ext>
            </a:extLst>
          </p:cNvPr>
          <p:cNvSpPr>
            <a:spLocks xmlns:a="http://schemas.openxmlformats.org/drawingml/2006/main" noGrp="1"/>
          </p:cNvSpPr>
          <p:nvPr/>
        </p:nvSpPr>
        <p:spPr>
          <a:xfrm xmlns:a="http://schemas.openxmlformats.org/drawingml/2006/main">
            <a:off x="2952750" y="1866900"/>
            <a:ext cx="2381250" cy="1123950"/>
          </a:xfrm>
          <a:prstGeom xmlns:a="http://schemas.openxmlformats.org/drawingml/2006/main" prst="roundRect">
            <a:avLst>
              <a:gd name="adj" fmla="val 10169"/>
            </a:avLst>
          </a:prstGeom>
          <a:solidFill xmlns:a="http://schemas.openxmlformats.org/drawingml/2006/main">
            <a:srgbClr val="FFFFFF"/>
          </a:solidFill>
          <a:ln xmlns:a="http://schemas.openxmlformats.org/drawingml/2006/main" w="9525">
            <a:solidFill>
              <a:srgbClr val="D5E0E8"/>
            </a:solidFill>
            <a:prstDash val="solid"/>
          </a:ln>
        </p:spPr>
      </p:sp>
      <p:sp>
        <p:nvSpPr>
          <p:cNvPr id="18" name="">
            <a:extLst xmlns:a="http://schemas.openxmlformats.org/drawingml/2006/main">
              <a:ext uri="{FF2B5EF4-FFF2-40B4-BE49-F238E27FC236}">
                <a16:creationId xmlns:a16="http://schemas.microsoft.com/office/drawing/2014/main" id="{408385F4-6C6A-44C1-A31B-9DDEBEBE1433}"/>
              </a:ext>
            </a:extLst>
          </p:cNvPr>
          <p:cNvSpPr>
            <a:spLocks xmlns:a="http://schemas.openxmlformats.org/drawingml/2006/main" noGrp="1"/>
          </p:cNvSpPr>
          <p:nvPr/>
        </p:nvSpPr>
        <p:spPr>
          <a:xfrm xmlns:a="http://schemas.openxmlformats.org/drawingml/2006/main">
            <a:off x="2952750" y="3200400"/>
            <a:ext cx="2381250" cy="9525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5E0E8"/>
            </a:solidFill>
            <a:prstDash val="solid"/>
          </a:ln>
        </p:spPr>
      </p:sp>
      <p:sp>
        <p:nvSpPr>
          <p:cNvPr id="19" name="">
            <a:extLst xmlns:a="http://schemas.openxmlformats.org/drawingml/2006/main">
              <a:ext uri="{FF2B5EF4-FFF2-40B4-BE49-F238E27FC236}">
                <a16:creationId xmlns:a16="http://schemas.microsoft.com/office/drawing/2014/main" id="{F71874E3-6786-4103-A2A8-3F986F4DC877}"/>
              </a:ext>
            </a:extLst>
          </p:cNvPr>
          <p:cNvSpPr>
            <a:spLocks xmlns:a="http://schemas.openxmlformats.org/drawingml/2006/main" noGrp="1"/>
          </p:cNvSpPr>
          <p:nvPr/>
        </p:nvSpPr>
        <p:spPr>
          <a:xfrm xmlns:a="http://schemas.openxmlformats.org/drawingml/2006/main">
            <a:off x="2952750" y="4362450"/>
            <a:ext cx="2381250" cy="952500"/>
          </a:xfrm>
          <a:prstGeom xmlns:a="http://schemas.openxmlformats.org/drawingml/2006/main" prst="roundRect">
            <a:avLst>
              <a:gd name="adj" fmla="val 12000"/>
            </a:avLst>
          </a:prstGeom>
          <a:solidFill xmlns:a="http://schemas.openxmlformats.org/drawingml/2006/main">
            <a:srgbClr val="FFFFFF"/>
          </a:solidFill>
          <a:ln xmlns:a="http://schemas.openxmlformats.org/drawingml/2006/main" w="9525">
            <a:solidFill>
              <a:srgbClr val="D5E0E8"/>
            </a:solidFill>
            <a:prstDash val="solid"/>
          </a:ln>
        </p:spPr>
      </p:sp>
      <p:sp>
        <p:nvSpPr>
          <p:cNvPr id="20" name="">
            <a:extLst xmlns:a="http://schemas.openxmlformats.org/drawingml/2006/main">
              <a:ext uri="{FF2B5EF4-FFF2-40B4-BE49-F238E27FC236}">
                <a16:creationId xmlns:a16="http://schemas.microsoft.com/office/drawing/2014/main" id="{7667AF65-255F-49B7-A4A4-8B23EA131D00}"/>
              </a:ext>
            </a:extLst>
          </p:cNvPr>
          <p:cNvSpPr>
            <a:spLocks xmlns:a="http://schemas.openxmlformats.org/drawingml/2006/main" noGrp="1"/>
          </p:cNvSpPr>
          <p:nvPr/>
        </p:nvSpPr>
        <p:spPr>
          <a:xfrm xmlns:a="http://schemas.openxmlformats.org/drawingml/2006/main">
            <a:off x="3143250" y="2028825"/>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002850"/>
                </a:solidFill>
              </a:defRPr>
            </a:pPr>
            <a:r>
              <a:rPr sz="1425" b="1">
                <a:solidFill>
                  <a:srgbClr val="002850"/>
                </a:solidFill>
              </a:rPr>
              <a:t>Teradata AI</a:t>
            </a:r>
          </a:p>
          <a:p xmlns:a="http://schemas.openxmlformats.org/drawingml/2006/main">
            <a:pPr algn="l">
              <a:defRPr sz="1425" b="1">
                <a:solidFill>
                  <a:srgbClr val="002850"/>
                </a:solidFill>
              </a:defRPr>
            </a:pPr>
            <a:r>
              <a:rPr sz="1425" b="1">
                <a:solidFill>
                  <a:srgbClr val="002850"/>
                </a:solidFill>
              </a:rPr>
              <a:t>semantic views</a:t>
            </a:r>
          </a:p>
        </p:txBody>
      </p:sp>
      <p:sp>
        <p:nvSpPr>
          <p:cNvPr id="21" name="">
            <a:extLst xmlns:a="http://schemas.openxmlformats.org/drawingml/2006/main">
              <a:ext uri="{FF2B5EF4-FFF2-40B4-BE49-F238E27FC236}">
                <a16:creationId xmlns:a16="http://schemas.microsoft.com/office/drawing/2014/main" id="{8BCCAEB7-66DB-40B2-BAD3-2A44E56CCABF}"/>
              </a:ext>
            </a:extLst>
          </p:cNvPr>
          <p:cNvSpPr>
            <a:spLocks xmlns:a="http://schemas.openxmlformats.org/drawingml/2006/main" noGrp="1"/>
          </p:cNvSpPr>
          <p:nvPr/>
        </p:nvSpPr>
        <p:spPr>
          <a:xfrm xmlns:a="http://schemas.openxmlformats.org/drawingml/2006/main">
            <a:off x="3143250" y="2600325"/>
            <a:ext cx="2000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16575"/>
                </a:solidFill>
              </a:defRPr>
            </a:pPr>
            <a:r>
              <a:rPr sz="1050" b="0">
                <a:solidFill>
                  <a:srgbClr val="516575"/>
                </a:solidFill>
              </a:rPr>
              <a:t>Curated joins, keys, filters,</a:t>
            </a:r>
          </a:p>
          <a:p xmlns:a="http://schemas.openxmlformats.org/drawingml/2006/main">
            <a:pPr algn="l">
              <a:defRPr sz="1050" b="0">
                <a:solidFill>
                  <a:srgbClr val="516575"/>
                </a:solidFill>
              </a:defRPr>
            </a:pPr>
            <a:r>
              <a:rPr sz="1050" b="0">
                <a:solidFill>
                  <a:srgbClr val="516575"/>
                </a:solidFill>
              </a:rPr>
              <a:t>metric definitions</a:t>
            </a:r>
          </a:p>
        </p:txBody>
      </p:sp>
      <p:sp>
        <p:nvSpPr>
          <p:cNvPr id="22" name="">
            <a:extLst xmlns:a="http://schemas.openxmlformats.org/drawingml/2006/main">
              <a:ext uri="{FF2B5EF4-FFF2-40B4-BE49-F238E27FC236}">
                <a16:creationId xmlns:a16="http://schemas.microsoft.com/office/drawing/2014/main" id="{155A817D-F2B5-4605-82E1-C34F73C11934}"/>
              </a:ext>
            </a:extLst>
          </p:cNvPr>
          <p:cNvSpPr>
            <a:spLocks xmlns:a="http://schemas.openxmlformats.org/drawingml/2006/main" noGrp="1"/>
          </p:cNvSpPr>
          <p:nvPr/>
        </p:nvSpPr>
        <p:spPr>
          <a:xfrm xmlns:a="http://schemas.openxmlformats.org/drawingml/2006/main">
            <a:off x="3143250" y="3343275"/>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2850"/>
                </a:solidFill>
              </a:defRPr>
            </a:pPr>
            <a:r>
              <a:rPr sz="1350" b="1">
                <a:solidFill>
                  <a:srgbClr val="002850"/>
                </a:solidFill>
              </a:rPr>
              <a:t>Document + vector index</a:t>
            </a:r>
          </a:p>
        </p:txBody>
      </p:sp>
      <p:sp>
        <p:nvSpPr>
          <p:cNvPr id="23" name="">
            <a:extLst xmlns:a="http://schemas.openxmlformats.org/drawingml/2006/main">
              <a:ext uri="{FF2B5EF4-FFF2-40B4-BE49-F238E27FC236}">
                <a16:creationId xmlns:a16="http://schemas.microsoft.com/office/drawing/2014/main" id="{7FA02581-8EA9-47E9-A0B9-6166AF083585}"/>
              </a:ext>
            </a:extLst>
          </p:cNvPr>
          <p:cNvSpPr>
            <a:spLocks xmlns:a="http://schemas.openxmlformats.org/drawingml/2006/main" noGrp="1"/>
          </p:cNvSpPr>
          <p:nvPr/>
        </p:nvSpPr>
        <p:spPr>
          <a:xfrm xmlns:a="http://schemas.openxmlformats.org/drawingml/2006/main">
            <a:off x="3143250" y="382905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16575"/>
                </a:solidFill>
              </a:defRPr>
            </a:pPr>
            <a:r>
              <a:rPr sz="1050" b="0">
                <a:solidFill>
                  <a:srgbClr val="516575"/>
                </a:solidFill>
              </a:rPr>
              <a:t>Notes and methodology</a:t>
            </a:r>
          </a:p>
        </p:txBody>
      </p:sp>
      <p:sp>
        <p:nvSpPr>
          <p:cNvPr id="24" name="">
            <a:extLst xmlns:a="http://schemas.openxmlformats.org/drawingml/2006/main">
              <a:ext uri="{FF2B5EF4-FFF2-40B4-BE49-F238E27FC236}">
                <a16:creationId xmlns:a16="http://schemas.microsoft.com/office/drawing/2014/main" id="{D5968A65-5098-4D34-8323-17727310F751}"/>
              </a:ext>
            </a:extLst>
          </p:cNvPr>
          <p:cNvSpPr>
            <a:spLocks xmlns:a="http://schemas.openxmlformats.org/drawingml/2006/main" noGrp="1"/>
          </p:cNvSpPr>
          <p:nvPr/>
        </p:nvSpPr>
        <p:spPr>
          <a:xfrm xmlns:a="http://schemas.openxmlformats.org/drawingml/2006/main">
            <a:off x="3143250" y="4505325"/>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2850"/>
                </a:solidFill>
              </a:defRPr>
            </a:pPr>
            <a:r>
              <a:rPr sz="1350" b="1">
                <a:solidFill>
                  <a:srgbClr val="002850"/>
                </a:solidFill>
              </a:rPr>
              <a:t>Versioned rule repository</a:t>
            </a:r>
          </a:p>
        </p:txBody>
      </p:sp>
      <p:sp>
        <p:nvSpPr>
          <p:cNvPr id="25" name="">
            <a:extLst xmlns:a="http://schemas.openxmlformats.org/drawingml/2006/main">
              <a:ext uri="{FF2B5EF4-FFF2-40B4-BE49-F238E27FC236}">
                <a16:creationId xmlns:a16="http://schemas.microsoft.com/office/drawing/2014/main" id="{BAE655B5-906E-43C3-AF85-CD58E67FD383}"/>
              </a:ext>
            </a:extLst>
          </p:cNvPr>
          <p:cNvSpPr>
            <a:spLocks xmlns:a="http://schemas.openxmlformats.org/drawingml/2006/main" noGrp="1"/>
          </p:cNvSpPr>
          <p:nvPr/>
        </p:nvSpPr>
        <p:spPr>
          <a:xfrm xmlns:a="http://schemas.openxmlformats.org/drawingml/2006/main">
            <a:off x="3143250" y="4991100"/>
            <a:ext cx="2000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516575"/>
                </a:solidFill>
              </a:defRPr>
            </a:pPr>
            <a:r>
              <a:rPr sz="1050" b="0">
                <a:solidFill>
                  <a:srgbClr val="516575"/>
                </a:solidFill>
              </a:rPr>
              <a:t>Codes, thresholds, exclusions</a:t>
            </a:r>
          </a:p>
        </p:txBody>
      </p:sp>
      <p:sp>
        <p:nvSpPr>
          <p:cNvPr id="26" name="">
            <a:extLst xmlns:a="http://schemas.openxmlformats.org/drawingml/2006/main">
              <a:ext uri="{FF2B5EF4-FFF2-40B4-BE49-F238E27FC236}">
                <a16:creationId xmlns:a16="http://schemas.microsoft.com/office/drawing/2014/main" id="{6297AA55-C806-4EA9-8977-CB1DC7C3981C}"/>
              </a:ext>
            </a:extLst>
          </p:cNvPr>
          <p:cNvSpPr>
            <a:spLocks xmlns:a="http://schemas.openxmlformats.org/drawingml/2006/main" noGrp="1"/>
          </p:cNvSpPr>
          <p:nvPr/>
        </p:nvSpPr>
        <p:spPr>
          <a:xfrm xmlns:a="http://schemas.openxmlformats.org/drawingml/2006/main">
            <a:off x="6076950" y="1752600"/>
            <a:ext cx="2781300" cy="742950"/>
          </a:xfrm>
          <a:prstGeom xmlns:a="http://schemas.openxmlformats.org/drawingml/2006/main" prst="roundRect">
            <a:avLst>
              <a:gd name="adj" fmla="val 15385"/>
            </a:avLst>
          </a:prstGeom>
          <a:solidFill xmlns:a="http://schemas.openxmlformats.org/drawingml/2006/main">
            <a:srgbClr val="E5F0F7"/>
          </a:solidFill>
          <a:ln xmlns:a="http://schemas.openxmlformats.org/drawingml/2006/main" w="9525">
            <a:solidFill>
              <a:srgbClr val="D5E0E8"/>
            </a:solidFill>
            <a:prstDash val="solid"/>
          </a:ln>
        </p:spPr>
      </p:sp>
      <p:sp>
        <p:nvSpPr>
          <p:cNvPr id="27" name="">
            <a:extLst xmlns:a="http://schemas.openxmlformats.org/drawingml/2006/main">
              <a:ext uri="{FF2B5EF4-FFF2-40B4-BE49-F238E27FC236}">
                <a16:creationId xmlns:a16="http://schemas.microsoft.com/office/drawing/2014/main" id="{78B22A4F-6B54-4FFF-AA8E-81F43317A96E}"/>
              </a:ext>
            </a:extLst>
          </p:cNvPr>
          <p:cNvSpPr>
            <a:spLocks xmlns:a="http://schemas.openxmlformats.org/drawingml/2006/main" noGrp="1"/>
          </p:cNvSpPr>
          <p:nvPr/>
        </p:nvSpPr>
        <p:spPr>
          <a:xfrm xmlns:a="http://schemas.openxmlformats.org/drawingml/2006/main">
            <a:off x="6076950" y="2667000"/>
            <a:ext cx="2781300" cy="742950"/>
          </a:xfrm>
          <a:prstGeom xmlns:a="http://schemas.openxmlformats.org/drawingml/2006/main" prst="roundRect">
            <a:avLst>
              <a:gd name="adj" fmla="val 15385"/>
            </a:avLst>
          </a:prstGeom>
          <a:solidFill xmlns:a="http://schemas.openxmlformats.org/drawingml/2006/main">
            <a:srgbClr val="E7F4F1"/>
          </a:solidFill>
          <a:ln xmlns:a="http://schemas.openxmlformats.org/drawingml/2006/main" w="9525">
            <a:solidFill>
              <a:srgbClr val="D5E0E8"/>
            </a:solidFill>
            <a:prstDash val="solid"/>
          </a:ln>
        </p:spPr>
      </p:sp>
      <p:sp>
        <p:nvSpPr>
          <p:cNvPr id="28" name="">
            <a:extLst xmlns:a="http://schemas.openxmlformats.org/drawingml/2006/main">
              <a:ext uri="{FF2B5EF4-FFF2-40B4-BE49-F238E27FC236}">
                <a16:creationId xmlns:a16="http://schemas.microsoft.com/office/drawing/2014/main" id="{A8424B57-03C8-43BF-A268-16BA2D7CF0EC}"/>
              </a:ext>
            </a:extLst>
          </p:cNvPr>
          <p:cNvSpPr>
            <a:spLocks xmlns:a="http://schemas.openxmlformats.org/drawingml/2006/main" noGrp="1"/>
          </p:cNvSpPr>
          <p:nvPr/>
        </p:nvSpPr>
        <p:spPr>
          <a:xfrm xmlns:a="http://schemas.openxmlformats.org/drawingml/2006/main">
            <a:off x="6076950" y="3581400"/>
            <a:ext cx="2781300" cy="742950"/>
          </a:xfrm>
          <a:prstGeom xmlns:a="http://schemas.openxmlformats.org/drawingml/2006/main" prst="roundRect">
            <a:avLst>
              <a:gd name="adj" fmla="val 15385"/>
            </a:avLst>
          </a:prstGeom>
          <a:solidFill xmlns:a="http://schemas.openxmlformats.org/drawingml/2006/main">
            <a:srgbClr val="FFF2E6"/>
          </a:solidFill>
          <a:ln xmlns:a="http://schemas.openxmlformats.org/drawingml/2006/main" w="9525">
            <a:solidFill>
              <a:srgbClr val="D5E0E8"/>
            </a:solidFill>
            <a:prstDash val="solid"/>
          </a:ln>
        </p:spPr>
      </p:sp>
      <p:sp>
        <p:nvSpPr>
          <p:cNvPr id="29" name="">
            <a:extLst xmlns:a="http://schemas.openxmlformats.org/drawingml/2006/main">
              <a:ext uri="{FF2B5EF4-FFF2-40B4-BE49-F238E27FC236}">
                <a16:creationId xmlns:a16="http://schemas.microsoft.com/office/drawing/2014/main" id="{835978FD-85D3-4DAA-B694-3FFECC79EAC0}"/>
              </a:ext>
            </a:extLst>
          </p:cNvPr>
          <p:cNvSpPr>
            <a:spLocks xmlns:a="http://schemas.openxmlformats.org/drawingml/2006/main" noGrp="1"/>
          </p:cNvSpPr>
          <p:nvPr/>
        </p:nvSpPr>
        <p:spPr>
          <a:xfrm xmlns:a="http://schemas.openxmlformats.org/drawingml/2006/main">
            <a:off x="6076950" y="4495800"/>
            <a:ext cx="2781300"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9525">
            <a:solidFill>
              <a:srgbClr val="D5E0E8"/>
            </a:solidFill>
            <a:prstDash val="solid"/>
          </a:ln>
        </p:spPr>
      </p:sp>
      <p:sp>
        <p:nvSpPr>
          <p:cNvPr id="30" name="">
            <a:extLst xmlns:a="http://schemas.openxmlformats.org/drawingml/2006/main">
              <a:ext uri="{FF2B5EF4-FFF2-40B4-BE49-F238E27FC236}">
                <a16:creationId xmlns:a16="http://schemas.microsoft.com/office/drawing/2014/main" id="{9FFFDF69-4EB0-407A-99F6-312B7E1051AF}"/>
              </a:ext>
            </a:extLst>
          </p:cNvPr>
          <p:cNvSpPr>
            <a:spLocks xmlns:a="http://schemas.openxmlformats.org/drawingml/2006/main" noGrp="1"/>
          </p:cNvSpPr>
          <p:nvPr/>
        </p:nvSpPr>
        <p:spPr>
          <a:xfrm xmlns:a="http://schemas.openxmlformats.org/drawingml/2006/main">
            <a:off x="6267450" y="1866900"/>
            <a:ext cx="2400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2850"/>
                </a:solidFill>
              </a:defRPr>
            </a:pPr>
            <a:r>
              <a:rPr sz="1350" b="1">
                <a:solidFill>
                  <a:srgbClr val="002850"/>
                </a:solidFill>
              </a:rPr>
              <a:t>Entity resolver + router</a:t>
            </a:r>
          </a:p>
        </p:txBody>
      </p:sp>
      <p:sp>
        <p:nvSpPr>
          <p:cNvPr id="31" name="">
            <a:extLst xmlns:a="http://schemas.openxmlformats.org/drawingml/2006/main">
              <a:ext uri="{FF2B5EF4-FFF2-40B4-BE49-F238E27FC236}">
                <a16:creationId xmlns:a16="http://schemas.microsoft.com/office/drawing/2014/main" id="{9B75CB05-A78E-485C-90D7-5A6B79A32BC1}"/>
              </a:ext>
            </a:extLst>
          </p:cNvPr>
          <p:cNvSpPr>
            <a:spLocks xmlns:a="http://schemas.openxmlformats.org/drawingml/2006/main" noGrp="1"/>
          </p:cNvSpPr>
          <p:nvPr/>
        </p:nvSpPr>
        <p:spPr>
          <a:xfrm xmlns:a="http://schemas.openxmlformats.org/drawingml/2006/main">
            <a:off x="6267450" y="2190750"/>
            <a:ext cx="24003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16575"/>
                </a:solidFill>
              </a:defRPr>
            </a:pPr>
            <a:r>
              <a:rPr sz="975" b="0">
                <a:solidFill>
                  <a:srgbClr val="516575"/>
                </a:solidFill>
              </a:rPr>
              <a:t>Member, provider, measure, intent</a:t>
            </a:r>
          </a:p>
        </p:txBody>
      </p:sp>
      <p:sp>
        <p:nvSpPr>
          <p:cNvPr id="32" name="">
            <a:extLst xmlns:a="http://schemas.openxmlformats.org/drawingml/2006/main">
              <a:ext uri="{FF2B5EF4-FFF2-40B4-BE49-F238E27FC236}">
                <a16:creationId xmlns:a16="http://schemas.microsoft.com/office/drawing/2014/main" id="{FAFB9824-D7AD-4FF4-B069-198BCF7F1472}"/>
              </a:ext>
            </a:extLst>
          </p:cNvPr>
          <p:cNvSpPr>
            <a:spLocks xmlns:a="http://schemas.openxmlformats.org/drawingml/2006/main" noGrp="1"/>
          </p:cNvSpPr>
          <p:nvPr/>
        </p:nvSpPr>
        <p:spPr>
          <a:xfrm xmlns:a="http://schemas.openxmlformats.org/drawingml/2006/main">
            <a:off x="6267450" y="2781300"/>
            <a:ext cx="2400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2850"/>
                </a:solidFill>
              </a:defRPr>
            </a:pPr>
            <a:r>
              <a:rPr sz="1350" b="1">
                <a:solidFill>
                  <a:srgbClr val="002850"/>
                </a:solidFill>
              </a:rPr>
              <a:t>Structured query service</a:t>
            </a:r>
          </a:p>
        </p:txBody>
      </p:sp>
      <p:sp>
        <p:nvSpPr>
          <p:cNvPr id="33" name="">
            <a:extLst xmlns:a="http://schemas.openxmlformats.org/drawingml/2006/main">
              <a:ext uri="{FF2B5EF4-FFF2-40B4-BE49-F238E27FC236}">
                <a16:creationId xmlns:a16="http://schemas.microsoft.com/office/drawing/2014/main" id="{BF8CBBBC-6BBB-44A4-A8AE-CA7E446F88E3}"/>
              </a:ext>
            </a:extLst>
          </p:cNvPr>
          <p:cNvSpPr>
            <a:spLocks xmlns:a="http://schemas.openxmlformats.org/drawingml/2006/main" noGrp="1"/>
          </p:cNvSpPr>
          <p:nvPr/>
        </p:nvSpPr>
        <p:spPr>
          <a:xfrm xmlns:a="http://schemas.openxmlformats.org/drawingml/2006/main">
            <a:off x="6267450" y="3105150"/>
            <a:ext cx="24003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16575"/>
                </a:solidFill>
              </a:defRPr>
            </a:pPr>
            <a:r>
              <a:rPr sz="975" b="0">
                <a:solidFill>
                  <a:srgbClr val="516575"/>
                </a:solidFill>
              </a:rPr>
              <a:t>Parameterized SQL and exact retrieval</a:t>
            </a:r>
          </a:p>
        </p:txBody>
      </p:sp>
      <p:sp>
        <p:nvSpPr>
          <p:cNvPr id="34" name="">
            <a:extLst xmlns:a="http://schemas.openxmlformats.org/drawingml/2006/main">
              <a:ext uri="{FF2B5EF4-FFF2-40B4-BE49-F238E27FC236}">
                <a16:creationId xmlns:a16="http://schemas.microsoft.com/office/drawing/2014/main" id="{F2F2F6AD-6108-42B3-B9B0-C2C8AA745D64}"/>
              </a:ext>
            </a:extLst>
          </p:cNvPr>
          <p:cNvSpPr>
            <a:spLocks xmlns:a="http://schemas.openxmlformats.org/drawingml/2006/main" noGrp="1"/>
          </p:cNvSpPr>
          <p:nvPr/>
        </p:nvSpPr>
        <p:spPr>
          <a:xfrm xmlns:a="http://schemas.openxmlformats.org/drawingml/2006/main">
            <a:off x="6267450" y="3695700"/>
            <a:ext cx="2400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2850"/>
                </a:solidFill>
              </a:defRPr>
            </a:pPr>
            <a:r>
              <a:rPr sz="1350" b="1">
                <a:solidFill>
                  <a:srgbClr val="002850"/>
                </a:solidFill>
              </a:rPr>
              <a:t>Rules + RAG retrieval</a:t>
            </a:r>
          </a:p>
        </p:txBody>
      </p:sp>
      <p:sp>
        <p:nvSpPr>
          <p:cNvPr id="35" name="">
            <a:extLst xmlns:a="http://schemas.openxmlformats.org/drawingml/2006/main">
              <a:ext uri="{FF2B5EF4-FFF2-40B4-BE49-F238E27FC236}">
                <a16:creationId xmlns:a16="http://schemas.microsoft.com/office/drawing/2014/main" id="{72805F7E-B650-4315-9251-E7F85A5CA8CE}"/>
              </a:ext>
            </a:extLst>
          </p:cNvPr>
          <p:cNvSpPr>
            <a:spLocks xmlns:a="http://schemas.openxmlformats.org/drawingml/2006/main" noGrp="1"/>
          </p:cNvSpPr>
          <p:nvPr/>
        </p:nvSpPr>
        <p:spPr>
          <a:xfrm xmlns:a="http://schemas.openxmlformats.org/drawingml/2006/main">
            <a:off x="6267450" y="4019550"/>
            <a:ext cx="24003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16575"/>
                </a:solidFill>
              </a:defRPr>
            </a:pPr>
            <a:r>
              <a:rPr sz="975" b="0">
                <a:solidFill>
                  <a:srgbClr val="516575"/>
                </a:solidFill>
              </a:rPr>
              <a:t>Decision logic and specification citations</a:t>
            </a:r>
          </a:p>
        </p:txBody>
      </p:sp>
      <p:sp>
        <p:nvSpPr>
          <p:cNvPr id="36" name="">
            <a:extLst xmlns:a="http://schemas.openxmlformats.org/drawingml/2006/main">
              <a:ext uri="{FF2B5EF4-FFF2-40B4-BE49-F238E27FC236}">
                <a16:creationId xmlns:a16="http://schemas.microsoft.com/office/drawing/2014/main" id="{492E5785-FB9A-493B-88CE-FE81F0DBFFAF}"/>
              </a:ext>
            </a:extLst>
          </p:cNvPr>
          <p:cNvSpPr>
            <a:spLocks xmlns:a="http://schemas.openxmlformats.org/drawingml/2006/main" noGrp="1"/>
          </p:cNvSpPr>
          <p:nvPr/>
        </p:nvSpPr>
        <p:spPr>
          <a:xfrm xmlns:a="http://schemas.openxmlformats.org/drawingml/2006/main">
            <a:off x="6267450" y="4610100"/>
            <a:ext cx="2400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002850"/>
                </a:solidFill>
              </a:defRPr>
            </a:pPr>
            <a:r>
              <a:rPr sz="1350" b="1">
                <a:solidFill>
                  <a:srgbClr val="002850"/>
                </a:solidFill>
              </a:rPr>
              <a:t>Evidence composer</a:t>
            </a:r>
          </a:p>
        </p:txBody>
      </p:sp>
      <p:sp>
        <p:nvSpPr>
          <p:cNvPr id="37" name="">
            <a:extLst xmlns:a="http://schemas.openxmlformats.org/drawingml/2006/main">
              <a:ext uri="{FF2B5EF4-FFF2-40B4-BE49-F238E27FC236}">
                <a16:creationId xmlns:a16="http://schemas.microsoft.com/office/drawing/2014/main" id="{1F5A283A-6701-4421-90D6-143D911595A8}"/>
              </a:ext>
            </a:extLst>
          </p:cNvPr>
          <p:cNvSpPr>
            <a:spLocks xmlns:a="http://schemas.openxmlformats.org/drawingml/2006/main" noGrp="1"/>
          </p:cNvSpPr>
          <p:nvPr/>
        </p:nvSpPr>
        <p:spPr>
          <a:xfrm xmlns:a="http://schemas.openxmlformats.org/drawingml/2006/main">
            <a:off x="6267450" y="4933950"/>
            <a:ext cx="24003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0">
                <a:solidFill>
                  <a:srgbClr val="516575"/>
                </a:solidFill>
              </a:defRPr>
            </a:pPr>
            <a:r>
              <a:rPr sz="975" b="0">
                <a:solidFill>
                  <a:srgbClr val="516575"/>
                </a:solidFill>
              </a:rPr>
              <a:t>Small, traceable context bundle</a:t>
            </a:r>
          </a:p>
        </p:txBody>
      </p:sp>
      <p:sp>
        <p:nvSpPr>
          <p:cNvPr id="38" name="">
            <a:extLst xmlns:a="http://schemas.openxmlformats.org/drawingml/2006/main">
              <a:ext uri="{FF2B5EF4-FFF2-40B4-BE49-F238E27FC236}">
                <a16:creationId xmlns:a16="http://schemas.microsoft.com/office/drawing/2014/main" id="{58F65AA6-CC8F-433A-8DB9-7A1F5F16F5EC}"/>
              </a:ext>
            </a:extLst>
          </p:cNvPr>
          <p:cNvSpPr>
            <a:spLocks xmlns:a="http://schemas.openxmlformats.org/drawingml/2006/main" noGrp="1"/>
          </p:cNvSpPr>
          <p:nvPr/>
        </p:nvSpPr>
        <p:spPr>
          <a:xfrm xmlns:a="http://schemas.openxmlformats.org/drawingml/2006/main">
            <a:off x="9639300" y="2286000"/>
            <a:ext cx="1847850" cy="952500"/>
          </a:xfrm>
          <a:prstGeom xmlns:a="http://schemas.openxmlformats.org/drawingml/2006/main" prst="roundRect">
            <a:avLst>
              <a:gd name="adj" fmla="val 12000"/>
            </a:avLst>
          </a:prstGeom>
          <a:solidFill xmlns:a="http://schemas.openxmlformats.org/drawingml/2006/main">
            <a:srgbClr val="002850"/>
          </a:solidFill>
          <a:ln xmlns:a="http://schemas.openxmlformats.org/drawingml/2006/main" w="0">
            <a:solidFill>
              <a:srgbClr val="002850"/>
            </a:solidFill>
            <a:prstDash val="solid"/>
          </a:ln>
        </p:spPr>
      </p:sp>
      <p:sp>
        <p:nvSpPr>
          <p:cNvPr id="39" name="">
            <a:extLst xmlns:a="http://schemas.openxmlformats.org/drawingml/2006/main">
              <a:ext uri="{FF2B5EF4-FFF2-40B4-BE49-F238E27FC236}">
                <a16:creationId xmlns:a16="http://schemas.microsoft.com/office/drawing/2014/main" id="{AA3BE8DB-D13A-4731-9D5B-BBDA6BCECFCB}"/>
              </a:ext>
            </a:extLst>
          </p:cNvPr>
          <p:cNvSpPr>
            <a:spLocks xmlns:a="http://schemas.openxmlformats.org/drawingml/2006/main" noGrp="1"/>
          </p:cNvSpPr>
          <p:nvPr/>
        </p:nvSpPr>
        <p:spPr>
          <a:xfrm xmlns:a="http://schemas.openxmlformats.org/drawingml/2006/main">
            <a:off x="9829800" y="2447925"/>
            <a:ext cx="1466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FFFFFF"/>
                </a:solidFill>
              </a:defRPr>
            </a:pPr>
            <a:r>
              <a:rPr sz="1500" b="1">
                <a:solidFill>
                  <a:srgbClr val="FFFFFF"/>
                </a:solidFill>
              </a:rPr>
              <a:t>Approved</a:t>
            </a:r>
          </a:p>
          <a:p xmlns:a="http://schemas.openxmlformats.org/drawingml/2006/main">
            <a:pPr algn="ctr">
              <a:defRPr sz="1500" b="1">
                <a:solidFill>
                  <a:srgbClr val="FFFFFF"/>
                </a:solidFill>
              </a:defRPr>
            </a:pPr>
            <a:r>
              <a:rPr sz="1500" b="1">
                <a:solidFill>
                  <a:srgbClr val="FFFFFF"/>
                </a:solidFill>
              </a:rPr>
              <a:t>LLM</a:t>
            </a:r>
          </a:p>
        </p:txBody>
      </p:sp>
      <p:sp>
        <p:nvSpPr>
          <p:cNvPr id="40" name="">
            <a:extLst xmlns:a="http://schemas.openxmlformats.org/drawingml/2006/main">
              <a:ext uri="{FF2B5EF4-FFF2-40B4-BE49-F238E27FC236}">
                <a16:creationId xmlns:a16="http://schemas.microsoft.com/office/drawing/2014/main" id="{FD6A9B5F-20FE-47D1-B6D5-72046E7B4303}"/>
              </a:ext>
            </a:extLst>
          </p:cNvPr>
          <p:cNvSpPr>
            <a:spLocks xmlns:a="http://schemas.openxmlformats.org/drawingml/2006/main" noGrp="1"/>
          </p:cNvSpPr>
          <p:nvPr/>
        </p:nvSpPr>
        <p:spPr>
          <a:xfrm xmlns:a="http://schemas.openxmlformats.org/drawingml/2006/main">
            <a:off x="9829800" y="2952750"/>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C8DCE8"/>
                </a:solidFill>
              </a:defRPr>
            </a:pPr>
            <a:r>
              <a:rPr sz="975" b="0">
                <a:solidFill>
                  <a:srgbClr val="C8DCE8"/>
                </a:solidFill>
              </a:rPr>
              <a:t>Explain, cite, abstain</a:t>
            </a:r>
          </a:p>
        </p:txBody>
      </p:sp>
      <p:sp>
        <p:nvSpPr>
          <p:cNvPr id="41" name="">
            <a:extLst xmlns:a="http://schemas.openxmlformats.org/drawingml/2006/main">
              <a:ext uri="{FF2B5EF4-FFF2-40B4-BE49-F238E27FC236}">
                <a16:creationId xmlns:a16="http://schemas.microsoft.com/office/drawing/2014/main" id="{D5E4086B-9011-45BE-B25A-43D167EE4C7F}"/>
              </a:ext>
            </a:extLst>
          </p:cNvPr>
          <p:cNvSpPr>
            <a:spLocks xmlns:a="http://schemas.openxmlformats.org/drawingml/2006/main" noGrp="1"/>
          </p:cNvSpPr>
          <p:nvPr/>
        </p:nvSpPr>
        <p:spPr>
          <a:xfrm xmlns:a="http://schemas.openxmlformats.org/drawingml/2006/main">
            <a:off x="9639300" y="3629025"/>
            <a:ext cx="1847850" cy="952500"/>
          </a:xfrm>
          <a:prstGeom xmlns:a="http://schemas.openxmlformats.org/drawingml/2006/main" prst="roundRect">
            <a:avLst>
              <a:gd name="adj" fmla="val 12000"/>
            </a:avLst>
          </a:prstGeom>
          <a:solidFill xmlns:a="http://schemas.openxmlformats.org/drawingml/2006/main">
            <a:srgbClr val="E7F4F1"/>
          </a:solidFill>
          <a:ln xmlns:a="http://schemas.openxmlformats.org/drawingml/2006/main" w="9525">
            <a:solidFill>
              <a:srgbClr val="1D9A8A"/>
            </a:solidFill>
            <a:prstDash val="solid"/>
          </a:ln>
        </p:spPr>
      </p:sp>
      <p:sp>
        <p:nvSpPr>
          <p:cNvPr id="42" name="">
            <a:extLst xmlns:a="http://schemas.openxmlformats.org/drawingml/2006/main">
              <a:ext uri="{FF2B5EF4-FFF2-40B4-BE49-F238E27FC236}">
                <a16:creationId xmlns:a16="http://schemas.microsoft.com/office/drawing/2014/main" id="{E3FAD6D5-0C9C-40B4-81AF-02DC6FD1A125}"/>
              </a:ext>
            </a:extLst>
          </p:cNvPr>
          <p:cNvSpPr>
            <a:spLocks xmlns:a="http://schemas.openxmlformats.org/drawingml/2006/main" noGrp="1"/>
          </p:cNvSpPr>
          <p:nvPr/>
        </p:nvSpPr>
        <p:spPr>
          <a:xfrm xmlns:a="http://schemas.openxmlformats.org/drawingml/2006/main">
            <a:off x="9829800" y="3781425"/>
            <a:ext cx="14668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002850"/>
                </a:solidFill>
              </a:defRPr>
            </a:pPr>
            <a:r>
              <a:rPr sz="1500" b="1">
                <a:solidFill>
                  <a:srgbClr val="002850"/>
                </a:solidFill>
              </a:rPr>
              <a:t>Validated</a:t>
            </a:r>
          </a:p>
          <a:p xmlns:a="http://schemas.openxmlformats.org/drawingml/2006/main">
            <a:pPr algn="ctr">
              <a:defRPr sz="1500" b="1">
                <a:solidFill>
                  <a:srgbClr val="002850"/>
                </a:solidFill>
              </a:defRPr>
            </a:pPr>
            <a:r>
              <a:rPr sz="1500" b="1">
                <a:solidFill>
                  <a:srgbClr val="002850"/>
                </a:solidFill>
              </a:rPr>
              <a:t>answer</a:t>
            </a:r>
          </a:p>
        </p:txBody>
      </p:sp>
      <p:sp>
        <p:nvSpPr>
          <p:cNvPr id="43" name="">
            <a:extLst xmlns:a="http://schemas.openxmlformats.org/drawingml/2006/main">
              <a:ext uri="{FF2B5EF4-FFF2-40B4-BE49-F238E27FC236}">
                <a16:creationId xmlns:a16="http://schemas.microsoft.com/office/drawing/2014/main" id="{109ADFEE-87F3-4E30-99A4-90A1318B4191}"/>
              </a:ext>
            </a:extLst>
          </p:cNvPr>
          <p:cNvSpPr>
            <a:spLocks xmlns:a="http://schemas.openxmlformats.org/drawingml/2006/main" noGrp="1"/>
          </p:cNvSpPr>
          <p:nvPr/>
        </p:nvSpPr>
        <p:spPr>
          <a:xfrm xmlns:a="http://schemas.openxmlformats.org/drawingml/2006/main">
            <a:off x="9829800" y="4295775"/>
            <a:ext cx="14668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975" b="0">
                <a:solidFill>
                  <a:srgbClr val="516575"/>
                </a:solidFill>
              </a:defRPr>
            </a:pPr>
            <a:r>
              <a:rPr sz="975" b="0">
                <a:solidFill>
                  <a:srgbClr val="516575"/>
                </a:solidFill>
              </a:rPr>
              <a:t>Citations + audit trail</a:t>
            </a:r>
          </a:p>
        </p:txBody>
      </p:sp>
      <p:cxnSp>
        <p:nvCxnSpPr>
          <p:cNvPr id="101" name=""/>
          <p:cNvCxnSpPr>
            <a:stCxn xmlns:a="http://schemas.openxmlformats.org/drawingml/2006/main" id="9" idx="3"/>
            <a:endCxn xmlns:a="http://schemas.openxmlformats.org/drawingml/2006/main" id="17" idx="1"/>
          </p:cNvCxnSpPr>
          <p:nvPr/>
        </p:nvCxnSpPr>
        <p:spPr>
          <a:xfrm xmlns:a="http://schemas.openxmlformats.org/drawingml/2006/main">
            <a:off x="2419350" y="2085975"/>
            <a:ext cx="533400" cy="342900"/>
          </a:xfrm>
          <a:prstGeom xmlns:a="http://schemas.openxmlformats.org/drawingml/2006/main" prst="bentConnector3">
            <a:avLst>
              <a:gd name="adj1" fmla="val 50000"/>
            </a:avLst>
          </a:prstGeom>
          <a:ln xmlns:a="http://schemas.openxmlformats.org/drawingml/2006/main" w="19050">
            <a:solidFill>
              <a:srgbClr val="2B6F9F"/>
            </a:solidFill>
            <a:prstDash val="solid"/>
            <a:tailEnd type="arrow" w="sm" len="sm"/>
          </a:ln>
        </p:spPr>
      </p:cxnSp>
      <p:cxnSp>
        <p:nvCxnSpPr>
          <p:cNvPr id="102" name=""/>
          <p:cNvCxnSpPr>
            <a:stCxn xmlns:a="http://schemas.openxmlformats.org/drawingml/2006/main" id="11" idx="3"/>
            <a:endCxn xmlns:a="http://schemas.openxmlformats.org/drawingml/2006/main" id="17" idx="1"/>
          </p:cNvCxnSpPr>
          <p:nvPr/>
        </p:nvCxnSpPr>
        <p:spPr>
          <a:xfrm xmlns:a="http://schemas.openxmlformats.org/drawingml/2006/main" flipV="1">
            <a:off x="2419350" y="2428875"/>
            <a:ext cx="533400" cy="514350"/>
          </a:xfrm>
          <a:prstGeom xmlns:a="http://schemas.openxmlformats.org/drawingml/2006/main" prst="bentConnector3">
            <a:avLst>
              <a:gd name="adj1" fmla="val 50000"/>
            </a:avLst>
          </a:prstGeom>
          <a:ln xmlns:a="http://schemas.openxmlformats.org/drawingml/2006/main" w="19050">
            <a:solidFill>
              <a:srgbClr val="2B6F9F"/>
            </a:solidFill>
            <a:prstDash val="solid"/>
            <a:tailEnd type="arrow" w="sm" len="sm"/>
          </a:ln>
        </p:spPr>
      </p:cxnSp>
      <p:cxnSp>
        <p:nvCxnSpPr>
          <p:cNvPr id="103" name=""/>
          <p:cNvCxnSpPr>
            <a:stCxn xmlns:a="http://schemas.openxmlformats.org/drawingml/2006/main" id="13" idx="3"/>
            <a:endCxn xmlns:a="http://schemas.openxmlformats.org/drawingml/2006/main" id="18" idx="1"/>
          </p:cNvCxnSpPr>
          <p:nvPr/>
        </p:nvCxnSpPr>
        <p:spPr>
          <a:xfrm xmlns:a="http://schemas.openxmlformats.org/drawingml/2006/main" flipV="1">
            <a:off x="2419350" y="3676650"/>
            <a:ext cx="533400" cy="123825"/>
          </a:xfrm>
          <a:prstGeom xmlns:a="http://schemas.openxmlformats.org/drawingml/2006/main" prst="bentConnector3">
            <a:avLst>
              <a:gd name="adj1" fmla="val 50000"/>
            </a:avLst>
          </a:prstGeom>
          <a:ln xmlns:a="http://schemas.openxmlformats.org/drawingml/2006/main" w="19050">
            <a:solidFill>
              <a:srgbClr val="1D9A8A"/>
            </a:solidFill>
            <a:prstDash val="solid"/>
            <a:tailEnd type="arrow" w="sm" len="sm"/>
          </a:ln>
        </p:spPr>
      </p:cxnSp>
      <p:cxnSp>
        <p:nvCxnSpPr>
          <p:cNvPr id="104" name=""/>
          <p:cNvCxnSpPr>
            <a:stCxn xmlns:a="http://schemas.openxmlformats.org/drawingml/2006/main" id="15" idx="3"/>
            <a:endCxn xmlns:a="http://schemas.openxmlformats.org/drawingml/2006/main" id="19" idx="1"/>
          </p:cNvCxnSpPr>
          <p:nvPr/>
        </p:nvCxnSpPr>
        <p:spPr>
          <a:xfrm xmlns:a="http://schemas.openxmlformats.org/drawingml/2006/main">
            <a:off x="2419350" y="4657725"/>
            <a:ext cx="533400" cy="180975"/>
          </a:xfrm>
          <a:prstGeom xmlns:a="http://schemas.openxmlformats.org/drawingml/2006/main" prst="bentConnector3">
            <a:avLst>
              <a:gd name="adj1" fmla="val 50000"/>
            </a:avLst>
          </a:prstGeom>
          <a:ln xmlns:a="http://schemas.openxmlformats.org/drawingml/2006/main" w="19050">
            <a:solidFill>
              <a:srgbClr val="E58A3A"/>
            </a:solidFill>
            <a:prstDash val="solid"/>
            <a:tailEnd type="arrow" w="sm" len="sm"/>
          </a:ln>
        </p:spPr>
      </p:cxnSp>
      <p:cxnSp>
        <p:nvCxnSpPr>
          <p:cNvPr id="105" name=""/>
          <p:cNvCxnSpPr>
            <a:stCxn xmlns:a="http://schemas.openxmlformats.org/drawingml/2006/main" id="17" idx="3"/>
            <a:endCxn xmlns:a="http://schemas.openxmlformats.org/drawingml/2006/main" id="27" idx="1"/>
          </p:cNvCxnSpPr>
          <p:nvPr/>
        </p:nvCxnSpPr>
        <p:spPr>
          <a:xfrm xmlns:a="http://schemas.openxmlformats.org/drawingml/2006/main">
            <a:off x="5334000" y="2428875"/>
            <a:ext cx="742950" cy="609600"/>
          </a:xfrm>
          <a:prstGeom xmlns:a="http://schemas.openxmlformats.org/drawingml/2006/main" prst="bentConnector3">
            <a:avLst>
              <a:gd name="adj1" fmla="val 50000"/>
            </a:avLst>
          </a:prstGeom>
          <a:ln xmlns:a="http://schemas.openxmlformats.org/drawingml/2006/main" w="19050">
            <a:solidFill>
              <a:srgbClr val="788B98"/>
            </a:solidFill>
            <a:prstDash val="solid"/>
            <a:tailEnd type="arrow" w="sm" len="sm"/>
          </a:ln>
        </p:spPr>
      </p:cxnSp>
      <p:cxnSp>
        <p:nvCxnSpPr>
          <p:cNvPr id="106" name=""/>
          <p:cNvCxnSpPr>
            <a:stCxn xmlns:a="http://schemas.openxmlformats.org/drawingml/2006/main" id="18" idx="3"/>
            <a:endCxn xmlns:a="http://schemas.openxmlformats.org/drawingml/2006/main" id="28" idx="1"/>
          </p:cNvCxnSpPr>
          <p:nvPr/>
        </p:nvCxnSpPr>
        <p:spPr>
          <a:xfrm xmlns:a="http://schemas.openxmlformats.org/drawingml/2006/main">
            <a:off x="5334000" y="3676650"/>
            <a:ext cx="742950" cy="276225"/>
          </a:xfrm>
          <a:prstGeom xmlns:a="http://schemas.openxmlformats.org/drawingml/2006/main" prst="bentConnector3">
            <a:avLst>
              <a:gd name="adj1" fmla="val 50000"/>
            </a:avLst>
          </a:prstGeom>
          <a:ln xmlns:a="http://schemas.openxmlformats.org/drawingml/2006/main" w="19050">
            <a:solidFill>
              <a:srgbClr val="788B98"/>
            </a:solidFill>
            <a:prstDash val="solid"/>
            <a:tailEnd type="arrow" w="sm" len="sm"/>
          </a:ln>
        </p:spPr>
      </p:cxnSp>
      <p:cxnSp>
        <p:nvCxnSpPr>
          <p:cNvPr id="107" name=""/>
          <p:cNvCxnSpPr>
            <a:stCxn xmlns:a="http://schemas.openxmlformats.org/drawingml/2006/main" id="19" idx="3"/>
            <a:endCxn xmlns:a="http://schemas.openxmlformats.org/drawingml/2006/main" id="28" idx="1"/>
          </p:cNvCxnSpPr>
          <p:nvPr/>
        </p:nvCxnSpPr>
        <p:spPr>
          <a:xfrm xmlns:a="http://schemas.openxmlformats.org/drawingml/2006/main" flipV="1">
            <a:off x="5334000" y="3952875"/>
            <a:ext cx="742950" cy="885825"/>
          </a:xfrm>
          <a:prstGeom xmlns:a="http://schemas.openxmlformats.org/drawingml/2006/main" prst="bentConnector3">
            <a:avLst>
              <a:gd name="adj1" fmla="val 50000"/>
            </a:avLst>
          </a:prstGeom>
          <a:ln xmlns:a="http://schemas.openxmlformats.org/drawingml/2006/main" w="19050">
            <a:solidFill>
              <a:srgbClr val="788B98"/>
            </a:solidFill>
            <a:prstDash val="solid"/>
            <a:tailEnd type="arrow" w="sm" len="sm"/>
          </a:ln>
        </p:spPr>
      </p:cxnSp>
      <p:cxnSp>
        <p:nvCxnSpPr>
          <p:cNvPr id="108" name=""/>
          <p:cNvCxnSpPr>
            <a:stCxn xmlns:a="http://schemas.openxmlformats.org/drawingml/2006/main" id="26" idx="2"/>
            <a:endCxn xmlns:a="http://schemas.openxmlformats.org/drawingml/2006/main" id="27" idx="0"/>
          </p:cNvCxnSpPr>
          <p:nvPr/>
        </p:nvCxnSpPr>
        <p:spPr>
          <a:xfrm xmlns:a="http://schemas.openxmlformats.org/drawingml/2006/main">
            <a:off x="7467600" y="2495550"/>
            <a:ext cx="0" cy="171450"/>
          </a:xfrm>
          <a:prstGeom xmlns:a="http://schemas.openxmlformats.org/drawingml/2006/main" prst="straightConnector1">
            <a:avLst/>
          </a:prstGeom>
          <a:ln xmlns:a="http://schemas.openxmlformats.org/drawingml/2006/main" w="19050">
            <a:solidFill>
              <a:srgbClr val="2B6F9F"/>
            </a:solidFill>
            <a:prstDash val="solid"/>
            <a:tailEnd type="arrow" w="sm" len="sm"/>
          </a:ln>
        </p:spPr>
      </p:cxnSp>
      <p:cxnSp>
        <p:nvCxnSpPr>
          <p:cNvPr id="109" name=""/>
          <p:cNvCxnSpPr>
            <a:stCxn xmlns:a="http://schemas.openxmlformats.org/drawingml/2006/main" id="27" idx="2"/>
            <a:endCxn xmlns:a="http://schemas.openxmlformats.org/drawingml/2006/main" id="28" idx="0"/>
          </p:cNvCxnSpPr>
          <p:nvPr/>
        </p:nvCxnSpPr>
        <p:spPr>
          <a:xfrm xmlns:a="http://schemas.openxmlformats.org/drawingml/2006/main">
            <a:off x="7467600" y="3409950"/>
            <a:ext cx="0" cy="171450"/>
          </a:xfrm>
          <a:prstGeom xmlns:a="http://schemas.openxmlformats.org/drawingml/2006/main" prst="straightConnector1">
            <a:avLst/>
          </a:prstGeom>
          <a:ln xmlns:a="http://schemas.openxmlformats.org/drawingml/2006/main" w="19050">
            <a:solidFill>
              <a:srgbClr val="1D9A8A"/>
            </a:solidFill>
            <a:prstDash val="solid"/>
            <a:tailEnd type="arrow" w="sm" len="sm"/>
          </a:ln>
        </p:spPr>
      </p:cxnSp>
      <p:cxnSp>
        <p:nvCxnSpPr>
          <p:cNvPr id="110" name=""/>
          <p:cNvCxnSpPr>
            <a:stCxn xmlns:a="http://schemas.openxmlformats.org/drawingml/2006/main" id="28" idx="2"/>
            <a:endCxn xmlns:a="http://schemas.openxmlformats.org/drawingml/2006/main" id="29" idx="0"/>
          </p:cNvCxnSpPr>
          <p:nvPr/>
        </p:nvCxnSpPr>
        <p:spPr>
          <a:xfrm xmlns:a="http://schemas.openxmlformats.org/drawingml/2006/main">
            <a:off x="7467600" y="4324350"/>
            <a:ext cx="0" cy="171450"/>
          </a:xfrm>
          <a:prstGeom xmlns:a="http://schemas.openxmlformats.org/drawingml/2006/main" prst="straightConnector1">
            <a:avLst/>
          </a:prstGeom>
          <a:ln xmlns:a="http://schemas.openxmlformats.org/drawingml/2006/main" w="19050">
            <a:solidFill>
              <a:srgbClr val="E58A3A"/>
            </a:solidFill>
            <a:prstDash val="solid"/>
            <a:tailEnd type="arrow" w="sm" len="sm"/>
          </a:ln>
        </p:spPr>
      </p:cxnSp>
      <p:cxnSp>
        <p:nvCxnSpPr>
          <p:cNvPr id="111" name=""/>
          <p:cNvCxnSpPr>
            <a:stCxn xmlns:a="http://schemas.openxmlformats.org/drawingml/2006/main" id="29" idx="3"/>
            <a:endCxn xmlns:a="http://schemas.openxmlformats.org/drawingml/2006/main" id="38" idx="1"/>
          </p:cNvCxnSpPr>
          <p:nvPr/>
        </p:nvCxnSpPr>
        <p:spPr>
          <a:xfrm xmlns:a="http://schemas.openxmlformats.org/drawingml/2006/main" flipV="1">
            <a:off x="8858250" y="2762250"/>
            <a:ext cx="781050" cy="2105025"/>
          </a:xfrm>
          <a:prstGeom xmlns:a="http://schemas.openxmlformats.org/drawingml/2006/main" prst="bentConnector3">
            <a:avLst>
              <a:gd name="adj1" fmla="val 50000"/>
            </a:avLst>
          </a:prstGeom>
          <a:ln xmlns:a="http://schemas.openxmlformats.org/drawingml/2006/main" w="19050">
            <a:solidFill>
              <a:srgbClr val="002850"/>
            </a:solidFill>
            <a:prstDash val="solid"/>
            <a:tailEnd type="arrow" w="med" len="med"/>
          </a:ln>
        </p:spPr>
      </p:cxnSp>
      <p:cxnSp>
        <p:nvCxnSpPr>
          <p:cNvPr id="112" name=""/>
          <p:cNvCxnSpPr>
            <a:stCxn xmlns:a="http://schemas.openxmlformats.org/drawingml/2006/main" id="38" idx="2"/>
            <a:endCxn xmlns:a="http://schemas.openxmlformats.org/drawingml/2006/main" id="41" idx="0"/>
          </p:cNvCxnSpPr>
          <p:nvPr/>
        </p:nvCxnSpPr>
        <p:spPr>
          <a:xfrm xmlns:a="http://schemas.openxmlformats.org/drawingml/2006/main">
            <a:off x="10563225" y="3238500"/>
            <a:ext cx="0" cy="390525"/>
          </a:xfrm>
          <a:prstGeom xmlns:a="http://schemas.openxmlformats.org/drawingml/2006/main" prst="straightConnector1">
            <a:avLst/>
          </a:prstGeom>
          <a:ln xmlns:a="http://schemas.openxmlformats.org/drawingml/2006/main" w="19050">
            <a:solidFill>
              <a:srgbClr val="1D9A8A"/>
            </a:solidFill>
            <a:prstDash val="solid"/>
            <a:tailEnd type="arrow" w="med" len="med"/>
          </a:ln>
        </p:spPr>
      </p:cxnSp>
      <p:sp>
        <p:nvSpPr>
          <p:cNvPr id="56" name="">
            <a:extLst xmlns:a="http://schemas.openxmlformats.org/drawingml/2006/main">
              <a:ext uri="{FF2B5EF4-FFF2-40B4-BE49-F238E27FC236}">
                <a16:creationId xmlns:a16="http://schemas.microsoft.com/office/drawing/2014/main" id="{A5C1D924-435A-4A2D-A037-ACA658289F76}"/>
              </a:ext>
            </a:extLst>
          </p:cNvPr>
          <p:cNvSpPr>
            <a:spLocks xmlns:a="http://schemas.openxmlformats.org/drawingml/2006/main" noGrp="1"/>
          </p:cNvSpPr>
          <p:nvPr/>
        </p:nvSpPr>
        <p:spPr>
          <a:xfrm xmlns:a="http://schemas.openxmlformats.org/drawingml/2006/main">
            <a:off x="609600" y="6486525"/>
            <a:ext cx="523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788B98"/>
                </a:solidFill>
              </a:defRPr>
            </a:pPr>
            <a:r>
              <a:rPr sz="750" b="0">
                <a:solidFill>
                  <a:srgbClr val="788B98"/>
                </a:solidFill>
              </a:rPr>
              <a:t>CareAllies Data Lake LLM</a:t>
            </a:r>
          </a:p>
        </p:txBody>
      </p:sp>
      <p:sp>
        <p:nvSpPr>
          <p:cNvPr id="57" name="">
            <a:extLst xmlns:a="http://schemas.openxmlformats.org/drawingml/2006/main">
              <a:ext uri="{FF2B5EF4-FFF2-40B4-BE49-F238E27FC236}">
                <a16:creationId xmlns:a16="http://schemas.microsoft.com/office/drawing/2014/main" id="{3DCB3594-1ECC-434A-B144-32225C627CA2}"/>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Tree>
    <p:extLst>
      <p:ext uri="{BB962C8B-B14F-4D97-AF65-F5344CB8AC3E}">
        <p14:creationId xmlns:p14="http://schemas.microsoft.com/office/powerpoint/2010/main" val="113393337"/>
      </p:ext>
    </p:extLst>
  </p:cSld>
</p:sld>
</file>

<file path=ppt/slides/slide5.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CC202F72-3237-4CBC-8B48-F8F0C8317A7F}"/>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D9A8A"/>
                </a:solidFill>
              </a:defRPr>
            </a:pPr>
            <a:r>
              <a:rPr sz="900" b="1">
                <a:solidFill>
                  <a:srgbClr val="1D9A8A"/>
                </a:solidFill>
              </a:rPr>
              <a:t>RUNTIME METHOD</a:t>
            </a:r>
          </a:p>
        </p:txBody>
      </p:sp>
      <p:sp>
        <p:nvSpPr>
          <p:cNvPr id="2" name="">
            <a:extLst xmlns:a="http://schemas.openxmlformats.org/drawingml/2006/main">
              <a:ext uri="{FF2B5EF4-FFF2-40B4-BE49-F238E27FC236}">
                <a16:creationId xmlns:a16="http://schemas.microsoft.com/office/drawing/2014/main" id="{5F45BE0E-D0A3-4269-B390-1FA691FE762C}"/>
              </a:ext>
            </a:extLst>
          </p:cNvPr>
          <p:cNvSpPr>
            <a:spLocks xmlns:a="http://schemas.openxmlformats.org/drawingml/2006/main" noGrp="1"/>
          </p:cNvSpPr>
          <p:nvPr/>
        </p:nvSpPr>
        <p:spPr>
          <a:xfrm xmlns:a="http://schemas.openxmlformats.org/drawingml/2006/main">
            <a:off x="609600" y="6477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2850"/>
                </a:solidFill>
              </a:defRPr>
            </a:pPr>
            <a:r>
              <a:rPr sz="2700" b="1">
                <a:solidFill>
                  <a:srgbClr val="002850"/>
                </a:solidFill>
              </a:rPr>
              <a:t>Each question follows a controlled evidence journey</a:t>
            </a:r>
          </a:p>
        </p:txBody>
      </p:sp>
      <p:sp>
        <p:nvSpPr>
          <p:cNvPr id="3" name="">
            <a:extLst xmlns:a="http://schemas.openxmlformats.org/drawingml/2006/main">
              <a:ext uri="{FF2B5EF4-FFF2-40B4-BE49-F238E27FC236}">
                <a16:creationId xmlns:a16="http://schemas.microsoft.com/office/drawing/2014/main" id="{6159865E-FA49-4CFB-97DA-0ACF92B36111}"/>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4" name="">
            <a:extLst xmlns:a="http://schemas.openxmlformats.org/drawingml/2006/main">
              <a:ext uri="{FF2B5EF4-FFF2-40B4-BE49-F238E27FC236}">
                <a16:creationId xmlns:a16="http://schemas.microsoft.com/office/drawing/2014/main" id="{A8049617-C82C-4D78-A4DD-C4305DB2533F}"/>
              </a:ext>
            </a:extLst>
          </p:cNvPr>
          <p:cNvSpPr>
            <a:spLocks xmlns:a="http://schemas.openxmlformats.org/drawingml/2006/main" noGrp="1"/>
          </p:cNvSpPr>
          <p:nvPr/>
        </p:nvSpPr>
        <p:spPr>
          <a:xfrm xmlns:a="http://schemas.openxmlformats.org/drawingml/2006/main">
            <a:off x="11087100" y="3619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788B98"/>
                </a:solidFill>
              </a:defRPr>
            </a:pPr>
            <a:r>
              <a:rPr sz="900" b="1">
                <a:solidFill>
                  <a:srgbClr val="788B98"/>
                </a:solidFill>
              </a:rPr>
              <a:t>05</a:t>
            </a:r>
          </a:p>
        </p:txBody>
      </p:sp>
      <p:sp>
        <p:nvSpPr>
          <p:cNvPr id="5" name="">
            <a:extLst xmlns:a="http://schemas.openxmlformats.org/drawingml/2006/main">
              <a:ext uri="{FF2B5EF4-FFF2-40B4-BE49-F238E27FC236}">
                <a16:creationId xmlns:a16="http://schemas.microsoft.com/office/drawing/2014/main" id="{53424F06-5326-4AFF-B44A-D52ABB3F567A}"/>
              </a:ext>
            </a:extLst>
          </p:cNvPr>
          <p:cNvSpPr>
            <a:spLocks xmlns:a="http://schemas.openxmlformats.org/drawingml/2006/main" noGrp="1"/>
          </p:cNvSpPr>
          <p:nvPr/>
        </p:nvSpPr>
        <p:spPr>
          <a:xfrm xmlns:a="http://schemas.openxmlformats.org/drawingml/2006/main">
            <a:off x="609600" y="1695450"/>
            <a:ext cx="3143250" cy="1466850"/>
          </a:xfrm>
          <a:prstGeom xmlns:a="http://schemas.openxmlformats.org/drawingml/2006/main" prst="roundRect">
            <a:avLst>
              <a:gd name="adj" fmla="val 7792"/>
            </a:avLst>
          </a:prstGeom>
          <a:solidFill xmlns:a="http://schemas.openxmlformats.org/drawingml/2006/main">
            <a:srgbClr val="E5F0F7"/>
          </a:solidFill>
          <a:ln xmlns:a="http://schemas.openxmlformats.org/drawingml/2006/main" w="9525">
            <a:solidFill>
              <a:srgbClr val="D5E0E8"/>
            </a:solidFill>
            <a:prstDash val="solid"/>
          </a:ln>
        </p:spPr>
      </p:sp>
      <p:sp>
        <p:nvSpPr>
          <p:cNvPr id="6" name="">
            <a:extLst xmlns:a="http://schemas.openxmlformats.org/drawingml/2006/main">
              <a:ext uri="{FF2B5EF4-FFF2-40B4-BE49-F238E27FC236}">
                <a16:creationId xmlns:a16="http://schemas.microsoft.com/office/drawing/2014/main" id="{BB8F2596-402E-4E3A-8A43-CAF58E2C6C0F}"/>
              </a:ext>
            </a:extLst>
          </p:cNvPr>
          <p:cNvSpPr>
            <a:spLocks xmlns:a="http://schemas.openxmlformats.org/drawingml/2006/main" noGrp="1"/>
          </p:cNvSpPr>
          <p:nvPr/>
        </p:nvSpPr>
        <p:spPr>
          <a:xfrm xmlns:a="http://schemas.openxmlformats.org/drawingml/2006/main">
            <a:off x="781050" y="1866900"/>
            <a:ext cx="323850" cy="323850"/>
          </a:xfrm>
          <a:prstGeom xmlns:a="http://schemas.openxmlformats.org/drawingml/2006/main" prst="ellipse">
            <a:avLst/>
          </a:prstGeom>
          <a:solidFill xmlns:a="http://schemas.openxmlformats.org/drawingml/2006/main">
            <a:srgbClr val="2B6F9F"/>
          </a:solidFill>
          <a:ln xmlns:a="http://schemas.openxmlformats.org/drawingml/2006/main" w="0">
            <a:solidFill>
              <a:srgbClr val="2B6F9F"/>
            </a:solidFill>
            <a:prstDash val="solid"/>
          </a:ln>
        </p:spPr>
      </p:sp>
      <p:sp>
        <p:nvSpPr>
          <p:cNvPr id="7" name="">
            <a:extLst xmlns:a="http://schemas.openxmlformats.org/drawingml/2006/main">
              <a:ext uri="{FF2B5EF4-FFF2-40B4-BE49-F238E27FC236}">
                <a16:creationId xmlns:a16="http://schemas.microsoft.com/office/drawing/2014/main" id="{DC9A2494-649B-4E52-B198-697E50BE1CFD}"/>
              </a:ext>
            </a:extLst>
          </p:cNvPr>
          <p:cNvSpPr>
            <a:spLocks xmlns:a="http://schemas.openxmlformats.org/drawingml/2006/main" noGrp="1"/>
          </p:cNvSpPr>
          <p:nvPr/>
        </p:nvSpPr>
        <p:spPr>
          <a:xfrm xmlns:a="http://schemas.openxmlformats.org/drawingml/2006/main">
            <a:off x="781050" y="18764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1</a:t>
            </a:r>
          </a:p>
        </p:txBody>
      </p:sp>
      <p:sp>
        <p:nvSpPr>
          <p:cNvPr id="8" name="">
            <a:extLst xmlns:a="http://schemas.openxmlformats.org/drawingml/2006/main">
              <a:ext uri="{FF2B5EF4-FFF2-40B4-BE49-F238E27FC236}">
                <a16:creationId xmlns:a16="http://schemas.microsoft.com/office/drawing/2014/main" id="{73EC8EC7-0C77-4684-B8FE-C760F61BBE2E}"/>
              </a:ext>
            </a:extLst>
          </p:cNvPr>
          <p:cNvSpPr>
            <a:spLocks xmlns:a="http://schemas.openxmlformats.org/drawingml/2006/main" noGrp="1"/>
          </p:cNvSpPr>
          <p:nvPr/>
        </p:nvSpPr>
        <p:spPr>
          <a:xfrm xmlns:a="http://schemas.openxmlformats.org/drawingml/2006/main">
            <a:off x="1238250" y="1866900"/>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02850"/>
                </a:solidFill>
              </a:defRPr>
            </a:pPr>
            <a:r>
              <a:rPr sz="1425" b="1">
                <a:solidFill>
                  <a:srgbClr val="002850"/>
                </a:solidFill>
              </a:rPr>
              <a:t>Resolve</a:t>
            </a:r>
          </a:p>
        </p:txBody>
      </p:sp>
      <p:sp>
        <p:nvSpPr>
          <p:cNvPr id="9" name="">
            <a:extLst xmlns:a="http://schemas.openxmlformats.org/drawingml/2006/main">
              <a:ext uri="{FF2B5EF4-FFF2-40B4-BE49-F238E27FC236}">
                <a16:creationId xmlns:a16="http://schemas.microsoft.com/office/drawing/2014/main" id="{0776884F-2888-4293-91CD-7B4A7AA6FA8E}"/>
              </a:ext>
            </a:extLst>
          </p:cNvPr>
          <p:cNvSpPr>
            <a:spLocks xmlns:a="http://schemas.openxmlformats.org/drawingml/2006/main" noGrp="1"/>
          </p:cNvSpPr>
          <p:nvPr/>
        </p:nvSpPr>
        <p:spPr>
          <a:xfrm xmlns:a="http://schemas.openxmlformats.org/drawingml/2006/main">
            <a:off x="800100" y="2305050"/>
            <a:ext cx="2762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16575"/>
                </a:solidFill>
              </a:defRPr>
            </a:pPr>
            <a:r>
              <a:rPr sz="1200" b="0">
                <a:solidFill>
                  <a:srgbClr val="516575"/>
                </a:solidFill>
              </a:rPr>
              <a:t>Identify member, provider, measure, year, and intent.</a:t>
            </a:r>
          </a:p>
        </p:txBody>
      </p:sp>
      <p:sp>
        <p:nvSpPr>
          <p:cNvPr id="10" name="">
            <a:extLst xmlns:a="http://schemas.openxmlformats.org/drawingml/2006/main">
              <a:ext uri="{FF2B5EF4-FFF2-40B4-BE49-F238E27FC236}">
                <a16:creationId xmlns:a16="http://schemas.microsoft.com/office/drawing/2014/main" id="{79AD5EE4-29B8-4DB6-8A7A-88664077A02C}"/>
              </a:ext>
            </a:extLst>
          </p:cNvPr>
          <p:cNvSpPr>
            <a:spLocks xmlns:a="http://schemas.openxmlformats.org/drawingml/2006/main" noGrp="1"/>
          </p:cNvSpPr>
          <p:nvPr/>
        </p:nvSpPr>
        <p:spPr>
          <a:xfrm xmlns:a="http://schemas.openxmlformats.org/drawingml/2006/main">
            <a:off x="4171950" y="1695450"/>
            <a:ext cx="3143250" cy="1466850"/>
          </a:xfrm>
          <a:prstGeom xmlns:a="http://schemas.openxmlformats.org/drawingml/2006/main" prst="roundRect">
            <a:avLst>
              <a:gd name="adj" fmla="val 7792"/>
            </a:avLst>
          </a:prstGeom>
          <a:solidFill xmlns:a="http://schemas.openxmlformats.org/drawingml/2006/main">
            <a:srgbClr val="FFFFFF"/>
          </a:solidFill>
          <a:ln xmlns:a="http://schemas.openxmlformats.org/drawingml/2006/main" w="9525">
            <a:solidFill>
              <a:srgbClr val="D5E0E8"/>
            </a:solidFill>
            <a:prstDash val="solid"/>
          </a:ln>
        </p:spPr>
      </p:sp>
      <p:sp>
        <p:nvSpPr>
          <p:cNvPr id="11" name="">
            <a:extLst xmlns:a="http://schemas.openxmlformats.org/drawingml/2006/main">
              <a:ext uri="{FF2B5EF4-FFF2-40B4-BE49-F238E27FC236}">
                <a16:creationId xmlns:a16="http://schemas.microsoft.com/office/drawing/2014/main" id="{A2CFC337-F49E-4F53-864D-841E71BD17B6}"/>
              </a:ext>
            </a:extLst>
          </p:cNvPr>
          <p:cNvSpPr>
            <a:spLocks xmlns:a="http://schemas.openxmlformats.org/drawingml/2006/main" noGrp="1"/>
          </p:cNvSpPr>
          <p:nvPr/>
        </p:nvSpPr>
        <p:spPr>
          <a:xfrm xmlns:a="http://schemas.openxmlformats.org/drawingml/2006/main">
            <a:off x="4343400" y="1866900"/>
            <a:ext cx="323850" cy="323850"/>
          </a:xfrm>
          <a:prstGeom xmlns:a="http://schemas.openxmlformats.org/drawingml/2006/main" prst="ellipse">
            <a:avLst/>
          </a:prstGeom>
          <a:solidFill xmlns:a="http://schemas.openxmlformats.org/drawingml/2006/main">
            <a:srgbClr val="002850"/>
          </a:solidFill>
          <a:ln xmlns:a="http://schemas.openxmlformats.org/drawingml/2006/main" w="0">
            <a:solidFill>
              <a:srgbClr val="002850"/>
            </a:solidFill>
            <a:prstDash val="solid"/>
          </a:ln>
        </p:spPr>
      </p:sp>
      <p:sp>
        <p:nvSpPr>
          <p:cNvPr id="12" name="">
            <a:extLst xmlns:a="http://schemas.openxmlformats.org/drawingml/2006/main">
              <a:ext uri="{FF2B5EF4-FFF2-40B4-BE49-F238E27FC236}">
                <a16:creationId xmlns:a16="http://schemas.microsoft.com/office/drawing/2014/main" id="{4E4D3D29-760D-4639-B65C-92E8D42C1545}"/>
              </a:ext>
            </a:extLst>
          </p:cNvPr>
          <p:cNvSpPr>
            <a:spLocks xmlns:a="http://schemas.openxmlformats.org/drawingml/2006/main" noGrp="1"/>
          </p:cNvSpPr>
          <p:nvPr/>
        </p:nvSpPr>
        <p:spPr>
          <a:xfrm xmlns:a="http://schemas.openxmlformats.org/drawingml/2006/main">
            <a:off x="4343400" y="18764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2</a:t>
            </a:r>
          </a:p>
        </p:txBody>
      </p:sp>
      <p:sp>
        <p:nvSpPr>
          <p:cNvPr id="13" name="">
            <a:extLst xmlns:a="http://schemas.openxmlformats.org/drawingml/2006/main">
              <a:ext uri="{FF2B5EF4-FFF2-40B4-BE49-F238E27FC236}">
                <a16:creationId xmlns:a16="http://schemas.microsoft.com/office/drawing/2014/main" id="{0CA9A1F1-823A-4782-B119-CC2B42D7B70F}"/>
              </a:ext>
            </a:extLst>
          </p:cNvPr>
          <p:cNvSpPr>
            <a:spLocks xmlns:a="http://schemas.openxmlformats.org/drawingml/2006/main" noGrp="1"/>
          </p:cNvSpPr>
          <p:nvPr/>
        </p:nvSpPr>
        <p:spPr>
          <a:xfrm xmlns:a="http://schemas.openxmlformats.org/drawingml/2006/main">
            <a:off x="4800600" y="1866900"/>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02850"/>
                </a:solidFill>
              </a:defRPr>
            </a:pPr>
            <a:r>
              <a:rPr sz="1425" b="1">
                <a:solidFill>
                  <a:srgbClr val="002850"/>
                </a:solidFill>
              </a:rPr>
              <a:t>Plan</a:t>
            </a:r>
          </a:p>
        </p:txBody>
      </p:sp>
      <p:sp>
        <p:nvSpPr>
          <p:cNvPr id="14" name="">
            <a:extLst xmlns:a="http://schemas.openxmlformats.org/drawingml/2006/main">
              <a:ext uri="{FF2B5EF4-FFF2-40B4-BE49-F238E27FC236}">
                <a16:creationId xmlns:a16="http://schemas.microsoft.com/office/drawing/2014/main" id="{0CC3C80D-44BB-4FC8-B1ED-FA4EF28244AD}"/>
              </a:ext>
            </a:extLst>
          </p:cNvPr>
          <p:cNvSpPr>
            <a:spLocks xmlns:a="http://schemas.openxmlformats.org/drawingml/2006/main" noGrp="1"/>
          </p:cNvSpPr>
          <p:nvPr/>
        </p:nvSpPr>
        <p:spPr>
          <a:xfrm xmlns:a="http://schemas.openxmlformats.org/drawingml/2006/main">
            <a:off x="4362450" y="2305050"/>
            <a:ext cx="2762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16575"/>
                </a:solidFill>
              </a:defRPr>
            </a:pPr>
            <a:r>
              <a:rPr sz="1200" b="0">
                <a:solidFill>
                  <a:srgbClr val="516575"/>
                </a:solidFill>
              </a:rPr>
              <a:t>Select structured, rules, and document paths.</a:t>
            </a:r>
          </a:p>
        </p:txBody>
      </p:sp>
      <p:sp>
        <p:nvSpPr>
          <p:cNvPr id="15" name="">
            <a:extLst xmlns:a="http://schemas.openxmlformats.org/drawingml/2006/main">
              <a:ext uri="{FF2B5EF4-FFF2-40B4-BE49-F238E27FC236}">
                <a16:creationId xmlns:a16="http://schemas.microsoft.com/office/drawing/2014/main" id="{6774E98E-D3F8-4DA7-B0A2-16E0A1D944BA}"/>
              </a:ext>
            </a:extLst>
          </p:cNvPr>
          <p:cNvSpPr>
            <a:spLocks xmlns:a="http://schemas.openxmlformats.org/drawingml/2006/main" noGrp="1"/>
          </p:cNvSpPr>
          <p:nvPr/>
        </p:nvSpPr>
        <p:spPr>
          <a:xfrm xmlns:a="http://schemas.openxmlformats.org/drawingml/2006/main">
            <a:off x="7734300" y="1695450"/>
            <a:ext cx="3143250" cy="1466850"/>
          </a:xfrm>
          <a:prstGeom xmlns:a="http://schemas.openxmlformats.org/drawingml/2006/main" prst="roundRect">
            <a:avLst>
              <a:gd name="adj" fmla="val 7792"/>
            </a:avLst>
          </a:prstGeom>
          <a:solidFill xmlns:a="http://schemas.openxmlformats.org/drawingml/2006/main">
            <a:srgbClr val="E7F4F1"/>
          </a:solidFill>
          <a:ln xmlns:a="http://schemas.openxmlformats.org/drawingml/2006/main" w="9525">
            <a:solidFill>
              <a:srgbClr val="D5E0E8"/>
            </a:solidFill>
            <a:prstDash val="solid"/>
          </a:ln>
        </p:spPr>
      </p:sp>
      <p:sp>
        <p:nvSpPr>
          <p:cNvPr id="16" name="">
            <a:extLst xmlns:a="http://schemas.openxmlformats.org/drawingml/2006/main">
              <a:ext uri="{FF2B5EF4-FFF2-40B4-BE49-F238E27FC236}">
                <a16:creationId xmlns:a16="http://schemas.microsoft.com/office/drawing/2014/main" id="{438BCBF2-E805-43AA-BC67-CEB51542BF8D}"/>
              </a:ext>
            </a:extLst>
          </p:cNvPr>
          <p:cNvSpPr>
            <a:spLocks xmlns:a="http://schemas.openxmlformats.org/drawingml/2006/main" noGrp="1"/>
          </p:cNvSpPr>
          <p:nvPr/>
        </p:nvSpPr>
        <p:spPr>
          <a:xfrm xmlns:a="http://schemas.openxmlformats.org/drawingml/2006/main">
            <a:off x="7905750" y="1866900"/>
            <a:ext cx="323850" cy="323850"/>
          </a:xfrm>
          <a:prstGeom xmlns:a="http://schemas.openxmlformats.org/drawingml/2006/main" prst="ellipse">
            <a:avLst/>
          </a:prstGeom>
          <a:solidFill xmlns:a="http://schemas.openxmlformats.org/drawingml/2006/main">
            <a:srgbClr val="1D9A8A"/>
          </a:solidFill>
          <a:ln xmlns:a="http://schemas.openxmlformats.org/drawingml/2006/main" w="0">
            <a:solidFill>
              <a:srgbClr val="1D9A8A"/>
            </a:solidFill>
            <a:prstDash val="solid"/>
          </a:ln>
        </p:spPr>
      </p:sp>
      <p:sp>
        <p:nvSpPr>
          <p:cNvPr id="17" name="">
            <a:extLst xmlns:a="http://schemas.openxmlformats.org/drawingml/2006/main">
              <a:ext uri="{FF2B5EF4-FFF2-40B4-BE49-F238E27FC236}">
                <a16:creationId xmlns:a16="http://schemas.microsoft.com/office/drawing/2014/main" id="{D68F08A5-980F-4BF4-824A-B91860FBB895}"/>
              </a:ext>
            </a:extLst>
          </p:cNvPr>
          <p:cNvSpPr>
            <a:spLocks xmlns:a="http://schemas.openxmlformats.org/drawingml/2006/main" noGrp="1"/>
          </p:cNvSpPr>
          <p:nvPr/>
        </p:nvSpPr>
        <p:spPr>
          <a:xfrm xmlns:a="http://schemas.openxmlformats.org/drawingml/2006/main">
            <a:off x="7905750" y="187642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3</a:t>
            </a:r>
          </a:p>
        </p:txBody>
      </p:sp>
      <p:sp>
        <p:nvSpPr>
          <p:cNvPr id="18" name="">
            <a:extLst xmlns:a="http://schemas.openxmlformats.org/drawingml/2006/main">
              <a:ext uri="{FF2B5EF4-FFF2-40B4-BE49-F238E27FC236}">
                <a16:creationId xmlns:a16="http://schemas.microsoft.com/office/drawing/2014/main" id="{E9946FED-E7E3-47D9-A8C4-7226D405E375}"/>
              </a:ext>
            </a:extLst>
          </p:cNvPr>
          <p:cNvSpPr>
            <a:spLocks xmlns:a="http://schemas.openxmlformats.org/drawingml/2006/main" noGrp="1"/>
          </p:cNvSpPr>
          <p:nvPr/>
        </p:nvSpPr>
        <p:spPr>
          <a:xfrm xmlns:a="http://schemas.openxmlformats.org/drawingml/2006/main">
            <a:off x="8362950" y="1866900"/>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02850"/>
                </a:solidFill>
              </a:defRPr>
            </a:pPr>
            <a:r>
              <a:rPr sz="1425" b="1">
                <a:solidFill>
                  <a:srgbClr val="002850"/>
                </a:solidFill>
              </a:rPr>
              <a:t>Query</a:t>
            </a:r>
          </a:p>
        </p:txBody>
      </p:sp>
      <p:sp>
        <p:nvSpPr>
          <p:cNvPr id="19" name="">
            <a:extLst xmlns:a="http://schemas.openxmlformats.org/drawingml/2006/main">
              <a:ext uri="{FF2B5EF4-FFF2-40B4-BE49-F238E27FC236}">
                <a16:creationId xmlns:a16="http://schemas.microsoft.com/office/drawing/2014/main" id="{822C7A7A-4D00-4AAD-A5D5-89BC09D3CA67}"/>
              </a:ext>
            </a:extLst>
          </p:cNvPr>
          <p:cNvSpPr>
            <a:spLocks xmlns:a="http://schemas.openxmlformats.org/drawingml/2006/main" noGrp="1"/>
          </p:cNvSpPr>
          <p:nvPr/>
        </p:nvSpPr>
        <p:spPr>
          <a:xfrm xmlns:a="http://schemas.openxmlformats.org/drawingml/2006/main">
            <a:off x="7924800" y="2305050"/>
            <a:ext cx="2762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16575"/>
                </a:solidFill>
              </a:defRPr>
            </a:pPr>
            <a:r>
              <a:rPr sz="1200" b="0">
                <a:solidFill>
                  <a:srgbClr val="516575"/>
                </a:solidFill>
              </a:rPr>
              <a:t>Run allowlisted SQL and metadata-filtered retrieval.</a:t>
            </a:r>
          </a:p>
        </p:txBody>
      </p:sp>
      <p:sp>
        <p:nvSpPr>
          <p:cNvPr id="20" name="">
            <a:extLst xmlns:a="http://schemas.openxmlformats.org/drawingml/2006/main">
              <a:ext uri="{FF2B5EF4-FFF2-40B4-BE49-F238E27FC236}">
                <a16:creationId xmlns:a16="http://schemas.microsoft.com/office/drawing/2014/main" id="{444EB3D9-CCA4-4A22-A47E-2A9D9FB7054C}"/>
              </a:ext>
            </a:extLst>
          </p:cNvPr>
          <p:cNvSpPr>
            <a:spLocks xmlns:a="http://schemas.openxmlformats.org/drawingml/2006/main" noGrp="1"/>
          </p:cNvSpPr>
          <p:nvPr/>
        </p:nvSpPr>
        <p:spPr>
          <a:xfrm xmlns:a="http://schemas.openxmlformats.org/drawingml/2006/main">
            <a:off x="7734300" y="3733800"/>
            <a:ext cx="3143250" cy="1466850"/>
          </a:xfrm>
          <a:prstGeom xmlns:a="http://schemas.openxmlformats.org/drawingml/2006/main" prst="roundRect">
            <a:avLst>
              <a:gd name="adj" fmla="val 7792"/>
            </a:avLst>
          </a:prstGeom>
          <a:solidFill xmlns:a="http://schemas.openxmlformats.org/drawingml/2006/main">
            <a:srgbClr val="FFF2E6"/>
          </a:solidFill>
          <a:ln xmlns:a="http://schemas.openxmlformats.org/drawingml/2006/main" w="9525">
            <a:solidFill>
              <a:srgbClr val="D5E0E8"/>
            </a:solidFill>
            <a:prstDash val="solid"/>
          </a:ln>
        </p:spPr>
      </p:sp>
      <p:sp>
        <p:nvSpPr>
          <p:cNvPr id="21" name="">
            <a:extLst xmlns:a="http://schemas.openxmlformats.org/drawingml/2006/main">
              <a:ext uri="{FF2B5EF4-FFF2-40B4-BE49-F238E27FC236}">
                <a16:creationId xmlns:a16="http://schemas.microsoft.com/office/drawing/2014/main" id="{2C8B71BD-7C4D-47DF-B92D-DE7A791D80A3}"/>
              </a:ext>
            </a:extLst>
          </p:cNvPr>
          <p:cNvSpPr>
            <a:spLocks xmlns:a="http://schemas.openxmlformats.org/drawingml/2006/main" noGrp="1"/>
          </p:cNvSpPr>
          <p:nvPr/>
        </p:nvSpPr>
        <p:spPr>
          <a:xfrm xmlns:a="http://schemas.openxmlformats.org/drawingml/2006/main">
            <a:off x="7905750" y="3905250"/>
            <a:ext cx="323850" cy="323850"/>
          </a:xfrm>
          <a:prstGeom xmlns:a="http://schemas.openxmlformats.org/drawingml/2006/main" prst="ellipse">
            <a:avLst/>
          </a:prstGeom>
          <a:solidFill xmlns:a="http://schemas.openxmlformats.org/drawingml/2006/main">
            <a:srgbClr val="E58A3A"/>
          </a:solidFill>
          <a:ln xmlns:a="http://schemas.openxmlformats.org/drawingml/2006/main" w="0">
            <a:solidFill>
              <a:srgbClr val="E58A3A"/>
            </a:solidFill>
            <a:prstDash val="solid"/>
          </a:ln>
        </p:spPr>
      </p:sp>
      <p:sp>
        <p:nvSpPr>
          <p:cNvPr id="22" name="">
            <a:extLst xmlns:a="http://schemas.openxmlformats.org/drawingml/2006/main">
              <a:ext uri="{FF2B5EF4-FFF2-40B4-BE49-F238E27FC236}">
                <a16:creationId xmlns:a16="http://schemas.microsoft.com/office/drawing/2014/main" id="{98A38FFB-9741-459D-8D72-D20781E4717E}"/>
              </a:ext>
            </a:extLst>
          </p:cNvPr>
          <p:cNvSpPr>
            <a:spLocks xmlns:a="http://schemas.openxmlformats.org/drawingml/2006/main" noGrp="1"/>
          </p:cNvSpPr>
          <p:nvPr/>
        </p:nvSpPr>
        <p:spPr>
          <a:xfrm xmlns:a="http://schemas.openxmlformats.org/drawingml/2006/main">
            <a:off x="7905750" y="39147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4</a:t>
            </a:r>
          </a:p>
        </p:txBody>
      </p:sp>
      <p:sp>
        <p:nvSpPr>
          <p:cNvPr id="23" name="">
            <a:extLst xmlns:a="http://schemas.openxmlformats.org/drawingml/2006/main">
              <a:ext uri="{FF2B5EF4-FFF2-40B4-BE49-F238E27FC236}">
                <a16:creationId xmlns:a16="http://schemas.microsoft.com/office/drawing/2014/main" id="{035A438C-E8A1-4B10-9AC2-DBB901F551FC}"/>
              </a:ext>
            </a:extLst>
          </p:cNvPr>
          <p:cNvSpPr>
            <a:spLocks xmlns:a="http://schemas.openxmlformats.org/drawingml/2006/main" noGrp="1"/>
          </p:cNvSpPr>
          <p:nvPr/>
        </p:nvSpPr>
        <p:spPr>
          <a:xfrm xmlns:a="http://schemas.openxmlformats.org/drawingml/2006/main">
            <a:off x="8362950" y="3905250"/>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02850"/>
                </a:solidFill>
              </a:defRPr>
            </a:pPr>
            <a:r>
              <a:rPr sz="1425" b="1">
                <a:solidFill>
                  <a:srgbClr val="002850"/>
                </a:solidFill>
              </a:rPr>
              <a:t>Decide</a:t>
            </a:r>
          </a:p>
        </p:txBody>
      </p:sp>
      <p:sp>
        <p:nvSpPr>
          <p:cNvPr id="24" name="">
            <a:extLst xmlns:a="http://schemas.openxmlformats.org/drawingml/2006/main">
              <a:ext uri="{FF2B5EF4-FFF2-40B4-BE49-F238E27FC236}">
                <a16:creationId xmlns:a16="http://schemas.microsoft.com/office/drawing/2014/main" id="{E5F24320-F8C1-459C-BACB-6659D7F92268}"/>
              </a:ext>
            </a:extLst>
          </p:cNvPr>
          <p:cNvSpPr>
            <a:spLocks xmlns:a="http://schemas.openxmlformats.org/drawingml/2006/main" noGrp="1"/>
          </p:cNvSpPr>
          <p:nvPr/>
        </p:nvSpPr>
        <p:spPr>
          <a:xfrm xmlns:a="http://schemas.openxmlformats.org/drawingml/2006/main">
            <a:off x="7924800" y="4343400"/>
            <a:ext cx="2762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16575"/>
                </a:solidFill>
              </a:defRPr>
            </a:pPr>
            <a:r>
              <a:rPr sz="1200" b="0">
                <a:solidFill>
                  <a:srgbClr val="516575"/>
                </a:solidFill>
              </a:rPr>
              <a:t>Apply approved measure rules and reconciliation labels.</a:t>
            </a:r>
          </a:p>
        </p:txBody>
      </p:sp>
      <p:sp>
        <p:nvSpPr>
          <p:cNvPr id="25" name="">
            <a:extLst xmlns:a="http://schemas.openxmlformats.org/drawingml/2006/main">
              <a:ext uri="{FF2B5EF4-FFF2-40B4-BE49-F238E27FC236}">
                <a16:creationId xmlns:a16="http://schemas.microsoft.com/office/drawing/2014/main" id="{4AC52B9D-6281-446C-A650-95DEDEF03D53}"/>
              </a:ext>
            </a:extLst>
          </p:cNvPr>
          <p:cNvSpPr>
            <a:spLocks xmlns:a="http://schemas.openxmlformats.org/drawingml/2006/main" noGrp="1"/>
          </p:cNvSpPr>
          <p:nvPr/>
        </p:nvSpPr>
        <p:spPr>
          <a:xfrm xmlns:a="http://schemas.openxmlformats.org/drawingml/2006/main">
            <a:off x="4171950" y="3733800"/>
            <a:ext cx="3143250" cy="1466850"/>
          </a:xfrm>
          <a:prstGeom xmlns:a="http://schemas.openxmlformats.org/drawingml/2006/main" prst="roundRect">
            <a:avLst>
              <a:gd name="adj" fmla="val 7792"/>
            </a:avLst>
          </a:prstGeom>
          <a:solidFill xmlns:a="http://schemas.openxmlformats.org/drawingml/2006/main">
            <a:srgbClr val="FFFFFF"/>
          </a:solidFill>
          <a:ln xmlns:a="http://schemas.openxmlformats.org/drawingml/2006/main" w="9525">
            <a:solidFill>
              <a:srgbClr val="D5E0E8"/>
            </a:solidFill>
            <a:prstDash val="solid"/>
          </a:ln>
        </p:spPr>
      </p:sp>
      <p:sp>
        <p:nvSpPr>
          <p:cNvPr id="26" name="">
            <a:extLst xmlns:a="http://schemas.openxmlformats.org/drawingml/2006/main">
              <a:ext uri="{FF2B5EF4-FFF2-40B4-BE49-F238E27FC236}">
                <a16:creationId xmlns:a16="http://schemas.microsoft.com/office/drawing/2014/main" id="{875C1573-624C-4DBF-B520-2CEA64199FA9}"/>
              </a:ext>
            </a:extLst>
          </p:cNvPr>
          <p:cNvSpPr>
            <a:spLocks xmlns:a="http://schemas.openxmlformats.org/drawingml/2006/main" noGrp="1"/>
          </p:cNvSpPr>
          <p:nvPr/>
        </p:nvSpPr>
        <p:spPr>
          <a:xfrm xmlns:a="http://schemas.openxmlformats.org/drawingml/2006/main">
            <a:off x="4343400" y="3905250"/>
            <a:ext cx="323850" cy="323850"/>
          </a:xfrm>
          <a:prstGeom xmlns:a="http://schemas.openxmlformats.org/drawingml/2006/main" prst="ellipse">
            <a:avLst/>
          </a:prstGeom>
          <a:solidFill xmlns:a="http://schemas.openxmlformats.org/drawingml/2006/main">
            <a:srgbClr val="002850"/>
          </a:solidFill>
          <a:ln xmlns:a="http://schemas.openxmlformats.org/drawingml/2006/main" w="0">
            <a:solidFill>
              <a:srgbClr val="002850"/>
            </a:solidFill>
            <a:prstDash val="solid"/>
          </a:ln>
        </p:spPr>
      </p:sp>
      <p:sp>
        <p:nvSpPr>
          <p:cNvPr id="27" name="">
            <a:extLst xmlns:a="http://schemas.openxmlformats.org/drawingml/2006/main">
              <a:ext uri="{FF2B5EF4-FFF2-40B4-BE49-F238E27FC236}">
                <a16:creationId xmlns:a16="http://schemas.microsoft.com/office/drawing/2014/main" id="{5BF71A3A-1DF3-40E2-97F2-D6B004A9CE62}"/>
              </a:ext>
            </a:extLst>
          </p:cNvPr>
          <p:cNvSpPr>
            <a:spLocks xmlns:a="http://schemas.openxmlformats.org/drawingml/2006/main" noGrp="1"/>
          </p:cNvSpPr>
          <p:nvPr/>
        </p:nvSpPr>
        <p:spPr>
          <a:xfrm xmlns:a="http://schemas.openxmlformats.org/drawingml/2006/main">
            <a:off x="4343400" y="39147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5</a:t>
            </a:r>
          </a:p>
        </p:txBody>
      </p:sp>
      <p:sp>
        <p:nvSpPr>
          <p:cNvPr id="28" name="">
            <a:extLst xmlns:a="http://schemas.openxmlformats.org/drawingml/2006/main">
              <a:ext uri="{FF2B5EF4-FFF2-40B4-BE49-F238E27FC236}">
                <a16:creationId xmlns:a16="http://schemas.microsoft.com/office/drawing/2014/main" id="{347169BF-F830-4206-8307-3B535FBF302B}"/>
              </a:ext>
            </a:extLst>
          </p:cNvPr>
          <p:cNvSpPr>
            <a:spLocks xmlns:a="http://schemas.openxmlformats.org/drawingml/2006/main" noGrp="1"/>
          </p:cNvSpPr>
          <p:nvPr/>
        </p:nvSpPr>
        <p:spPr>
          <a:xfrm xmlns:a="http://schemas.openxmlformats.org/drawingml/2006/main">
            <a:off x="4800600" y="3905250"/>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02850"/>
                </a:solidFill>
              </a:defRPr>
            </a:pPr>
            <a:r>
              <a:rPr sz="1425" b="1">
                <a:solidFill>
                  <a:srgbClr val="002850"/>
                </a:solidFill>
              </a:rPr>
              <a:t>Compose</a:t>
            </a:r>
          </a:p>
        </p:txBody>
      </p:sp>
      <p:sp>
        <p:nvSpPr>
          <p:cNvPr id="29" name="">
            <a:extLst xmlns:a="http://schemas.openxmlformats.org/drawingml/2006/main">
              <a:ext uri="{FF2B5EF4-FFF2-40B4-BE49-F238E27FC236}">
                <a16:creationId xmlns:a16="http://schemas.microsoft.com/office/drawing/2014/main" id="{311891A0-6ACC-4E44-8A75-138A7F57D072}"/>
              </a:ext>
            </a:extLst>
          </p:cNvPr>
          <p:cNvSpPr>
            <a:spLocks xmlns:a="http://schemas.openxmlformats.org/drawingml/2006/main" noGrp="1"/>
          </p:cNvSpPr>
          <p:nvPr/>
        </p:nvSpPr>
        <p:spPr>
          <a:xfrm xmlns:a="http://schemas.openxmlformats.org/drawingml/2006/main">
            <a:off x="4362450" y="4343400"/>
            <a:ext cx="2762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16575"/>
                </a:solidFill>
              </a:defRPr>
            </a:pPr>
            <a:r>
              <a:rPr sz="1200" b="0">
                <a:solidFill>
                  <a:srgbClr val="516575"/>
                </a:solidFill>
              </a:rPr>
              <a:t>Package only relevant facts, sources, and limitations.</a:t>
            </a:r>
          </a:p>
        </p:txBody>
      </p:sp>
      <p:sp>
        <p:nvSpPr>
          <p:cNvPr id="30" name="">
            <a:extLst xmlns:a="http://schemas.openxmlformats.org/drawingml/2006/main">
              <a:ext uri="{FF2B5EF4-FFF2-40B4-BE49-F238E27FC236}">
                <a16:creationId xmlns:a16="http://schemas.microsoft.com/office/drawing/2014/main" id="{A86AC809-6A85-42ED-B0B8-D78AF88F75B8}"/>
              </a:ext>
            </a:extLst>
          </p:cNvPr>
          <p:cNvSpPr>
            <a:spLocks xmlns:a="http://schemas.openxmlformats.org/drawingml/2006/main" noGrp="1"/>
          </p:cNvSpPr>
          <p:nvPr/>
        </p:nvSpPr>
        <p:spPr>
          <a:xfrm xmlns:a="http://schemas.openxmlformats.org/drawingml/2006/main">
            <a:off x="609600" y="3733800"/>
            <a:ext cx="3143250" cy="1466850"/>
          </a:xfrm>
          <a:prstGeom xmlns:a="http://schemas.openxmlformats.org/drawingml/2006/main" prst="roundRect">
            <a:avLst>
              <a:gd name="adj" fmla="val 7792"/>
            </a:avLst>
          </a:prstGeom>
          <a:solidFill xmlns:a="http://schemas.openxmlformats.org/drawingml/2006/main">
            <a:srgbClr val="E5F0F7"/>
          </a:solidFill>
          <a:ln xmlns:a="http://schemas.openxmlformats.org/drawingml/2006/main" w="9525">
            <a:solidFill>
              <a:srgbClr val="D5E0E8"/>
            </a:solidFill>
            <a:prstDash val="solid"/>
          </a:ln>
        </p:spPr>
      </p:sp>
      <p:sp>
        <p:nvSpPr>
          <p:cNvPr id="31" name="">
            <a:extLst xmlns:a="http://schemas.openxmlformats.org/drawingml/2006/main">
              <a:ext uri="{FF2B5EF4-FFF2-40B4-BE49-F238E27FC236}">
                <a16:creationId xmlns:a16="http://schemas.microsoft.com/office/drawing/2014/main" id="{0D644117-9440-4E94-8F89-C9E0DEA3511F}"/>
              </a:ext>
            </a:extLst>
          </p:cNvPr>
          <p:cNvSpPr>
            <a:spLocks xmlns:a="http://schemas.openxmlformats.org/drawingml/2006/main" noGrp="1"/>
          </p:cNvSpPr>
          <p:nvPr/>
        </p:nvSpPr>
        <p:spPr>
          <a:xfrm xmlns:a="http://schemas.openxmlformats.org/drawingml/2006/main">
            <a:off x="781050" y="3905250"/>
            <a:ext cx="323850" cy="323850"/>
          </a:xfrm>
          <a:prstGeom xmlns:a="http://schemas.openxmlformats.org/drawingml/2006/main" prst="ellipse">
            <a:avLst/>
          </a:prstGeom>
          <a:solidFill xmlns:a="http://schemas.openxmlformats.org/drawingml/2006/main">
            <a:srgbClr val="2B6F9F"/>
          </a:solidFill>
          <a:ln xmlns:a="http://schemas.openxmlformats.org/drawingml/2006/main" w="0">
            <a:solidFill>
              <a:srgbClr val="2B6F9F"/>
            </a:solidFill>
            <a:prstDash val="solid"/>
          </a:ln>
        </p:spPr>
      </p:sp>
      <p:sp>
        <p:nvSpPr>
          <p:cNvPr id="32" name="">
            <a:extLst xmlns:a="http://schemas.openxmlformats.org/drawingml/2006/main">
              <a:ext uri="{FF2B5EF4-FFF2-40B4-BE49-F238E27FC236}">
                <a16:creationId xmlns:a16="http://schemas.microsoft.com/office/drawing/2014/main" id="{0B7302AF-57A4-42BD-A92A-24E40CC5460B}"/>
              </a:ext>
            </a:extLst>
          </p:cNvPr>
          <p:cNvSpPr>
            <a:spLocks xmlns:a="http://schemas.openxmlformats.org/drawingml/2006/main" noGrp="1"/>
          </p:cNvSpPr>
          <p:nvPr/>
        </p:nvSpPr>
        <p:spPr>
          <a:xfrm xmlns:a="http://schemas.openxmlformats.org/drawingml/2006/main">
            <a:off x="781050" y="3914775"/>
            <a:ext cx="323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6</a:t>
            </a:r>
          </a:p>
        </p:txBody>
      </p:sp>
      <p:sp>
        <p:nvSpPr>
          <p:cNvPr id="33" name="">
            <a:extLst xmlns:a="http://schemas.openxmlformats.org/drawingml/2006/main">
              <a:ext uri="{FF2B5EF4-FFF2-40B4-BE49-F238E27FC236}">
                <a16:creationId xmlns:a16="http://schemas.microsoft.com/office/drawing/2014/main" id="{BA005C06-9B48-4ED3-8975-952A49F8031F}"/>
              </a:ext>
            </a:extLst>
          </p:cNvPr>
          <p:cNvSpPr>
            <a:spLocks xmlns:a="http://schemas.openxmlformats.org/drawingml/2006/main" noGrp="1"/>
          </p:cNvSpPr>
          <p:nvPr/>
        </p:nvSpPr>
        <p:spPr>
          <a:xfrm xmlns:a="http://schemas.openxmlformats.org/drawingml/2006/main">
            <a:off x="1238250" y="3905250"/>
            <a:ext cx="23431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02850"/>
                </a:solidFill>
              </a:defRPr>
            </a:pPr>
            <a:r>
              <a:rPr sz="1425" b="1">
                <a:solidFill>
                  <a:srgbClr val="002850"/>
                </a:solidFill>
              </a:rPr>
              <a:t>Validate</a:t>
            </a:r>
          </a:p>
        </p:txBody>
      </p:sp>
      <p:sp>
        <p:nvSpPr>
          <p:cNvPr id="34" name="">
            <a:extLst xmlns:a="http://schemas.openxmlformats.org/drawingml/2006/main">
              <a:ext uri="{FF2B5EF4-FFF2-40B4-BE49-F238E27FC236}">
                <a16:creationId xmlns:a16="http://schemas.microsoft.com/office/drawing/2014/main" id="{8BCA7860-517B-4F0C-BEFB-4DD06EB94450}"/>
              </a:ext>
            </a:extLst>
          </p:cNvPr>
          <p:cNvSpPr>
            <a:spLocks xmlns:a="http://schemas.openxmlformats.org/drawingml/2006/main" noGrp="1"/>
          </p:cNvSpPr>
          <p:nvPr/>
        </p:nvSpPr>
        <p:spPr>
          <a:xfrm xmlns:a="http://schemas.openxmlformats.org/drawingml/2006/main">
            <a:off x="800100" y="4343400"/>
            <a:ext cx="2762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16575"/>
                </a:solidFill>
              </a:defRPr>
            </a:pPr>
            <a:r>
              <a:rPr sz="1200" b="0">
                <a:solidFill>
                  <a:srgbClr val="516575"/>
                </a:solidFill>
              </a:rPr>
              <a:t>Generate, check contradictions, cite, and audit.</a:t>
            </a:r>
          </a:p>
        </p:txBody>
      </p:sp>
      <p:cxnSp>
        <p:nvCxnSpPr>
          <p:cNvPr id="76" name=""/>
          <p:cNvCxnSpPr>
            <a:stCxn xmlns:a="http://schemas.openxmlformats.org/drawingml/2006/main" id="5" idx="3"/>
            <a:endCxn xmlns:a="http://schemas.openxmlformats.org/drawingml/2006/main" id="10" idx="1"/>
          </p:cNvCxnSpPr>
          <p:nvPr/>
        </p:nvCxnSpPr>
        <p:spPr>
          <a:xfrm xmlns:a="http://schemas.openxmlformats.org/drawingml/2006/main">
            <a:off x="3752850" y="2428875"/>
            <a:ext cx="419100" cy="0"/>
          </a:xfrm>
          <a:prstGeom xmlns:a="http://schemas.openxmlformats.org/drawingml/2006/main" prst="straightConnector1">
            <a:avLst/>
          </a:prstGeom>
          <a:ln xmlns:a="http://schemas.openxmlformats.org/drawingml/2006/main" w="19050">
            <a:solidFill>
              <a:srgbClr val="788B98"/>
            </a:solidFill>
            <a:prstDash val="solid"/>
            <a:tailEnd type="arrow" w="sm" len="sm"/>
          </a:ln>
        </p:spPr>
      </p:cxnSp>
      <p:cxnSp>
        <p:nvCxnSpPr>
          <p:cNvPr id="77" name=""/>
          <p:cNvCxnSpPr>
            <a:stCxn xmlns:a="http://schemas.openxmlformats.org/drawingml/2006/main" id="10" idx="3"/>
            <a:endCxn xmlns:a="http://schemas.openxmlformats.org/drawingml/2006/main" id="15" idx="1"/>
          </p:cNvCxnSpPr>
          <p:nvPr/>
        </p:nvCxnSpPr>
        <p:spPr>
          <a:xfrm xmlns:a="http://schemas.openxmlformats.org/drawingml/2006/main">
            <a:off x="7315200" y="2428875"/>
            <a:ext cx="419100" cy="0"/>
          </a:xfrm>
          <a:prstGeom xmlns:a="http://schemas.openxmlformats.org/drawingml/2006/main" prst="straightConnector1">
            <a:avLst/>
          </a:prstGeom>
          <a:ln xmlns:a="http://schemas.openxmlformats.org/drawingml/2006/main" w="19050">
            <a:solidFill>
              <a:srgbClr val="788B98"/>
            </a:solidFill>
            <a:prstDash val="solid"/>
            <a:tailEnd type="arrow" w="sm" len="sm"/>
          </a:ln>
        </p:spPr>
      </p:cxnSp>
      <p:cxnSp>
        <p:nvCxnSpPr>
          <p:cNvPr id="78" name=""/>
          <p:cNvCxnSpPr>
            <a:stCxn xmlns:a="http://schemas.openxmlformats.org/drawingml/2006/main" id="15" idx="2"/>
            <a:endCxn xmlns:a="http://schemas.openxmlformats.org/drawingml/2006/main" id="20" idx="0"/>
          </p:cNvCxnSpPr>
          <p:nvPr/>
        </p:nvCxnSpPr>
        <p:spPr>
          <a:xfrm xmlns:a="http://schemas.openxmlformats.org/drawingml/2006/main">
            <a:off x="9305925" y="3162300"/>
            <a:ext cx="0" cy="571500"/>
          </a:xfrm>
          <a:prstGeom xmlns:a="http://schemas.openxmlformats.org/drawingml/2006/main" prst="straightConnector1">
            <a:avLst/>
          </a:prstGeom>
          <a:ln xmlns:a="http://schemas.openxmlformats.org/drawingml/2006/main" w="19050">
            <a:solidFill>
              <a:srgbClr val="788B98"/>
            </a:solidFill>
            <a:prstDash val="solid"/>
            <a:tailEnd type="arrow" w="sm" len="sm"/>
          </a:ln>
        </p:spPr>
      </p:cxnSp>
      <p:cxnSp>
        <p:nvCxnSpPr>
          <p:cNvPr id="79" name=""/>
          <p:cNvCxnSpPr>
            <a:stCxn xmlns:a="http://schemas.openxmlformats.org/drawingml/2006/main" id="20" idx="1"/>
            <a:endCxn xmlns:a="http://schemas.openxmlformats.org/drawingml/2006/main" id="25" idx="3"/>
          </p:cNvCxnSpPr>
          <p:nvPr/>
        </p:nvCxnSpPr>
        <p:spPr>
          <a:xfrm xmlns:a="http://schemas.openxmlformats.org/drawingml/2006/main" flipH="1">
            <a:off x="7315200" y="4467225"/>
            <a:ext cx="419100" cy="0"/>
          </a:xfrm>
          <a:prstGeom xmlns:a="http://schemas.openxmlformats.org/drawingml/2006/main" prst="straightConnector1">
            <a:avLst/>
          </a:prstGeom>
          <a:ln xmlns:a="http://schemas.openxmlformats.org/drawingml/2006/main" w="19050">
            <a:solidFill>
              <a:srgbClr val="788B98"/>
            </a:solidFill>
            <a:prstDash val="solid"/>
            <a:tailEnd type="arrow" w="sm" len="sm"/>
          </a:ln>
        </p:spPr>
      </p:cxnSp>
      <p:cxnSp>
        <p:nvCxnSpPr>
          <p:cNvPr id="80" name=""/>
          <p:cNvCxnSpPr>
            <a:stCxn xmlns:a="http://schemas.openxmlformats.org/drawingml/2006/main" id="25" idx="1"/>
            <a:endCxn xmlns:a="http://schemas.openxmlformats.org/drawingml/2006/main" id="30" idx="3"/>
          </p:cNvCxnSpPr>
          <p:nvPr/>
        </p:nvCxnSpPr>
        <p:spPr>
          <a:xfrm xmlns:a="http://schemas.openxmlformats.org/drawingml/2006/main" flipH="1">
            <a:off x="3752850" y="4467225"/>
            <a:ext cx="419100" cy="0"/>
          </a:xfrm>
          <a:prstGeom xmlns:a="http://schemas.openxmlformats.org/drawingml/2006/main" prst="straightConnector1">
            <a:avLst/>
          </a:prstGeom>
          <a:ln xmlns:a="http://schemas.openxmlformats.org/drawingml/2006/main" w="19050">
            <a:solidFill>
              <a:srgbClr val="788B98"/>
            </a:solidFill>
            <a:prstDash val="solid"/>
            <a:tailEnd type="arrow" w="sm" len="sm"/>
          </a:ln>
        </p:spPr>
      </p:cxnSp>
      <p:sp>
        <p:nvSpPr>
          <p:cNvPr id="40" name="">
            <a:extLst xmlns:a="http://schemas.openxmlformats.org/drawingml/2006/main">
              <a:ext uri="{FF2B5EF4-FFF2-40B4-BE49-F238E27FC236}">
                <a16:creationId xmlns:a16="http://schemas.microsoft.com/office/drawing/2014/main" id="{E378B9FA-C371-4A57-BF79-15F7DEE01ADC}"/>
              </a:ext>
            </a:extLst>
          </p:cNvPr>
          <p:cNvSpPr>
            <a:spLocks xmlns:a="http://schemas.openxmlformats.org/drawingml/2006/main" noGrp="1"/>
          </p:cNvSpPr>
          <p:nvPr/>
        </p:nvSpPr>
        <p:spPr>
          <a:xfrm xmlns:a="http://schemas.openxmlformats.org/drawingml/2006/main">
            <a:off x="609600" y="6486525"/>
            <a:ext cx="523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788B98"/>
                </a:solidFill>
              </a:defRPr>
            </a:pPr>
            <a:r>
              <a:rPr sz="750" b="0">
                <a:solidFill>
                  <a:srgbClr val="788B98"/>
                </a:solidFill>
              </a:rPr>
              <a:t>CareAllies Data Lake LLM</a:t>
            </a:r>
          </a:p>
        </p:txBody>
      </p:sp>
      <p:sp>
        <p:nvSpPr>
          <p:cNvPr id="41" name="">
            <a:extLst xmlns:a="http://schemas.openxmlformats.org/drawingml/2006/main">
              <a:ext uri="{FF2B5EF4-FFF2-40B4-BE49-F238E27FC236}">
                <a16:creationId xmlns:a16="http://schemas.microsoft.com/office/drawing/2014/main" id="{DE338455-941A-4D07-A581-090967C09FF8}"/>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Tree>
    <p:extLst>
      <p:ext uri="{BB962C8B-B14F-4D97-AF65-F5344CB8AC3E}">
        <p14:creationId xmlns:p14="http://schemas.microsoft.com/office/powerpoint/2010/main" val="1628881206"/>
      </p:ext>
    </p:extLst>
  </p:cSld>
</p:sld>
</file>

<file path=ppt/slides/slide6.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BACA25C8-1B73-47F5-9B12-8D8E57E0B5B7}"/>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D9A8A"/>
                </a:solidFill>
              </a:defRPr>
            </a:pPr>
            <a:r>
              <a:rPr sz="900" b="1">
                <a:solidFill>
                  <a:srgbClr val="1D9A8A"/>
                </a:solidFill>
              </a:rPr>
              <a:t>MODULE DESIGN</a:t>
            </a:r>
          </a:p>
        </p:txBody>
      </p:sp>
      <p:sp>
        <p:nvSpPr>
          <p:cNvPr id="2" name="">
            <a:extLst xmlns:a="http://schemas.openxmlformats.org/drawingml/2006/main">
              <a:ext uri="{FF2B5EF4-FFF2-40B4-BE49-F238E27FC236}">
                <a16:creationId xmlns:a16="http://schemas.microsoft.com/office/drawing/2014/main" id="{03D0C798-1C76-4159-8354-B43ACF0DA292}"/>
              </a:ext>
            </a:extLst>
          </p:cNvPr>
          <p:cNvSpPr>
            <a:spLocks xmlns:a="http://schemas.openxmlformats.org/drawingml/2006/main" noGrp="1"/>
          </p:cNvSpPr>
          <p:nvPr/>
        </p:nvSpPr>
        <p:spPr>
          <a:xfrm xmlns:a="http://schemas.openxmlformats.org/drawingml/2006/main">
            <a:off x="609600" y="6477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2850"/>
                </a:solidFill>
              </a:defRPr>
            </a:pPr>
            <a:r>
              <a:rPr sz="2700" b="1">
                <a:solidFill>
                  <a:srgbClr val="002850"/>
                </a:solidFill>
              </a:rPr>
              <a:t>Clear module boundaries make failures diagnosable</a:t>
            </a:r>
          </a:p>
        </p:txBody>
      </p:sp>
      <p:sp>
        <p:nvSpPr>
          <p:cNvPr id="3" name="">
            <a:extLst xmlns:a="http://schemas.openxmlformats.org/drawingml/2006/main">
              <a:ext uri="{FF2B5EF4-FFF2-40B4-BE49-F238E27FC236}">
                <a16:creationId xmlns:a16="http://schemas.microsoft.com/office/drawing/2014/main" id="{39FF96BD-3A33-46D5-9F64-5A07D5297AA2}"/>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4" name="">
            <a:extLst xmlns:a="http://schemas.openxmlformats.org/drawingml/2006/main">
              <a:ext uri="{FF2B5EF4-FFF2-40B4-BE49-F238E27FC236}">
                <a16:creationId xmlns:a16="http://schemas.microsoft.com/office/drawing/2014/main" id="{9D281469-3E4E-4E58-B167-0DAAAFAD1227}"/>
              </a:ext>
            </a:extLst>
          </p:cNvPr>
          <p:cNvSpPr>
            <a:spLocks xmlns:a="http://schemas.openxmlformats.org/drawingml/2006/main" noGrp="1"/>
          </p:cNvSpPr>
          <p:nvPr/>
        </p:nvSpPr>
        <p:spPr>
          <a:xfrm xmlns:a="http://schemas.openxmlformats.org/drawingml/2006/main">
            <a:off x="11087100" y="3619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788B98"/>
                </a:solidFill>
              </a:defRPr>
            </a:pPr>
            <a:r>
              <a:rPr sz="900" b="1">
                <a:solidFill>
                  <a:srgbClr val="788B98"/>
                </a:solidFill>
              </a:rPr>
              <a:t>06</a:t>
            </a:r>
          </a:p>
        </p:txBody>
      </p:sp>
      <p:sp>
        <p:nvSpPr>
          <p:cNvPr id="5" name="">
            <a:extLst xmlns:a="http://schemas.openxmlformats.org/drawingml/2006/main">
              <a:ext uri="{FF2B5EF4-FFF2-40B4-BE49-F238E27FC236}">
                <a16:creationId xmlns:a16="http://schemas.microsoft.com/office/drawing/2014/main" id="{B36C5258-7778-4086-BF28-F09CB2C26475}"/>
              </a:ext>
            </a:extLst>
          </p:cNvPr>
          <p:cNvSpPr>
            <a:spLocks xmlns:a="http://schemas.openxmlformats.org/drawingml/2006/main" noGrp="1"/>
          </p:cNvSpPr>
          <p:nvPr/>
        </p:nvSpPr>
        <p:spPr>
          <a:xfrm xmlns:a="http://schemas.openxmlformats.org/drawingml/2006/main">
            <a:off x="628650" y="1524000"/>
            <a:ext cx="204787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788B98"/>
                </a:solidFill>
              </a:defRPr>
            </a:pPr>
            <a:r>
              <a:rPr sz="825" b="1">
                <a:solidFill>
                  <a:srgbClr val="788B98"/>
                </a:solidFill>
              </a:rPr>
              <a:t>MODULE</a:t>
            </a:r>
          </a:p>
        </p:txBody>
      </p:sp>
      <p:sp>
        <p:nvSpPr>
          <p:cNvPr id="6" name="">
            <a:extLst xmlns:a="http://schemas.openxmlformats.org/drawingml/2006/main">
              <a:ext uri="{FF2B5EF4-FFF2-40B4-BE49-F238E27FC236}">
                <a16:creationId xmlns:a16="http://schemas.microsoft.com/office/drawing/2014/main" id="{B377218C-C832-4265-9A86-20F58D4ED8AB}"/>
              </a:ext>
            </a:extLst>
          </p:cNvPr>
          <p:cNvSpPr>
            <a:spLocks xmlns:a="http://schemas.openxmlformats.org/drawingml/2006/main" noGrp="1"/>
          </p:cNvSpPr>
          <p:nvPr/>
        </p:nvSpPr>
        <p:spPr>
          <a:xfrm xmlns:a="http://schemas.openxmlformats.org/drawingml/2006/main">
            <a:off x="3105150" y="1524000"/>
            <a:ext cx="3524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788B98"/>
                </a:solidFill>
              </a:defRPr>
            </a:pPr>
            <a:r>
              <a:rPr sz="825" b="1">
                <a:solidFill>
                  <a:srgbClr val="788B98"/>
                </a:solidFill>
              </a:rPr>
              <a:t>QUESTION IT ANSWERS</a:t>
            </a:r>
          </a:p>
        </p:txBody>
      </p:sp>
      <p:sp>
        <p:nvSpPr>
          <p:cNvPr id="7" name="">
            <a:extLst xmlns:a="http://schemas.openxmlformats.org/drawingml/2006/main">
              <a:ext uri="{FF2B5EF4-FFF2-40B4-BE49-F238E27FC236}">
                <a16:creationId xmlns:a16="http://schemas.microsoft.com/office/drawing/2014/main" id="{768D6F00-F637-42B5-B8BE-6829ADD4F482}"/>
              </a:ext>
            </a:extLst>
          </p:cNvPr>
          <p:cNvSpPr>
            <a:spLocks xmlns:a="http://schemas.openxmlformats.org/drawingml/2006/main" noGrp="1"/>
          </p:cNvSpPr>
          <p:nvPr/>
        </p:nvSpPr>
        <p:spPr>
          <a:xfrm xmlns:a="http://schemas.openxmlformats.org/drawingml/2006/main">
            <a:off x="7239000" y="152400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1">
                <a:solidFill>
                  <a:srgbClr val="788B98"/>
                </a:solidFill>
              </a:defRPr>
            </a:pPr>
            <a:r>
              <a:rPr sz="825" b="1">
                <a:solidFill>
                  <a:srgbClr val="788B98"/>
                </a:solidFill>
              </a:rPr>
              <a:t>CONTROL / OUTPUT</a:t>
            </a:r>
          </a:p>
        </p:txBody>
      </p:sp>
      <p:sp>
        <p:nvSpPr>
          <p:cNvPr id="8" name="">
            <a:extLst xmlns:a="http://schemas.openxmlformats.org/drawingml/2006/main">
              <a:ext uri="{FF2B5EF4-FFF2-40B4-BE49-F238E27FC236}">
                <a16:creationId xmlns:a16="http://schemas.microsoft.com/office/drawing/2014/main" id="{794347B7-BB9B-4699-93BD-A95A24362CAB}"/>
              </a:ext>
            </a:extLst>
          </p:cNvPr>
          <p:cNvSpPr>
            <a:spLocks xmlns:a="http://schemas.openxmlformats.org/drawingml/2006/main" noGrp="1"/>
          </p:cNvSpPr>
          <p:nvPr/>
        </p:nvSpPr>
        <p:spPr>
          <a:xfrm xmlns:a="http://schemas.openxmlformats.org/drawingml/2006/main">
            <a:off x="609600" y="1781175"/>
            <a:ext cx="10972800" cy="19050"/>
          </a:xfrm>
          <a:prstGeom xmlns:a="http://schemas.openxmlformats.org/drawingml/2006/main" prst="rect">
            <a:avLst/>
          </a:prstGeom>
          <a:solidFill xmlns:a="http://schemas.openxmlformats.org/drawingml/2006/main">
            <a:srgbClr val="002850"/>
          </a:solidFill>
          <a:ln xmlns:a="http://schemas.openxmlformats.org/drawingml/2006/main" w="0">
            <a:solidFill>
              <a:srgbClr val="002850"/>
            </a:solidFill>
            <a:prstDash val="solid"/>
          </a:ln>
        </p:spPr>
      </p:sp>
      <p:sp>
        <p:nvSpPr>
          <p:cNvPr id="9" name="">
            <a:extLst xmlns:a="http://schemas.openxmlformats.org/drawingml/2006/main">
              <a:ext uri="{FF2B5EF4-FFF2-40B4-BE49-F238E27FC236}">
                <a16:creationId xmlns:a16="http://schemas.microsoft.com/office/drawing/2014/main" id="{9D7B09C1-FEAF-43A6-AABE-E778A2244018}"/>
              </a:ext>
            </a:extLst>
          </p:cNvPr>
          <p:cNvSpPr>
            <a:spLocks xmlns:a="http://schemas.openxmlformats.org/drawingml/2006/main" noGrp="1"/>
          </p:cNvSpPr>
          <p:nvPr/>
        </p:nvSpPr>
        <p:spPr>
          <a:xfrm xmlns:a="http://schemas.openxmlformats.org/drawingml/2006/main">
            <a:off x="609600" y="1847850"/>
            <a:ext cx="10972800" cy="5429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0" name="">
            <a:extLst xmlns:a="http://schemas.openxmlformats.org/drawingml/2006/main">
              <a:ext uri="{FF2B5EF4-FFF2-40B4-BE49-F238E27FC236}">
                <a16:creationId xmlns:a16="http://schemas.microsoft.com/office/drawing/2014/main" id="{4F2E7CEA-CAE1-46CD-8EEF-C723F604F242}"/>
              </a:ext>
            </a:extLst>
          </p:cNvPr>
          <p:cNvSpPr>
            <a:spLocks xmlns:a="http://schemas.openxmlformats.org/drawingml/2006/main" noGrp="1"/>
          </p:cNvSpPr>
          <p:nvPr/>
        </p:nvSpPr>
        <p:spPr>
          <a:xfrm xmlns:a="http://schemas.openxmlformats.org/drawingml/2006/main">
            <a:off x="723900" y="1895475"/>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02850"/>
                </a:solidFill>
              </a:defRPr>
            </a:pPr>
            <a:r>
              <a:rPr sz="1275" b="1">
                <a:solidFill>
                  <a:srgbClr val="002850"/>
                </a:solidFill>
              </a:rPr>
              <a:t>Entity resolver</a:t>
            </a:r>
          </a:p>
        </p:txBody>
      </p:sp>
      <p:sp>
        <p:nvSpPr>
          <p:cNvPr id="11" name="">
            <a:extLst xmlns:a="http://schemas.openxmlformats.org/drawingml/2006/main">
              <a:ext uri="{FF2B5EF4-FFF2-40B4-BE49-F238E27FC236}">
                <a16:creationId xmlns:a16="http://schemas.microsoft.com/office/drawing/2014/main" id="{36BCC2C3-0500-4766-87B6-C40F4C5B03F2}"/>
              </a:ext>
            </a:extLst>
          </p:cNvPr>
          <p:cNvSpPr>
            <a:spLocks xmlns:a="http://schemas.openxmlformats.org/drawingml/2006/main" noGrp="1"/>
          </p:cNvSpPr>
          <p:nvPr/>
        </p:nvSpPr>
        <p:spPr>
          <a:xfrm xmlns:a="http://schemas.openxmlformats.org/drawingml/2006/main">
            <a:off x="3105150" y="1895475"/>
            <a:ext cx="3695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A3A"/>
                </a:solidFill>
              </a:defRPr>
            </a:pPr>
            <a:r>
              <a:rPr sz="1200" b="0">
                <a:solidFill>
                  <a:srgbClr val="172A3A"/>
                </a:solidFill>
              </a:rPr>
              <a:t>Who or what is the question about?</a:t>
            </a:r>
          </a:p>
        </p:txBody>
      </p:sp>
      <p:sp>
        <p:nvSpPr>
          <p:cNvPr id="12" name="">
            <a:extLst xmlns:a="http://schemas.openxmlformats.org/drawingml/2006/main">
              <a:ext uri="{FF2B5EF4-FFF2-40B4-BE49-F238E27FC236}">
                <a16:creationId xmlns:a16="http://schemas.microsoft.com/office/drawing/2014/main" id="{C9B25203-F7DD-43DE-994A-DF2CA3BD3B82}"/>
              </a:ext>
            </a:extLst>
          </p:cNvPr>
          <p:cNvSpPr>
            <a:spLocks xmlns:a="http://schemas.openxmlformats.org/drawingml/2006/main" noGrp="1"/>
          </p:cNvSpPr>
          <p:nvPr/>
        </p:nvSpPr>
        <p:spPr>
          <a:xfrm xmlns:a="http://schemas.openxmlformats.org/drawingml/2006/main">
            <a:off x="7239000" y="1895475"/>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16575"/>
                </a:solidFill>
              </a:defRPr>
            </a:pPr>
            <a:r>
              <a:rPr sz="1200" b="0">
                <a:solidFill>
                  <a:srgbClr val="516575"/>
                </a:solidFill>
              </a:rPr>
              <a:t>Exact IDs, names, aliases, ambiguity handling</a:t>
            </a:r>
          </a:p>
        </p:txBody>
      </p:sp>
      <p:sp>
        <p:nvSpPr>
          <p:cNvPr id="13" name="">
            <a:extLst xmlns:a="http://schemas.openxmlformats.org/drawingml/2006/main">
              <a:ext uri="{FF2B5EF4-FFF2-40B4-BE49-F238E27FC236}">
                <a16:creationId xmlns:a16="http://schemas.microsoft.com/office/drawing/2014/main" id="{34BFF886-221E-4F78-9468-F84F0FE23A79}"/>
              </a:ext>
            </a:extLst>
          </p:cNvPr>
          <p:cNvSpPr>
            <a:spLocks xmlns:a="http://schemas.openxmlformats.org/drawingml/2006/main" noGrp="1"/>
          </p:cNvSpPr>
          <p:nvPr/>
        </p:nvSpPr>
        <p:spPr>
          <a:xfrm xmlns:a="http://schemas.openxmlformats.org/drawingml/2006/main">
            <a:off x="609600" y="2371725"/>
            <a:ext cx="109728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14" name="">
            <a:extLst xmlns:a="http://schemas.openxmlformats.org/drawingml/2006/main">
              <a:ext uri="{FF2B5EF4-FFF2-40B4-BE49-F238E27FC236}">
                <a16:creationId xmlns:a16="http://schemas.microsoft.com/office/drawing/2014/main" id="{BE3A15EE-3FFA-414B-92FD-9F31A1E3E72F}"/>
              </a:ext>
            </a:extLst>
          </p:cNvPr>
          <p:cNvSpPr>
            <a:spLocks xmlns:a="http://schemas.openxmlformats.org/drawingml/2006/main" noGrp="1"/>
          </p:cNvSpPr>
          <p:nvPr/>
        </p:nvSpPr>
        <p:spPr>
          <a:xfrm xmlns:a="http://schemas.openxmlformats.org/drawingml/2006/main">
            <a:off x="723900" y="249555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02850"/>
                </a:solidFill>
              </a:defRPr>
            </a:pPr>
            <a:r>
              <a:rPr sz="1275" b="1">
                <a:solidFill>
                  <a:srgbClr val="002850"/>
                </a:solidFill>
              </a:rPr>
              <a:t>Intent router</a:t>
            </a:r>
          </a:p>
        </p:txBody>
      </p:sp>
      <p:sp>
        <p:nvSpPr>
          <p:cNvPr id="15" name="">
            <a:extLst xmlns:a="http://schemas.openxmlformats.org/drawingml/2006/main">
              <a:ext uri="{FF2B5EF4-FFF2-40B4-BE49-F238E27FC236}">
                <a16:creationId xmlns:a16="http://schemas.microsoft.com/office/drawing/2014/main" id="{0E18EC28-3BC5-4DE2-B0F2-D3ABC58FF3BD}"/>
              </a:ext>
            </a:extLst>
          </p:cNvPr>
          <p:cNvSpPr>
            <a:spLocks xmlns:a="http://schemas.openxmlformats.org/drawingml/2006/main" noGrp="1"/>
          </p:cNvSpPr>
          <p:nvPr/>
        </p:nvSpPr>
        <p:spPr>
          <a:xfrm xmlns:a="http://schemas.openxmlformats.org/drawingml/2006/main">
            <a:off x="3105150" y="2495550"/>
            <a:ext cx="3695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A3A"/>
                </a:solidFill>
              </a:defRPr>
            </a:pPr>
            <a:r>
              <a:rPr sz="1200" b="0">
                <a:solidFill>
                  <a:srgbClr val="172A3A"/>
                </a:solidFill>
              </a:rPr>
              <a:t>Which evidence path is required?</a:t>
            </a:r>
          </a:p>
        </p:txBody>
      </p:sp>
      <p:sp>
        <p:nvSpPr>
          <p:cNvPr id="16" name="">
            <a:extLst xmlns:a="http://schemas.openxmlformats.org/drawingml/2006/main">
              <a:ext uri="{FF2B5EF4-FFF2-40B4-BE49-F238E27FC236}">
                <a16:creationId xmlns:a16="http://schemas.microsoft.com/office/drawing/2014/main" id="{D661B1FC-6325-4209-B025-0AF5E5AADDC2}"/>
              </a:ext>
            </a:extLst>
          </p:cNvPr>
          <p:cNvSpPr>
            <a:spLocks xmlns:a="http://schemas.openxmlformats.org/drawingml/2006/main" noGrp="1"/>
          </p:cNvSpPr>
          <p:nvPr/>
        </p:nvSpPr>
        <p:spPr>
          <a:xfrm xmlns:a="http://schemas.openxmlformats.org/drawingml/2006/main">
            <a:off x="7239000" y="2495550"/>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16575"/>
                </a:solidFill>
              </a:defRPr>
            </a:pPr>
            <a:r>
              <a:rPr sz="1200" b="0">
                <a:solidFill>
                  <a:srgbClr val="516575"/>
                </a:solidFill>
              </a:rPr>
              <a:t>Claims, Stars, clinical notes, provider summary</a:t>
            </a:r>
          </a:p>
        </p:txBody>
      </p:sp>
      <p:sp>
        <p:nvSpPr>
          <p:cNvPr id="17" name="">
            <a:extLst xmlns:a="http://schemas.openxmlformats.org/drawingml/2006/main">
              <a:ext uri="{FF2B5EF4-FFF2-40B4-BE49-F238E27FC236}">
                <a16:creationId xmlns:a16="http://schemas.microsoft.com/office/drawing/2014/main" id="{755F30FE-9F5D-467A-8F83-95D26667382A}"/>
              </a:ext>
            </a:extLst>
          </p:cNvPr>
          <p:cNvSpPr>
            <a:spLocks xmlns:a="http://schemas.openxmlformats.org/drawingml/2006/main" noGrp="1"/>
          </p:cNvSpPr>
          <p:nvPr/>
        </p:nvSpPr>
        <p:spPr>
          <a:xfrm xmlns:a="http://schemas.openxmlformats.org/drawingml/2006/main">
            <a:off x="609600" y="2971800"/>
            <a:ext cx="109728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18" name="">
            <a:extLst xmlns:a="http://schemas.openxmlformats.org/drawingml/2006/main">
              <a:ext uri="{FF2B5EF4-FFF2-40B4-BE49-F238E27FC236}">
                <a16:creationId xmlns:a16="http://schemas.microsoft.com/office/drawing/2014/main" id="{27B29560-3851-4C5D-8968-91169F1343E1}"/>
              </a:ext>
            </a:extLst>
          </p:cNvPr>
          <p:cNvSpPr>
            <a:spLocks xmlns:a="http://schemas.openxmlformats.org/drawingml/2006/main" noGrp="1"/>
          </p:cNvSpPr>
          <p:nvPr/>
        </p:nvSpPr>
        <p:spPr>
          <a:xfrm xmlns:a="http://schemas.openxmlformats.org/drawingml/2006/main">
            <a:off x="609600" y="3048000"/>
            <a:ext cx="10972800" cy="5429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9" name="">
            <a:extLst xmlns:a="http://schemas.openxmlformats.org/drawingml/2006/main">
              <a:ext uri="{FF2B5EF4-FFF2-40B4-BE49-F238E27FC236}">
                <a16:creationId xmlns:a16="http://schemas.microsoft.com/office/drawing/2014/main" id="{6986EF67-46D5-478A-AB97-FD0A609D7303}"/>
              </a:ext>
            </a:extLst>
          </p:cNvPr>
          <p:cNvSpPr>
            <a:spLocks xmlns:a="http://schemas.openxmlformats.org/drawingml/2006/main" noGrp="1"/>
          </p:cNvSpPr>
          <p:nvPr/>
        </p:nvSpPr>
        <p:spPr>
          <a:xfrm xmlns:a="http://schemas.openxmlformats.org/drawingml/2006/main">
            <a:off x="723900" y="3095625"/>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02850"/>
                </a:solidFill>
              </a:defRPr>
            </a:pPr>
            <a:r>
              <a:rPr sz="1275" b="1">
                <a:solidFill>
                  <a:srgbClr val="002850"/>
                </a:solidFill>
              </a:rPr>
              <a:t>Query service</a:t>
            </a:r>
          </a:p>
        </p:txBody>
      </p:sp>
      <p:sp>
        <p:nvSpPr>
          <p:cNvPr id="20" name="">
            <a:extLst xmlns:a="http://schemas.openxmlformats.org/drawingml/2006/main">
              <a:ext uri="{FF2B5EF4-FFF2-40B4-BE49-F238E27FC236}">
                <a16:creationId xmlns:a16="http://schemas.microsoft.com/office/drawing/2014/main" id="{ABBCD19F-3708-478D-B273-C1694CE69F08}"/>
              </a:ext>
            </a:extLst>
          </p:cNvPr>
          <p:cNvSpPr>
            <a:spLocks xmlns:a="http://schemas.openxmlformats.org/drawingml/2006/main" noGrp="1"/>
          </p:cNvSpPr>
          <p:nvPr/>
        </p:nvSpPr>
        <p:spPr>
          <a:xfrm xmlns:a="http://schemas.openxmlformats.org/drawingml/2006/main">
            <a:off x="3105150" y="3095625"/>
            <a:ext cx="3695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A3A"/>
                </a:solidFill>
              </a:defRPr>
            </a:pPr>
            <a:r>
              <a:rPr sz="1200" b="0">
                <a:solidFill>
                  <a:srgbClr val="172A3A"/>
                </a:solidFill>
              </a:rPr>
              <a:t>What structured facts are authorized?</a:t>
            </a:r>
          </a:p>
        </p:txBody>
      </p:sp>
      <p:sp>
        <p:nvSpPr>
          <p:cNvPr id="21" name="">
            <a:extLst xmlns:a="http://schemas.openxmlformats.org/drawingml/2006/main">
              <a:ext uri="{FF2B5EF4-FFF2-40B4-BE49-F238E27FC236}">
                <a16:creationId xmlns:a16="http://schemas.microsoft.com/office/drawing/2014/main" id="{4AD75000-54D8-4AF9-94BC-2F3930FFDD30}"/>
              </a:ext>
            </a:extLst>
          </p:cNvPr>
          <p:cNvSpPr>
            <a:spLocks xmlns:a="http://schemas.openxmlformats.org/drawingml/2006/main" noGrp="1"/>
          </p:cNvSpPr>
          <p:nvPr/>
        </p:nvSpPr>
        <p:spPr>
          <a:xfrm xmlns:a="http://schemas.openxmlformats.org/drawingml/2006/main">
            <a:off x="7239000" y="3095625"/>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16575"/>
                </a:solidFill>
              </a:defRPr>
            </a:pPr>
            <a:r>
              <a:rPr sz="1200" b="0">
                <a:solidFill>
                  <a:srgbClr val="516575"/>
                </a:solidFill>
              </a:rPr>
              <a:t>Parameterized SQL against curated views</a:t>
            </a:r>
          </a:p>
        </p:txBody>
      </p:sp>
      <p:sp>
        <p:nvSpPr>
          <p:cNvPr id="22" name="">
            <a:extLst xmlns:a="http://schemas.openxmlformats.org/drawingml/2006/main">
              <a:ext uri="{FF2B5EF4-FFF2-40B4-BE49-F238E27FC236}">
                <a16:creationId xmlns:a16="http://schemas.microsoft.com/office/drawing/2014/main" id="{4F9FA4E2-3448-4B8B-AE04-A7F89CB2EFC5}"/>
              </a:ext>
            </a:extLst>
          </p:cNvPr>
          <p:cNvSpPr>
            <a:spLocks xmlns:a="http://schemas.openxmlformats.org/drawingml/2006/main" noGrp="1"/>
          </p:cNvSpPr>
          <p:nvPr/>
        </p:nvSpPr>
        <p:spPr>
          <a:xfrm xmlns:a="http://schemas.openxmlformats.org/drawingml/2006/main">
            <a:off x="609600" y="3571875"/>
            <a:ext cx="109728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23" name="">
            <a:extLst xmlns:a="http://schemas.openxmlformats.org/drawingml/2006/main">
              <a:ext uri="{FF2B5EF4-FFF2-40B4-BE49-F238E27FC236}">
                <a16:creationId xmlns:a16="http://schemas.microsoft.com/office/drawing/2014/main" id="{E263674E-F0D6-422C-B501-40F58B6EAF2F}"/>
              </a:ext>
            </a:extLst>
          </p:cNvPr>
          <p:cNvSpPr>
            <a:spLocks xmlns:a="http://schemas.openxmlformats.org/drawingml/2006/main" noGrp="1"/>
          </p:cNvSpPr>
          <p:nvPr/>
        </p:nvSpPr>
        <p:spPr>
          <a:xfrm xmlns:a="http://schemas.openxmlformats.org/drawingml/2006/main">
            <a:off x="723900" y="369570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02850"/>
                </a:solidFill>
              </a:defRPr>
            </a:pPr>
            <a:r>
              <a:rPr sz="1275" b="1">
                <a:solidFill>
                  <a:srgbClr val="002850"/>
                </a:solidFill>
              </a:rPr>
              <a:t>Rule engine</a:t>
            </a:r>
          </a:p>
        </p:txBody>
      </p:sp>
      <p:sp>
        <p:nvSpPr>
          <p:cNvPr id="24" name="">
            <a:extLst xmlns:a="http://schemas.openxmlformats.org/drawingml/2006/main">
              <a:ext uri="{FF2B5EF4-FFF2-40B4-BE49-F238E27FC236}">
                <a16:creationId xmlns:a16="http://schemas.microsoft.com/office/drawing/2014/main" id="{D51075AD-D311-476A-B67E-05121193A49F}"/>
              </a:ext>
            </a:extLst>
          </p:cNvPr>
          <p:cNvSpPr>
            <a:spLocks xmlns:a="http://schemas.openxmlformats.org/drawingml/2006/main" noGrp="1"/>
          </p:cNvSpPr>
          <p:nvPr/>
        </p:nvSpPr>
        <p:spPr>
          <a:xfrm xmlns:a="http://schemas.openxmlformats.org/drawingml/2006/main">
            <a:off x="3105150" y="3695700"/>
            <a:ext cx="3695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A3A"/>
                </a:solidFill>
              </a:defRPr>
            </a:pPr>
            <a:r>
              <a:rPr sz="1200" b="0">
                <a:solidFill>
                  <a:srgbClr val="172A3A"/>
                </a:solidFill>
              </a:rPr>
              <a:t>Does evidence satisfy the measure logic?</a:t>
            </a:r>
          </a:p>
        </p:txBody>
      </p:sp>
      <p:sp>
        <p:nvSpPr>
          <p:cNvPr id="25" name="">
            <a:extLst xmlns:a="http://schemas.openxmlformats.org/drawingml/2006/main">
              <a:ext uri="{FF2B5EF4-FFF2-40B4-BE49-F238E27FC236}">
                <a16:creationId xmlns:a16="http://schemas.microsoft.com/office/drawing/2014/main" id="{B4E9F1C6-2336-4985-9A21-5527E23F5ED0}"/>
              </a:ext>
            </a:extLst>
          </p:cNvPr>
          <p:cNvSpPr>
            <a:spLocks xmlns:a="http://schemas.openxmlformats.org/drawingml/2006/main" noGrp="1"/>
          </p:cNvSpPr>
          <p:nvPr/>
        </p:nvSpPr>
        <p:spPr>
          <a:xfrm xmlns:a="http://schemas.openxmlformats.org/drawingml/2006/main">
            <a:off x="7239000" y="3695700"/>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16575"/>
                </a:solidFill>
              </a:defRPr>
            </a:pPr>
            <a:r>
              <a:rPr sz="1200" b="0">
                <a:solidFill>
                  <a:srgbClr val="516575"/>
                </a:solidFill>
              </a:rPr>
              <a:t>Codes, dates, exclusions, thresholds, version</a:t>
            </a:r>
          </a:p>
        </p:txBody>
      </p:sp>
      <p:sp>
        <p:nvSpPr>
          <p:cNvPr id="26" name="">
            <a:extLst xmlns:a="http://schemas.openxmlformats.org/drawingml/2006/main">
              <a:ext uri="{FF2B5EF4-FFF2-40B4-BE49-F238E27FC236}">
                <a16:creationId xmlns:a16="http://schemas.microsoft.com/office/drawing/2014/main" id="{41F0AD41-97E5-4C69-A4D9-6534B17798EB}"/>
              </a:ext>
            </a:extLst>
          </p:cNvPr>
          <p:cNvSpPr>
            <a:spLocks xmlns:a="http://schemas.openxmlformats.org/drawingml/2006/main" noGrp="1"/>
          </p:cNvSpPr>
          <p:nvPr/>
        </p:nvSpPr>
        <p:spPr>
          <a:xfrm xmlns:a="http://schemas.openxmlformats.org/drawingml/2006/main">
            <a:off x="609600" y="4171950"/>
            <a:ext cx="109728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27" name="">
            <a:extLst xmlns:a="http://schemas.openxmlformats.org/drawingml/2006/main">
              <a:ext uri="{FF2B5EF4-FFF2-40B4-BE49-F238E27FC236}">
                <a16:creationId xmlns:a16="http://schemas.microsoft.com/office/drawing/2014/main" id="{936529B6-B785-4FA8-BA47-F3DB80F250A1}"/>
              </a:ext>
            </a:extLst>
          </p:cNvPr>
          <p:cNvSpPr>
            <a:spLocks xmlns:a="http://schemas.openxmlformats.org/drawingml/2006/main" noGrp="1"/>
          </p:cNvSpPr>
          <p:nvPr/>
        </p:nvSpPr>
        <p:spPr>
          <a:xfrm xmlns:a="http://schemas.openxmlformats.org/drawingml/2006/main">
            <a:off x="609600" y="4248150"/>
            <a:ext cx="10972800" cy="5429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8" name="">
            <a:extLst xmlns:a="http://schemas.openxmlformats.org/drawingml/2006/main">
              <a:ext uri="{FF2B5EF4-FFF2-40B4-BE49-F238E27FC236}">
                <a16:creationId xmlns:a16="http://schemas.microsoft.com/office/drawing/2014/main" id="{DF337387-7267-4B38-81C1-E802E12E6A61}"/>
              </a:ext>
            </a:extLst>
          </p:cNvPr>
          <p:cNvSpPr>
            <a:spLocks xmlns:a="http://schemas.openxmlformats.org/drawingml/2006/main" noGrp="1"/>
          </p:cNvSpPr>
          <p:nvPr/>
        </p:nvSpPr>
        <p:spPr>
          <a:xfrm xmlns:a="http://schemas.openxmlformats.org/drawingml/2006/main">
            <a:off x="723900" y="4295775"/>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02850"/>
                </a:solidFill>
              </a:defRPr>
            </a:pPr>
            <a:r>
              <a:rPr sz="1275" b="1">
                <a:solidFill>
                  <a:srgbClr val="002850"/>
                </a:solidFill>
              </a:rPr>
              <a:t>RAG retriever</a:t>
            </a:r>
          </a:p>
        </p:txBody>
      </p:sp>
      <p:sp>
        <p:nvSpPr>
          <p:cNvPr id="29" name="">
            <a:extLst xmlns:a="http://schemas.openxmlformats.org/drawingml/2006/main">
              <a:ext uri="{FF2B5EF4-FFF2-40B4-BE49-F238E27FC236}">
                <a16:creationId xmlns:a16="http://schemas.microsoft.com/office/drawing/2014/main" id="{EDBA5F14-FA90-4521-AFD0-0CA2C3F9033E}"/>
              </a:ext>
            </a:extLst>
          </p:cNvPr>
          <p:cNvSpPr>
            <a:spLocks xmlns:a="http://schemas.openxmlformats.org/drawingml/2006/main" noGrp="1"/>
          </p:cNvSpPr>
          <p:nvPr/>
        </p:nvSpPr>
        <p:spPr>
          <a:xfrm xmlns:a="http://schemas.openxmlformats.org/drawingml/2006/main">
            <a:off x="3105150" y="4295775"/>
            <a:ext cx="3695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A3A"/>
                </a:solidFill>
              </a:defRPr>
            </a:pPr>
            <a:r>
              <a:rPr sz="1200" b="0">
                <a:solidFill>
                  <a:srgbClr val="172A3A"/>
                </a:solidFill>
              </a:rPr>
              <a:t>Which narrative or specification passage applies?</a:t>
            </a:r>
          </a:p>
        </p:txBody>
      </p:sp>
      <p:sp>
        <p:nvSpPr>
          <p:cNvPr id="30" name="">
            <a:extLst xmlns:a="http://schemas.openxmlformats.org/drawingml/2006/main">
              <a:ext uri="{FF2B5EF4-FFF2-40B4-BE49-F238E27FC236}">
                <a16:creationId xmlns:a16="http://schemas.microsoft.com/office/drawing/2014/main" id="{0830121F-CF5D-4249-936B-62E1A3B2C90C}"/>
              </a:ext>
            </a:extLst>
          </p:cNvPr>
          <p:cNvSpPr>
            <a:spLocks xmlns:a="http://schemas.openxmlformats.org/drawingml/2006/main" noGrp="1"/>
          </p:cNvSpPr>
          <p:nvPr/>
        </p:nvSpPr>
        <p:spPr>
          <a:xfrm xmlns:a="http://schemas.openxmlformats.org/drawingml/2006/main">
            <a:off x="7239000" y="4295775"/>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16575"/>
                </a:solidFill>
              </a:defRPr>
            </a:pPr>
            <a:r>
              <a:rPr sz="1200" b="0">
                <a:solidFill>
                  <a:srgbClr val="516575"/>
                </a:solidFill>
              </a:rPr>
              <a:t>Metadata-filtered chunks and citations</a:t>
            </a:r>
          </a:p>
        </p:txBody>
      </p:sp>
      <p:sp>
        <p:nvSpPr>
          <p:cNvPr id="31" name="">
            <a:extLst xmlns:a="http://schemas.openxmlformats.org/drawingml/2006/main">
              <a:ext uri="{FF2B5EF4-FFF2-40B4-BE49-F238E27FC236}">
                <a16:creationId xmlns:a16="http://schemas.microsoft.com/office/drawing/2014/main" id="{DC1195B9-668F-49CE-93AE-512E870A4BA3}"/>
              </a:ext>
            </a:extLst>
          </p:cNvPr>
          <p:cNvSpPr>
            <a:spLocks xmlns:a="http://schemas.openxmlformats.org/drawingml/2006/main" noGrp="1"/>
          </p:cNvSpPr>
          <p:nvPr/>
        </p:nvSpPr>
        <p:spPr>
          <a:xfrm xmlns:a="http://schemas.openxmlformats.org/drawingml/2006/main">
            <a:off x="609600" y="4772025"/>
            <a:ext cx="109728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32" name="">
            <a:extLst xmlns:a="http://schemas.openxmlformats.org/drawingml/2006/main">
              <a:ext uri="{FF2B5EF4-FFF2-40B4-BE49-F238E27FC236}">
                <a16:creationId xmlns:a16="http://schemas.microsoft.com/office/drawing/2014/main" id="{61D0A0A4-DBEA-4732-94AE-AD0C5F8A2709}"/>
              </a:ext>
            </a:extLst>
          </p:cNvPr>
          <p:cNvSpPr>
            <a:spLocks xmlns:a="http://schemas.openxmlformats.org/drawingml/2006/main" noGrp="1"/>
          </p:cNvSpPr>
          <p:nvPr/>
        </p:nvSpPr>
        <p:spPr>
          <a:xfrm xmlns:a="http://schemas.openxmlformats.org/drawingml/2006/main">
            <a:off x="723900" y="4895850"/>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02850"/>
                </a:solidFill>
              </a:defRPr>
            </a:pPr>
            <a:r>
              <a:rPr sz="1275" b="1">
                <a:solidFill>
                  <a:srgbClr val="002850"/>
                </a:solidFill>
              </a:rPr>
              <a:t>Evidence composer</a:t>
            </a:r>
          </a:p>
        </p:txBody>
      </p:sp>
      <p:sp>
        <p:nvSpPr>
          <p:cNvPr id="33" name="">
            <a:extLst xmlns:a="http://schemas.openxmlformats.org/drawingml/2006/main">
              <a:ext uri="{FF2B5EF4-FFF2-40B4-BE49-F238E27FC236}">
                <a16:creationId xmlns:a16="http://schemas.microsoft.com/office/drawing/2014/main" id="{00FC4494-3469-420D-8DF6-A862E5AA5DF3}"/>
              </a:ext>
            </a:extLst>
          </p:cNvPr>
          <p:cNvSpPr>
            <a:spLocks xmlns:a="http://schemas.openxmlformats.org/drawingml/2006/main" noGrp="1"/>
          </p:cNvSpPr>
          <p:nvPr/>
        </p:nvSpPr>
        <p:spPr>
          <a:xfrm xmlns:a="http://schemas.openxmlformats.org/drawingml/2006/main">
            <a:off x="3105150" y="4895850"/>
            <a:ext cx="3695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A3A"/>
                </a:solidFill>
              </a:defRPr>
            </a:pPr>
            <a:r>
              <a:rPr sz="1200" b="0">
                <a:solidFill>
                  <a:srgbClr val="172A3A"/>
                </a:solidFill>
              </a:rPr>
              <a:t>What can safely enter model context?</a:t>
            </a:r>
          </a:p>
        </p:txBody>
      </p:sp>
      <p:sp>
        <p:nvSpPr>
          <p:cNvPr id="34" name="">
            <a:extLst xmlns:a="http://schemas.openxmlformats.org/drawingml/2006/main">
              <a:ext uri="{FF2B5EF4-FFF2-40B4-BE49-F238E27FC236}">
                <a16:creationId xmlns:a16="http://schemas.microsoft.com/office/drawing/2014/main" id="{2588CFFE-1ACF-48F8-B483-1B848FADB650}"/>
              </a:ext>
            </a:extLst>
          </p:cNvPr>
          <p:cNvSpPr>
            <a:spLocks xmlns:a="http://schemas.openxmlformats.org/drawingml/2006/main" noGrp="1"/>
          </p:cNvSpPr>
          <p:nvPr/>
        </p:nvSpPr>
        <p:spPr>
          <a:xfrm xmlns:a="http://schemas.openxmlformats.org/drawingml/2006/main">
            <a:off x="7239000" y="4895850"/>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16575"/>
                </a:solidFill>
              </a:defRPr>
            </a:pPr>
            <a:r>
              <a:rPr sz="1200" b="0">
                <a:solidFill>
                  <a:srgbClr val="516575"/>
                </a:solidFill>
              </a:rPr>
              <a:t>Compact JSON with facts, sources, limitations</a:t>
            </a:r>
          </a:p>
        </p:txBody>
      </p:sp>
      <p:sp>
        <p:nvSpPr>
          <p:cNvPr id="35" name="">
            <a:extLst xmlns:a="http://schemas.openxmlformats.org/drawingml/2006/main">
              <a:ext uri="{FF2B5EF4-FFF2-40B4-BE49-F238E27FC236}">
                <a16:creationId xmlns:a16="http://schemas.microsoft.com/office/drawing/2014/main" id="{5F4AA2AD-8025-4315-8014-0F246F2A2A31}"/>
              </a:ext>
            </a:extLst>
          </p:cNvPr>
          <p:cNvSpPr>
            <a:spLocks xmlns:a="http://schemas.openxmlformats.org/drawingml/2006/main" noGrp="1"/>
          </p:cNvSpPr>
          <p:nvPr/>
        </p:nvSpPr>
        <p:spPr>
          <a:xfrm xmlns:a="http://schemas.openxmlformats.org/drawingml/2006/main">
            <a:off x="609600" y="5372100"/>
            <a:ext cx="109728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36" name="">
            <a:extLst xmlns:a="http://schemas.openxmlformats.org/drawingml/2006/main">
              <a:ext uri="{FF2B5EF4-FFF2-40B4-BE49-F238E27FC236}">
                <a16:creationId xmlns:a16="http://schemas.microsoft.com/office/drawing/2014/main" id="{F4017D68-E091-4C0D-A7A6-2CEE9B936DAD}"/>
              </a:ext>
            </a:extLst>
          </p:cNvPr>
          <p:cNvSpPr>
            <a:spLocks xmlns:a="http://schemas.openxmlformats.org/drawingml/2006/main" noGrp="1"/>
          </p:cNvSpPr>
          <p:nvPr/>
        </p:nvSpPr>
        <p:spPr>
          <a:xfrm xmlns:a="http://schemas.openxmlformats.org/drawingml/2006/main">
            <a:off x="609600" y="5448300"/>
            <a:ext cx="10972800" cy="542925"/>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37" name="">
            <a:extLst xmlns:a="http://schemas.openxmlformats.org/drawingml/2006/main">
              <a:ext uri="{FF2B5EF4-FFF2-40B4-BE49-F238E27FC236}">
                <a16:creationId xmlns:a16="http://schemas.microsoft.com/office/drawing/2014/main" id="{19D9991F-7642-42BD-90A7-A8FFC43BC3F8}"/>
              </a:ext>
            </a:extLst>
          </p:cNvPr>
          <p:cNvSpPr>
            <a:spLocks xmlns:a="http://schemas.openxmlformats.org/drawingml/2006/main" noGrp="1"/>
          </p:cNvSpPr>
          <p:nvPr/>
        </p:nvSpPr>
        <p:spPr>
          <a:xfrm xmlns:a="http://schemas.openxmlformats.org/drawingml/2006/main">
            <a:off x="723900" y="5495925"/>
            <a:ext cx="2095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a:solidFill>
                  <a:srgbClr val="002850"/>
                </a:solidFill>
              </a:defRPr>
            </a:pPr>
            <a:r>
              <a:rPr sz="1275" b="1">
                <a:solidFill>
                  <a:srgbClr val="002850"/>
                </a:solidFill>
              </a:rPr>
              <a:t>Answer validator</a:t>
            </a:r>
          </a:p>
        </p:txBody>
      </p:sp>
      <p:sp>
        <p:nvSpPr>
          <p:cNvPr id="38" name="">
            <a:extLst xmlns:a="http://schemas.openxmlformats.org/drawingml/2006/main">
              <a:ext uri="{FF2B5EF4-FFF2-40B4-BE49-F238E27FC236}">
                <a16:creationId xmlns:a16="http://schemas.microsoft.com/office/drawing/2014/main" id="{882B9470-8F50-4DF6-AA4D-1F442F0EC711}"/>
              </a:ext>
            </a:extLst>
          </p:cNvPr>
          <p:cNvSpPr>
            <a:spLocks xmlns:a="http://schemas.openxmlformats.org/drawingml/2006/main" noGrp="1"/>
          </p:cNvSpPr>
          <p:nvPr/>
        </p:nvSpPr>
        <p:spPr>
          <a:xfrm xmlns:a="http://schemas.openxmlformats.org/drawingml/2006/main">
            <a:off x="3105150" y="5495925"/>
            <a:ext cx="3695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A3A"/>
                </a:solidFill>
              </a:defRPr>
            </a:pPr>
            <a:r>
              <a:rPr sz="1200" b="0">
                <a:solidFill>
                  <a:srgbClr val="172A3A"/>
                </a:solidFill>
              </a:rPr>
              <a:t>Did the narrative preserve the calculated result?</a:t>
            </a:r>
          </a:p>
        </p:txBody>
      </p:sp>
      <p:sp>
        <p:nvSpPr>
          <p:cNvPr id="39" name="">
            <a:extLst xmlns:a="http://schemas.openxmlformats.org/drawingml/2006/main">
              <a:ext uri="{FF2B5EF4-FFF2-40B4-BE49-F238E27FC236}">
                <a16:creationId xmlns:a16="http://schemas.microsoft.com/office/drawing/2014/main" id="{24EB1370-7816-4B05-9B6E-35681BF68281}"/>
              </a:ext>
            </a:extLst>
          </p:cNvPr>
          <p:cNvSpPr>
            <a:spLocks xmlns:a="http://schemas.openxmlformats.org/drawingml/2006/main" noGrp="1"/>
          </p:cNvSpPr>
          <p:nvPr/>
        </p:nvSpPr>
        <p:spPr>
          <a:xfrm xmlns:a="http://schemas.openxmlformats.org/drawingml/2006/main">
            <a:off x="7239000" y="5495925"/>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516575"/>
                </a:solidFill>
              </a:defRPr>
            </a:pPr>
            <a:r>
              <a:rPr sz="1200" b="0">
                <a:solidFill>
                  <a:srgbClr val="516575"/>
                </a:solidFill>
              </a:rPr>
              <a:t>Contradiction checks, citations, abstention</a:t>
            </a:r>
          </a:p>
        </p:txBody>
      </p:sp>
      <p:sp>
        <p:nvSpPr>
          <p:cNvPr id="40" name="">
            <a:extLst xmlns:a="http://schemas.openxmlformats.org/drawingml/2006/main">
              <a:ext uri="{FF2B5EF4-FFF2-40B4-BE49-F238E27FC236}">
                <a16:creationId xmlns:a16="http://schemas.microsoft.com/office/drawing/2014/main" id="{AA67E501-B7A9-4468-BB0C-6EB738144299}"/>
              </a:ext>
            </a:extLst>
          </p:cNvPr>
          <p:cNvSpPr>
            <a:spLocks xmlns:a="http://schemas.openxmlformats.org/drawingml/2006/main" noGrp="1"/>
          </p:cNvSpPr>
          <p:nvPr/>
        </p:nvSpPr>
        <p:spPr>
          <a:xfrm xmlns:a="http://schemas.openxmlformats.org/drawingml/2006/main">
            <a:off x="609600" y="5972175"/>
            <a:ext cx="109728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41" name="">
            <a:extLst xmlns:a="http://schemas.openxmlformats.org/drawingml/2006/main">
              <a:ext uri="{FF2B5EF4-FFF2-40B4-BE49-F238E27FC236}">
                <a16:creationId xmlns:a16="http://schemas.microsoft.com/office/drawing/2014/main" id="{D17DFD8A-A1E1-4E01-9DB6-FB0F72A2797C}"/>
              </a:ext>
            </a:extLst>
          </p:cNvPr>
          <p:cNvSpPr>
            <a:spLocks xmlns:a="http://schemas.openxmlformats.org/drawingml/2006/main" noGrp="1"/>
          </p:cNvSpPr>
          <p:nvPr/>
        </p:nvSpPr>
        <p:spPr>
          <a:xfrm xmlns:a="http://schemas.openxmlformats.org/drawingml/2006/main">
            <a:off x="609600" y="6486525"/>
            <a:ext cx="523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788B98"/>
                </a:solidFill>
              </a:defRPr>
            </a:pPr>
            <a:r>
              <a:rPr sz="750" b="0">
                <a:solidFill>
                  <a:srgbClr val="788B98"/>
                </a:solidFill>
              </a:rPr>
              <a:t>CareAllies Data Lake LLM</a:t>
            </a:r>
          </a:p>
        </p:txBody>
      </p:sp>
      <p:sp>
        <p:nvSpPr>
          <p:cNvPr id="42" name="">
            <a:extLst xmlns:a="http://schemas.openxmlformats.org/drawingml/2006/main">
              <a:ext uri="{FF2B5EF4-FFF2-40B4-BE49-F238E27FC236}">
                <a16:creationId xmlns:a16="http://schemas.microsoft.com/office/drawing/2014/main" id="{F0E3C2D6-D987-4512-B45A-467239686519}"/>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Tree>
    <p:extLst>
      <p:ext uri="{BB962C8B-B14F-4D97-AF65-F5344CB8AC3E}">
        <p14:creationId xmlns:p14="http://schemas.microsoft.com/office/powerpoint/2010/main" val="1929699368"/>
      </p:ext>
    </p:extLst>
  </p:cSld>
</p:sld>
</file>

<file path=ppt/slides/slide7.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FF261BB5-7B7B-4BED-8868-AAA130A90D87}"/>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D9A8A"/>
                </a:solidFill>
              </a:defRPr>
            </a:pPr>
            <a:r>
              <a:rPr sz="900" b="1">
                <a:solidFill>
                  <a:srgbClr val="1D9A8A"/>
                </a:solidFill>
              </a:rPr>
              <a:t>DECISION GOVERNANCE</a:t>
            </a:r>
          </a:p>
        </p:txBody>
      </p:sp>
      <p:sp>
        <p:nvSpPr>
          <p:cNvPr id="2" name="">
            <a:extLst xmlns:a="http://schemas.openxmlformats.org/drawingml/2006/main">
              <a:ext uri="{FF2B5EF4-FFF2-40B4-BE49-F238E27FC236}">
                <a16:creationId xmlns:a16="http://schemas.microsoft.com/office/drawing/2014/main" id="{8F87E504-9287-4CF6-94BC-C76F30C8AE90}"/>
              </a:ext>
            </a:extLst>
          </p:cNvPr>
          <p:cNvSpPr>
            <a:spLocks xmlns:a="http://schemas.openxmlformats.org/drawingml/2006/main" noGrp="1"/>
          </p:cNvSpPr>
          <p:nvPr/>
        </p:nvSpPr>
        <p:spPr>
          <a:xfrm xmlns:a="http://schemas.openxmlformats.org/drawingml/2006/main">
            <a:off x="609600" y="6477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2850"/>
                </a:solidFill>
              </a:defRPr>
            </a:pPr>
            <a:r>
              <a:rPr sz="2700" b="1">
                <a:solidFill>
                  <a:srgbClr val="002850"/>
                </a:solidFill>
              </a:rPr>
              <a:t>Measure specifications need two governed representations</a:t>
            </a:r>
          </a:p>
        </p:txBody>
      </p:sp>
      <p:sp>
        <p:nvSpPr>
          <p:cNvPr id="3" name="">
            <a:extLst xmlns:a="http://schemas.openxmlformats.org/drawingml/2006/main">
              <a:ext uri="{FF2B5EF4-FFF2-40B4-BE49-F238E27FC236}">
                <a16:creationId xmlns:a16="http://schemas.microsoft.com/office/drawing/2014/main" id="{48208C9F-319E-41E3-80EB-88E8CEAFEAF4}"/>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4" name="">
            <a:extLst xmlns:a="http://schemas.openxmlformats.org/drawingml/2006/main">
              <a:ext uri="{FF2B5EF4-FFF2-40B4-BE49-F238E27FC236}">
                <a16:creationId xmlns:a16="http://schemas.microsoft.com/office/drawing/2014/main" id="{C3737F17-8DA0-4660-8FDD-39A0A7505A85}"/>
              </a:ext>
            </a:extLst>
          </p:cNvPr>
          <p:cNvSpPr>
            <a:spLocks xmlns:a="http://schemas.openxmlformats.org/drawingml/2006/main" noGrp="1"/>
          </p:cNvSpPr>
          <p:nvPr/>
        </p:nvSpPr>
        <p:spPr>
          <a:xfrm xmlns:a="http://schemas.openxmlformats.org/drawingml/2006/main">
            <a:off x="11087100" y="3619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788B98"/>
                </a:solidFill>
              </a:defRPr>
            </a:pPr>
            <a:r>
              <a:rPr sz="900" b="1">
                <a:solidFill>
                  <a:srgbClr val="788B98"/>
                </a:solidFill>
              </a:rPr>
              <a:t>07</a:t>
            </a:r>
          </a:p>
        </p:txBody>
      </p:sp>
      <p:sp>
        <p:nvSpPr>
          <p:cNvPr id="5" name="">
            <a:extLst xmlns:a="http://schemas.openxmlformats.org/drawingml/2006/main">
              <a:ext uri="{FF2B5EF4-FFF2-40B4-BE49-F238E27FC236}">
                <a16:creationId xmlns:a16="http://schemas.microsoft.com/office/drawing/2014/main" id="{8838CCC8-F094-474E-9BAF-2A08FE966FB1}"/>
              </a:ext>
            </a:extLst>
          </p:cNvPr>
          <p:cNvSpPr>
            <a:spLocks xmlns:a="http://schemas.openxmlformats.org/drawingml/2006/main" noGrp="1"/>
          </p:cNvSpPr>
          <p:nvPr/>
        </p:nvSpPr>
        <p:spPr>
          <a:xfrm xmlns:a="http://schemas.openxmlformats.org/drawingml/2006/main">
            <a:off x="609600" y="1647825"/>
            <a:ext cx="4953000" cy="3562350"/>
          </a:xfrm>
          <a:prstGeom xmlns:a="http://schemas.openxmlformats.org/drawingml/2006/main" prst="roundRect">
            <a:avLst>
              <a:gd name="adj" fmla="val 3209"/>
            </a:avLst>
          </a:prstGeom>
          <a:solidFill xmlns:a="http://schemas.openxmlformats.org/drawingml/2006/main">
            <a:srgbClr val="FFF2E6"/>
          </a:solidFill>
          <a:ln xmlns:a="http://schemas.openxmlformats.org/drawingml/2006/main" w="9525">
            <a:solidFill>
              <a:srgbClr val="D5E0E8"/>
            </a:solidFill>
            <a:prstDash val="solid"/>
          </a:ln>
        </p:spPr>
      </p:sp>
      <p:sp>
        <p:nvSpPr>
          <p:cNvPr id="6" name="">
            <a:extLst xmlns:a="http://schemas.openxmlformats.org/drawingml/2006/main">
              <a:ext uri="{FF2B5EF4-FFF2-40B4-BE49-F238E27FC236}">
                <a16:creationId xmlns:a16="http://schemas.microsoft.com/office/drawing/2014/main" id="{5246B0E0-670F-486C-ACA0-B7400B8D3DB0}"/>
              </a:ext>
            </a:extLst>
          </p:cNvPr>
          <p:cNvSpPr>
            <a:spLocks xmlns:a="http://schemas.openxmlformats.org/drawingml/2006/main" noGrp="1"/>
          </p:cNvSpPr>
          <p:nvPr/>
        </p:nvSpPr>
        <p:spPr>
          <a:xfrm xmlns:a="http://schemas.openxmlformats.org/drawingml/2006/main">
            <a:off x="838200" y="1866900"/>
            <a:ext cx="160020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solidFill>
              <a:srgbClr val="FFFFFF"/>
            </a:solidFill>
            <a:prstDash val="solid"/>
          </a:ln>
        </p:spPr>
      </p:sp>
      <p:sp>
        <p:nvSpPr>
          <p:cNvPr id="7" name="">
            <a:extLst xmlns:a="http://schemas.openxmlformats.org/drawingml/2006/main">
              <a:ext uri="{FF2B5EF4-FFF2-40B4-BE49-F238E27FC236}">
                <a16:creationId xmlns:a16="http://schemas.microsoft.com/office/drawing/2014/main" id="{AD2E204F-B4E9-442C-B731-2370D6A15CBC}"/>
              </a:ext>
            </a:extLst>
          </p:cNvPr>
          <p:cNvSpPr>
            <a:spLocks xmlns:a="http://schemas.openxmlformats.org/drawingml/2006/main" noGrp="1"/>
          </p:cNvSpPr>
          <p:nvPr/>
        </p:nvSpPr>
        <p:spPr>
          <a:xfrm xmlns:a="http://schemas.openxmlformats.org/drawingml/2006/main">
            <a:off x="933450" y="1895475"/>
            <a:ext cx="14097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58A3A"/>
                </a:solidFill>
              </a:defRPr>
            </a:pPr>
            <a:r>
              <a:rPr sz="900" b="1">
                <a:solidFill>
                  <a:srgbClr val="E58A3A"/>
                </a:solidFill>
              </a:rPr>
              <a:t>HUMAN-READABLE</a:t>
            </a:r>
          </a:p>
        </p:txBody>
      </p:sp>
      <p:sp>
        <p:nvSpPr>
          <p:cNvPr id="8" name="">
            <a:extLst xmlns:a="http://schemas.openxmlformats.org/drawingml/2006/main">
              <a:ext uri="{FF2B5EF4-FFF2-40B4-BE49-F238E27FC236}">
                <a16:creationId xmlns:a16="http://schemas.microsoft.com/office/drawing/2014/main" id="{6D70FD82-18CF-4600-AE78-FA99F04E04A8}"/>
              </a:ext>
            </a:extLst>
          </p:cNvPr>
          <p:cNvSpPr>
            <a:spLocks xmlns:a="http://schemas.openxmlformats.org/drawingml/2006/main" noGrp="1"/>
          </p:cNvSpPr>
          <p:nvPr/>
        </p:nvSpPr>
        <p:spPr>
          <a:xfrm xmlns:a="http://schemas.openxmlformats.org/drawingml/2006/main">
            <a:off x="838200" y="2333625"/>
            <a:ext cx="419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2850"/>
                </a:solidFill>
              </a:defRPr>
            </a:pPr>
            <a:r>
              <a:rPr sz="2025" b="1">
                <a:solidFill>
                  <a:srgbClr val="002850"/>
                </a:solidFill>
              </a:rPr>
              <a:t>Specification knowledge base</a:t>
            </a:r>
          </a:p>
        </p:txBody>
      </p:sp>
      <p:sp>
        <p:nvSpPr>
          <p:cNvPr id="9" name="">
            <a:extLst xmlns:a="http://schemas.openxmlformats.org/drawingml/2006/main">
              <a:ext uri="{FF2B5EF4-FFF2-40B4-BE49-F238E27FC236}">
                <a16:creationId xmlns:a16="http://schemas.microsoft.com/office/drawing/2014/main" id="{BAB89771-BD01-442A-854F-5AD544610480}"/>
              </a:ext>
            </a:extLst>
          </p:cNvPr>
          <p:cNvSpPr>
            <a:spLocks xmlns:a="http://schemas.openxmlformats.org/drawingml/2006/main" noGrp="1"/>
          </p:cNvSpPr>
          <p:nvPr/>
        </p:nvSpPr>
        <p:spPr>
          <a:xfrm xmlns:a="http://schemas.openxmlformats.org/drawingml/2006/main">
            <a:off x="838200" y="2971800"/>
            <a:ext cx="228600" cy="2286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10" name="">
            <a:extLst xmlns:a="http://schemas.openxmlformats.org/drawingml/2006/main">
              <a:ext uri="{FF2B5EF4-FFF2-40B4-BE49-F238E27FC236}">
                <a16:creationId xmlns:a16="http://schemas.microsoft.com/office/drawing/2014/main" id="{41403C9B-D876-4668-9F70-4670A9B39BFC}"/>
              </a:ext>
            </a:extLst>
          </p:cNvPr>
          <p:cNvSpPr>
            <a:spLocks xmlns:a="http://schemas.openxmlformats.org/drawingml/2006/main" noGrp="1"/>
          </p:cNvSpPr>
          <p:nvPr/>
        </p:nvSpPr>
        <p:spPr>
          <a:xfrm xmlns:a="http://schemas.openxmlformats.org/drawingml/2006/main">
            <a:off x="838200" y="298132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E58A3A"/>
                </a:solidFill>
              </a:defRPr>
            </a:pPr>
            <a:r>
              <a:rPr sz="1275" b="1">
                <a:solidFill>
                  <a:srgbClr val="E58A3A"/>
                </a:solidFill>
              </a:rPr>
              <a:t>•</a:t>
            </a:r>
          </a:p>
        </p:txBody>
      </p:sp>
      <p:sp>
        <p:nvSpPr>
          <p:cNvPr id="11" name="">
            <a:extLst xmlns:a="http://schemas.openxmlformats.org/drawingml/2006/main">
              <a:ext uri="{FF2B5EF4-FFF2-40B4-BE49-F238E27FC236}">
                <a16:creationId xmlns:a16="http://schemas.microsoft.com/office/drawing/2014/main" id="{DA7E83C3-AD60-41D1-BB01-4698D0B04CA7}"/>
              </a:ext>
            </a:extLst>
          </p:cNvPr>
          <p:cNvSpPr>
            <a:spLocks xmlns:a="http://schemas.openxmlformats.org/drawingml/2006/main" noGrp="1"/>
          </p:cNvSpPr>
          <p:nvPr/>
        </p:nvSpPr>
        <p:spPr>
          <a:xfrm xmlns:a="http://schemas.openxmlformats.org/drawingml/2006/main">
            <a:off x="1200150" y="2952750"/>
            <a:ext cx="3924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Official methodology documents and approved interpretations</a:t>
            </a:r>
          </a:p>
        </p:txBody>
      </p:sp>
      <p:sp>
        <p:nvSpPr>
          <p:cNvPr id="12" name="">
            <a:extLst xmlns:a="http://schemas.openxmlformats.org/drawingml/2006/main">
              <a:ext uri="{FF2B5EF4-FFF2-40B4-BE49-F238E27FC236}">
                <a16:creationId xmlns:a16="http://schemas.microsoft.com/office/drawing/2014/main" id="{B80A9FF6-1D4D-446B-B177-FEA24CE604E5}"/>
              </a:ext>
            </a:extLst>
          </p:cNvPr>
          <p:cNvSpPr>
            <a:spLocks xmlns:a="http://schemas.openxmlformats.org/drawingml/2006/main" noGrp="1"/>
          </p:cNvSpPr>
          <p:nvPr/>
        </p:nvSpPr>
        <p:spPr>
          <a:xfrm xmlns:a="http://schemas.openxmlformats.org/drawingml/2006/main">
            <a:off x="838200" y="3600450"/>
            <a:ext cx="228600" cy="2286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13" name="">
            <a:extLst xmlns:a="http://schemas.openxmlformats.org/drawingml/2006/main">
              <a:ext uri="{FF2B5EF4-FFF2-40B4-BE49-F238E27FC236}">
                <a16:creationId xmlns:a16="http://schemas.microsoft.com/office/drawing/2014/main" id="{3DE3192C-80BB-4F02-BEA4-7131202E3AC3}"/>
              </a:ext>
            </a:extLst>
          </p:cNvPr>
          <p:cNvSpPr>
            <a:spLocks xmlns:a="http://schemas.openxmlformats.org/drawingml/2006/main" noGrp="1"/>
          </p:cNvSpPr>
          <p:nvPr/>
        </p:nvSpPr>
        <p:spPr>
          <a:xfrm xmlns:a="http://schemas.openxmlformats.org/drawingml/2006/main">
            <a:off x="838200" y="3609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E58A3A"/>
                </a:solidFill>
              </a:defRPr>
            </a:pPr>
            <a:r>
              <a:rPr sz="1275" b="1">
                <a:solidFill>
                  <a:srgbClr val="E58A3A"/>
                </a:solidFill>
              </a:rPr>
              <a:t>•</a:t>
            </a:r>
          </a:p>
        </p:txBody>
      </p:sp>
      <p:sp>
        <p:nvSpPr>
          <p:cNvPr id="14" name="">
            <a:extLst xmlns:a="http://schemas.openxmlformats.org/drawingml/2006/main">
              <a:ext uri="{FF2B5EF4-FFF2-40B4-BE49-F238E27FC236}">
                <a16:creationId xmlns:a16="http://schemas.microsoft.com/office/drawing/2014/main" id="{7D6FE156-0CA8-4AA8-97F8-D698657093BA}"/>
              </a:ext>
            </a:extLst>
          </p:cNvPr>
          <p:cNvSpPr>
            <a:spLocks xmlns:a="http://schemas.openxmlformats.org/drawingml/2006/main" noGrp="1"/>
          </p:cNvSpPr>
          <p:nvPr/>
        </p:nvSpPr>
        <p:spPr>
          <a:xfrm xmlns:a="http://schemas.openxmlformats.org/drawingml/2006/main">
            <a:off x="1200150" y="3581400"/>
            <a:ext cx="3924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Section-aware chunks with measure, year, version, and effective date</a:t>
            </a:r>
          </a:p>
        </p:txBody>
      </p:sp>
      <p:sp>
        <p:nvSpPr>
          <p:cNvPr id="15" name="">
            <a:extLst xmlns:a="http://schemas.openxmlformats.org/drawingml/2006/main">
              <a:ext uri="{FF2B5EF4-FFF2-40B4-BE49-F238E27FC236}">
                <a16:creationId xmlns:a16="http://schemas.microsoft.com/office/drawing/2014/main" id="{F72DB249-DACD-492F-A1CE-BDAB33FCDFF2}"/>
              </a:ext>
            </a:extLst>
          </p:cNvPr>
          <p:cNvSpPr>
            <a:spLocks xmlns:a="http://schemas.openxmlformats.org/drawingml/2006/main" noGrp="1"/>
          </p:cNvSpPr>
          <p:nvPr/>
        </p:nvSpPr>
        <p:spPr>
          <a:xfrm xmlns:a="http://schemas.openxmlformats.org/drawingml/2006/main">
            <a:off x="838200" y="4229100"/>
            <a:ext cx="228600" cy="2286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16" name="">
            <a:extLst xmlns:a="http://schemas.openxmlformats.org/drawingml/2006/main">
              <a:ext uri="{FF2B5EF4-FFF2-40B4-BE49-F238E27FC236}">
                <a16:creationId xmlns:a16="http://schemas.microsoft.com/office/drawing/2014/main" id="{D052F260-281B-4CEF-827E-E57FB834CEB7}"/>
              </a:ext>
            </a:extLst>
          </p:cNvPr>
          <p:cNvSpPr>
            <a:spLocks xmlns:a="http://schemas.openxmlformats.org/drawingml/2006/main" noGrp="1"/>
          </p:cNvSpPr>
          <p:nvPr/>
        </p:nvSpPr>
        <p:spPr>
          <a:xfrm xmlns:a="http://schemas.openxmlformats.org/drawingml/2006/main">
            <a:off x="838200" y="423862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E58A3A"/>
                </a:solidFill>
              </a:defRPr>
            </a:pPr>
            <a:r>
              <a:rPr sz="1275" b="1">
                <a:solidFill>
                  <a:srgbClr val="E58A3A"/>
                </a:solidFill>
              </a:rPr>
              <a:t>•</a:t>
            </a:r>
          </a:p>
        </p:txBody>
      </p:sp>
      <p:sp>
        <p:nvSpPr>
          <p:cNvPr id="17" name="">
            <a:extLst xmlns:a="http://schemas.openxmlformats.org/drawingml/2006/main">
              <a:ext uri="{FF2B5EF4-FFF2-40B4-BE49-F238E27FC236}">
                <a16:creationId xmlns:a16="http://schemas.microsoft.com/office/drawing/2014/main" id="{255DF84A-9D75-407F-B2C9-9764590D9260}"/>
              </a:ext>
            </a:extLst>
          </p:cNvPr>
          <p:cNvSpPr>
            <a:spLocks xmlns:a="http://schemas.openxmlformats.org/drawingml/2006/main" noGrp="1"/>
          </p:cNvSpPr>
          <p:nvPr/>
        </p:nvSpPr>
        <p:spPr>
          <a:xfrm xmlns:a="http://schemas.openxmlformats.org/drawingml/2006/main">
            <a:off x="1200150" y="4210050"/>
            <a:ext cx="3924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Retrieved to explain why evidence qualifies and to cite the source</a:t>
            </a:r>
          </a:p>
        </p:txBody>
      </p:sp>
      <p:sp>
        <p:nvSpPr>
          <p:cNvPr id="18" name="">
            <a:extLst xmlns:a="http://schemas.openxmlformats.org/drawingml/2006/main">
              <a:ext uri="{FF2B5EF4-FFF2-40B4-BE49-F238E27FC236}">
                <a16:creationId xmlns:a16="http://schemas.microsoft.com/office/drawing/2014/main" id="{0CD24F0D-1D3E-477F-8593-59A69B760CCE}"/>
              </a:ext>
            </a:extLst>
          </p:cNvPr>
          <p:cNvSpPr>
            <a:spLocks xmlns:a="http://schemas.openxmlformats.org/drawingml/2006/main" noGrp="1"/>
          </p:cNvSpPr>
          <p:nvPr/>
        </p:nvSpPr>
        <p:spPr>
          <a:xfrm xmlns:a="http://schemas.openxmlformats.org/drawingml/2006/main">
            <a:off x="6019800" y="1647825"/>
            <a:ext cx="4953000" cy="3562350"/>
          </a:xfrm>
          <a:prstGeom xmlns:a="http://schemas.openxmlformats.org/drawingml/2006/main" prst="roundRect">
            <a:avLst>
              <a:gd name="adj" fmla="val 3209"/>
            </a:avLst>
          </a:prstGeom>
          <a:solidFill xmlns:a="http://schemas.openxmlformats.org/drawingml/2006/main">
            <a:srgbClr val="E7F4F1"/>
          </a:solidFill>
          <a:ln xmlns:a="http://schemas.openxmlformats.org/drawingml/2006/main" w="9525">
            <a:solidFill>
              <a:srgbClr val="D5E0E8"/>
            </a:solidFill>
            <a:prstDash val="solid"/>
          </a:ln>
        </p:spPr>
      </p:sp>
      <p:sp>
        <p:nvSpPr>
          <p:cNvPr id="19" name="">
            <a:extLst xmlns:a="http://schemas.openxmlformats.org/drawingml/2006/main">
              <a:ext uri="{FF2B5EF4-FFF2-40B4-BE49-F238E27FC236}">
                <a16:creationId xmlns:a16="http://schemas.microsoft.com/office/drawing/2014/main" id="{C4A35FB6-F46B-4634-AEEE-94705724B98A}"/>
              </a:ext>
            </a:extLst>
          </p:cNvPr>
          <p:cNvSpPr>
            <a:spLocks xmlns:a="http://schemas.openxmlformats.org/drawingml/2006/main" noGrp="1"/>
          </p:cNvSpPr>
          <p:nvPr/>
        </p:nvSpPr>
        <p:spPr>
          <a:xfrm xmlns:a="http://schemas.openxmlformats.org/drawingml/2006/main">
            <a:off x="6248400" y="1866900"/>
            <a:ext cx="180975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solidFill>
              <a:srgbClr val="FFFFFF"/>
            </a:solidFill>
            <a:prstDash val="solid"/>
          </a:ln>
        </p:spPr>
      </p:sp>
      <p:sp>
        <p:nvSpPr>
          <p:cNvPr id="20" name="">
            <a:extLst xmlns:a="http://schemas.openxmlformats.org/drawingml/2006/main">
              <a:ext uri="{FF2B5EF4-FFF2-40B4-BE49-F238E27FC236}">
                <a16:creationId xmlns:a16="http://schemas.microsoft.com/office/drawing/2014/main" id="{0BBB082E-36A6-45B6-9E12-F9BBA0566929}"/>
              </a:ext>
            </a:extLst>
          </p:cNvPr>
          <p:cNvSpPr>
            <a:spLocks xmlns:a="http://schemas.openxmlformats.org/drawingml/2006/main" noGrp="1"/>
          </p:cNvSpPr>
          <p:nvPr/>
        </p:nvSpPr>
        <p:spPr>
          <a:xfrm xmlns:a="http://schemas.openxmlformats.org/drawingml/2006/main">
            <a:off x="6343650" y="189547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1D9A8A"/>
                </a:solidFill>
              </a:defRPr>
            </a:pPr>
            <a:r>
              <a:rPr sz="900" b="1">
                <a:solidFill>
                  <a:srgbClr val="1D9A8A"/>
                </a:solidFill>
              </a:rPr>
              <a:t>MACHINE-EXECUTABLE</a:t>
            </a:r>
          </a:p>
        </p:txBody>
      </p:sp>
      <p:sp>
        <p:nvSpPr>
          <p:cNvPr id="21" name="">
            <a:extLst xmlns:a="http://schemas.openxmlformats.org/drawingml/2006/main">
              <a:ext uri="{FF2B5EF4-FFF2-40B4-BE49-F238E27FC236}">
                <a16:creationId xmlns:a16="http://schemas.microsoft.com/office/drawing/2014/main" id="{EB06C068-0FF3-4586-AEE5-BD6DFFEFA5E6}"/>
              </a:ext>
            </a:extLst>
          </p:cNvPr>
          <p:cNvSpPr>
            <a:spLocks xmlns:a="http://schemas.openxmlformats.org/drawingml/2006/main" noGrp="1"/>
          </p:cNvSpPr>
          <p:nvPr/>
        </p:nvSpPr>
        <p:spPr>
          <a:xfrm xmlns:a="http://schemas.openxmlformats.org/drawingml/2006/main">
            <a:off x="6248400" y="2333625"/>
            <a:ext cx="419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002850"/>
                </a:solidFill>
              </a:defRPr>
            </a:pPr>
            <a:r>
              <a:rPr sz="2025" b="1">
                <a:solidFill>
                  <a:srgbClr val="002850"/>
                </a:solidFill>
              </a:rPr>
              <a:t>Versioned rule engine</a:t>
            </a:r>
          </a:p>
        </p:txBody>
      </p:sp>
      <p:sp>
        <p:nvSpPr>
          <p:cNvPr id="22" name="">
            <a:extLst xmlns:a="http://schemas.openxmlformats.org/drawingml/2006/main">
              <a:ext uri="{FF2B5EF4-FFF2-40B4-BE49-F238E27FC236}">
                <a16:creationId xmlns:a16="http://schemas.microsoft.com/office/drawing/2014/main" id="{0BB927AD-D9FA-4465-A9DE-7370D8EA967B}"/>
              </a:ext>
            </a:extLst>
          </p:cNvPr>
          <p:cNvSpPr>
            <a:spLocks xmlns:a="http://schemas.openxmlformats.org/drawingml/2006/main" noGrp="1"/>
          </p:cNvSpPr>
          <p:nvPr/>
        </p:nvSpPr>
        <p:spPr>
          <a:xfrm xmlns:a="http://schemas.openxmlformats.org/drawingml/2006/main">
            <a:off x="6248400" y="2971800"/>
            <a:ext cx="228600" cy="2286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23" name="">
            <a:extLst xmlns:a="http://schemas.openxmlformats.org/drawingml/2006/main">
              <a:ext uri="{FF2B5EF4-FFF2-40B4-BE49-F238E27FC236}">
                <a16:creationId xmlns:a16="http://schemas.microsoft.com/office/drawing/2014/main" id="{54384202-83EE-4D11-BB35-A4081DBBF906}"/>
              </a:ext>
            </a:extLst>
          </p:cNvPr>
          <p:cNvSpPr>
            <a:spLocks xmlns:a="http://schemas.openxmlformats.org/drawingml/2006/main" noGrp="1"/>
          </p:cNvSpPr>
          <p:nvPr/>
        </p:nvSpPr>
        <p:spPr>
          <a:xfrm xmlns:a="http://schemas.openxmlformats.org/drawingml/2006/main">
            <a:off x="6248400" y="298132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D9A8A"/>
                </a:solidFill>
              </a:defRPr>
            </a:pPr>
            <a:r>
              <a:rPr sz="1275" b="1">
                <a:solidFill>
                  <a:srgbClr val="1D9A8A"/>
                </a:solidFill>
              </a:rPr>
              <a:t>•</a:t>
            </a:r>
          </a:p>
        </p:txBody>
      </p:sp>
      <p:sp>
        <p:nvSpPr>
          <p:cNvPr id="24" name="">
            <a:extLst xmlns:a="http://schemas.openxmlformats.org/drawingml/2006/main">
              <a:ext uri="{FF2B5EF4-FFF2-40B4-BE49-F238E27FC236}">
                <a16:creationId xmlns:a16="http://schemas.microsoft.com/office/drawing/2014/main" id="{7DCE5C9E-7F8C-406C-94C5-761ED2D8BC4F}"/>
              </a:ext>
            </a:extLst>
          </p:cNvPr>
          <p:cNvSpPr>
            <a:spLocks xmlns:a="http://schemas.openxmlformats.org/drawingml/2006/main" noGrp="1"/>
          </p:cNvSpPr>
          <p:nvPr/>
        </p:nvSpPr>
        <p:spPr>
          <a:xfrm xmlns:a="http://schemas.openxmlformats.org/drawingml/2006/main">
            <a:off x="6610350" y="2952750"/>
            <a:ext cx="3924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Value sets, code systems, lookbacks, thresholds, and exclusions</a:t>
            </a:r>
          </a:p>
        </p:txBody>
      </p:sp>
      <p:sp>
        <p:nvSpPr>
          <p:cNvPr id="25" name="">
            <a:extLst xmlns:a="http://schemas.openxmlformats.org/drawingml/2006/main">
              <a:ext uri="{FF2B5EF4-FFF2-40B4-BE49-F238E27FC236}">
                <a16:creationId xmlns:a16="http://schemas.microsoft.com/office/drawing/2014/main" id="{DDAA68CC-3A03-46CF-A30D-B5AE46C598BA}"/>
              </a:ext>
            </a:extLst>
          </p:cNvPr>
          <p:cNvSpPr>
            <a:spLocks xmlns:a="http://schemas.openxmlformats.org/drawingml/2006/main" noGrp="1"/>
          </p:cNvSpPr>
          <p:nvPr/>
        </p:nvSpPr>
        <p:spPr>
          <a:xfrm xmlns:a="http://schemas.openxmlformats.org/drawingml/2006/main">
            <a:off x="6248400" y="3600450"/>
            <a:ext cx="228600" cy="2286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26" name="">
            <a:extLst xmlns:a="http://schemas.openxmlformats.org/drawingml/2006/main">
              <a:ext uri="{FF2B5EF4-FFF2-40B4-BE49-F238E27FC236}">
                <a16:creationId xmlns:a16="http://schemas.microsoft.com/office/drawing/2014/main" id="{475F1F4C-5F8A-4A74-A15F-C01D2C170CC5}"/>
              </a:ext>
            </a:extLst>
          </p:cNvPr>
          <p:cNvSpPr>
            <a:spLocks xmlns:a="http://schemas.openxmlformats.org/drawingml/2006/main" noGrp="1"/>
          </p:cNvSpPr>
          <p:nvPr/>
        </p:nvSpPr>
        <p:spPr>
          <a:xfrm xmlns:a="http://schemas.openxmlformats.org/drawingml/2006/main">
            <a:off x="6248400" y="36099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D9A8A"/>
                </a:solidFill>
              </a:defRPr>
            </a:pPr>
            <a:r>
              <a:rPr sz="1275" b="1">
                <a:solidFill>
                  <a:srgbClr val="1D9A8A"/>
                </a:solidFill>
              </a:rPr>
              <a:t>•</a:t>
            </a:r>
          </a:p>
        </p:txBody>
      </p:sp>
      <p:sp>
        <p:nvSpPr>
          <p:cNvPr id="27" name="">
            <a:extLst xmlns:a="http://schemas.openxmlformats.org/drawingml/2006/main">
              <a:ext uri="{FF2B5EF4-FFF2-40B4-BE49-F238E27FC236}">
                <a16:creationId xmlns:a16="http://schemas.microsoft.com/office/drawing/2014/main" id="{90BBE20F-C305-4489-816B-C8D6F5F69EA0}"/>
              </a:ext>
            </a:extLst>
          </p:cNvPr>
          <p:cNvSpPr>
            <a:spLocks xmlns:a="http://schemas.openxmlformats.org/drawingml/2006/main" noGrp="1"/>
          </p:cNvSpPr>
          <p:nvPr/>
        </p:nvSpPr>
        <p:spPr>
          <a:xfrm xmlns:a="http://schemas.openxmlformats.org/drawingml/2006/main">
            <a:off x="6610350" y="3581400"/>
            <a:ext cx="3924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Testable configuration with approval status and rule version</a:t>
            </a:r>
          </a:p>
        </p:txBody>
      </p:sp>
      <p:sp>
        <p:nvSpPr>
          <p:cNvPr id="28" name="">
            <a:extLst xmlns:a="http://schemas.openxmlformats.org/drawingml/2006/main">
              <a:ext uri="{FF2B5EF4-FFF2-40B4-BE49-F238E27FC236}">
                <a16:creationId xmlns:a16="http://schemas.microsoft.com/office/drawing/2014/main" id="{13F1D4AD-CB00-434F-AE97-8E50EA8133F1}"/>
              </a:ext>
            </a:extLst>
          </p:cNvPr>
          <p:cNvSpPr>
            <a:spLocks xmlns:a="http://schemas.openxmlformats.org/drawingml/2006/main" noGrp="1"/>
          </p:cNvSpPr>
          <p:nvPr/>
        </p:nvSpPr>
        <p:spPr>
          <a:xfrm xmlns:a="http://schemas.openxmlformats.org/drawingml/2006/main">
            <a:off x="6248400" y="4229100"/>
            <a:ext cx="228600" cy="2286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29" name="">
            <a:extLst xmlns:a="http://schemas.openxmlformats.org/drawingml/2006/main">
              <a:ext uri="{FF2B5EF4-FFF2-40B4-BE49-F238E27FC236}">
                <a16:creationId xmlns:a16="http://schemas.microsoft.com/office/drawing/2014/main" id="{857A688C-784A-4548-982B-7549D475AB20}"/>
              </a:ext>
            </a:extLst>
          </p:cNvPr>
          <p:cNvSpPr>
            <a:spLocks xmlns:a="http://schemas.openxmlformats.org/drawingml/2006/main" noGrp="1"/>
          </p:cNvSpPr>
          <p:nvPr/>
        </p:nvSpPr>
        <p:spPr>
          <a:xfrm xmlns:a="http://schemas.openxmlformats.org/drawingml/2006/main">
            <a:off x="6248400" y="423862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D9A8A"/>
                </a:solidFill>
              </a:defRPr>
            </a:pPr>
            <a:r>
              <a:rPr sz="1275" b="1">
                <a:solidFill>
                  <a:srgbClr val="1D9A8A"/>
                </a:solidFill>
              </a:rPr>
              <a:t>•</a:t>
            </a:r>
          </a:p>
        </p:txBody>
      </p:sp>
      <p:sp>
        <p:nvSpPr>
          <p:cNvPr id="30" name="">
            <a:extLst xmlns:a="http://schemas.openxmlformats.org/drawingml/2006/main">
              <a:ext uri="{FF2B5EF4-FFF2-40B4-BE49-F238E27FC236}">
                <a16:creationId xmlns:a16="http://schemas.microsoft.com/office/drawing/2014/main" id="{FBD52FD9-E950-4339-9141-79FD1DF23010}"/>
              </a:ext>
            </a:extLst>
          </p:cNvPr>
          <p:cNvSpPr>
            <a:spLocks xmlns:a="http://schemas.openxmlformats.org/drawingml/2006/main" noGrp="1"/>
          </p:cNvSpPr>
          <p:nvPr/>
        </p:nvSpPr>
        <p:spPr>
          <a:xfrm xmlns:a="http://schemas.openxmlformats.org/drawingml/2006/main">
            <a:off x="6610350" y="4210050"/>
            <a:ext cx="3924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Produces the decision before the LLM generates an explanation</a:t>
            </a:r>
          </a:p>
        </p:txBody>
      </p:sp>
      <p:sp>
        <p:nvSpPr>
          <p:cNvPr id="31" name="">
            <a:extLst xmlns:a="http://schemas.openxmlformats.org/drawingml/2006/main">
              <a:ext uri="{FF2B5EF4-FFF2-40B4-BE49-F238E27FC236}">
                <a16:creationId xmlns:a16="http://schemas.microsoft.com/office/drawing/2014/main" id="{26BFB7C1-58E6-45D8-B8C7-BE14E70C4714}"/>
              </a:ext>
            </a:extLst>
          </p:cNvPr>
          <p:cNvSpPr>
            <a:spLocks xmlns:a="http://schemas.openxmlformats.org/drawingml/2006/main" noGrp="1"/>
          </p:cNvSpPr>
          <p:nvPr/>
        </p:nvSpPr>
        <p:spPr>
          <a:xfrm xmlns:a="http://schemas.openxmlformats.org/drawingml/2006/main">
            <a:off x="2095500" y="5562600"/>
            <a:ext cx="7391400" cy="495300"/>
          </a:xfrm>
          <a:prstGeom xmlns:a="http://schemas.openxmlformats.org/drawingml/2006/main" prst="roundRect">
            <a:avLst>
              <a:gd name="adj" fmla="val 50000"/>
            </a:avLst>
          </a:prstGeom>
          <a:solidFill xmlns:a="http://schemas.openxmlformats.org/drawingml/2006/main">
            <a:srgbClr val="002850"/>
          </a:solidFill>
          <a:ln xmlns:a="http://schemas.openxmlformats.org/drawingml/2006/main" w="0">
            <a:solidFill>
              <a:srgbClr val="002850"/>
            </a:solidFill>
            <a:prstDash val="solid"/>
          </a:ln>
        </p:spPr>
      </p:sp>
      <p:sp>
        <p:nvSpPr>
          <p:cNvPr id="32" name="">
            <a:extLst xmlns:a="http://schemas.openxmlformats.org/drawingml/2006/main">
              <a:ext uri="{FF2B5EF4-FFF2-40B4-BE49-F238E27FC236}">
                <a16:creationId xmlns:a16="http://schemas.microsoft.com/office/drawing/2014/main" id="{80D28233-4D82-4F12-B4EF-5019542E3D12}"/>
              </a:ext>
            </a:extLst>
          </p:cNvPr>
          <p:cNvSpPr>
            <a:spLocks xmlns:a="http://schemas.openxmlformats.org/drawingml/2006/main" noGrp="1"/>
          </p:cNvSpPr>
          <p:nvPr/>
        </p:nvSpPr>
        <p:spPr>
          <a:xfrm xmlns:a="http://schemas.openxmlformats.org/drawingml/2006/main">
            <a:off x="2324100" y="5667375"/>
            <a:ext cx="6934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425" b="1">
                <a:solidFill>
                  <a:srgbClr val="FFFFFF"/>
                </a:solidFill>
              </a:defRPr>
            </a:pPr>
            <a:r>
              <a:rPr sz="1425" b="1">
                <a:solidFill>
                  <a:srgbClr val="FFFFFF"/>
                </a:solidFill>
              </a:rPr>
              <a:t>Annual rule changes update governed data and tests, not the model’s memory.</a:t>
            </a:r>
          </a:p>
        </p:txBody>
      </p:sp>
      <p:sp>
        <p:nvSpPr>
          <p:cNvPr id="33" name="">
            <a:extLst xmlns:a="http://schemas.openxmlformats.org/drawingml/2006/main">
              <a:ext uri="{FF2B5EF4-FFF2-40B4-BE49-F238E27FC236}">
                <a16:creationId xmlns:a16="http://schemas.microsoft.com/office/drawing/2014/main" id="{3310DC60-1F99-4165-818F-6D6A30D7A42C}"/>
              </a:ext>
            </a:extLst>
          </p:cNvPr>
          <p:cNvSpPr>
            <a:spLocks xmlns:a="http://schemas.openxmlformats.org/drawingml/2006/main" noGrp="1"/>
          </p:cNvSpPr>
          <p:nvPr/>
        </p:nvSpPr>
        <p:spPr>
          <a:xfrm xmlns:a="http://schemas.openxmlformats.org/drawingml/2006/main">
            <a:off x="609600" y="6486525"/>
            <a:ext cx="523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788B98"/>
                </a:solidFill>
              </a:defRPr>
            </a:pPr>
            <a:r>
              <a:rPr sz="750" b="0">
                <a:solidFill>
                  <a:srgbClr val="788B98"/>
                </a:solidFill>
              </a:rPr>
              <a:t>CareAllies Data Lake LLM</a:t>
            </a:r>
          </a:p>
        </p:txBody>
      </p:sp>
      <p:sp>
        <p:nvSpPr>
          <p:cNvPr id="34" name="">
            <a:extLst xmlns:a="http://schemas.openxmlformats.org/drawingml/2006/main">
              <a:ext uri="{FF2B5EF4-FFF2-40B4-BE49-F238E27FC236}">
                <a16:creationId xmlns:a16="http://schemas.microsoft.com/office/drawing/2014/main" id="{25BC33E7-A4BD-43F1-8EDE-5BE738DD7918}"/>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Tree>
    <p:extLst>
      <p:ext uri="{BB962C8B-B14F-4D97-AF65-F5344CB8AC3E}">
        <p14:creationId xmlns:p14="http://schemas.microsoft.com/office/powerpoint/2010/main" val="172366896"/>
      </p:ext>
    </p:extLst>
  </p:cSld>
</p:sld>
</file>

<file path=ppt/slides/slide8.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E8EE7D5B-8FC3-4FA2-8B07-51EF42C4D3B8}"/>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D9A8A"/>
                </a:solidFill>
              </a:defRPr>
            </a:pPr>
            <a:r>
              <a:rPr sz="900" b="1">
                <a:solidFill>
                  <a:srgbClr val="1D9A8A"/>
                </a:solidFill>
              </a:rPr>
              <a:t>PRODUCTION DEPLOYMENT</a:t>
            </a:r>
          </a:p>
        </p:txBody>
      </p:sp>
      <p:sp>
        <p:nvSpPr>
          <p:cNvPr id="2" name="">
            <a:extLst xmlns:a="http://schemas.openxmlformats.org/drawingml/2006/main">
              <a:ext uri="{FF2B5EF4-FFF2-40B4-BE49-F238E27FC236}">
                <a16:creationId xmlns:a16="http://schemas.microsoft.com/office/drawing/2014/main" id="{A1309746-59DE-4A60-A9B5-F586200B6D4B}"/>
              </a:ext>
            </a:extLst>
          </p:cNvPr>
          <p:cNvSpPr>
            <a:spLocks xmlns:a="http://schemas.openxmlformats.org/drawingml/2006/main" noGrp="1"/>
          </p:cNvSpPr>
          <p:nvPr/>
        </p:nvSpPr>
        <p:spPr>
          <a:xfrm xmlns:a="http://schemas.openxmlformats.org/drawingml/2006/main">
            <a:off x="609600" y="6477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2850"/>
                </a:solidFill>
              </a:defRPr>
            </a:pPr>
            <a:r>
              <a:rPr sz="2700" b="1">
                <a:solidFill>
                  <a:srgbClr val="002850"/>
                </a:solidFill>
              </a:rPr>
              <a:t>Teradata remains the source of truth for structured evidence</a:t>
            </a:r>
          </a:p>
        </p:txBody>
      </p:sp>
      <p:sp>
        <p:nvSpPr>
          <p:cNvPr id="3" name="">
            <a:extLst xmlns:a="http://schemas.openxmlformats.org/drawingml/2006/main">
              <a:ext uri="{FF2B5EF4-FFF2-40B4-BE49-F238E27FC236}">
                <a16:creationId xmlns:a16="http://schemas.microsoft.com/office/drawing/2014/main" id="{06E71604-4B4D-4DD4-9E8C-81F6908225EE}"/>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4" name="">
            <a:extLst xmlns:a="http://schemas.openxmlformats.org/drawingml/2006/main">
              <a:ext uri="{FF2B5EF4-FFF2-40B4-BE49-F238E27FC236}">
                <a16:creationId xmlns:a16="http://schemas.microsoft.com/office/drawing/2014/main" id="{DBB87444-2EB3-495A-94A1-9D7197642FBD}"/>
              </a:ext>
            </a:extLst>
          </p:cNvPr>
          <p:cNvSpPr>
            <a:spLocks xmlns:a="http://schemas.openxmlformats.org/drawingml/2006/main" noGrp="1"/>
          </p:cNvSpPr>
          <p:nvPr/>
        </p:nvSpPr>
        <p:spPr>
          <a:xfrm xmlns:a="http://schemas.openxmlformats.org/drawingml/2006/main">
            <a:off x="11087100" y="3619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788B98"/>
                </a:solidFill>
              </a:defRPr>
            </a:pPr>
            <a:r>
              <a:rPr sz="900" b="1">
                <a:solidFill>
                  <a:srgbClr val="788B98"/>
                </a:solidFill>
              </a:rPr>
              <a:t>08</a:t>
            </a:r>
          </a:p>
        </p:txBody>
      </p:sp>
      <p:sp>
        <p:nvSpPr>
          <p:cNvPr id="5" name="">
            <a:extLst xmlns:a="http://schemas.openxmlformats.org/drawingml/2006/main">
              <a:ext uri="{FF2B5EF4-FFF2-40B4-BE49-F238E27FC236}">
                <a16:creationId xmlns:a16="http://schemas.microsoft.com/office/drawing/2014/main" id="{93A378D1-7C46-4EC1-BCA2-65F50A218CA8}"/>
              </a:ext>
            </a:extLst>
          </p:cNvPr>
          <p:cNvSpPr>
            <a:spLocks xmlns:a="http://schemas.openxmlformats.org/drawingml/2006/main" noGrp="1"/>
          </p:cNvSpPr>
          <p:nvPr/>
        </p:nvSpPr>
        <p:spPr>
          <a:xfrm xmlns:a="http://schemas.openxmlformats.org/drawingml/2006/main">
            <a:off x="609600" y="1619250"/>
            <a:ext cx="3429000" cy="3905250"/>
          </a:xfrm>
          <a:prstGeom xmlns:a="http://schemas.openxmlformats.org/drawingml/2006/main" prst="roundRect">
            <a:avLst>
              <a:gd name="adj" fmla="val 3333"/>
            </a:avLst>
          </a:prstGeom>
          <a:solidFill xmlns:a="http://schemas.openxmlformats.org/drawingml/2006/main">
            <a:srgbClr val="002850"/>
          </a:solidFill>
          <a:ln xmlns:a="http://schemas.openxmlformats.org/drawingml/2006/main" w="0">
            <a:solidFill>
              <a:srgbClr val="002850"/>
            </a:solidFill>
            <a:prstDash val="solid"/>
          </a:ln>
        </p:spPr>
      </p:sp>
      <p:sp>
        <p:nvSpPr>
          <p:cNvPr id="6" name="">
            <a:extLst xmlns:a="http://schemas.openxmlformats.org/drawingml/2006/main">
              <a:ext uri="{FF2B5EF4-FFF2-40B4-BE49-F238E27FC236}">
                <a16:creationId xmlns:a16="http://schemas.microsoft.com/office/drawing/2014/main" id="{DCA19DE9-3404-445B-BA2D-1B0BDF5A3542}"/>
              </a:ext>
            </a:extLst>
          </p:cNvPr>
          <p:cNvSpPr>
            <a:spLocks xmlns:a="http://schemas.openxmlformats.org/drawingml/2006/main" noGrp="1"/>
          </p:cNvSpPr>
          <p:nvPr/>
        </p:nvSpPr>
        <p:spPr>
          <a:xfrm xmlns:a="http://schemas.openxmlformats.org/drawingml/2006/main">
            <a:off x="876300" y="185737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BB8D1"/>
                </a:solidFill>
              </a:defRPr>
            </a:pPr>
            <a:r>
              <a:rPr sz="975" b="1">
                <a:solidFill>
                  <a:srgbClr val="5BB8D1"/>
                </a:solidFill>
              </a:rPr>
              <a:t>TERADATA VANTAGE</a:t>
            </a:r>
          </a:p>
        </p:txBody>
      </p:sp>
      <p:sp>
        <p:nvSpPr>
          <p:cNvPr id="7" name="">
            <a:extLst xmlns:a="http://schemas.openxmlformats.org/drawingml/2006/main">
              <a:ext uri="{FF2B5EF4-FFF2-40B4-BE49-F238E27FC236}">
                <a16:creationId xmlns:a16="http://schemas.microsoft.com/office/drawing/2014/main" id="{9357CB49-F566-4947-AE21-6642216A3813}"/>
              </a:ext>
            </a:extLst>
          </p:cNvPr>
          <p:cNvSpPr>
            <a:spLocks xmlns:a="http://schemas.openxmlformats.org/drawingml/2006/main" noGrp="1"/>
          </p:cNvSpPr>
          <p:nvPr/>
        </p:nvSpPr>
        <p:spPr>
          <a:xfrm xmlns:a="http://schemas.openxmlformats.org/drawingml/2006/main">
            <a:off x="876300" y="225742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75" b="1">
                <a:solidFill>
                  <a:srgbClr val="FFFFFF"/>
                </a:solidFill>
              </a:defRPr>
            </a:pPr>
            <a:r>
              <a:rPr sz="2175" b="1">
                <a:solidFill>
                  <a:srgbClr val="FFFFFF"/>
                </a:solidFill>
              </a:rPr>
              <a:t>AI semantic layer</a:t>
            </a:r>
          </a:p>
        </p:txBody>
      </p:sp>
      <p:sp>
        <p:nvSpPr>
          <p:cNvPr id="8" name="">
            <a:extLst xmlns:a="http://schemas.openxmlformats.org/drawingml/2006/main">
              <a:ext uri="{FF2B5EF4-FFF2-40B4-BE49-F238E27FC236}">
                <a16:creationId xmlns:a16="http://schemas.microsoft.com/office/drawing/2014/main" id="{9BE03E17-318D-4A86-BEB3-ED3231653563}"/>
              </a:ext>
            </a:extLst>
          </p:cNvPr>
          <p:cNvSpPr>
            <a:spLocks xmlns:a="http://schemas.openxmlformats.org/drawingml/2006/main" noGrp="1"/>
          </p:cNvSpPr>
          <p:nvPr/>
        </p:nvSpPr>
        <p:spPr>
          <a:xfrm xmlns:a="http://schemas.openxmlformats.org/drawingml/2006/main">
            <a:off x="876300" y="2895600"/>
            <a:ext cx="2781300" cy="323850"/>
          </a:xfrm>
          <a:prstGeom xmlns:a="http://schemas.openxmlformats.org/drawingml/2006/main" prst="roundRect">
            <a:avLst>
              <a:gd name="adj" fmla="val 23529"/>
            </a:avLst>
          </a:prstGeom>
          <a:solidFill xmlns:a="http://schemas.openxmlformats.org/drawingml/2006/main">
            <a:srgbClr val="174B74"/>
          </a:solidFill>
          <a:ln xmlns:a="http://schemas.openxmlformats.org/drawingml/2006/main" w="0">
            <a:solidFill>
              <a:srgbClr val="174B74"/>
            </a:solidFill>
            <a:prstDash val="solid"/>
          </a:ln>
        </p:spPr>
      </p:sp>
      <p:sp>
        <p:nvSpPr>
          <p:cNvPr id="9" name="">
            <a:extLst xmlns:a="http://schemas.openxmlformats.org/drawingml/2006/main">
              <a:ext uri="{FF2B5EF4-FFF2-40B4-BE49-F238E27FC236}">
                <a16:creationId xmlns:a16="http://schemas.microsoft.com/office/drawing/2014/main" id="{54EA69A4-9A88-4FD8-85EE-954322A4C513}"/>
              </a:ext>
            </a:extLst>
          </p:cNvPr>
          <p:cNvSpPr>
            <a:spLocks xmlns:a="http://schemas.openxmlformats.org/drawingml/2006/main" noGrp="1"/>
          </p:cNvSpPr>
          <p:nvPr/>
        </p:nvSpPr>
        <p:spPr>
          <a:xfrm xmlns:a="http://schemas.openxmlformats.org/drawingml/2006/main">
            <a:off x="1000125" y="2962275"/>
            <a:ext cx="2533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AI_VW_MEMBER_MASTER</a:t>
            </a:r>
          </a:p>
        </p:txBody>
      </p:sp>
      <p:sp>
        <p:nvSpPr>
          <p:cNvPr id="10" name="">
            <a:extLst xmlns:a="http://schemas.openxmlformats.org/drawingml/2006/main">
              <a:ext uri="{FF2B5EF4-FFF2-40B4-BE49-F238E27FC236}">
                <a16:creationId xmlns:a16="http://schemas.microsoft.com/office/drawing/2014/main" id="{5BF45A56-BBE0-4A4B-AF3A-88C33CB9E8F2}"/>
              </a:ext>
            </a:extLst>
          </p:cNvPr>
          <p:cNvSpPr>
            <a:spLocks xmlns:a="http://schemas.openxmlformats.org/drawingml/2006/main" noGrp="1"/>
          </p:cNvSpPr>
          <p:nvPr/>
        </p:nvSpPr>
        <p:spPr>
          <a:xfrm xmlns:a="http://schemas.openxmlformats.org/drawingml/2006/main">
            <a:off x="876300" y="3343275"/>
            <a:ext cx="2781300" cy="323850"/>
          </a:xfrm>
          <a:prstGeom xmlns:a="http://schemas.openxmlformats.org/drawingml/2006/main" prst="roundRect">
            <a:avLst>
              <a:gd name="adj" fmla="val 23529"/>
            </a:avLst>
          </a:prstGeom>
          <a:solidFill xmlns:a="http://schemas.openxmlformats.org/drawingml/2006/main">
            <a:srgbClr val="174B74"/>
          </a:solidFill>
          <a:ln xmlns:a="http://schemas.openxmlformats.org/drawingml/2006/main" w="0">
            <a:solidFill>
              <a:srgbClr val="174B74"/>
            </a:solidFill>
            <a:prstDash val="solid"/>
          </a:ln>
        </p:spPr>
      </p:sp>
      <p:sp>
        <p:nvSpPr>
          <p:cNvPr id="11" name="">
            <a:extLst xmlns:a="http://schemas.openxmlformats.org/drawingml/2006/main">
              <a:ext uri="{FF2B5EF4-FFF2-40B4-BE49-F238E27FC236}">
                <a16:creationId xmlns:a16="http://schemas.microsoft.com/office/drawing/2014/main" id="{FFE3D927-6083-47C1-9CA7-7EF2F263B135}"/>
              </a:ext>
            </a:extLst>
          </p:cNvPr>
          <p:cNvSpPr>
            <a:spLocks xmlns:a="http://schemas.openxmlformats.org/drawingml/2006/main" noGrp="1"/>
          </p:cNvSpPr>
          <p:nvPr/>
        </p:nvSpPr>
        <p:spPr>
          <a:xfrm xmlns:a="http://schemas.openxmlformats.org/drawingml/2006/main">
            <a:off x="1000125" y="3409950"/>
            <a:ext cx="2533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AI_VW_MEMBER_STARS</a:t>
            </a:r>
          </a:p>
        </p:txBody>
      </p:sp>
      <p:sp>
        <p:nvSpPr>
          <p:cNvPr id="12" name="">
            <a:extLst xmlns:a="http://schemas.openxmlformats.org/drawingml/2006/main">
              <a:ext uri="{FF2B5EF4-FFF2-40B4-BE49-F238E27FC236}">
                <a16:creationId xmlns:a16="http://schemas.microsoft.com/office/drawing/2014/main" id="{B264E972-EAA9-46CC-AF57-D4FD40AEE985}"/>
              </a:ext>
            </a:extLst>
          </p:cNvPr>
          <p:cNvSpPr>
            <a:spLocks xmlns:a="http://schemas.openxmlformats.org/drawingml/2006/main" noGrp="1"/>
          </p:cNvSpPr>
          <p:nvPr/>
        </p:nvSpPr>
        <p:spPr>
          <a:xfrm xmlns:a="http://schemas.openxmlformats.org/drawingml/2006/main">
            <a:off x="876300" y="3790950"/>
            <a:ext cx="2781300" cy="323850"/>
          </a:xfrm>
          <a:prstGeom xmlns:a="http://schemas.openxmlformats.org/drawingml/2006/main" prst="roundRect">
            <a:avLst>
              <a:gd name="adj" fmla="val 23529"/>
            </a:avLst>
          </a:prstGeom>
          <a:solidFill xmlns:a="http://schemas.openxmlformats.org/drawingml/2006/main">
            <a:srgbClr val="174B74"/>
          </a:solidFill>
          <a:ln xmlns:a="http://schemas.openxmlformats.org/drawingml/2006/main" w="0">
            <a:solidFill>
              <a:srgbClr val="174B74"/>
            </a:solidFill>
            <a:prstDash val="solid"/>
          </a:ln>
        </p:spPr>
      </p:sp>
      <p:sp>
        <p:nvSpPr>
          <p:cNvPr id="13" name="">
            <a:extLst xmlns:a="http://schemas.openxmlformats.org/drawingml/2006/main">
              <a:ext uri="{FF2B5EF4-FFF2-40B4-BE49-F238E27FC236}">
                <a16:creationId xmlns:a16="http://schemas.microsoft.com/office/drawing/2014/main" id="{95172513-854F-4898-AA2D-97C5309737C4}"/>
              </a:ext>
            </a:extLst>
          </p:cNvPr>
          <p:cNvSpPr>
            <a:spLocks xmlns:a="http://schemas.openxmlformats.org/drawingml/2006/main" noGrp="1"/>
          </p:cNvSpPr>
          <p:nvPr/>
        </p:nvSpPr>
        <p:spPr>
          <a:xfrm xmlns:a="http://schemas.openxmlformats.org/drawingml/2006/main">
            <a:off x="1000125" y="3857625"/>
            <a:ext cx="2533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AI_VW_MEMBER_CLAIMS</a:t>
            </a:r>
          </a:p>
        </p:txBody>
      </p:sp>
      <p:sp>
        <p:nvSpPr>
          <p:cNvPr id="14" name="">
            <a:extLst xmlns:a="http://schemas.openxmlformats.org/drawingml/2006/main">
              <a:ext uri="{FF2B5EF4-FFF2-40B4-BE49-F238E27FC236}">
                <a16:creationId xmlns:a16="http://schemas.microsoft.com/office/drawing/2014/main" id="{021FC2E8-703C-4D1C-BA7A-BF5C84683E23}"/>
              </a:ext>
            </a:extLst>
          </p:cNvPr>
          <p:cNvSpPr>
            <a:spLocks xmlns:a="http://schemas.openxmlformats.org/drawingml/2006/main" noGrp="1"/>
          </p:cNvSpPr>
          <p:nvPr/>
        </p:nvSpPr>
        <p:spPr>
          <a:xfrm xmlns:a="http://schemas.openxmlformats.org/drawingml/2006/main">
            <a:off x="876300" y="4238625"/>
            <a:ext cx="2781300" cy="323850"/>
          </a:xfrm>
          <a:prstGeom xmlns:a="http://schemas.openxmlformats.org/drawingml/2006/main" prst="roundRect">
            <a:avLst>
              <a:gd name="adj" fmla="val 23529"/>
            </a:avLst>
          </a:prstGeom>
          <a:solidFill xmlns:a="http://schemas.openxmlformats.org/drawingml/2006/main">
            <a:srgbClr val="174B74"/>
          </a:solidFill>
          <a:ln xmlns:a="http://schemas.openxmlformats.org/drawingml/2006/main" w="0">
            <a:solidFill>
              <a:srgbClr val="174B74"/>
            </a:solidFill>
            <a:prstDash val="solid"/>
          </a:ln>
        </p:spPr>
      </p:sp>
      <p:sp>
        <p:nvSpPr>
          <p:cNvPr id="15" name="">
            <a:extLst xmlns:a="http://schemas.openxmlformats.org/drawingml/2006/main">
              <a:ext uri="{FF2B5EF4-FFF2-40B4-BE49-F238E27FC236}">
                <a16:creationId xmlns:a16="http://schemas.microsoft.com/office/drawing/2014/main" id="{10D09DE5-944A-4945-B44B-4333E3647B11}"/>
              </a:ext>
            </a:extLst>
          </p:cNvPr>
          <p:cNvSpPr>
            <a:spLocks xmlns:a="http://schemas.openxmlformats.org/drawingml/2006/main" noGrp="1"/>
          </p:cNvSpPr>
          <p:nvPr/>
        </p:nvSpPr>
        <p:spPr>
          <a:xfrm xmlns:a="http://schemas.openxmlformats.org/drawingml/2006/main">
            <a:off x="1000125" y="4305300"/>
            <a:ext cx="2533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AI_VW_MEASURE_ELIGIBILITY</a:t>
            </a:r>
          </a:p>
        </p:txBody>
      </p:sp>
      <p:sp>
        <p:nvSpPr>
          <p:cNvPr id="16" name="">
            <a:extLst xmlns:a="http://schemas.openxmlformats.org/drawingml/2006/main">
              <a:ext uri="{FF2B5EF4-FFF2-40B4-BE49-F238E27FC236}">
                <a16:creationId xmlns:a16="http://schemas.microsoft.com/office/drawing/2014/main" id="{196BE48C-05F3-488C-B123-24D9D6430AA0}"/>
              </a:ext>
            </a:extLst>
          </p:cNvPr>
          <p:cNvSpPr>
            <a:spLocks xmlns:a="http://schemas.openxmlformats.org/drawingml/2006/main" noGrp="1"/>
          </p:cNvSpPr>
          <p:nvPr/>
        </p:nvSpPr>
        <p:spPr>
          <a:xfrm xmlns:a="http://schemas.openxmlformats.org/drawingml/2006/main">
            <a:off x="876300" y="4686300"/>
            <a:ext cx="2781300" cy="323850"/>
          </a:xfrm>
          <a:prstGeom xmlns:a="http://schemas.openxmlformats.org/drawingml/2006/main" prst="roundRect">
            <a:avLst>
              <a:gd name="adj" fmla="val 23529"/>
            </a:avLst>
          </a:prstGeom>
          <a:solidFill xmlns:a="http://schemas.openxmlformats.org/drawingml/2006/main">
            <a:srgbClr val="174B74"/>
          </a:solidFill>
          <a:ln xmlns:a="http://schemas.openxmlformats.org/drawingml/2006/main" w="0">
            <a:solidFill>
              <a:srgbClr val="174B74"/>
            </a:solidFill>
            <a:prstDash val="solid"/>
          </a:ln>
        </p:spPr>
      </p:sp>
      <p:sp>
        <p:nvSpPr>
          <p:cNvPr id="17" name="">
            <a:extLst xmlns:a="http://schemas.openxmlformats.org/drawingml/2006/main">
              <a:ext uri="{FF2B5EF4-FFF2-40B4-BE49-F238E27FC236}">
                <a16:creationId xmlns:a16="http://schemas.microsoft.com/office/drawing/2014/main" id="{B0EA94BD-39CE-4A96-9800-DF92D921BBD4}"/>
              </a:ext>
            </a:extLst>
          </p:cNvPr>
          <p:cNvSpPr>
            <a:spLocks xmlns:a="http://schemas.openxmlformats.org/drawingml/2006/main" noGrp="1"/>
          </p:cNvSpPr>
          <p:nvPr/>
        </p:nvSpPr>
        <p:spPr>
          <a:xfrm xmlns:a="http://schemas.openxmlformats.org/drawingml/2006/main">
            <a:off x="1000125" y="4752975"/>
            <a:ext cx="2533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1">
                <a:solidFill>
                  <a:srgbClr val="FFFFFF"/>
                </a:solidFill>
              </a:defRPr>
            </a:pPr>
            <a:r>
              <a:rPr sz="975" b="1">
                <a:solidFill>
                  <a:srgbClr val="FFFFFF"/>
                </a:solidFill>
              </a:rPr>
              <a:t>AI_METRIC_CATALOG</a:t>
            </a:r>
          </a:p>
        </p:txBody>
      </p:sp>
      <p:sp>
        <p:nvSpPr>
          <p:cNvPr id="18" name="">
            <a:extLst xmlns:a="http://schemas.openxmlformats.org/drawingml/2006/main">
              <a:ext uri="{FF2B5EF4-FFF2-40B4-BE49-F238E27FC236}">
                <a16:creationId xmlns:a16="http://schemas.microsoft.com/office/drawing/2014/main" id="{C937B8B1-5B4A-4083-A347-8327D5AEA0B8}"/>
              </a:ext>
            </a:extLst>
          </p:cNvPr>
          <p:cNvSpPr>
            <a:spLocks xmlns:a="http://schemas.openxmlformats.org/drawingml/2006/main" noGrp="1"/>
          </p:cNvSpPr>
          <p:nvPr/>
        </p:nvSpPr>
        <p:spPr>
          <a:xfrm xmlns:a="http://schemas.openxmlformats.org/drawingml/2006/main">
            <a:off x="4610100" y="1657350"/>
            <a:ext cx="2895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2850"/>
                </a:solidFill>
              </a:defRPr>
            </a:pPr>
            <a:r>
              <a:rPr sz="1800" b="1">
                <a:solidFill>
                  <a:srgbClr val="002850"/>
                </a:solidFill>
              </a:rPr>
              <a:t>Interactive service</a:t>
            </a:r>
          </a:p>
        </p:txBody>
      </p:sp>
      <p:sp>
        <p:nvSpPr>
          <p:cNvPr id="19" name="">
            <a:extLst xmlns:a="http://schemas.openxmlformats.org/drawingml/2006/main">
              <a:ext uri="{FF2B5EF4-FFF2-40B4-BE49-F238E27FC236}">
                <a16:creationId xmlns:a16="http://schemas.microsoft.com/office/drawing/2014/main" id="{9A770216-8E14-4273-A782-D3F0D59FB033}"/>
              </a:ext>
            </a:extLst>
          </p:cNvPr>
          <p:cNvSpPr>
            <a:spLocks xmlns:a="http://schemas.openxmlformats.org/drawingml/2006/main" noGrp="1"/>
          </p:cNvSpPr>
          <p:nvPr/>
        </p:nvSpPr>
        <p:spPr>
          <a:xfrm xmlns:a="http://schemas.openxmlformats.org/drawingml/2006/main">
            <a:off x="4610100" y="2171700"/>
            <a:ext cx="228600" cy="228600"/>
          </a:xfrm>
          <a:prstGeom xmlns:a="http://schemas.openxmlformats.org/drawingml/2006/main" prst="ellipse">
            <a:avLst/>
          </a:prstGeom>
          <a:solidFill xmlns:a="http://schemas.openxmlformats.org/drawingml/2006/main">
            <a:srgbClr val="E5F0F7"/>
          </a:solidFill>
          <a:ln xmlns:a="http://schemas.openxmlformats.org/drawingml/2006/main" w="0">
            <a:solidFill>
              <a:srgbClr val="E5F0F7"/>
            </a:solidFill>
            <a:prstDash val="solid"/>
          </a:ln>
        </p:spPr>
      </p:sp>
      <p:sp>
        <p:nvSpPr>
          <p:cNvPr id="20" name="">
            <a:extLst xmlns:a="http://schemas.openxmlformats.org/drawingml/2006/main">
              <a:ext uri="{FF2B5EF4-FFF2-40B4-BE49-F238E27FC236}">
                <a16:creationId xmlns:a16="http://schemas.microsoft.com/office/drawing/2014/main" id="{988B0B9E-C279-40B9-B4B7-CABA467DE496}"/>
              </a:ext>
            </a:extLst>
          </p:cNvPr>
          <p:cNvSpPr>
            <a:spLocks xmlns:a="http://schemas.openxmlformats.org/drawingml/2006/main" noGrp="1"/>
          </p:cNvSpPr>
          <p:nvPr/>
        </p:nvSpPr>
        <p:spPr>
          <a:xfrm xmlns:a="http://schemas.openxmlformats.org/drawingml/2006/main">
            <a:off x="4610100" y="218122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6F9F"/>
                </a:solidFill>
              </a:defRPr>
            </a:pPr>
            <a:r>
              <a:rPr sz="1275" b="1">
                <a:solidFill>
                  <a:srgbClr val="2B6F9F"/>
                </a:solidFill>
              </a:rPr>
              <a:t>•</a:t>
            </a:r>
          </a:p>
        </p:txBody>
      </p:sp>
      <p:sp>
        <p:nvSpPr>
          <p:cNvPr id="21" name="">
            <a:extLst xmlns:a="http://schemas.openxmlformats.org/drawingml/2006/main">
              <a:ext uri="{FF2B5EF4-FFF2-40B4-BE49-F238E27FC236}">
                <a16:creationId xmlns:a16="http://schemas.microsoft.com/office/drawing/2014/main" id="{3A107B80-3C88-45A4-A9C3-47264735D1AE}"/>
              </a:ext>
            </a:extLst>
          </p:cNvPr>
          <p:cNvSpPr>
            <a:spLocks xmlns:a="http://schemas.openxmlformats.org/drawingml/2006/main" noGrp="1"/>
          </p:cNvSpPr>
          <p:nvPr/>
        </p:nvSpPr>
        <p:spPr>
          <a:xfrm xmlns:a="http://schemas.openxmlformats.org/drawingml/2006/main">
            <a:off x="4972050" y="2152650"/>
            <a:ext cx="28003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FastAPI on OpenShift</a:t>
            </a:r>
          </a:p>
        </p:txBody>
      </p:sp>
      <p:sp>
        <p:nvSpPr>
          <p:cNvPr id="22" name="">
            <a:extLst xmlns:a="http://schemas.openxmlformats.org/drawingml/2006/main">
              <a:ext uri="{FF2B5EF4-FFF2-40B4-BE49-F238E27FC236}">
                <a16:creationId xmlns:a16="http://schemas.microsoft.com/office/drawing/2014/main" id="{43C15233-E04F-4577-8D58-494CC2565B96}"/>
              </a:ext>
            </a:extLst>
          </p:cNvPr>
          <p:cNvSpPr>
            <a:spLocks xmlns:a="http://schemas.openxmlformats.org/drawingml/2006/main" noGrp="1"/>
          </p:cNvSpPr>
          <p:nvPr/>
        </p:nvSpPr>
        <p:spPr>
          <a:xfrm xmlns:a="http://schemas.openxmlformats.org/drawingml/2006/main">
            <a:off x="4610100" y="2714625"/>
            <a:ext cx="228600" cy="228600"/>
          </a:xfrm>
          <a:prstGeom xmlns:a="http://schemas.openxmlformats.org/drawingml/2006/main" prst="ellipse">
            <a:avLst/>
          </a:prstGeom>
          <a:solidFill xmlns:a="http://schemas.openxmlformats.org/drawingml/2006/main">
            <a:srgbClr val="E5F0F7"/>
          </a:solidFill>
          <a:ln xmlns:a="http://schemas.openxmlformats.org/drawingml/2006/main" w="0">
            <a:solidFill>
              <a:srgbClr val="E5F0F7"/>
            </a:solidFill>
            <a:prstDash val="solid"/>
          </a:ln>
        </p:spPr>
      </p:sp>
      <p:sp>
        <p:nvSpPr>
          <p:cNvPr id="23" name="">
            <a:extLst xmlns:a="http://schemas.openxmlformats.org/drawingml/2006/main">
              <a:ext uri="{FF2B5EF4-FFF2-40B4-BE49-F238E27FC236}">
                <a16:creationId xmlns:a16="http://schemas.microsoft.com/office/drawing/2014/main" id="{A9918CED-F2BD-4101-8DF6-16547F422167}"/>
              </a:ext>
            </a:extLst>
          </p:cNvPr>
          <p:cNvSpPr>
            <a:spLocks xmlns:a="http://schemas.openxmlformats.org/drawingml/2006/main" noGrp="1"/>
          </p:cNvSpPr>
          <p:nvPr/>
        </p:nvSpPr>
        <p:spPr>
          <a:xfrm xmlns:a="http://schemas.openxmlformats.org/drawingml/2006/main">
            <a:off x="4610100" y="2724150"/>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6F9F"/>
                </a:solidFill>
              </a:defRPr>
            </a:pPr>
            <a:r>
              <a:rPr sz="1275" b="1">
                <a:solidFill>
                  <a:srgbClr val="2B6F9F"/>
                </a:solidFill>
              </a:rPr>
              <a:t>•</a:t>
            </a:r>
          </a:p>
        </p:txBody>
      </p:sp>
      <p:sp>
        <p:nvSpPr>
          <p:cNvPr id="24" name="">
            <a:extLst xmlns:a="http://schemas.openxmlformats.org/drawingml/2006/main">
              <a:ext uri="{FF2B5EF4-FFF2-40B4-BE49-F238E27FC236}">
                <a16:creationId xmlns:a16="http://schemas.microsoft.com/office/drawing/2014/main" id="{FAABAB8A-19ED-4F73-8290-E8EB818AA437}"/>
              </a:ext>
            </a:extLst>
          </p:cNvPr>
          <p:cNvSpPr>
            <a:spLocks xmlns:a="http://schemas.openxmlformats.org/drawingml/2006/main" noGrp="1"/>
          </p:cNvSpPr>
          <p:nvPr/>
        </p:nvSpPr>
        <p:spPr>
          <a:xfrm xmlns:a="http://schemas.openxmlformats.org/drawingml/2006/main">
            <a:off x="4972050" y="2695575"/>
            <a:ext cx="28003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SSO/OIDC and read-only service identity</a:t>
            </a:r>
          </a:p>
        </p:txBody>
      </p:sp>
      <p:sp>
        <p:nvSpPr>
          <p:cNvPr id="25" name="">
            <a:extLst xmlns:a="http://schemas.openxmlformats.org/drawingml/2006/main">
              <a:ext uri="{FF2B5EF4-FFF2-40B4-BE49-F238E27FC236}">
                <a16:creationId xmlns:a16="http://schemas.microsoft.com/office/drawing/2014/main" id="{2E00A3A0-99E8-410A-A05C-A43C6EFDDD33}"/>
              </a:ext>
            </a:extLst>
          </p:cNvPr>
          <p:cNvSpPr>
            <a:spLocks xmlns:a="http://schemas.openxmlformats.org/drawingml/2006/main" noGrp="1"/>
          </p:cNvSpPr>
          <p:nvPr/>
        </p:nvSpPr>
        <p:spPr>
          <a:xfrm xmlns:a="http://schemas.openxmlformats.org/drawingml/2006/main">
            <a:off x="4610100" y="3257550"/>
            <a:ext cx="228600" cy="228600"/>
          </a:xfrm>
          <a:prstGeom xmlns:a="http://schemas.openxmlformats.org/drawingml/2006/main" prst="ellipse">
            <a:avLst/>
          </a:prstGeom>
          <a:solidFill xmlns:a="http://schemas.openxmlformats.org/drawingml/2006/main">
            <a:srgbClr val="E5F0F7"/>
          </a:solidFill>
          <a:ln xmlns:a="http://schemas.openxmlformats.org/drawingml/2006/main" w="0">
            <a:solidFill>
              <a:srgbClr val="E5F0F7"/>
            </a:solidFill>
            <a:prstDash val="solid"/>
          </a:ln>
        </p:spPr>
      </p:sp>
      <p:sp>
        <p:nvSpPr>
          <p:cNvPr id="26" name="">
            <a:extLst xmlns:a="http://schemas.openxmlformats.org/drawingml/2006/main">
              <a:ext uri="{FF2B5EF4-FFF2-40B4-BE49-F238E27FC236}">
                <a16:creationId xmlns:a16="http://schemas.microsoft.com/office/drawing/2014/main" id="{6D372E35-9D6E-4361-AACD-4ABFA8A71FA7}"/>
              </a:ext>
            </a:extLst>
          </p:cNvPr>
          <p:cNvSpPr>
            <a:spLocks xmlns:a="http://schemas.openxmlformats.org/drawingml/2006/main" noGrp="1"/>
          </p:cNvSpPr>
          <p:nvPr/>
        </p:nvSpPr>
        <p:spPr>
          <a:xfrm xmlns:a="http://schemas.openxmlformats.org/drawingml/2006/main">
            <a:off x="4610100" y="32670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6F9F"/>
                </a:solidFill>
              </a:defRPr>
            </a:pPr>
            <a:r>
              <a:rPr sz="1275" b="1">
                <a:solidFill>
                  <a:srgbClr val="2B6F9F"/>
                </a:solidFill>
              </a:rPr>
              <a:t>•</a:t>
            </a:r>
          </a:p>
        </p:txBody>
      </p:sp>
      <p:sp>
        <p:nvSpPr>
          <p:cNvPr id="27" name="">
            <a:extLst xmlns:a="http://schemas.openxmlformats.org/drawingml/2006/main">
              <a:ext uri="{FF2B5EF4-FFF2-40B4-BE49-F238E27FC236}">
                <a16:creationId xmlns:a16="http://schemas.microsoft.com/office/drawing/2014/main" id="{68EDD529-EB73-4916-BBB3-B1620EFE2602}"/>
              </a:ext>
            </a:extLst>
          </p:cNvPr>
          <p:cNvSpPr>
            <a:spLocks xmlns:a="http://schemas.openxmlformats.org/drawingml/2006/main" noGrp="1"/>
          </p:cNvSpPr>
          <p:nvPr/>
        </p:nvSpPr>
        <p:spPr>
          <a:xfrm xmlns:a="http://schemas.openxmlformats.org/drawingml/2006/main">
            <a:off x="4972050" y="3238500"/>
            <a:ext cx="28003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Allowlisted, parameterized SQL</a:t>
            </a:r>
          </a:p>
        </p:txBody>
      </p:sp>
      <p:sp>
        <p:nvSpPr>
          <p:cNvPr id="28" name="">
            <a:extLst xmlns:a="http://schemas.openxmlformats.org/drawingml/2006/main">
              <a:ext uri="{FF2B5EF4-FFF2-40B4-BE49-F238E27FC236}">
                <a16:creationId xmlns:a16="http://schemas.microsoft.com/office/drawing/2014/main" id="{73E75F8B-8E29-4170-A5DE-5511A32603D0}"/>
              </a:ext>
            </a:extLst>
          </p:cNvPr>
          <p:cNvSpPr>
            <a:spLocks xmlns:a="http://schemas.openxmlformats.org/drawingml/2006/main" noGrp="1"/>
          </p:cNvSpPr>
          <p:nvPr/>
        </p:nvSpPr>
        <p:spPr>
          <a:xfrm xmlns:a="http://schemas.openxmlformats.org/drawingml/2006/main">
            <a:off x="4610100" y="3800475"/>
            <a:ext cx="228600" cy="228600"/>
          </a:xfrm>
          <a:prstGeom xmlns:a="http://schemas.openxmlformats.org/drawingml/2006/main" prst="ellipse">
            <a:avLst/>
          </a:prstGeom>
          <a:solidFill xmlns:a="http://schemas.openxmlformats.org/drawingml/2006/main">
            <a:srgbClr val="E5F0F7"/>
          </a:solidFill>
          <a:ln xmlns:a="http://schemas.openxmlformats.org/drawingml/2006/main" w="0">
            <a:solidFill>
              <a:srgbClr val="E5F0F7"/>
            </a:solidFill>
            <a:prstDash val="solid"/>
          </a:ln>
        </p:spPr>
      </p:sp>
      <p:sp>
        <p:nvSpPr>
          <p:cNvPr id="29" name="">
            <a:extLst xmlns:a="http://schemas.openxmlformats.org/drawingml/2006/main">
              <a:ext uri="{FF2B5EF4-FFF2-40B4-BE49-F238E27FC236}">
                <a16:creationId xmlns:a16="http://schemas.microsoft.com/office/drawing/2014/main" id="{4B09475E-BFEB-4143-9B77-43A4DED36E0B}"/>
              </a:ext>
            </a:extLst>
          </p:cNvPr>
          <p:cNvSpPr>
            <a:spLocks xmlns:a="http://schemas.openxmlformats.org/drawingml/2006/main" noGrp="1"/>
          </p:cNvSpPr>
          <p:nvPr/>
        </p:nvSpPr>
        <p:spPr>
          <a:xfrm xmlns:a="http://schemas.openxmlformats.org/drawingml/2006/main">
            <a:off x="4610100" y="3810000"/>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6F9F"/>
                </a:solidFill>
              </a:defRPr>
            </a:pPr>
            <a:r>
              <a:rPr sz="1275" b="1">
                <a:solidFill>
                  <a:srgbClr val="2B6F9F"/>
                </a:solidFill>
              </a:rPr>
              <a:t>•</a:t>
            </a:r>
          </a:p>
        </p:txBody>
      </p:sp>
      <p:sp>
        <p:nvSpPr>
          <p:cNvPr id="30" name="">
            <a:extLst xmlns:a="http://schemas.openxmlformats.org/drawingml/2006/main">
              <a:ext uri="{FF2B5EF4-FFF2-40B4-BE49-F238E27FC236}">
                <a16:creationId xmlns:a16="http://schemas.microsoft.com/office/drawing/2014/main" id="{621AEAAF-FDE9-4A54-B0A2-CC31AD32F712}"/>
              </a:ext>
            </a:extLst>
          </p:cNvPr>
          <p:cNvSpPr>
            <a:spLocks xmlns:a="http://schemas.openxmlformats.org/drawingml/2006/main" noGrp="1"/>
          </p:cNvSpPr>
          <p:nvPr/>
        </p:nvSpPr>
        <p:spPr>
          <a:xfrm xmlns:a="http://schemas.openxmlformats.org/drawingml/2006/main">
            <a:off x="4972050" y="3781425"/>
            <a:ext cx="28003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Router, rules, RAG, evidence composer</a:t>
            </a:r>
          </a:p>
        </p:txBody>
      </p:sp>
      <p:sp>
        <p:nvSpPr>
          <p:cNvPr id="31" name="">
            <a:extLst xmlns:a="http://schemas.openxmlformats.org/drawingml/2006/main">
              <a:ext uri="{FF2B5EF4-FFF2-40B4-BE49-F238E27FC236}">
                <a16:creationId xmlns:a16="http://schemas.microsoft.com/office/drawing/2014/main" id="{3617C531-2912-4D56-BCA9-FD42A30F016C}"/>
              </a:ext>
            </a:extLst>
          </p:cNvPr>
          <p:cNvSpPr>
            <a:spLocks xmlns:a="http://schemas.openxmlformats.org/drawingml/2006/main" noGrp="1"/>
          </p:cNvSpPr>
          <p:nvPr/>
        </p:nvSpPr>
        <p:spPr>
          <a:xfrm xmlns:a="http://schemas.openxmlformats.org/drawingml/2006/main">
            <a:off x="4610100" y="4448175"/>
            <a:ext cx="2895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002850"/>
                </a:solidFill>
              </a:defRPr>
            </a:pPr>
            <a:r>
              <a:rPr sz="1800" b="1">
                <a:solidFill>
                  <a:srgbClr val="002850"/>
                </a:solidFill>
              </a:rPr>
              <a:t>Scheduled preparation</a:t>
            </a:r>
          </a:p>
        </p:txBody>
      </p:sp>
      <p:sp>
        <p:nvSpPr>
          <p:cNvPr id="32" name="">
            <a:extLst xmlns:a="http://schemas.openxmlformats.org/drawingml/2006/main">
              <a:ext uri="{FF2B5EF4-FFF2-40B4-BE49-F238E27FC236}">
                <a16:creationId xmlns:a16="http://schemas.microsoft.com/office/drawing/2014/main" id="{C590AFD5-62C7-437B-B3DD-627F6F08A2B2}"/>
              </a:ext>
            </a:extLst>
          </p:cNvPr>
          <p:cNvSpPr>
            <a:spLocks xmlns:a="http://schemas.openxmlformats.org/drawingml/2006/main" noGrp="1"/>
          </p:cNvSpPr>
          <p:nvPr/>
        </p:nvSpPr>
        <p:spPr>
          <a:xfrm xmlns:a="http://schemas.openxmlformats.org/drawingml/2006/main">
            <a:off x="4610100" y="4895850"/>
            <a:ext cx="31623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16575"/>
                </a:solidFill>
              </a:defRPr>
            </a:pPr>
            <a:r>
              <a:rPr sz="1275" b="0">
                <a:solidFill>
                  <a:srgbClr val="516575"/>
                </a:solidFill>
              </a:rPr>
              <a:t>Airflow refreshes semantic views, evidence tables, specifications, embeddings, and QA status. It does not serve interactive questions.</a:t>
            </a:r>
          </a:p>
        </p:txBody>
      </p:sp>
      <p:sp>
        <p:nvSpPr>
          <p:cNvPr id="33" name="">
            <a:extLst xmlns:a="http://schemas.openxmlformats.org/drawingml/2006/main">
              <a:ext uri="{FF2B5EF4-FFF2-40B4-BE49-F238E27FC236}">
                <a16:creationId xmlns:a16="http://schemas.microsoft.com/office/drawing/2014/main" id="{9EF3EDD8-93E5-4245-8DE5-561FA6711A10}"/>
              </a:ext>
            </a:extLst>
          </p:cNvPr>
          <p:cNvSpPr>
            <a:spLocks xmlns:a="http://schemas.openxmlformats.org/drawingml/2006/main" noGrp="1"/>
          </p:cNvSpPr>
          <p:nvPr/>
        </p:nvSpPr>
        <p:spPr>
          <a:xfrm xmlns:a="http://schemas.openxmlformats.org/drawingml/2006/main">
            <a:off x="8229600" y="1619250"/>
            <a:ext cx="3352800" cy="3905250"/>
          </a:xfrm>
          <a:prstGeom xmlns:a="http://schemas.openxmlformats.org/drawingml/2006/main" prst="roundRect">
            <a:avLst>
              <a:gd name="adj" fmla="val 3409"/>
            </a:avLst>
          </a:prstGeom>
          <a:solidFill xmlns:a="http://schemas.openxmlformats.org/drawingml/2006/main">
            <a:srgbClr val="FFFFFF"/>
          </a:solidFill>
          <a:ln xmlns:a="http://schemas.openxmlformats.org/drawingml/2006/main" w="9525">
            <a:solidFill>
              <a:srgbClr val="D5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4" name="">
            <a:extLst xmlns:a="http://schemas.openxmlformats.org/drawingml/2006/main">
              <a:ext uri="{FF2B5EF4-FFF2-40B4-BE49-F238E27FC236}">
                <a16:creationId xmlns:a16="http://schemas.microsoft.com/office/drawing/2014/main" id="{90D599E2-8842-49F4-98EB-EBE43E02437A}"/>
              </a:ext>
            </a:extLst>
          </p:cNvPr>
          <p:cNvSpPr>
            <a:spLocks xmlns:a="http://schemas.openxmlformats.org/drawingml/2006/main" noGrp="1"/>
          </p:cNvSpPr>
          <p:nvPr/>
        </p:nvSpPr>
        <p:spPr>
          <a:xfrm xmlns:a="http://schemas.openxmlformats.org/drawingml/2006/main">
            <a:off x="8477250" y="185737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1D9A8A"/>
                </a:solidFill>
              </a:defRPr>
            </a:pPr>
            <a:r>
              <a:rPr sz="975" b="1">
                <a:solidFill>
                  <a:srgbClr val="1D9A8A"/>
                </a:solidFill>
              </a:rPr>
              <a:t>MODEL BOUNDARY</a:t>
            </a:r>
          </a:p>
        </p:txBody>
      </p:sp>
      <p:sp>
        <p:nvSpPr>
          <p:cNvPr id="35" name="">
            <a:extLst xmlns:a="http://schemas.openxmlformats.org/drawingml/2006/main">
              <a:ext uri="{FF2B5EF4-FFF2-40B4-BE49-F238E27FC236}">
                <a16:creationId xmlns:a16="http://schemas.microsoft.com/office/drawing/2014/main" id="{8550C445-7A9F-4A37-941A-DA3CE2EB2056}"/>
              </a:ext>
            </a:extLst>
          </p:cNvPr>
          <p:cNvSpPr>
            <a:spLocks xmlns:a="http://schemas.openxmlformats.org/drawingml/2006/main" noGrp="1"/>
          </p:cNvSpPr>
          <p:nvPr/>
        </p:nvSpPr>
        <p:spPr>
          <a:xfrm xmlns:a="http://schemas.openxmlformats.org/drawingml/2006/main">
            <a:off x="8477250" y="2257425"/>
            <a:ext cx="2781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002850"/>
                </a:solidFill>
              </a:defRPr>
            </a:pPr>
            <a:r>
              <a:rPr sz="2100" b="1">
                <a:solidFill>
                  <a:srgbClr val="002850"/>
                </a:solidFill>
              </a:rPr>
              <a:t>Small evidence bundles only</a:t>
            </a:r>
          </a:p>
        </p:txBody>
      </p:sp>
      <p:sp>
        <p:nvSpPr>
          <p:cNvPr id="36" name="">
            <a:extLst xmlns:a="http://schemas.openxmlformats.org/drawingml/2006/main">
              <a:ext uri="{FF2B5EF4-FFF2-40B4-BE49-F238E27FC236}">
                <a16:creationId xmlns:a16="http://schemas.microsoft.com/office/drawing/2014/main" id="{B8B05362-A650-409B-8FEC-368FDB4240BB}"/>
              </a:ext>
            </a:extLst>
          </p:cNvPr>
          <p:cNvSpPr>
            <a:spLocks xmlns:a="http://schemas.openxmlformats.org/drawingml/2006/main" noGrp="1"/>
          </p:cNvSpPr>
          <p:nvPr/>
        </p:nvSpPr>
        <p:spPr>
          <a:xfrm xmlns:a="http://schemas.openxmlformats.org/drawingml/2006/main">
            <a:off x="8477250" y="3171825"/>
            <a:ext cx="228600" cy="228600"/>
          </a:xfrm>
          <a:prstGeom xmlns:a="http://schemas.openxmlformats.org/drawingml/2006/main" prst="ellipse">
            <a:avLst/>
          </a:prstGeom>
          <a:solidFill xmlns:a="http://schemas.openxmlformats.org/drawingml/2006/main">
            <a:srgbClr val="E7F4F1"/>
          </a:solidFill>
          <a:ln xmlns:a="http://schemas.openxmlformats.org/drawingml/2006/main" w="0">
            <a:solidFill>
              <a:srgbClr val="E7F4F1"/>
            </a:solidFill>
            <a:prstDash val="solid"/>
          </a:ln>
        </p:spPr>
      </p:sp>
      <p:sp>
        <p:nvSpPr>
          <p:cNvPr id="37" name="">
            <a:extLst xmlns:a="http://schemas.openxmlformats.org/drawingml/2006/main">
              <a:ext uri="{FF2B5EF4-FFF2-40B4-BE49-F238E27FC236}">
                <a16:creationId xmlns:a16="http://schemas.microsoft.com/office/drawing/2014/main" id="{AACC9E7A-069D-4124-AE06-E8BF8297513B}"/>
              </a:ext>
            </a:extLst>
          </p:cNvPr>
          <p:cNvSpPr>
            <a:spLocks xmlns:a="http://schemas.openxmlformats.org/drawingml/2006/main" noGrp="1"/>
          </p:cNvSpPr>
          <p:nvPr/>
        </p:nvSpPr>
        <p:spPr>
          <a:xfrm xmlns:a="http://schemas.openxmlformats.org/drawingml/2006/main">
            <a:off x="8477250" y="3181350"/>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D9A8A"/>
                </a:solidFill>
              </a:defRPr>
            </a:pPr>
            <a:r>
              <a:rPr sz="1275" b="1">
                <a:solidFill>
                  <a:srgbClr val="1D9A8A"/>
                </a:solidFill>
              </a:rPr>
              <a:t>•</a:t>
            </a:r>
          </a:p>
        </p:txBody>
      </p:sp>
      <p:sp>
        <p:nvSpPr>
          <p:cNvPr id="38" name="">
            <a:extLst xmlns:a="http://schemas.openxmlformats.org/drawingml/2006/main">
              <a:ext uri="{FF2B5EF4-FFF2-40B4-BE49-F238E27FC236}">
                <a16:creationId xmlns:a16="http://schemas.microsoft.com/office/drawing/2014/main" id="{3CEDFAA7-E62F-4266-A97E-6E8655D56667}"/>
              </a:ext>
            </a:extLst>
          </p:cNvPr>
          <p:cNvSpPr>
            <a:spLocks xmlns:a="http://schemas.openxmlformats.org/drawingml/2006/main" noGrp="1"/>
          </p:cNvSpPr>
          <p:nvPr/>
        </p:nvSpPr>
        <p:spPr>
          <a:xfrm xmlns:a="http://schemas.openxmlformats.org/drawingml/2006/main">
            <a:off x="8839200" y="3152775"/>
            <a:ext cx="2419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A3A"/>
                </a:solidFill>
              </a:defRPr>
            </a:pPr>
            <a:r>
              <a:rPr sz="1200" b="0">
                <a:solidFill>
                  <a:srgbClr val="172A3A"/>
                </a:solidFill>
              </a:rPr>
              <a:t>No unrestricted LLM-to-database connection</a:t>
            </a:r>
          </a:p>
        </p:txBody>
      </p:sp>
      <p:sp>
        <p:nvSpPr>
          <p:cNvPr id="39" name="">
            <a:extLst xmlns:a="http://schemas.openxmlformats.org/drawingml/2006/main">
              <a:ext uri="{FF2B5EF4-FFF2-40B4-BE49-F238E27FC236}">
                <a16:creationId xmlns:a16="http://schemas.microsoft.com/office/drawing/2014/main" id="{5DA594A4-5796-4A22-9DBB-5E65B178369F}"/>
              </a:ext>
            </a:extLst>
          </p:cNvPr>
          <p:cNvSpPr>
            <a:spLocks xmlns:a="http://schemas.openxmlformats.org/drawingml/2006/main" noGrp="1"/>
          </p:cNvSpPr>
          <p:nvPr/>
        </p:nvSpPr>
        <p:spPr>
          <a:xfrm xmlns:a="http://schemas.openxmlformats.org/drawingml/2006/main">
            <a:off x="8477250" y="3686175"/>
            <a:ext cx="228600" cy="228600"/>
          </a:xfrm>
          <a:prstGeom xmlns:a="http://schemas.openxmlformats.org/drawingml/2006/main" prst="ellipse">
            <a:avLst/>
          </a:prstGeom>
          <a:solidFill xmlns:a="http://schemas.openxmlformats.org/drawingml/2006/main">
            <a:srgbClr val="E7F4F1"/>
          </a:solidFill>
          <a:ln xmlns:a="http://schemas.openxmlformats.org/drawingml/2006/main" w="0">
            <a:solidFill>
              <a:srgbClr val="E7F4F1"/>
            </a:solidFill>
            <a:prstDash val="solid"/>
          </a:ln>
        </p:spPr>
      </p:sp>
      <p:sp>
        <p:nvSpPr>
          <p:cNvPr id="40" name="">
            <a:extLst xmlns:a="http://schemas.openxmlformats.org/drawingml/2006/main">
              <a:ext uri="{FF2B5EF4-FFF2-40B4-BE49-F238E27FC236}">
                <a16:creationId xmlns:a16="http://schemas.microsoft.com/office/drawing/2014/main" id="{F822BEE0-660D-4A45-BF77-3E5A400B1A0A}"/>
              </a:ext>
            </a:extLst>
          </p:cNvPr>
          <p:cNvSpPr>
            <a:spLocks xmlns:a="http://schemas.openxmlformats.org/drawingml/2006/main" noGrp="1"/>
          </p:cNvSpPr>
          <p:nvPr/>
        </p:nvSpPr>
        <p:spPr>
          <a:xfrm xmlns:a="http://schemas.openxmlformats.org/drawingml/2006/main">
            <a:off x="8477250" y="3695700"/>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D9A8A"/>
                </a:solidFill>
              </a:defRPr>
            </a:pPr>
            <a:r>
              <a:rPr sz="1275" b="1">
                <a:solidFill>
                  <a:srgbClr val="1D9A8A"/>
                </a:solidFill>
              </a:rPr>
              <a:t>•</a:t>
            </a:r>
          </a:p>
        </p:txBody>
      </p:sp>
      <p:sp>
        <p:nvSpPr>
          <p:cNvPr id="41" name="">
            <a:extLst xmlns:a="http://schemas.openxmlformats.org/drawingml/2006/main">
              <a:ext uri="{FF2B5EF4-FFF2-40B4-BE49-F238E27FC236}">
                <a16:creationId xmlns:a16="http://schemas.microsoft.com/office/drawing/2014/main" id="{74806DE7-4813-4C6F-86E0-69991832702F}"/>
              </a:ext>
            </a:extLst>
          </p:cNvPr>
          <p:cNvSpPr>
            <a:spLocks xmlns:a="http://schemas.openxmlformats.org/drawingml/2006/main" noGrp="1"/>
          </p:cNvSpPr>
          <p:nvPr/>
        </p:nvSpPr>
        <p:spPr>
          <a:xfrm xmlns:a="http://schemas.openxmlformats.org/drawingml/2006/main">
            <a:off x="8839200" y="3667125"/>
            <a:ext cx="2419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A3A"/>
                </a:solidFill>
              </a:defRPr>
            </a:pPr>
            <a:r>
              <a:rPr sz="1200" b="0">
                <a:solidFill>
                  <a:srgbClr val="172A3A"/>
                </a:solidFill>
              </a:rPr>
              <a:t>No embedding of every production claim line</a:t>
            </a:r>
          </a:p>
        </p:txBody>
      </p:sp>
      <p:sp>
        <p:nvSpPr>
          <p:cNvPr id="42" name="">
            <a:extLst xmlns:a="http://schemas.openxmlformats.org/drawingml/2006/main">
              <a:ext uri="{FF2B5EF4-FFF2-40B4-BE49-F238E27FC236}">
                <a16:creationId xmlns:a16="http://schemas.microsoft.com/office/drawing/2014/main" id="{C7BBBA6D-B912-47B3-BE65-BAB1B194532A}"/>
              </a:ext>
            </a:extLst>
          </p:cNvPr>
          <p:cNvSpPr>
            <a:spLocks xmlns:a="http://schemas.openxmlformats.org/drawingml/2006/main" noGrp="1"/>
          </p:cNvSpPr>
          <p:nvPr/>
        </p:nvSpPr>
        <p:spPr>
          <a:xfrm xmlns:a="http://schemas.openxmlformats.org/drawingml/2006/main">
            <a:off x="8477250" y="4200525"/>
            <a:ext cx="228600" cy="228600"/>
          </a:xfrm>
          <a:prstGeom xmlns:a="http://schemas.openxmlformats.org/drawingml/2006/main" prst="ellipse">
            <a:avLst/>
          </a:prstGeom>
          <a:solidFill xmlns:a="http://schemas.openxmlformats.org/drawingml/2006/main">
            <a:srgbClr val="E7F4F1"/>
          </a:solidFill>
          <a:ln xmlns:a="http://schemas.openxmlformats.org/drawingml/2006/main" w="0">
            <a:solidFill>
              <a:srgbClr val="E7F4F1"/>
            </a:solidFill>
            <a:prstDash val="solid"/>
          </a:ln>
        </p:spPr>
      </p:sp>
      <p:sp>
        <p:nvSpPr>
          <p:cNvPr id="43" name="">
            <a:extLst xmlns:a="http://schemas.openxmlformats.org/drawingml/2006/main">
              <a:ext uri="{FF2B5EF4-FFF2-40B4-BE49-F238E27FC236}">
                <a16:creationId xmlns:a16="http://schemas.microsoft.com/office/drawing/2014/main" id="{F201B2E4-78D7-40A1-828A-35B60F28741A}"/>
              </a:ext>
            </a:extLst>
          </p:cNvPr>
          <p:cNvSpPr>
            <a:spLocks xmlns:a="http://schemas.openxmlformats.org/drawingml/2006/main" noGrp="1"/>
          </p:cNvSpPr>
          <p:nvPr/>
        </p:nvSpPr>
        <p:spPr>
          <a:xfrm xmlns:a="http://schemas.openxmlformats.org/drawingml/2006/main">
            <a:off x="8477250" y="4210050"/>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D9A8A"/>
                </a:solidFill>
              </a:defRPr>
            </a:pPr>
            <a:r>
              <a:rPr sz="1275" b="1">
                <a:solidFill>
                  <a:srgbClr val="1D9A8A"/>
                </a:solidFill>
              </a:rPr>
              <a:t>•</a:t>
            </a:r>
          </a:p>
        </p:txBody>
      </p:sp>
      <p:sp>
        <p:nvSpPr>
          <p:cNvPr id="44" name="">
            <a:extLst xmlns:a="http://schemas.openxmlformats.org/drawingml/2006/main">
              <a:ext uri="{FF2B5EF4-FFF2-40B4-BE49-F238E27FC236}">
                <a16:creationId xmlns:a16="http://schemas.microsoft.com/office/drawing/2014/main" id="{095BE2CC-E3A9-4395-ADE9-255875495D9E}"/>
              </a:ext>
            </a:extLst>
          </p:cNvPr>
          <p:cNvSpPr>
            <a:spLocks xmlns:a="http://schemas.openxmlformats.org/drawingml/2006/main" noGrp="1"/>
          </p:cNvSpPr>
          <p:nvPr/>
        </p:nvSpPr>
        <p:spPr>
          <a:xfrm xmlns:a="http://schemas.openxmlformats.org/drawingml/2006/main">
            <a:off x="8839200" y="4181475"/>
            <a:ext cx="2419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A3A"/>
                </a:solidFill>
              </a:defRPr>
            </a:pPr>
            <a:r>
              <a:rPr sz="1200" b="0">
                <a:solidFill>
                  <a:srgbClr val="172A3A"/>
                </a:solidFill>
              </a:rPr>
              <a:t>No raw PHI in general-purpose logs</a:t>
            </a:r>
          </a:p>
        </p:txBody>
      </p:sp>
      <p:sp>
        <p:nvSpPr>
          <p:cNvPr id="45" name="">
            <a:extLst xmlns:a="http://schemas.openxmlformats.org/drawingml/2006/main">
              <a:ext uri="{FF2B5EF4-FFF2-40B4-BE49-F238E27FC236}">
                <a16:creationId xmlns:a16="http://schemas.microsoft.com/office/drawing/2014/main" id="{8ABAB468-2D7D-4753-915E-776C5D73AC88}"/>
              </a:ext>
            </a:extLst>
          </p:cNvPr>
          <p:cNvSpPr>
            <a:spLocks xmlns:a="http://schemas.openxmlformats.org/drawingml/2006/main" noGrp="1"/>
          </p:cNvSpPr>
          <p:nvPr/>
        </p:nvSpPr>
        <p:spPr>
          <a:xfrm xmlns:a="http://schemas.openxmlformats.org/drawingml/2006/main">
            <a:off x="8477250" y="4714875"/>
            <a:ext cx="228600" cy="228600"/>
          </a:xfrm>
          <a:prstGeom xmlns:a="http://schemas.openxmlformats.org/drawingml/2006/main" prst="ellipse">
            <a:avLst/>
          </a:prstGeom>
          <a:solidFill xmlns:a="http://schemas.openxmlformats.org/drawingml/2006/main">
            <a:srgbClr val="E7F4F1"/>
          </a:solidFill>
          <a:ln xmlns:a="http://schemas.openxmlformats.org/drawingml/2006/main" w="0">
            <a:solidFill>
              <a:srgbClr val="E7F4F1"/>
            </a:solidFill>
            <a:prstDash val="solid"/>
          </a:ln>
        </p:spPr>
      </p:sp>
      <p:sp>
        <p:nvSpPr>
          <p:cNvPr id="46" name="">
            <a:extLst xmlns:a="http://schemas.openxmlformats.org/drawingml/2006/main">
              <a:ext uri="{FF2B5EF4-FFF2-40B4-BE49-F238E27FC236}">
                <a16:creationId xmlns:a16="http://schemas.microsoft.com/office/drawing/2014/main" id="{CC2C36E1-C129-492F-AC7A-26CD4162EB7B}"/>
              </a:ext>
            </a:extLst>
          </p:cNvPr>
          <p:cNvSpPr>
            <a:spLocks xmlns:a="http://schemas.openxmlformats.org/drawingml/2006/main" noGrp="1"/>
          </p:cNvSpPr>
          <p:nvPr/>
        </p:nvSpPr>
        <p:spPr>
          <a:xfrm xmlns:a="http://schemas.openxmlformats.org/drawingml/2006/main">
            <a:off x="8477250" y="4724400"/>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D9A8A"/>
                </a:solidFill>
              </a:defRPr>
            </a:pPr>
            <a:r>
              <a:rPr sz="1275" b="1">
                <a:solidFill>
                  <a:srgbClr val="1D9A8A"/>
                </a:solidFill>
              </a:rPr>
              <a:t>•</a:t>
            </a:r>
          </a:p>
        </p:txBody>
      </p:sp>
      <p:sp>
        <p:nvSpPr>
          <p:cNvPr id="47" name="">
            <a:extLst xmlns:a="http://schemas.openxmlformats.org/drawingml/2006/main">
              <a:ext uri="{FF2B5EF4-FFF2-40B4-BE49-F238E27FC236}">
                <a16:creationId xmlns:a16="http://schemas.microsoft.com/office/drawing/2014/main" id="{6222FB49-D80E-4545-A2EC-1A58205BE096}"/>
              </a:ext>
            </a:extLst>
          </p:cNvPr>
          <p:cNvSpPr>
            <a:spLocks xmlns:a="http://schemas.openxmlformats.org/drawingml/2006/main" noGrp="1"/>
          </p:cNvSpPr>
          <p:nvPr/>
        </p:nvSpPr>
        <p:spPr>
          <a:xfrm xmlns:a="http://schemas.openxmlformats.org/drawingml/2006/main">
            <a:off x="8839200" y="4695825"/>
            <a:ext cx="2419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0">
                <a:solidFill>
                  <a:srgbClr val="172A3A"/>
                </a:solidFill>
              </a:defRPr>
            </a:pPr>
            <a:r>
              <a:rPr sz="1200" b="0">
                <a:solidFill>
                  <a:srgbClr val="172A3A"/>
                </a:solidFill>
              </a:rPr>
              <a:t>Every answer records sources and rule version</a:t>
            </a:r>
          </a:p>
        </p:txBody>
      </p:sp>
      <p:sp>
        <p:nvSpPr>
          <p:cNvPr id="48" name="">
            <a:extLst xmlns:a="http://schemas.openxmlformats.org/drawingml/2006/main">
              <a:ext uri="{FF2B5EF4-FFF2-40B4-BE49-F238E27FC236}">
                <a16:creationId xmlns:a16="http://schemas.microsoft.com/office/drawing/2014/main" id="{8BEA6AB9-3198-417E-AA91-728A9063BA37}"/>
              </a:ext>
            </a:extLst>
          </p:cNvPr>
          <p:cNvSpPr>
            <a:spLocks xmlns:a="http://schemas.openxmlformats.org/drawingml/2006/main" noGrp="1"/>
          </p:cNvSpPr>
          <p:nvPr/>
        </p:nvSpPr>
        <p:spPr>
          <a:xfrm xmlns:a="http://schemas.openxmlformats.org/drawingml/2006/main">
            <a:off x="609600" y="6486525"/>
            <a:ext cx="523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788B98"/>
                </a:solidFill>
              </a:defRPr>
            </a:pPr>
            <a:r>
              <a:rPr sz="750" b="0">
                <a:solidFill>
                  <a:srgbClr val="788B98"/>
                </a:solidFill>
              </a:rPr>
              <a:t>CareAllies Data Lake LLM</a:t>
            </a:r>
          </a:p>
        </p:txBody>
      </p:sp>
      <p:sp>
        <p:nvSpPr>
          <p:cNvPr id="49" name="">
            <a:extLst xmlns:a="http://schemas.openxmlformats.org/drawingml/2006/main">
              <a:ext uri="{FF2B5EF4-FFF2-40B4-BE49-F238E27FC236}">
                <a16:creationId xmlns:a16="http://schemas.microsoft.com/office/drawing/2014/main" id="{9279FD0E-86E0-458A-A35A-98F001D989A2}"/>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Tree>
    <p:extLst>
      <p:ext uri="{BB962C8B-B14F-4D97-AF65-F5344CB8AC3E}">
        <p14:creationId xmlns:p14="http://schemas.microsoft.com/office/powerpoint/2010/main" val="256980460"/>
      </p:ext>
    </p:extLst>
  </p:cSld>
</p:sld>
</file>

<file path=ppt/slides/slide9.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56" name="">
            <a:extLst xmlns:a="http://schemas.openxmlformats.org/drawingml/2006/main">
              <a:ext uri="{FF2B5EF4-FFF2-40B4-BE49-F238E27FC236}">
                <a16:creationId xmlns:a16="http://schemas.microsoft.com/office/drawing/2014/main" id="{BA2B9ED9-3B09-4E01-8586-ABBAFDB1A709}"/>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D9A8A"/>
                </a:solidFill>
              </a:defRPr>
            </a:pPr>
            <a:r>
              <a:rPr sz="900" b="1">
                <a:solidFill>
                  <a:srgbClr val="1D9A8A"/>
                </a:solidFill>
              </a:rPr>
              <a:t>OPERATIONS AND CONTROLS</a:t>
            </a:r>
          </a:p>
        </p:txBody>
      </p:sp>
      <p:sp>
        <p:nvSpPr>
          <p:cNvPr id="2" name="">
            <a:extLst xmlns:a="http://schemas.openxmlformats.org/drawingml/2006/main">
              <a:ext uri="{FF2B5EF4-FFF2-40B4-BE49-F238E27FC236}">
                <a16:creationId xmlns:a16="http://schemas.microsoft.com/office/drawing/2014/main" id="{E6DF686A-D16A-483B-8454-C02E7A7F16F7}"/>
              </a:ext>
            </a:extLst>
          </p:cNvPr>
          <p:cNvSpPr>
            <a:spLocks xmlns:a="http://schemas.openxmlformats.org/drawingml/2006/main" noGrp="1"/>
          </p:cNvSpPr>
          <p:nvPr/>
        </p:nvSpPr>
        <p:spPr>
          <a:xfrm xmlns:a="http://schemas.openxmlformats.org/drawingml/2006/main">
            <a:off x="609600" y="6477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2850"/>
                </a:solidFill>
              </a:defRPr>
            </a:pPr>
            <a:r>
              <a:rPr sz="2700" b="1">
                <a:solidFill>
                  <a:srgbClr val="002850"/>
                </a:solidFill>
              </a:rPr>
              <a:t>Scale comes from narrowing the evidence, not enlarging the prompt</a:t>
            </a:r>
          </a:p>
        </p:txBody>
      </p:sp>
      <p:sp>
        <p:nvSpPr>
          <p:cNvPr id="3" name="">
            <a:extLst xmlns:a="http://schemas.openxmlformats.org/drawingml/2006/main">
              <a:ext uri="{FF2B5EF4-FFF2-40B4-BE49-F238E27FC236}">
                <a16:creationId xmlns:a16="http://schemas.microsoft.com/office/drawing/2014/main" id="{9383CB67-EEF4-4F9C-A8C0-A9F5EA208BA4}"/>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4" name="">
            <a:extLst xmlns:a="http://schemas.openxmlformats.org/drawingml/2006/main">
              <a:ext uri="{FF2B5EF4-FFF2-40B4-BE49-F238E27FC236}">
                <a16:creationId xmlns:a16="http://schemas.microsoft.com/office/drawing/2014/main" id="{A4851758-1C1B-4365-BA38-91B96716A49E}"/>
              </a:ext>
            </a:extLst>
          </p:cNvPr>
          <p:cNvSpPr>
            <a:spLocks xmlns:a="http://schemas.openxmlformats.org/drawingml/2006/main" noGrp="1"/>
          </p:cNvSpPr>
          <p:nvPr/>
        </p:nvSpPr>
        <p:spPr>
          <a:xfrm xmlns:a="http://schemas.openxmlformats.org/drawingml/2006/main">
            <a:off x="11087100" y="3619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788B98"/>
                </a:solidFill>
              </a:defRPr>
            </a:pPr>
            <a:r>
              <a:rPr sz="900" b="1">
                <a:solidFill>
                  <a:srgbClr val="788B98"/>
                </a:solidFill>
              </a:rPr>
              <a:t>09</a:t>
            </a:r>
          </a:p>
        </p:txBody>
      </p:sp>
      <p:sp>
        <p:nvSpPr>
          <p:cNvPr id="5" name="">
            <a:extLst xmlns:a="http://schemas.openxmlformats.org/drawingml/2006/main">
              <a:ext uri="{FF2B5EF4-FFF2-40B4-BE49-F238E27FC236}">
                <a16:creationId xmlns:a16="http://schemas.microsoft.com/office/drawing/2014/main" id="{24B219BA-5F33-44EC-A37F-620CA5AE518C}"/>
              </a:ext>
            </a:extLst>
          </p:cNvPr>
          <p:cNvSpPr>
            <a:spLocks xmlns:a="http://schemas.openxmlformats.org/drawingml/2006/main" noGrp="1"/>
          </p:cNvSpPr>
          <p:nvPr/>
        </p:nvSpPr>
        <p:spPr>
          <a:xfrm xmlns:a="http://schemas.openxmlformats.org/drawingml/2006/main">
            <a:off x="609600" y="1695450"/>
            <a:ext cx="3143250" cy="3638550"/>
          </a:xfrm>
          <a:prstGeom xmlns:a="http://schemas.openxmlformats.org/drawingml/2006/main" prst="roundRect">
            <a:avLst>
              <a:gd name="adj" fmla="val 3636"/>
            </a:avLst>
          </a:prstGeom>
          <a:solidFill xmlns:a="http://schemas.openxmlformats.org/drawingml/2006/main">
            <a:srgbClr val="E5F0F7"/>
          </a:solidFill>
          <a:ln xmlns:a="http://schemas.openxmlformats.org/drawingml/2006/main" w="9525">
            <a:solidFill>
              <a:srgbClr val="D5E0E8"/>
            </a:solidFill>
            <a:prstDash val="solid"/>
          </a:ln>
        </p:spPr>
      </p:sp>
      <p:sp>
        <p:nvSpPr>
          <p:cNvPr id="6" name="">
            <a:extLst xmlns:a="http://schemas.openxmlformats.org/drawingml/2006/main">
              <a:ext uri="{FF2B5EF4-FFF2-40B4-BE49-F238E27FC236}">
                <a16:creationId xmlns:a16="http://schemas.microsoft.com/office/drawing/2014/main" id="{2B9FDCEA-FD38-41CB-9FD2-7F0405750B7C}"/>
              </a:ext>
            </a:extLst>
          </p:cNvPr>
          <p:cNvSpPr>
            <a:spLocks xmlns:a="http://schemas.openxmlformats.org/drawingml/2006/main" noGrp="1"/>
          </p:cNvSpPr>
          <p:nvPr/>
        </p:nvSpPr>
        <p:spPr>
          <a:xfrm xmlns:a="http://schemas.openxmlformats.org/drawingml/2006/main">
            <a:off x="819150" y="1924050"/>
            <a:ext cx="361950" cy="361950"/>
          </a:xfrm>
          <a:prstGeom xmlns:a="http://schemas.openxmlformats.org/drawingml/2006/main" prst="ellipse">
            <a:avLst/>
          </a:prstGeom>
          <a:solidFill xmlns:a="http://schemas.openxmlformats.org/drawingml/2006/main">
            <a:srgbClr val="2B6F9F"/>
          </a:solidFill>
          <a:ln xmlns:a="http://schemas.openxmlformats.org/drawingml/2006/main" w="0">
            <a:solidFill>
              <a:srgbClr val="2B6F9F"/>
            </a:solidFill>
            <a:prstDash val="solid"/>
          </a:ln>
        </p:spPr>
      </p:sp>
      <p:sp>
        <p:nvSpPr>
          <p:cNvPr id="7" name="">
            <a:extLst xmlns:a="http://schemas.openxmlformats.org/drawingml/2006/main">
              <a:ext uri="{FF2B5EF4-FFF2-40B4-BE49-F238E27FC236}">
                <a16:creationId xmlns:a16="http://schemas.microsoft.com/office/drawing/2014/main" id="{F2C931D8-0ECE-459B-B8DA-D6670C23E81F}"/>
              </a:ext>
            </a:extLst>
          </p:cNvPr>
          <p:cNvSpPr>
            <a:spLocks xmlns:a="http://schemas.openxmlformats.org/drawingml/2006/main" noGrp="1"/>
          </p:cNvSpPr>
          <p:nvPr/>
        </p:nvSpPr>
        <p:spPr>
          <a:xfrm xmlns:a="http://schemas.openxmlformats.org/drawingml/2006/main">
            <a:off x="819150" y="1933575"/>
            <a:ext cx="36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1</a:t>
            </a:r>
          </a:p>
        </p:txBody>
      </p:sp>
      <p:sp>
        <p:nvSpPr>
          <p:cNvPr id="8" name="">
            <a:extLst xmlns:a="http://schemas.openxmlformats.org/drawingml/2006/main">
              <a:ext uri="{FF2B5EF4-FFF2-40B4-BE49-F238E27FC236}">
                <a16:creationId xmlns:a16="http://schemas.microsoft.com/office/drawing/2014/main" id="{A4229CDC-7306-4575-917D-CDDF1954F2F6}"/>
              </a:ext>
            </a:extLst>
          </p:cNvPr>
          <p:cNvSpPr>
            <a:spLocks xmlns:a="http://schemas.openxmlformats.org/drawingml/2006/main" noGrp="1"/>
          </p:cNvSpPr>
          <p:nvPr/>
        </p:nvSpPr>
        <p:spPr>
          <a:xfrm xmlns:a="http://schemas.openxmlformats.org/drawingml/2006/main">
            <a:off x="1295400" y="19907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02850"/>
                </a:solidFill>
              </a:defRPr>
            </a:pPr>
            <a:r>
              <a:rPr sz="1050" b="1">
                <a:solidFill>
                  <a:srgbClr val="002850"/>
                </a:solidFill>
              </a:rPr>
              <a:t>DATABASE CONTROLS</a:t>
            </a:r>
          </a:p>
        </p:txBody>
      </p:sp>
      <p:sp>
        <p:nvSpPr>
          <p:cNvPr id="9" name="">
            <a:extLst xmlns:a="http://schemas.openxmlformats.org/drawingml/2006/main">
              <a:ext uri="{FF2B5EF4-FFF2-40B4-BE49-F238E27FC236}">
                <a16:creationId xmlns:a16="http://schemas.microsoft.com/office/drawing/2014/main" id="{FFDC13BC-A818-4F65-AB87-F82C807E44D0}"/>
              </a:ext>
            </a:extLst>
          </p:cNvPr>
          <p:cNvSpPr>
            <a:spLocks xmlns:a="http://schemas.openxmlformats.org/drawingml/2006/main" noGrp="1"/>
          </p:cNvSpPr>
          <p:nvPr/>
        </p:nvSpPr>
        <p:spPr>
          <a:xfrm xmlns:a="http://schemas.openxmlformats.org/drawingml/2006/main">
            <a:off x="838200" y="2590800"/>
            <a:ext cx="228600" cy="2286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10" name="">
            <a:extLst xmlns:a="http://schemas.openxmlformats.org/drawingml/2006/main">
              <a:ext uri="{FF2B5EF4-FFF2-40B4-BE49-F238E27FC236}">
                <a16:creationId xmlns:a16="http://schemas.microsoft.com/office/drawing/2014/main" id="{8D4CE88C-ACBC-4CB6-BFE3-3331C9343935}"/>
              </a:ext>
            </a:extLst>
          </p:cNvPr>
          <p:cNvSpPr>
            <a:spLocks xmlns:a="http://schemas.openxmlformats.org/drawingml/2006/main" noGrp="1"/>
          </p:cNvSpPr>
          <p:nvPr/>
        </p:nvSpPr>
        <p:spPr>
          <a:xfrm xmlns:a="http://schemas.openxmlformats.org/drawingml/2006/main">
            <a:off x="838200" y="260032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6F9F"/>
                </a:solidFill>
              </a:defRPr>
            </a:pPr>
            <a:r>
              <a:rPr sz="1275" b="1">
                <a:solidFill>
                  <a:srgbClr val="2B6F9F"/>
                </a:solidFill>
              </a:rPr>
              <a:t>•</a:t>
            </a:r>
          </a:p>
        </p:txBody>
      </p:sp>
      <p:sp>
        <p:nvSpPr>
          <p:cNvPr id="11" name="">
            <a:extLst xmlns:a="http://schemas.openxmlformats.org/drawingml/2006/main">
              <a:ext uri="{FF2B5EF4-FFF2-40B4-BE49-F238E27FC236}">
                <a16:creationId xmlns:a16="http://schemas.microsoft.com/office/drawing/2014/main" id="{B52026AB-FE9B-4092-8585-F4CBA40B0ED6}"/>
              </a:ext>
            </a:extLst>
          </p:cNvPr>
          <p:cNvSpPr>
            <a:spLocks xmlns:a="http://schemas.openxmlformats.org/drawingml/2006/main" noGrp="1"/>
          </p:cNvSpPr>
          <p:nvPr/>
        </p:nvSpPr>
        <p:spPr>
          <a:xfrm xmlns:a="http://schemas.openxmlformats.org/drawingml/2006/main">
            <a:off x="1200150" y="2571750"/>
            <a:ext cx="23241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Read-only accounts</a:t>
            </a:r>
          </a:p>
        </p:txBody>
      </p:sp>
      <p:sp>
        <p:nvSpPr>
          <p:cNvPr id="12" name="">
            <a:extLst xmlns:a="http://schemas.openxmlformats.org/drawingml/2006/main">
              <a:ext uri="{FF2B5EF4-FFF2-40B4-BE49-F238E27FC236}">
                <a16:creationId xmlns:a16="http://schemas.microsoft.com/office/drawing/2014/main" id="{B27DCBEE-1F90-4B3F-92CC-EA28634CF85F}"/>
              </a:ext>
            </a:extLst>
          </p:cNvPr>
          <p:cNvSpPr>
            <a:spLocks xmlns:a="http://schemas.openxmlformats.org/drawingml/2006/main" noGrp="1"/>
          </p:cNvSpPr>
          <p:nvPr/>
        </p:nvSpPr>
        <p:spPr>
          <a:xfrm xmlns:a="http://schemas.openxmlformats.org/drawingml/2006/main">
            <a:off x="838200" y="3190875"/>
            <a:ext cx="228600" cy="2286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13" name="">
            <a:extLst xmlns:a="http://schemas.openxmlformats.org/drawingml/2006/main">
              <a:ext uri="{FF2B5EF4-FFF2-40B4-BE49-F238E27FC236}">
                <a16:creationId xmlns:a16="http://schemas.microsoft.com/office/drawing/2014/main" id="{D8260B4D-0623-4E63-98B1-0F6C87D089ED}"/>
              </a:ext>
            </a:extLst>
          </p:cNvPr>
          <p:cNvSpPr>
            <a:spLocks xmlns:a="http://schemas.openxmlformats.org/drawingml/2006/main" noGrp="1"/>
          </p:cNvSpPr>
          <p:nvPr/>
        </p:nvSpPr>
        <p:spPr>
          <a:xfrm xmlns:a="http://schemas.openxmlformats.org/drawingml/2006/main">
            <a:off x="838200" y="3200400"/>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6F9F"/>
                </a:solidFill>
              </a:defRPr>
            </a:pPr>
            <a:r>
              <a:rPr sz="1275" b="1">
                <a:solidFill>
                  <a:srgbClr val="2B6F9F"/>
                </a:solidFill>
              </a:rPr>
              <a:t>•</a:t>
            </a:r>
          </a:p>
        </p:txBody>
      </p:sp>
      <p:sp>
        <p:nvSpPr>
          <p:cNvPr id="14" name="">
            <a:extLst xmlns:a="http://schemas.openxmlformats.org/drawingml/2006/main">
              <a:ext uri="{FF2B5EF4-FFF2-40B4-BE49-F238E27FC236}">
                <a16:creationId xmlns:a16="http://schemas.microsoft.com/office/drawing/2014/main" id="{776DFDD1-ADAB-4D36-B60C-0C9E56522A8B}"/>
              </a:ext>
            </a:extLst>
          </p:cNvPr>
          <p:cNvSpPr>
            <a:spLocks xmlns:a="http://schemas.openxmlformats.org/drawingml/2006/main" noGrp="1"/>
          </p:cNvSpPr>
          <p:nvPr/>
        </p:nvSpPr>
        <p:spPr>
          <a:xfrm xmlns:a="http://schemas.openxmlformats.org/drawingml/2006/main">
            <a:off x="1200150" y="3171825"/>
            <a:ext cx="23241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Row and role-level security</a:t>
            </a:r>
          </a:p>
        </p:txBody>
      </p:sp>
      <p:sp>
        <p:nvSpPr>
          <p:cNvPr id="15" name="">
            <a:extLst xmlns:a="http://schemas.openxmlformats.org/drawingml/2006/main">
              <a:ext uri="{FF2B5EF4-FFF2-40B4-BE49-F238E27FC236}">
                <a16:creationId xmlns:a16="http://schemas.microsoft.com/office/drawing/2014/main" id="{BC316883-693F-4C09-9CE4-796AD4BE0A11}"/>
              </a:ext>
            </a:extLst>
          </p:cNvPr>
          <p:cNvSpPr>
            <a:spLocks xmlns:a="http://schemas.openxmlformats.org/drawingml/2006/main" noGrp="1"/>
          </p:cNvSpPr>
          <p:nvPr/>
        </p:nvSpPr>
        <p:spPr>
          <a:xfrm xmlns:a="http://schemas.openxmlformats.org/drawingml/2006/main">
            <a:off x="838200" y="3790950"/>
            <a:ext cx="228600" cy="2286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16" name="">
            <a:extLst xmlns:a="http://schemas.openxmlformats.org/drawingml/2006/main">
              <a:ext uri="{FF2B5EF4-FFF2-40B4-BE49-F238E27FC236}">
                <a16:creationId xmlns:a16="http://schemas.microsoft.com/office/drawing/2014/main" id="{41C0301A-D6F8-4E4D-846C-44B6489371D3}"/>
              </a:ext>
            </a:extLst>
          </p:cNvPr>
          <p:cNvSpPr>
            <a:spLocks xmlns:a="http://schemas.openxmlformats.org/drawingml/2006/main" noGrp="1"/>
          </p:cNvSpPr>
          <p:nvPr/>
        </p:nvSpPr>
        <p:spPr>
          <a:xfrm xmlns:a="http://schemas.openxmlformats.org/drawingml/2006/main">
            <a:off x="838200" y="38004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6F9F"/>
                </a:solidFill>
              </a:defRPr>
            </a:pPr>
            <a:r>
              <a:rPr sz="1275" b="1">
                <a:solidFill>
                  <a:srgbClr val="2B6F9F"/>
                </a:solidFill>
              </a:rPr>
              <a:t>•</a:t>
            </a:r>
          </a:p>
        </p:txBody>
      </p:sp>
      <p:sp>
        <p:nvSpPr>
          <p:cNvPr id="17" name="">
            <a:extLst xmlns:a="http://schemas.openxmlformats.org/drawingml/2006/main">
              <a:ext uri="{FF2B5EF4-FFF2-40B4-BE49-F238E27FC236}">
                <a16:creationId xmlns:a16="http://schemas.microsoft.com/office/drawing/2014/main" id="{E87449B2-C26F-4FC4-A150-62653D23C2DC}"/>
              </a:ext>
            </a:extLst>
          </p:cNvPr>
          <p:cNvSpPr>
            <a:spLocks xmlns:a="http://schemas.openxmlformats.org/drawingml/2006/main" noGrp="1"/>
          </p:cNvSpPr>
          <p:nvPr/>
        </p:nvSpPr>
        <p:spPr>
          <a:xfrm xmlns:a="http://schemas.openxmlformats.org/drawingml/2006/main">
            <a:off x="1200150" y="3771900"/>
            <a:ext cx="23241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Query timeouts + row limits</a:t>
            </a:r>
          </a:p>
        </p:txBody>
      </p:sp>
      <p:sp>
        <p:nvSpPr>
          <p:cNvPr id="18" name="">
            <a:extLst xmlns:a="http://schemas.openxmlformats.org/drawingml/2006/main">
              <a:ext uri="{FF2B5EF4-FFF2-40B4-BE49-F238E27FC236}">
                <a16:creationId xmlns:a16="http://schemas.microsoft.com/office/drawing/2014/main" id="{EDFCE782-7ED9-4BB1-8C30-8F4CF6EF492C}"/>
              </a:ext>
            </a:extLst>
          </p:cNvPr>
          <p:cNvSpPr>
            <a:spLocks xmlns:a="http://schemas.openxmlformats.org/drawingml/2006/main" noGrp="1"/>
          </p:cNvSpPr>
          <p:nvPr/>
        </p:nvSpPr>
        <p:spPr>
          <a:xfrm xmlns:a="http://schemas.openxmlformats.org/drawingml/2006/main">
            <a:off x="838200" y="4391025"/>
            <a:ext cx="228600" cy="2286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19" name="">
            <a:extLst xmlns:a="http://schemas.openxmlformats.org/drawingml/2006/main">
              <a:ext uri="{FF2B5EF4-FFF2-40B4-BE49-F238E27FC236}">
                <a16:creationId xmlns:a16="http://schemas.microsoft.com/office/drawing/2014/main" id="{B290A6B0-8235-4361-A991-2869221DEE80}"/>
              </a:ext>
            </a:extLst>
          </p:cNvPr>
          <p:cNvSpPr>
            <a:spLocks xmlns:a="http://schemas.openxmlformats.org/drawingml/2006/main" noGrp="1"/>
          </p:cNvSpPr>
          <p:nvPr/>
        </p:nvSpPr>
        <p:spPr>
          <a:xfrm xmlns:a="http://schemas.openxmlformats.org/drawingml/2006/main">
            <a:off x="838200" y="4400550"/>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2B6F9F"/>
                </a:solidFill>
              </a:defRPr>
            </a:pPr>
            <a:r>
              <a:rPr sz="1275" b="1">
                <a:solidFill>
                  <a:srgbClr val="2B6F9F"/>
                </a:solidFill>
              </a:rPr>
              <a:t>•</a:t>
            </a:r>
          </a:p>
        </p:txBody>
      </p:sp>
      <p:sp>
        <p:nvSpPr>
          <p:cNvPr id="20" name="">
            <a:extLst xmlns:a="http://schemas.openxmlformats.org/drawingml/2006/main">
              <a:ext uri="{FF2B5EF4-FFF2-40B4-BE49-F238E27FC236}">
                <a16:creationId xmlns:a16="http://schemas.microsoft.com/office/drawing/2014/main" id="{CE85E8A4-2062-4908-B8DC-7D68D14FE152}"/>
              </a:ext>
            </a:extLst>
          </p:cNvPr>
          <p:cNvSpPr>
            <a:spLocks xmlns:a="http://schemas.openxmlformats.org/drawingml/2006/main" noGrp="1"/>
          </p:cNvSpPr>
          <p:nvPr/>
        </p:nvSpPr>
        <p:spPr>
          <a:xfrm xmlns:a="http://schemas.openxmlformats.org/drawingml/2006/main">
            <a:off x="1200150" y="4371975"/>
            <a:ext cx="23241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Workload classification</a:t>
            </a:r>
          </a:p>
        </p:txBody>
      </p:sp>
      <p:sp>
        <p:nvSpPr>
          <p:cNvPr id="21" name="">
            <a:extLst xmlns:a="http://schemas.openxmlformats.org/drawingml/2006/main">
              <a:ext uri="{FF2B5EF4-FFF2-40B4-BE49-F238E27FC236}">
                <a16:creationId xmlns:a16="http://schemas.microsoft.com/office/drawing/2014/main" id="{C4C139CC-07EF-477B-9F14-88E17FE6C265}"/>
              </a:ext>
            </a:extLst>
          </p:cNvPr>
          <p:cNvSpPr>
            <a:spLocks xmlns:a="http://schemas.openxmlformats.org/drawingml/2006/main" noGrp="1"/>
          </p:cNvSpPr>
          <p:nvPr/>
        </p:nvSpPr>
        <p:spPr>
          <a:xfrm xmlns:a="http://schemas.openxmlformats.org/drawingml/2006/main">
            <a:off x="4362450" y="1695450"/>
            <a:ext cx="3143250" cy="3638550"/>
          </a:xfrm>
          <a:prstGeom xmlns:a="http://schemas.openxmlformats.org/drawingml/2006/main" prst="roundRect">
            <a:avLst>
              <a:gd name="adj" fmla="val 3636"/>
            </a:avLst>
          </a:prstGeom>
          <a:solidFill xmlns:a="http://schemas.openxmlformats.org/drawingml/2006/main">
            <a:srgbClr val="E7F4F1"/>
          </a:solidFill>
          <a:ln xmlns:a="http://schemas.openxmlformats.org/drawingml/2006/main" w="9525">
            <a:solidFill>
              <a:srgbClr val="D5E0E8"/>
            </a:solidFill>
            <a:prstDash val="solid"/>
          </a:ln>
        </p:spPr>
      </p:sp>
      <p:sp>
        <p:nvSpPr>
          <p:cNvPr id="22" name="">
            <a:extLst xmlns:a="http://schemas.openxmlformats.org/drawingml/2006/main">
              <a:ext uri="{FF2B5EF4-FFF2-40B4-BE49-F238E27FC236}">
                <a16:creationId xmlns:a16="http://schemas.microsoft.com/office/drawing/2014/main" id="{A550A2B0-3F58-429B-92DA-A2D630FFE74A}"/>
              </a:ext>
            </a:extLst>
          </p:cNvPr>
          <p:cNvSpPr>
            <a:spLocks xmlns:a="http://schemas.openxmlformats.org/drawingml/2006/main" noGrp="1"/>
          </p:cNvSpPr>
          <p:nvPr/>
        </p:nvSpPr>
        <p:spPr>
          <a:xfrm xmlns:a="http://schemas.openxmlformats.org/drawingml/2006/main">
            <a:off x="4572000" y="1924050"/>
            <a:ext cx="361950" cy="361950"/>
          </a:xfrm>
          <a:prstGeom xmlns:a="http://schemas.openxmlformats.org/drawingml/2006/main" prst="ellipse">
            <a:avLst/>
          </a:prstGeom>
          <a:solidFill xmlns:a="http://schemas.openxmlformats.org/drawingml/2006/main">
            <a:srgbClr val="1D9A8A"/>
          </a:solidFill>
          <a:ln xmlns:a="http://schemas.openxmlformats.org/drawingml/2006/main" w="0">
            <a:solidFill>
              <a:srgbClr val="1D9A8A"/>
            </a:solidFill>
            <a:prstDash val="solid"/>
          </a:ln>
        </p:spPr>
      </p:sp>
      <p:sp>
        <p:nvSpPr>
          <p:cNvPr id="23" name="">
            <a:extLst xmlns:a="http://schemas.openxmlformats.org/drawingml/2006/main">
              <a:ext uri="{FF2B5EF4-FFF2-40B4-BE49-F238E27FC236}">
                <a16:creationId xmlns:a16="http://schemas.microsoft.com/office/drawing/2014/main" id="{93F1E789-B7F8-4BAD-B073-4E2B07DB1E61}"/>
              </a:ext>
            </a:extLst>
          </p:cNvPr>
          <p:cNvSpPr>
            <a:spLocks xmlns:a="http://schemas.openxmlformats.org/drawingml/2006/main" noGrp="1"/>
          </p:cNvSpPr>
          <p:nvPr/>
        </p:nvSpPr>
        <p:spPr>
          <a:xfrm xmlns:a="http://schemas.openxmlformats.org/drawingml/2006/main">
            <a:off x="4572000" y="1933575"/>
            <a:ext cx="36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2</a:t>
            </a:r>
          </a:p>
        </p:txBody>
      </p:sp>
      <p:sp>
        <p:nvSpPr>
          <p:cNvPr id="24" name="">
            <a:extLst xmlns:a="http://schemas.openxmlformats.org/drawingml/2006/main">
              <a:ext uri="{FF2B5EF4-FFF2-40B4-BE49-F238E27FC236}">
                <a16:creationId xmlns:a16="http://schemas.microsoft.com/office/drawing/2014/main" id="{3C8663E6-C623-4615-BC2F-9390F0D62076}"/>
              </a:ext>
            </a:extLst>
          </p:cNvPr>
          <p:cNvSpPr>
            <a:spLocks xmlns:a="http://schemas.openxmlformats.org/drawingml/2006/main" noGrp="1"/>
          </p:cNvSpPr>
          <p:nvPr/>
        </p:nvSpPr>
        <p:spPr>
          <a:xfrm xmlns:a="http://schemas.openxmlformats.org/drawingml/2006/main">
            <a:off x="5048250" y="19907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02850"/>
                </a:solidFill>
              </a:defRPr>
            </a:pPr>
            <a:r>
              <a:rPr sz="1050" b="1">
                <a:solidFill>
                  <a:srgbClr val="002850"/>
                </a:solidFill>
              </a:rPr>
              <a:t>AI CONTROLS</a:t>
            </a:r>
          </a:p>
        </p:txBody>
      </p:sp>
      <p:sp>
        <p:nvSpPr>
          <p:cNvPr id="25" name="">
            <a:extLst xmlns:a="http://schemas.openxmlformats.org/drawingml/2006/main">
              <a:ext uri="{FF2B5EF4-FFF2-40B4-BE49-F238E27FC236}">
                <a16:creationId xmlns:a16="http://schemas.microsoft.com/office/drawing/2014/main" id="{5FA2811F-133F-4EAD-BFCD-19962121D04F}"/>
              </a:ext>
            </a:extLst>
          </p:cNvPr>
          <p:cNvSpPr>
            <a:spLocks xmlns:a="http://schemas.openxmlformats.org/drawingml/2006/main" noGrp="1"/>
          </p:cNvSpPr>
          <p:nvPr/>
        </p:nvSpPr>
        <p:spPr>
          <a:xfrm xmlns:a="http://schemas.openxmlformats.org/drawingml/2006/main">
            <a:off x="4591050" y="2590800"/>
            <a:ext cx="228600" cy="2286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26" name="">
            <a:extLst xmlns:a="http://schemas.openxmlformats.org/drawingml/2006/main">
              <a:ext uri="{FF2B5EF4-FFF2-40B4-BE49-F238E27FC236}">
                <a16:creationId xmlns:a16="http://schemas.microsoft.com/office/drawing/2014/main" id="{4B40A2DA-C412-432A-AE8B-21F97A1E3E32}"/>
              </a:ext>
            </a:extLst>
          </p:cNvPr>
          <p:cNvSpPr>
            <a:spLocks xmlns:a="http://schemas.openxmlformats.org/drawingml/2006/main" noGrp="1"/>
          </p:cNvSpPr>
          <p:nvPr/>
        </p:nvSpPr>
        <p:spPr>
          <a:xfrm xmlns:a="http://schemas.openxmlformats.org/drawingml/2006/main">
            <a:off x="4591050" y="260032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D9A8A"/>
                </a:solidFill>
              </a:defRPr>
            </a:pPr>
            <a:r>
              <a:rPr sz="1275" b="1">
                <a:solidFill>
                  <a:srgbClr val="1D9A8A"/>
                </a:solidFill>
              </a:rPr>
              <a:t>•</a:t>
            </a:r>
          </a:p>
        </p:txBody>
      </p:sp>
      <p:sp>
        <p:nvSpPr>
          <p:cNvPr id="27" name="">
            <a:extLst xmlns:a="http://schemas.openxmlformats.org/drawingml/2006/main">
              <a:ext uri="{FF2B5EF4-FFF2-40B4-BE49-F238E27FC236}">
                <a16:creationId xmlns:a16="http://schemas.microsoft.com/office/drawing/2014/main" id="{9C58CA80-1CA8-41FC-9CFC-63AA495E75B5}"/>
              </a:ext>
            </a:extLst>
          </p:cNvPr>
          <p:cNvSpPr>
            <a:spLocks xmlns:a="http://schemas.openxmlformats.org/drawingml/2006/main" noGrp="1"/>
          </p:cNvSpPr>
          <p:nvPr/>
        </p:nvSpPr>
        <p:spPr>
          <a:xfrm xmlns:a="http://schemas.openxmlformats.org/drawingml/2006/main">
            <a:off x="4953000" y="2571750"/>
            <a:ext cx="23241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PHI-approved endpoints</a:t>
            </a:r>
          </a:p>
        </p:txBody>
      </p:sp>
      <p:sp>
        <p:nvSpPr>
          <p:cNvPr id="28" name="">
            <a:extLst xmlns:a="http://schemas.openxmlformats.org/drawingml/2006/main">
              <a:ext uri="{FF2B5EF4-FFF2-40B4-BE49-F238E27FC236}">
                <a16:creationId xmlns:a16="http://schemas.microsoft.com/office/drawing/2014/main" id="{11CF00DE-ED7B-4C40-975E-5582B5C012BB}"/>
              </a:ext>
            </a:extLst>
          </p:cNvPr>
          <p:cNvSpPr>
            <a:spLocks xmlns:a="http://schemas.openxmlformats.org/drawingml/2006/main" noGrp="1"/>
          </p:cNvSpPr>
          <p:nvPr/>
        </p:nvSpPr>
        <p:spPr>
          <a:xfrm xmlns:a="http://schemas.openxmlformats.org/drawingml/2006/main">
            <a:off x="4591050" y="3190875"/>
            <a:ext cx="228600" cy="2286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29" name="">
            <a:extLst xmlns:a="http://schemas.openxmlformats.org/drawingml/2006/main">
              <a:ext uri="{FF2B5EF4-FFF2-40B4-BE49-F238E27FC236}">
                <a16:creationId xmlns:a16="http://schemas.microsoft.com/office/drawing/2014/main" id="{2390D7F7-667F-48E4-BF8B-87D97BAF5A0B}"/>
              </a:ext>
            </a:extLst>
          </p:cNvPr>
          <p:cNvSpPr>
            <a:spLocks xmlns:a="http://schemas.openxmlformats.org/drawingml/2006/main" noGrp="1"/>
          </p:cNvSpPr>
          <p:nvPr/>
        </p:nvSpPr>
        <p:spPr>
          <a:xfrm xmlns:a="http://schemas.openxmlformats.org/drawingml/2006/main">
            <a:off x="4591050" y="3200400"/>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D9A8A"/>
                </a:solidFill>
              </a:defRPr>
            </a:pPr>
            <a:r>
              <a:rPr sz="1275" b="1">
                <a:solidFill>
                  <a:srgbClr val="1D9A8A"/>
                </a:solidFill>
              </a:rPr>
              <a:t>•</a:t>
            </a:r>
          </a:p>
        </p:txBody>
      </p:sp>
      <p:sp>
        <p:nvSpPr>
          <p:cNvPr id="30" name="">
            <a:extLst xmlns:a="http://schemas.openxmlformats.org/drawingml/2006/main">
              <a:ext uri="{FF2B5EF4-FFF2-40B4-BE49-F238E27FC236}">
                <a16:creationId xmlns:a16="http://schemas.microsoft.com/office/drawing/2014/main" id="{5AE4DF6E-110B-4E5B-A2E5-71F86C2F318D}"/>
              </a:ext>
            </a:extLst>
          </p:cNvPr>
          <p:cNvSpPr>
            <a:spLocks xmlns:a="http://schemas.openxmlformats.org/drawingml/2006/main" noGrp="1"/>
          </p:cNvSpPr>
          <p:nvPr/>
        </p:nvSpPr>
        <p:spPr>
          <a:xfrm xmlns:a="http://schemas.openxmlformats.org/drawingml/2006/main">
            <a:off x="4953000" y="3171825"/>
            <a:ext cx="23241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Prompt and response policy</a:t>
            </a:r>
          </a:p>
        </p:txBody>
      </p:sp>
      <p:sp>
        <p:nvSpPr>
          <p:cNvPr id="31" name="">
            <a:extLst xmlns:a="http://schemas.openxmlformats.org/drawingml/2006/main">
              <a:ext uri="{FF2B5EF4-FFF2-40B4-BE49-F238E27FC236}">
                <a16:creationId xmlns:a16="http://schemas.microsoft.com/office/drawing/2014/main" id="{6D692E7E-33B5-431D-8E23-9B8B3FB64F01}"/>
              </a:ext>
            </a:extLst>
          </p:cNvPr>
          <p:cNvSpPr>
            <a:spLocks xmlns:a="http://schemas.openxmlformats.org/drawingml/2006/main" noGrp="1"/>
          </p:cNvSpPr>
          <p:nvPr/>
        </p:nvSpPr>
        <p:spPr>
          <a:xfrm xmlns:a="http://schemas.openxmlformats.org/drawingml/2006/main">
            <a:off x="4591050" y="3790950"/>
            <a:ext cx="228600" cy="2286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32" name="">
            <a:extLst xmlns:a="http://schemas.openxmlformats.org/drawingml/2006/main">
              <a:ext uri="{FF2B5EF4-FFF2-40B4-BE49-F238E27FC236}">
                <a16:creationId xmlns:a16="http://schemas.microsoft.com/office/drawing/2014/main" id="{16D0514C-77E2-4637-B1A6-4AF56A5D0D6D}"/>
              </a:ext>
            </a:extLst>
          </p:cNvPr>
          <p:cNvSpPr>
            <a:spLocks xmlns:a="http://schemas.openxmlformats.org/drawingml/2006/main" noGrp="1"/>
          </p:cNvSpPr>
          <p:nvPr/>
        </p:nvSpPr>
        <p:spPr>
          <a:xfrm xmlns:a="http://schemas.openxmlformats.org/drawingml/2006/main">
            <a:off x="4591050" y="38004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D9A8A"/>
                </a:solidFill>
              </a:defRPr>
            </a:pPr>
            <a:r>
              <a:rPr sz="1275" b="1">
                <a:solidFill>
                  <a:srgbClr val="1D9A8A"/>
                </a:solidFill>
              </a:rPr>
              <a:t>•</a:t>
            </a:r>
          </a:p>
        </p:txBody>
      </p:sp>
      <p:sp>
        <p:nvSpPr>
          <p:cNvPr id="33" name="">
            <a:extLst xmlns:a="http://schemas.openxmlformats.org/drawingml/2006/main">
              <a:ext uri="{FF2B5EF4-FFF2-40B4-BE49-F238E27FC236}">
                <a16:creationId xmlns:a16="http://schemas.microsoft.com/office/drawing/2014/main" id="{6FD264EA-5DA3-4C28-890E-6E9844CB2E68}"/>
              </a:ext>
            </a:extLst>
          </p:cNvPr>
          <p:cNvSpPr>
            <a:spLocks xmlns:a="http://schemas.openxmlformats.org/drawingml/2006/main" noGrp="1"/>
          </p:cNvSpPr>
          <p:nvPr/>
        </p:nvSpPr>
        <p:spPr>
          <a:xfrm xmlns:a="http://schemas.openxmlformats.org/drawingml/2006/main">
            <a:off x="4953000" y="3771900"/>
            <a:ext cx="23241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Claim + spec citations</a:t>
            </a:r>
          </a:p>
        </p:txBody>
      </p:sp>
      <p:sp>
        <p:nvSpPr>
          <p:cNvPr id="34" name="">
            <a:extLst xmlns:a="http://schemas.openxmlformats.org/drawingml/2006/main">
              <a:ext uri="{FF2B5EF4-FFF2-40B4-BE49-F238E27FC236}">
                <a16:creationId xmlns:a16="http://schemas.microsoft.com/office/drawing/2014/main" id="{8859601D-78B7-444E-BBC1-B32B8BCEC6A5}"/>
              </a:ext>
            </a:extLst>
          </p:cNvPr>
          <p:cNvSpPr>
            <a:spLocks xmlns:a="http://schemas.openxmlformats.org/drawingml/2006/main" noGrp="1"/>
          </p:cNvSpPr>
          <p:nvPr/>
        </p:nvSpPr>
        <p:spPr>
          <a:xfrm xmlns:a="http://schemas.openxmlformats.org/drawingml/2006/main">
            <a:off x="4591050" y="4391025"/>
            <a:ext cx="228600" cy="2286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35" name="">
            <a:extLst xmlns:a="http://schemas.openxmlformats.org/drawingml/2006/main">
              <a:ext uri="{FF2B5EF4-FFF2-40B4-BE49-F238E27FC236}">
                <a16:creationId xmlns:a16="http://schemas.microsoft.com/office/drawing/2014/main" id="{6C99BD57-1B1E-4E55-A6CC-5A93DB001C1A}"/>
              </a:ext>
            </a:extLst>
          </p:cNvPr>
          <p:cNvSpPr>
            <a:spLocks xmlns:a="http://schemas.openxmlformats.org/drawingml/2006/main" noGrp="1"/>
          </p:cNvSpPr>
          <p:nvPr/>
        </p:nvSpPr>
        <p:spPr>
          <a:xfrm xmlns:a="http://schemas.openxmlformats.org/drawingml/2006/main">
            <a:off x="4591050" y="4400550"/>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1D9A8A"/>
                </a:solidFill>
              </a:defRPr>
            </a:pPr>
            <a:r>
              <a:rPr sz="1275" b="1">
                <a:solidFill>
                  <a:srgbClr val="1D9A8A"/>
                </a:solidFill>
              </a:rPr>
              <a:t>•</a:t>
            </a:r>
          </a:p>
        </p:txBody>
      </p:sp>
      <p:sp>
        <p:nvSpPr>
          <p:cNvPr id="36" name="">
            <a:extLst xmlns:a="http://schemas.openxmlformats.org/drawingml/2006/main">
              <a:ext uri="{FF2B5EF4-FFF2-40B4-BE49-F238E27FC236}">
                <a16:creationId xmlns:a16="http://schemas.microsoft.com/office/drawing/2014/main" id="{A26B4215-6B5F-4A74-A681-CC6D609833B5}"/>
              </a:ext>
            </a:extLst>
          </p:cNvPr>
          <p:cNvSpPr>
            <a:spLocks xmlns:a="http://schemas.openxmlformats.org/drawingml/2006/main" noGrp="1"/>
          </p:cNvSpPr>
          <p:nvPr/>
        </p:nvSpPr>
        <p:spPr>
          <a:xfrm xmlns:a="http://schemas.openxmlformats.org/drawingml/2006/main">
            <a:off x="4953000" y="4371975"/>
            <a:ext cx="23241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Contradiction validation</a:t>
            </a:r>
          </a:p>
        </p:txBody>
      </p:sp>
      <p:sp>
        <p:nvSpPr>
          <p:cNvPr id="37" name="">
            <a:extLst xmlns:a="http://schemas.openxmlformats.org/drawingml/2006/main">
              <a:ext uri="{FF2B5EF4-FFF2-40B4-BE49-F238E27FC236}">
                <a16:creationId xmlns:a16="http://schemas.microsoft.com/office/drawing/2014/main" id="{B8F957F4-99BE-437A-B0BF-51930731C865}"/>
              </a:ext>
            </a:extLst>
          </p:cNvPr>
          <p:cNvSpPr>
            <a:spLocks xmlns:a="http://schemas.openxmlformats.org/drawingml/2006/main" noGrp="1"/>
          </p:cNvSpPr>
          <p:nvPr/>
        </p:nvSpPr>
        <p:spPr>
          <a:xfrm xmlns:a="http://schemas.openxmlformats.org/drawingml/2006/main">
            <a:off x="8115300" y="1695450"/>
            <a:ext cx="3143250" cy="3638550"/>
          </a:xfrm>
          <a:prstGeom xmlns:a="http://schemas.openxmlformats.org/drawingml/2006/main" prst="roundRect">
            <a:avLst>
              <a:gd name="adj" fmla="val 3636"/>
            </a:avLst>
          </a:prstGeom>
          <a:solidFill xmlns:a="http://schemas.openxmlformats.org/drawingml/2006/main">
            <a:srgbClr val="FFF2E6"/>
          </a:solidFill>
          <a:ln xmlns:a="http://schemas.openxmlformats.org/drawingml/2006/main" w="9525">
            <a:solidFill>
              <a:srgbClr val="D5E0E8"/>
            </a:solidFill>
            <a:prstDash val="solid"/>
          </a:ln>
        </p:spPr>
      </p:sp>
      <p:sp>
        <p:nvSpPr>
          <p:cNvPr id="38" name="">
            <a:extLst xmlns:a="http://schemas.openxmlformats.org/drawingml/2006/main">
              <a:ext uri="{FF2B5EF4-FFF2-40B4-BE49-F238E27FC236}">
                <a16:creationId xmlns:a16="http://schemas.microsoft.com/office/drawing/2014/main" id="{C57B2666-45EA-4ED8-8929-F32EBC1CD101}"/>
              </a:ext>
            </a:extLst>
          </p:cNvPr>
          <p:cNvSpPr>
            <a:spLocks xmlns:a="http://schemas.openxmlformats.org/drawingml/2006/main" noGrp="1"/>
          </p:cNvSpPr>
          <p:nvPr/>
        </p:nvSpPr>
        <p:spPr>
          <a:xfrm xmlns:a="http://schemas.openxmlformats.org/drawingml/2006/main">
            <a:off x="8324850" y="1924050"/>
            <a:ext cx="361950" cy="361950"/>
          </a:xfrm>
          <a:prstGeom xmlns:a="http://schemas.openxmlformats.org/drawingml/2006/main" prst="ellipse">
            <a:avLst/>
          </a:prstGeom>
          <a:solidFill xmlns:a="http://schemas.openxmlformats.org/drawingml/2006/main">
            <a:srgbClr val="E58A3A"/>
          </a:solidFill>
          <a:ln xmlns:a="http://schemas.openxmlformats.org/drawingml/2006/main" w="0">
            <a:solidFill>
              <a:srgbClr val="E58A3A"/>
            </a:solidFill>
            <a:prstDash val="solid"/>
          </a:ln>
        </p:spPr>
      </p:sp>
      <p:sp>
        <p:nvSpPr>
          <p:cNvPr id="39" name="">
            <a:extLst xmlns:a="http://schemas.openxmlformats.org/drawingml/2006/main">
              <a:ext uri="{FF2B5EF4-FFF2-40B4-BE49-F238E27FC236}">
                <a16:creationId xmlns:a16="http://schemas.microsoft.com/office/drawing/2014/main" id="{79798A5B-F985-49A4-953E-191A04BECC0D}"/>
              </a:ext>
            </a:extLst>
          </p:cNvPr>
          <p:cNvSpPr>
            <a:spLocks xmlns:a="http://schemas.openxmlformats.org/drawingml/2006/main" noGrp="1"/>
          </p:cNvSpPr>
          <p:nvPr/>
        </p:nvSpPr>
        <p:spPr>
          <a:xfrm xmlns:a="http://schemas.openxmlformats.org/drawingml/2006/main">
            <a:off x="8324850" y="1933575"/>
            <a:ext cx="36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125" b="1">
                <a:solidFill>
                  <a:srgbClr val="FFFFFF"/>
                </a:solidFill>
              </a:defRPr>
            </a:pPr>
            <a:r>
              <a:rPr sz="1125" b="1">
                <a:solidFill>
                  <a:srgbClr val="FFFFFF"/>
                </a:solidFill>
              </a:rPr>
              <a:t>3</a:t>
            </a:r>
          </a:p>
        </p:txBody>
      </p:sp>
      <p:sp>
        <p:nvSpPr>
          <p:cNvPr id="40" name="">
            <a:extLst xmlns:a="http://schemas.openxmlformats.org/drawingml/2006/main">
              <a:ext uri="{FF2B5EF4-FFF2-40B4-BE49-F238E27FC236}">
                <a16:creationId xmlns:a16="http://schemas.microsoft.com/office/drawing/2014/main" id="{8F106236-925E-4E44-98CE-6BDE8664A44C}"/>
              </a:ext>
            </a:extLst>
          </p:cNvPr>
          <p:cNvSpPr>
            <a:spLocks xmlns:a="http://schemas.openxmlformats.org/drawingml/2006/main" noGrp="1"/>
          </p:cNvSpPr>
          <p:nvPr/>
        </p:nvSpPr>
        <p:spPr>
          <a:xfrm xmlns:a="http://schemas.openxmlformats.org/drawingml/2006/main">
            <a:off x="8801100" y="19907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002850"/>
                </a:solidFill>
              </a:defRPr>
            </a:pPr>
            <a:r>
              <a:rPr sz="1050" b="1">
                <a:solidFill>
                  <a:srgbClr val="002850"/>
                </a:solidFill>
              </a:rPr>
              <a:t>OPERATING CONTROLS</a:t>
            </a:r>
          </a:p>
        </p:txBody>
      </p:sp>
      <p:sp>
        <p:nvSpPr>
          <p:cNvPr id="41" name="">
            <a:extLst xmlns:a="http://schemas.openxmlformats.org/drawingml/2006/main">
              <a:ext uri="{FF2B5EF4-FFF2-40B4-BE49-F238E27FC236}">
                <a16:creationId xmlns:a16="http://schemas.microsoft.com/office/drawing/2014/main" id="{AB88DD1A-8F5A-454F-8E45-5F253F7105C9}"/>
              </a:ext>
            </a:extLst>
          </p:cNvPr>
          <p:cNvSpPr>
            <a:spLocks xmlns:a="http://schemas.openxmlformats.org/drawingml/2006/main" noGrp="1"/>
          </p:cNvSpPr>
          <p:nvPr/>
        </p:nvSpPr>
        <p:spPr>
          <a:xfrm xmlns:a="http://schemas.openxmlformats.org/drawingml/2006/main">
            <a:off x="8343900" y="2590800"/>
            <a:ext cx="228600" cy="2286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42" name="">
            <a:extLst xmlns:a="http://schemas.openxmlformats.org/drawingml/2006/main">
              <a:ext uri="{FF2B5EF4-FFF2-40B4-BE49-F238E27FC236}">
                <a16:creationId xmlns:a16="http://schemas.microsoft.com/office/drawing/2014/main" id="{E25B86AC-26BE-42A8-8267-A9E33E4B2B57}"/>
              </a:ext>
            </a:extLst>
          </p:cNvPr>
          <p:cNvSpPr>
            <a:spLocks xmlns:a="http://schemas.openxmlformats.org/drawingml/2006/main" noGrp="1"/>
          </p:cNvSpPr>
          <p:nvPr/>
        </p:nvSpPr>
        <p:spPr>
          <a:xfrm xmlns:a="http://schemas.openxmlformats.org/drawingml/2006/main">
            <a:off x="8343900" y="260032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E58A3A"/>
                </a:solidFill>
              </a:defRPr>
            </a:pPr>
            <a:r>
              <a:rPr sz="1275" b="1">
                <a:solidFill>
                  <a:srgbClr val="E58A3A"/>
                </a:solidFill>
              </a:rPr>
              <a:t>•</a:t>
            </a:r>
          </a:p>
        </p:txBody>
      </p:sp>
      <p:sp>
        <p:nvSpPr>
          <p:cNvPr id="43" name="">
            <a:extLst xmlns:a="http://schemas.openxmlformats.org/drawingml/2006/main">
              <a:ext uri="{FF2B5EF4-FFF2-40B4-BE49-F238E27FC236}">
                <a16:creationId xmlns:a16="http://schemas.microsoft.com/office/drawing/2014/main" id="{2327B250-FC2B-4774-8689-53841F7C54CF}"/>
              </a:ext>
            </a:extLst>
          </p:cNvPr>
          <p:cNvSpPr>
            <a:spLocks xmlns:a="http://schemas.openxmlformats.org/drawingml/2006/main" noGrp="1"/>
          </p:cNvSpPr>
          <p:nvPr/>
        </p:nvSpPr>
        <p:spPr>
          <a:xfrm xmlns:a="http://schemas.openxmlformats.org/drawingml/2006/main">
            <a:off x="8705850" y="2571750"/>
            <a:ext cx="23241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Versioned rules and indexes</a:t>
            </a:r>
          </a:p>
        </p:txBody>
      </p:sp>
      <p:sp>
        <p:nvSpPr>
          <p:cNvPr id="44" name="">
            <a:extLst xmlns:a="http://schemas.openxmlformats.org/drawingml/2006/main">
              <a:ext uri="{FF2B5EF4-FFF2-40B4-BE49-F238E27FC236}">
                <a16:creationId xmlns:a16="http://schemas.microsoft.com/office/drawing/2014/main" id="{953FBC2F-90A0-46D2-AC03-3916C7166731}"/>
              </a:ext>
            </a:extLst>
          </p:cNvPr>
          <p:cNvSpPr>
            <a:spLocks xmlns:a="http://schemas.openxmlformats.org/drawingml/2006/main" noGrp="1"/>
          </p:cNvSpPr>
          <p:nvPr/>
        </p:nvSpPr>
        <p:spPr>
          <a:xfrm xmlns:a="http://schemas.openxmlformats.org/drawingml/2006/main">
            <a:off x="8343900" y="3190875"/>
            <a:ext cx="228600" cy="2286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45" name="">
            <a:extLst xmlns:a="http://schemas.openxmlformats.org/drawingml/2006/main">
              <a:ext uri="{FF2B5EF4-FFF2-40B4-BE49-F238E27FC236}">
                <a16:creationId xmlns:a16="http://schemas.microsoft.com/office/drawing/2014/main" id="{6BFFE153-9EFC-4665-8620-8037F929268E}"/>
              </a:ext>
            </a:extLst>
          </p:cNvPr>
          <p:cNvSpPr>
            <a:spLocks xmlns:a="http://schemas.openxmlformats.org/drawingml/2006/main" noGrp="1"/>
          </p:cNvSpPr>
          <p:nvPr/>
        </p:nvSpPr>
        <p:spPr>
          <a:xfrm xmlns:a="http://schemas.openxmlformats.org/drawingml/2006/main">
            <a:off x="8343900" y="3200400"/>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E58A3A"/>
                </a:solidFill>
              </a:defRPr>
            </a:pPr>
            <a:r>
              <a:rPr sz="1275" b="1">
                <a:solidFill>
                  <a:srgbClr val="E58A3A"/>
                </a:solidFill>
              </a:rPr>
              <a:t>•</a:t>
            </a:r>
          </a:p>
        </p:txBody>
      </p:sp>
      <p:sp>
        <p:nvSpPr>
          <p:cNvPr id="46" name="">
            <a:extLst xmlns:a="http://schemas.openxmlformats.org/drawingml/2006/main">
              <a:ext uri="{FF2B5EF4-FFF2-40B4-BE49-F238E27FC236}">
                <a16:creationId xmlns:a16="http://schemas.microsoft.com/office/drawing/2014/main" id="{FFBBAE17-6B46-41BA-B88E-D08D7E9835DC}"/>
              </a:ext>
            </a:extLst>
          </p:cNvPr>
          <p:cNvSpPr>
            <a:spLocks xmlns:a="http://schemas.openxmlformats.org/drawingml/2006/main" noGrp="1"/>
          </p:cNvSpPr>
          <p:nvPr/>
        </p:nvSpPr>
        <p:spPr>
          <a:xfrm xmlns:a="http://schemas.openxmlformats.org/drawingml/2006/main">
            <a:off x="8705850" y="3171825"/>
            <a:ext cx="23241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Golden regression test set</a:t>
            </a:r>
          </a:p>
        </p:txBody>
      </p:sp>
      <p:sp>
        <p:nvSpPr>
          <p:cNvPr id="47" name="">
            <a:extLst xmlns:a="http://schemas.openxmlformats.org/drawingml/2006/main">
              <a:ext uri="{FF2B5EF4-FFF2-40B4-BE49-F238E27FC236}">
                <a16:creationId xmlns:a16="http://schemas.microsoft.com/office/drawing/2014/main" id="{115499B2-C09B-4A2C-9945-18A8012ECAA3}"/>
              </a:ext>
            </a:extLst>
          </p:cNvPr>
          <p:cNvSpPr>
            <a:spLocks xmlns:a="http://schemas.openxmlformats.org/drawingml/2006/main" noGrp="1"/>
          </p:cNvSpPr>
          <p:nvPr/>
        </p:nvSpPr>
        <p:spPr>
          <a:xfrm xmlns:a="http://schemas.openxmlformats.org/drawingml/2006/main">
            <a:off x="8343900" y="3790950"/>
            <a:ext cx="228600" cy="2286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48" name="">
            <a:extLst xmlns:a="http://schemas.openxmlformats.org/drawingml/2006/main">
              <a:ext uri="{FF2B5EF4-FFF2-40B4-BE49-F238E27FC236}">
                <a16:creationId xmlns:a16="http://schemas.microsoft.com/office/drawing/2014/main" id="{830EDADE-1DB5-4DC8-8EF0-4A8C46A7F32B}"/>
              </a:ext>
            </a:extLst>
          </p:cNvPr>
          <p:cNvSpPr>
            <a:spLocks xmlns:a="http://schemas.openxmlformats.org/drawingml/2006/main" noGrp="1"/>
          </p:cNvSpPr>
          <p:nvPr/>
        </p:nvSpPr>
        <p:spPr>
          <a:xfrm xmlns:a="http://schemas.openxmlformats.org/drawingml/2006/main">
            <a:off x="8343900" y="3800475"/>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E58A3A"/>
                </a:solidFill>
              </a:defRPr>
            </a:pPr>
            <a:r>
              <a:rPr sz="1275" b="1">
                <a:solidFill>
                  <a:srgbClr val="E58A3A"/>
                </a:solidFill>
              </a:rPr>
              <a:t>•</a:t>
            </a:r>
          </a:p>
        </p:txBody>
      </p:sp>
      <p:sp>
        <p:nvSpPr>
          <p:cNvPr id="49" name="">
            <a:extLst xmlns:a="http://schemas.openxmlformats.org/drawingml/2006/main">
              <a:ext uri="{FF2B5EF4-FFF2-40B4-BE49-F238E27FC236}">
                <a16:creationId xmlns:a16="http://schemas.microsoft.com/office/drawing/2014/main" id="{31B18AA9-80DD-4761-B504-7610B2FB14A2}"/>
              </a:ext>
            </a:extLst>
          </p:cNvPr>
          <p:cNvSpPr>
            <a:spLocks xmlns:a="http://schemas.openxmlformats.org/drawingml/2006/main" noGrp="1"/>
          </p:cNvSpPr>
          <p:nvPr/>
        </p:nvSpPr>
        <p:spPr>
          <a:xfrm xmlns:a="http://schemas.openxmlformats.org/drawingml/2006/main">
            <a:off x="8705850" y="3771900"/>
            <a:ext cx="23241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Latency + cost monitoring</a:t>
            </a:r>
          </a:p>
        </p:txBody>
      </p:sp>
      <p:sp>
        <p:nvSpPr>
          <p:cNvPr id="50" name="">
            <a:extLst xmlns:a="http://schemas.openxmlformats.org/drawingml/2006/main">
              <a:ext uri="{FF2B5EF4-FFF2-40B4-BE49-F238E27FC236}">
                <a16:creationId xmlns:a16="http://schemas.microsoft.com/office/drawing/2014/main" id="{8EB9CCF2-7AA9-4BDB-AAE8-520959F89175}"/>
              </a:ext>
            </a:extLst>
          </p:cNvPr>
          <p:cNvSpPr>
            <a:spLocks xmlns:a="http://schemas.openxmlformats.org/drawingml/2006/main" noGrp="1"/>
          </p:cNvSpPr>
          <p:nvPr/>
        </p:nvSpPr>
        <p:spPr>
          <a:xfrm xmlns:a="http://schemas.openxmlformats.org/drawingml/2006/main">
            <a:off x="8343900" y="4391025"/>
            <a:ext cx="228600" cy="228600"/>
          </a:xfrm>
          <a:prstGeom xmlns:a="http://schemas.openxmlformats.org/drawingml/2006/main" prst="ellipse">
            <a:avLst/>
          </a:prstGeom>
          <a:solidFill xmlns:a="http://schemas.openxmlformats.org/drawingml/2006/main">
            <a:srgbClr val="FFFFFF"/>
          </a:solidFill>
          <a:ln xmlns:a="http://schemas.openxmlformats.org/drawingml/2006/main" w="0">
            <a:solidFill>
              <a:srgbClr val="FFFFFF"/>
            </a:solidFill>
            <a:prstDash val="solid"/>
          </a:ln>
        </p:spPr>
      </p:sp>
      <p:sp>
        <p:nvSpPr>
          <p:cNvPr id="51" name="">
            <a:extLst xmlns:a="http://schemas.openxmlformats.org/drawingml/2006/main">
              <a:ext uri="{FF2B5EF4-FFF2-40B4-BE49-F238E27FC236}">
                <a16:creationId xmlns:a16="http://schemas.microsoft.com/office/drawing/2014/main" id="{B984E0ED-2C7A-4135-8250-9DDBC571AF23}"/>
              </a:ext>
            </a:extLst>
          </p:cNvPr>
          <p:cNvSpPr>
            <a:spLocks xmlns:a="http://schemas.openxmlformats.org/drawingml/2006/main" noGrp="1"/>
          </p:cNvSpPr>
          <p:nvPr/>
        </p:nvSpPr>
        <p:spPr>
          <a:xfrm xmlns:a="http://schemas.openxmlformats.org/drawingml/2006/main">
            <a:off x="8343900" y="4400550"/>
            <a:ext cx="228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E58A3A"/>
                </a:solidFill>
              </a:defRPr>
            </a:pPr>
            <a:r>
              <a:rPr sz="1275" b="1">
                <a:solidFill>
                  <a:srgbClr val="E58A3A"/>
                </a:solidFill>
              </a:rPr>
              <a:t>•</a:t>
            </a:r>
          </a:p>
        </p:txBody>
      </p:sp>
      <p:sp>
        <p:nvSpPr>
          <p:cNvPr id="52" name="">
            <a:extLst xmlns:a="http://schemas.openxmlformats.org/drawingml/2006/main">
              <a:ext uri="{FF2B5EF4-FFF2-40B4-BE49-F238E27FC236}">
                <a16:creationId xmlns:a16="http://schemas.microsoft.com/office/drawing/2014/main" id="{24C69670-EE9C-4348-9051-ED36DA13F10A}"/>
              </a:ext>
            </a:extLst>
          </p:cNvPr>
          <p:cNvSpPr>
            <a:spLocks xmlns:a="http://schemas.openxmlformats.org/drawingml/2006/main" noGrp="1"/>
          </p:cNvSpPr>
          <p:nvPr/>
        </p:nvSpPr>
        <p:spPr>
          <a:xfrm xmlns:a="http://schemas.openxmlformats.org/drawingml/2006/main">
            <a:off x="8705850" y="4371975"/>
            <a:ext cx="232410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0">
                <a:solidFill>
                  <a:srgbClr val="172A3A"/>
                </a:solidFill>
              </a:defRPr>
            </a:pPr>
            <a:r>
              <a:rPr sz="1275" b="0">
                <a:solidFill>
                  <a:srgbClr val="172A3A"/>
                </a:solidFill>
              </a:rPr>
              <a:t>Human review workflow</a:t>
            </a:r>
          </a:p>
        </p:txBody>
      </p:sp>
      <p:sp>
        <p:nvSpPr>
          <p:cNvPr id="53" name="">
            <a:extLst xmlns:a="http://schemas.openxmlformats.org/drawingml/2006/main">
              <a:ext uri="{FF2B5EF4-FFF2-40B4-BE49-F238E27FC236}">
                <a16:creationId xmlns:a16="http://schemas.microsoft.com/office/drawing/2014/main" id="{07229F23-02D2-410F-BCAF-DFD0A5AF4B6C}"/>
              </a:ext>
            </a:extLst>
          </p:cNvPr>
          <p:cNvSpPr>
            <a:spLocks xmlns:a="http://schemas.openxmlformats.org/drawingml/2006/main" noGrp="1"/>
          </p:cNvSpPr>
          <p:nvPr/>
        </p:nvSpPr>
        <p:spPr>
          <a:xfrm xmlns:a="http://schemas.openxmlformats.org/drawingml/2006/main">
            <a:off x="609600" y="5676900"/>
            <a:ext cx="1066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1">
                <a:solidFill>
                  <a:srgbClr val="002850"/>
                </a:solidFill>
              </a:defRPr>
            </a:pPr>
            <a:r>
              <a:rPr sz="1650" b="1">
                <a:solidFill>
                  <a:srgbClr val="002850"/>
                </a:solidFill>
              </a:rPr>
              <a:t>Result: responsive answers without turning the warehouse into the model’s scratchpad.</a:t>
            </a:r>
          </a:p>
        </p:txBody>
      </p:sp>
      <p:sp>
        <p:nvSpPr>
          <p:cNvPr id="54" name="">
            <a:extLst xmlns:a="http://schemas.openxmlformats.org/drawingml/2006/main">
              <a:ext uri="{FF2B5EF4-FFF2-40B4-BE49-F238E27FC236}">
                <a16:creationId xmlns:a16="http://schemas.microsoft.com/office/drawing/2014/main" id="{6D9A5ED9-EA2C-4E3D-8984-7A881145C2A5}"/>
              </a:ext>
            </a:extLst>
          </p:cNvPr>
          <p:cNvSpPr>
            <a:spLocks xmlns:a="http://schemas.openxmlformats.org/drawingml/2006/main" noGrp="1"/>
          </p:cNvSpPr>
          <p:nvPr/>
        </p:nvSpPr>
        <p:spPr>
          <a:xfrm xmlns:a="http://schemas.openxmlformats.org/drawingml/2006/main">
            <a:off x="609600" y="6486525"/>
            <a:ext cx="523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788B98"/>
                </a:solidFill>
              </a:defRPr>
            </a:pPr>
            <a:r>
              <a:rPr sz="750" b="0">
                <a:solidFill>
                  <a:srgbClr val="788B98"/>
                </a:solidFill>
              </a:rPr>
              <a:t>CareAllies Data Lake LLM</a:t>
            </a:r>
          </a:p>
        </p:txBody>
      </p:sp>
      <p:sp>
        <p:nvSpPr>
          <p:cNvPr id="55" name="">
            <a:extLst xmlns:a="http://schemas.openxmlformats.org/drawingml/2006/main">
              <a:ext uri="{FF2B5EF4-FFF2-40B4-BE49-F238E27FC236}">
                <a16:creationId xmlns:a16="http://schemas.microsoft.com/office/drawing/2014/main" id="{14E2931B-FE42-415F-B741-EA7C2BA15F20}"/>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Tree>
    <p:extLst>
      <p:ext uri="{BB962C8B-B14F-4D97-AF65-F5344CB8AC3E}">
        <p14:creationId xmlns:p14="http://schemas.microsoft.com/office/powerpoint/2010/main" val="1592924599"/>
      </p:ext>
    </p:extLst>
  </p:cSld>
</p:sld>
</file>

<file path=ppt/slides/slide10.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1B02AC2-5618-44CA-9E19-09F87CEA326D}"/>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D9A8A"/>
                </a:solidFill>
              </a:defRPr>
            </a:pPr>
            <a:r>
              <a:rPr sz="900" b="1">
                <a:solidFill>
                  <a:srgbClr val="1D9A8A"/>
                </a:solidFill>
              </a:rPr>
              <a:t>QUESTION + ANSWER</a:t>
            </a:r>
          </a:p>
        </p:txBody>
      </p:sp>
      <p:sp>
        <p:nvSpPr>
          <p:cNvPr id="2" name="">
            <a:extLst xmlns:a="http://schemas.openxmlformats.org/drawingml/2006/main">
              <a:ext uri="{FF2B5EF4-FFF2-40B4-BE49-F238E27FC236}">
                <a16:creationId xmlns:a16="http://schemas.microsoft.com/office/drawing/2014/main" id="{B8502535-48ED-4D90-90DA-F8718C06F8F2}"/>
              </a:ext>
            </a:extLst>
          </p:cNvPr>
          <p:cNvSpPr>
            <a:spLocks xmlns:a="http://schemas.openxmlformats.org/drawingml/2006/main" noGrp="1"/>
          </p:cNvSpPr>
          <p:nvPr/>
        </p:nvSpPr>
        <p:spPr>
          <a:xfrm xmlns:a="http://schemas.openxmlformats.org/drawingml/2006/main">
            <a:off x="609600" y="6477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2850"/>
                </a:solidFill>
              </a:defRPr>
            </a:pPr>
            <a:r>
              <a:rPr sz="2700" b="1">
                <a:solidFill>
                  <a:srgbClr val="002850"/>
                </a:solidFill>
              </a:rPr>
              <a:t>Conversation highlights: identity and decision authority</a:t>
            </a:r>
          </a:p>
        </p:txBody>
      </p:sp>
      <p:sp>
        <p:nvSpPr>
          <p:cNvPr id="3" name="">
            <a:extLst xmlns:a="http://schemas.openxmlformats.org/drawingml/2006/main">
              <a:ext uri="{FF2B5EF4-FFF2-40B4-BE49-F238E27FC236}">
                <a16:creationId xmlns:a16="http://schemas.microsoft.com/office/drawing/2014/main" id="{DA20E400-C24D-4C98-996C-804450FFEAB3}"/>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4" name="">
            <a:extLst xmlns:a="http://schemas.openxmlformats.org/drawingml/2006/main">
              <a:ext uri="{FF2B5EF4-FFF2-40B4-BE49-F238E27FC236}">
                <a16:creationId xmlns:a16="http://schemas.microsoft.com/office/drawing/2014/main" id="{13C157D2-CD0E-4D46-957A-CCECE6682CB4}"/>
              </a:ext>
            </a:extLst>
          </p:cNvPr>
          <p:cNvSpPr>
            <a:spLocks xmlns:a="http://schemas.openxmlformats.org/drawingml/2006/main" noGrp="1"/>
          </p:cNvSpPr>
          <p:nvPr/>
        </p:nvSpPr>
        <p:spPr>
          <a:xfrm xmlns:a="http://schemas.openxmlformats.org/drawingml/2006/main">
            <a:off x="11087100" y="3619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788B98"/>
                </a:solidFill>
              </a:defRPr>
            </a:pPr>
            <a:r>
              <a:rPr sz="900" b="1">
                <a:solidFill>
                  <a:srgbClr val="788B98"/>
                </a:solidFill>
              </a:rPr>
              <a:t>10</a:t>
            </a:r>
          </a:p>
        </p:txBody>
      </p:sp>
      <p:sp>
        <p:nvSpPr>
          <p:cNvPr id="5" name="">
            <a:extLst xmlns:a="http://schemas.openxmlformats.org/drawingml/2006/main">
              <a:ext uri="{FF2B5EF4-FFF2-40B4-BE49-F238E27FC236}">
                <a16:creationId xmlns:a16="http://schemas.microsoft.com/office/drawing/2014/main" id="{B9E77E3D-0FFD-41DE-804B-09C942FCB6AA}"/>
              </a:ext>
            </a:extLst>
          </p:cNvPr>
          <p:cNvSpPr>
            <a:spLocks xmlns:a="http://schemas.openxmlformats.org/drawingml/2006/main" noGrp="1"/>
          </p:cNvSpPr>
          <p:nvPr/>
        </p:nvSpPr>
        <p:spPr>
          <a:xfrm xmlns:a="http://schemas.openxmlformats.org/drawingml/2006/main">
            <a:off x="609600" y="1552575"/>
            <a:ext cx="5257800" cy="4476750"/>
          </a:xfrm>
          <a:prstGeom xmlns:a="http://schemas.openxmlformats.org/drawingml/2006/main" prst="roundRect">
            <a:avLst>
              <a:gd name="adj" fmla="val 2553"/>
            </a:avLst>
          </a:prstGeom>
          <a:solidFill xmlns:a="http://schemas.openxmlformats.org/drawingml/2006/main">
            <a:srgbClr val="FFFFFF"/>
          </a:solidFill>
          <a:ln xmlns:a="http://schemas.openxmlformats.org/drawingml/2006/main" w="9525">
            <a:solidFill>
              <a:srgbClr val="D5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E51BD6DE-5F0F-4A80-B44A-8327A11D6F13}"/>
              </a:ext>
            </a:extLst>
          </p:cNvPr>
          <p:cNvSpPr>
            <a:spLocks xmlns:a="http://schemas.openxmlformats.org/drawingml/2006/main" noGrp="1"/>
          </p:cNvSpPr>
          <p:nvPr/>
        </p:nvSpPr>
        <p:spPr>
          <a:xfrm xmlns:a="http://schemas.openxmlformats.org/drawingml/2006/main">
            <a:off x="609600" y="1552575"/>
            <a:ext cx="85725" cy="4476750"/>
          </a:xfrm>
          <a:prstGeom xmlns:a="http://schemas.openxmlformats.org/drawingml/2006/main" prst="rect">
            <a:avLst/>
          </a:prstGeom>
          <a:solidFill xmlns:a="http://schemas.openxmlformats.org/drawingml/2006/main">
            <a:srgbClr val="E58A3A"/>
          </a:solidFill>
          <a:ln xmlns:a="http://schemas.openxmlformats.org/drawingml/2006/main" w="0">
            <a:solidFill>
              <a:srgbClr val="E58A3A"/>
            </a:solidFill>
            <a:prstDash val="solid"/>
          </a:ln>
        </p:spPr>
      </p:sp>
      <p:sp>
        <p:nvSpPr>
          <p:cNvPr id="7" name="">
            <a:extLst xmlns:a="http://schemas.openxmlformats.org/drawingml/2006/main">
              <a:ext uri="{FF2B5EF4-FFF2-40B4-BE49-F238E27FC236}">
                <a16:creationId xmlns:a16="http://schemas.microsoft.com/office/drawing/2014/main" id="{EE5DFC48-5430-49AE-B718-2ED2390B04A3}"/>
              </a:ext>
            </a:extLst>
          </p:cNvPr>
          <p:cNvSpPr>
            <a:spLocks xmlns:a="http://schemas.openxmlformats.org/drawingml/2006/main" noGrp="1"/>
          </p:cNvSpPr>
          <p:nvPr/>
        </p:nvSpPr>
        <p:spPr>
          <a:xfrm xmlns:a="http://schemas.openxmlformats.org/drawingml/2006/main">
            <a:off x="857250" y="1790700"/>
            <a:ext cx="400050" cy="400050"/>
          </a:xfrm>
          <a:prstGeom xmlns:a="http://schemas.openxmlformats.org/drawingml/2006/main" prst="ellipse">
            <a:avLst/>
          </a:prstGeom>
          <a:solidFill xmlns:a="http://schemas.openxmlformats.org/drawingml/2006/main">
            <a:srgbClr val="FFF2E6"/>
          </a:solidFill>
          <a:ln xmlns:a="http://schemas.openxmlformats.org/drawingml/2006/main" w="0">
            <a:solidFill>
              <a:srgbClr val="FFF2E6"/>
            </a:solidFill>
            <a:prstDash val="solid"/>
          </a:ln>
        </p:spPr>
      </p:sp>
      <p:sp>
        <p:nvSpPr>
          <p:cNvPr id="8" name="">
            <a:extLst xmlns:a="http://schemas.openxmlformats.org/drawingml/2006/main">
              <a:ext uri="{FF2B5EF4-FFF2-40B4-BE49-F238E27FC236}">
                <a16:creationId xmlns:a16="http://schemas.microsoft.com/office/drawing/2014/main" id="{F7CB7A79-5678-4C83-91A0-E286820F5DBF}"/>
              </a:ext>
            </a:extLst>
          </p:cNvPr>
          <p:cNvSpPr>
            <a:spLocks xmlns:a="http://schemas.openxmlformats.org/drawingml/2006/main" noGrp="1"/>
          </p:cNvSpPr>
          <p:nvPr/>
        </p:nvSpPr>
        <p:spPr>
          <a:xfrm xmlns:a="http://schemas.openxmlformats.org/drawingml/2006/main">
            <a:off x="857250" y="1800225"/>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E58A3A"/>
                </a:solidFill>
              </a:defRPr>
            </a:pPr>
            <a:r>
              <a:rPr sz="1725" b="1">
                <a:solidFill>
                  <a:srgbClr val="E58A3A"/>
                </a:solidFill>
              </a:rPr>
              <a:t>?</a:t>
            </a:r>
          </a:p>
        </p:txBody>
      </p:sp>
      <p:sp>
        <p:nvSpPr>
          <p:cNvPr id="9" name="">
            <a:extLst xmlns:a="http://schemas.openxmlformats.org/drawingml/2006/main">
              <a:ext uri="{FF2B5EF4-FFF2-40B4-BE49-F238E27FC236}">
                <a16:creationId xmlns:a16="http://schemas.microsoft.com/office/drawing/2014/main" id="{DC2FF718-749D-42B0-B853-1F99E1F157F6}"/>
              </a:ext>
            </a:extLst>
          </p:cNvPr>
          <p:cNvSpPr>
            <a:spLocks xmlns:a="http://schemas.openxmlformats.org/drawingml/2006/main" noGrp="1"/>
          </p:cNvSpPr>
          <p:nvPr/>
        </p:nvSpPr>
        <p:spPr>
          <a:xfrm xmlns:a="http://schemas.openxmlformats.org/drawingml/2006/main">
            <a:off x="1409700" y="1800225"/>
            <a:ext cx="421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E58A3A"/>
                </a:solidFill>
              </a:defRPr>
            </a:pPr>
            <a:r>
              <a:rPr sz="900" b="1">
                <a:solidFill>
                  <a:srgbClr val="E58A3A"/>
                </a:solidFill>
              </a:rPr>
              <a:t>PROMPT / QUESTION</a:t>
            </a:r>
          </a:p>
        </p:txBody>
      </p:sp>
      <p:sp>
        <p:nvSpPr>
          <p:cNvPr id="10" name="">
            <a:extLst xmlns:a="http://schemas.openxmlformats.org/drawingml/2006/main">
              <a:ext uri="{FF2B5EF4-FFF2-40B4-BE49-F238E27FC236}">
                <a16:creationId xmlns:a16="http://schemas.microsoft.com/office/drawing/2014/main" id="{17AA1A0A-D528-42EA-B31F-20F71CA9D594}"/>
              </a:ext>
            </a:extLst>
          </p:cNvPr>
          <p:cNvSpPr>
            <a:spLocks xmlns:a="http://schemas.openxmlformats.org/drawingml/2006/main" noGrp="1"/>
          </p:cNvSpPr>
          <p:nvPr/>
        </p:nvSpPr>
        <p:spPr>
          <a:xfrm xmlns:a="http://schemas.openxmlformats.org/drawingml/2006/main">
            <a:off x="1409700" y="2095500"/>
            <a:ext cx="4210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02850"/>
                </a:solidFill>
              </a:defRPr>
            </a:pPr>
            <a:r>
              <a:rPr sz="1425" b="1">
                <a:solidFill>
                  <a:srgbClr val="002850"/>
                </a:solidFill>
              </a:rPr>
              <a:t>Why did the notebook fail when I used the member ID instead of the member name?</a:t>
            </a:r>
          </a:p>
        </p:txBody>
      </p:sp>
      <p:sp>
        <p:nvSpPr>
          <p:cNvPr id="11" name="">
            <a:extLst xmlns:a="http://schemas.openxmlformats.org/drawingml/2006/main">
              <a:ext uri="{FF2B5EF4-FFF2-40B4-BE49-F238E27FC236}">
                <a16:creationId xmlns:a16="http://schemas.microsoft.com/office/drawing/2014/main" id="{FAF1A253-5D06-4BAF-9F4C-7F0EE3A7AAB6}"/>
              </a:ext>
            </a:extLst>
          </p:cNvPr>
          <p:cNvSpPr>
            <a:spLocks xmlns:a="http://schemas.openxmlformats.org/drawingml/2006/main" noGrp="1"/>
          </p:cNvSpPr>
          <p:nvPr/>
        </p:nvSpPr>
        <p:spPr>
          <a:xfrm xmlns:a="http://schemas.openxmlformats.org/drawingml/2006/main">
            <a:off x="857250" y="2895600"/>
            <a:ext cx="47625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12" name="">
            <a:extLst xmlns:a="http://schemas.openxmlformats.org/drawingml/2006/main">
              <a:ext uri="{FF2B5EF4-FFF2-40B4-BE49-F238E27FC236}">
                <a16:creationId xmlns:a16="http://schemas.microsoft.com/office/drawing/2014/main" id="{2C8C3848-B793-4484-819E-A151F374C6EA}"/>
              </a:ext>
            </a:extLst>
          </p:cNvPr>
          <p:cNvSpPr>
            <a:spLocks xmlns:a="http://schemas.openxmlformats.org/drawingml/2006/main" noGrp="1"/>
          </p:cNvSpPr>
          <p:nvPr/>
        </p:nvSpPr>
        <p:spPr>
          <a:xfrm xmlns:a="http://schemas.openxmlformats.org/drawingml/2006/main">
            <a:off x="857250" y="3095625"/>
            <a:ext cx="400050" cy="400050"/>
          </a:xfrm>
          <a:prstGeom xmlns:a="http://schemas.openxmlformats.org/drawingml/2006/main" prst="ellipse">
            <a:avLst/>
          </a:prstGeom>
          <a:solidFill xmlns:a="http://schemas.openxmlformats.org/drawingml/2006/main">
            <a:srgbClr val="E7F4F1"/>
          </a:solidFill>
          <a:ln xmlns:a="http://schemas.openxmlformats.org/drawingml/2006/main" w="0">
            <a:solidFill>
              <a:srgbClr val="E7F4F1"/>
            </a:solidFill>
            <a:prstDash val="solid"/>
          </a:ln>
        </p:spPr>
      </p:sp>
      <p:sp>
        <p:nvSpPr>
          <p:cNvPr id="13" name="">
            <a:extLst xmlns:a="http://schemas.openxmlformats.org/drawingml/2006/main">
              <a:ext uri="{FF2B5EF4-FFF2-40B4-BE49-F238E27FC236}">
                <a16:creationId xmlns:a16="http://schemas.microsoft.com/office/drawing/2014/main" id="{EDF474EB-C26D-436F-8579-A4CCEAF8A103}"/>
              </a:ext>
            </a:extLst>
          </p:cNvPr>
          <p:cNvSpPr>
            <a:spLocks xmlns:a="http://schemas.openxmlformats.org/drawingml/2006/main" noGrp="1"/>
          </p:cNvSpPr>
          <p:nvPr/>
        </p:nvSpPr>
        <p:spPr>
          <a:xfrm xmlns:a="http://schemas.openxmlformats.org/drawingml/2006/main">
            <a:off x="857250" y="3105150"/>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F8B70"/>
                </a:solidFill>
              </a:defRPr>
            </a:pPr>
            <a:r>
              <a:rPr sz="1050" b="1">
                <a:solidFill>
                  <a:srgbClr val="2F8B70"/>
                </a:solidFill>
              </a:rPr>
              <a:t>AI</a:t>
            </a:r>
          </a:p>
        </p:txBody>
      </p:sp>
      <p:sp>
        <p:nvSpPr>
          <p:cNvPr id="14" name="">
            <a:extLst xmlns:a="http://schemas.openxmlformats.org/drawingml/2006/main">
              <a:ext uri="{FF2B5EF4-FFF2-40B4-BE49-F238E27FC236}">
                <a16:creationId xmlns:a16="http://schemas.microsoft.com/office/drawing/2014/main" id="{07A9D851-6B05-495E-8A48-0D5D4F1EAC5D}"/>
              </a:ext>
            </a:extLst>
          </p:cNvPr>
          <p:cNvSpPr>
            <a:spLocks xmlns:a="http://schemas.openxmlformats.org/drawingml/2006/main" noGrp="1"/>
          </p:cNvSpPr>
          <p:nvPr/>
        </p:nvSpPr>
        <p:spPr>
          <a:xfrm xmlns:a="http://schemas.openxmlformats.org/drawingml/2006/main">
            <a:off x="1409700" y="3133725"/>
            <a:ext cx="421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8B70"/>
                </a:solidFill>
              </a:defRPr>
            </a:pPr>
            <a:r>
              <a:rPr sz="900" b="1">
                <a:solidFill>
                  <a:srgbClr val="2F8B70"/>
                </a:solidFill>
              </a:rPr>
              <a:t>AI RESPONSE</a:t>
            </a:r>
          </a:p>
        </p:txBody>
      </p:sp>
      <p:sp>
        <p:nvSpPr>
          <p:cNvPr id="15" name="">
            <a:extLst xmlns:a="http://schemas.openxmlformats.org/drawingml/2006/main">
              <a:ext uri="{FF2B5EF4-FFF2-40B4-BE49-F238E27FC236}">
                <a16:creationId xmlns:a16="http://schemas.microsoft.com/office/drawing/2014/main" id="{04B1005F-0EDA-47E2-A10D-443A08BCAEF5}"/>
              </a:ext>
            </a:extLst>
          </p:cNvPr>
          <p:cNvSpPr>
            <a:spLocks xmlns:a="http://schemas.openxmlformats.org/drawingml/2006/main" noGrp="1"/>
          </p:cNvSpPr>
          <p:nvPr/>
        </p:nvSpPr>
        <p:spPr>
          <a:xfrm xmlns:a="http://schemas.openxmlformats.org/drawingml/2006/main">
            <a:off x="1409700" y="3429000"/>
            <a:ext cx="42100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72A3A"/>
                </a:solidFill>
              </a:defRPr>
            </a:pPr>
            <a:r>
              <a:rPr sz="1275" b="0">
                <a:solidFill>
                  <a:srgbClr val="172A3A"/>
                </a:solidFill>
              </a:rPr>
              <a:t>The V5 resolver indexed patient names, not exact member IDs. The fix is a unified resolver for member ID, patient name, provider ID/NPI, aliases, and explicit unknown-entity handling. Resolution must happen before retrieval so the system never drifts to a vaguely similar member.</a:t>
            </a:r>
          </a:p>
        </p:txBody>
      </p:sp>
      <p:sp>
        <p:nvSpPr>
          <p:cNvPr id="16" name="">
            <a:extLst xmlns:a="http://schemas.openxmlformats.org/drawingml/2006/main">
              <a:ext uri="{FF2B5EF4-FFF2-40B4-BE49-F238E27FC236}">
                <a16:creationId xmlns:a16="http://schemas.microsoft.com/office/drawing/2014/main" id="{4FBC4790-82D9-4A66-AEBE-C0AD17D8E8DD}"/>
              </a:ext>
            </a:extLst>
          </p:cNvPr>
          <p:cNvSpPr>
            <a:spLocks xmlns:a="http://schemas.openxmlformats.org/drawingml/2006/main" noGrp="1"/>
          </p:cNvSpPr>
          <p:nvPr/>
        </p:nvSpPr>
        <p:spPr>
          <a:xfrm xmlns:a="http://schemas.openxmlformats.org/drawingml/2006/main">
            <a:off x="6172200" y="1552575"/>
            <a:ext cx="5410200" cy="4476750"/>
          </a:xfrm>
          <a:prstGeom xmlns:a="http://schemas.openxmlformats.org/drawingml/2006/main" prst="roundRect">
            <a:avLst>
              <a:gd name="adj" fmla="val 2553"/>
            </a:avLst>
          </a:prstGeom>
          <a:solidFill xmlns:a="http://schemas.openxmlformats.org/drawingml/2006/main">
            <a:srgbClr val="FFFFFF"/>
          </a:solidFill>
          <a:ln xmlns:a="http://schemas.openxmlformats.org/drawingml/2006/main" w="9525">
            <a:solidFill>
              <a:srgbClr val="D5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83CDEB06-4B40-46D4-94FA-2E81B0ACB8C9}"/>
              </a:ext>
            </a:extLst>
          </p:cNvPr>
          <p:cNvSpPr>
            <a:spLocks xmlns:a="http://schemas.openxmlformats.org/drawingml/2006/main" noGrp="1"/>
          </p:cNvSpPr>
          <p:nvPr/>
        </p:nvSpPr>
        <p:spPr>
          <a:xfrm xmlns:a="http://schemas.openxmlformats.org/drawingml/2006/main">
            <a:off x="6172200" y="1552575"/>
            <a:ext cx="85725" cy="4476750"/>
          </a:xfrm>
          <a:prstGeom xmlns:a="http://schemas.openxmlformats.org/drawingml/2006/main" prst="rect">
            <a:avLst/>
          </a:prstGeom>
          <a:solidFill xmlns:a="http://schemas.openxmlformats.org/drawingml/2006/main">
            <a:srgbClr val="1D9A8A"/>
          </a:solidFill>
          <a:ln xmlns:a="http://schemas.openxmlformats.org/drawingml/2006/main" w="0">
            <a:solidFill>
              <a:srgbClr val="1D9A8A"/>
            </a:solidFill>
            <a:prstDash val="solid"/>
          </a:ln>
        </p:spPr>
      </p:sp>
      <p:sp>
        <p:nvSpPr>
          <p:cNvPr id="18" name="">
            <a:extLst xmlns:a="http://schemas.openxmlformats.org/drawingml/2006/main">
              <a:ext uri="{FF2B5EF4-FFF2-40B4-BE49-F238E27FC236}">
                <a16:creationId xmlns:a16="http://schemas.microsoft.com/office/drawing/2014/main" id="{8E3BD14F-04E1-42DF-BFBF-276E4369186F}"/>
              </a:ext>
            </a:extLst>
          </p:cNvPr>
          <p:cNvSpPr>
            <a:spLocks xmlns:a="http://schemas.openxmlformats.org/drawingml/2006/main" noGrp="1"/>
          </p:cNvSpPr>
          <p:nvPr/>
        </p:nvSpPr>
        <p:spPr>
          <a:xfrm xmlns:a="http://schemas.openxmlformats.org/drawingml/2006/main">
            <a:off x="6419850" y="1790700"/>
            <a:ext cx="400050" cy="400050"/>
          </a:xfrm>
          <a:prstGeom xmlns:a="http://schemas.openxmlformats.org/drawingml/2006/main" prst="ellipse">
            <a:avLst/>
          </a:prstGeom>
          <a:solidFill xmlns:a="http://schemas.openxmlformats.org/drawingml/2006/main">
            <a:srgbClr val="FFF2E6"/>
          </a:solidFill>
          <a:ln xmlns:a="http://schemas.openxmlformats.org/drawingml/2006/main" w="0">
            <a:solidFill>
              <a:srgbClr val="FFF2E6"/>
            </a:solidFill>
            <a:prstDash val="solid"/>
          </a:ln>
        </p:spPr>
      </p:sp>
      <p:sp>
        <p:nvSpPr>
          <p:cNvPr id="19" name="">
            <a:extLst xmlns:a="http://schemas.openxmlformats.org/drawingml/2006/main">
              <a:ext uri="{FF2B5EF4-FFF2-40B4-BE49-F238E27FC236}">
                <a16:creationId xmlns:a16="http://schemas.microsoft.com/office/drawing/2014/main" id="{17D9E7EA-F1A1-46F4-8EA6-340CDD655556}"/>
              </a:ext>
            </a:extLst>
          </p:cNvPr>
          <p:cNvSpPr>
            <a:spLocks xmlns:a="http://schemas.openxmlformats.org/drawingml/2006/main" noGrp="1"/>
          </p:cNvSpPr>
          <p:nvPr/>
        </p:nvSpPr>
        <p:spPr>
          <a:xfrm xmlns:a="http://schemas.openxmlformats.org/drawingml/2006/main">
            <a:off x="6419850" y="1800225"/>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D9A8A"/>
                </a:solidFill>
              </a:defRPr>
            </a:pPr>
            <a:r>
              <a:rPr sz="1725" b="1">
                <a:solidFill>
                  <a:srgbClr val="1D9A8A"/>
                </a:solidFill>
              </a:rPr>
              <a:t>?</a:t>
            </a:r>
          </a:p>
        </p:txBody>
      </p:sp>
      <p:sp>
        <p:nvSpPr>
          <p:cNvPr id="20" name="">
            <a:extLst xmlns:a="http://schemas.openxmlformats.org/drawingml/2006/main">
              <a:ext uri="{FF2B5EF4-FFF2-40B4-BE49-F238E27FC236}">
                <a16:creationId xmlns:a16="http://schemas.microsoft.com/office/drawing/2014/main" id="{09DCAA8C-FF3F-4F93-9800-0F9E9243B238}"/>
              </a:ext>
            </a:extLst>
          </p:cNvPr>
          <p:cNvSpPr>
            <a:spLocks xmlns:a="http://schemas.openxmlformats.org/drawingml/2006/main" noGrp="1"/>
          </p:cNvSpPr>
          <p:nvPr/>
        </p:nvSpPr>
        <p:spPr>
          <a:xfrm xmlns:a="http://schemas.openxmlformats.org/drawingml/2006/main">
            <a:off x="6972300" y="1800225"/>
            <a:ext cx="436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D9A8A"/>
                </a:solidFill>
              </a:defRPr>
            </a:pPr>
            <a:r>
              <a:rPr sz="900" b="1">
                <a:solidFill>
                  <a:srgbClr val="1D9A8A"/>
                </a:solidFill>
              </a:rPr>
              <a:t>PROMPT / QUESTION</a:t>
            </a:r>
          </a:p>
        </p:txBody>
      </p:sp>
      <p:sp>
        <p:nvSpPr>
          <p:cNvPr id="21" name="">
            <a:extLst xmlns:a="http://schemas.openxmlformats.org/drawingml/2006/main">
              <a:ext uri="{FF2B5EF4-FFF2-40B4-BE49-F238E27FC236}">
                <a16:creationId xmlns:a16="http://schemas.microsoft.com/office/drawing/2014/main" id="{DDCDDB1F-5D34-4442-9881-AD8EE3C263A7}"/>
              </a:ext>
            </a:extLst>
          </p:cNvPr>
          <p:cNvSpPr>
            <a:spLocks xmlns:a="http://schemas.openxmlformats.org/drawingml/2006/main" noGrp="1"/>
          </p:cNvSpPr>
          <p:nvPr/>
        </p:nvSpPr>
        <p:spPr>
          <a:xfrm xmlns:a="http://schemas.openxmlformats.org/drawingml/2006/main">
            <a:off x="6972300" y="2095500"/>
            <a:ext cx="4362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02850"/>
                </a:solidFill>
              </a:defRPr>
            </a:pPr>
            <a:r>
              <a:rPr sz="1425" b="1">
                <a:solidFill>
                  <a:srgbClr val="002850"/>
                </a:solidFill>
              </a:rPr>
              <a:t>Are the deterministic rules learned from the LLM, or do we need to feed CMS specifications?</a:t>
            </a:r>
          </a:p>
        </p:txBody>
      </p:sp>
      <p:sp>
        <p:nvSpPr>
          <p:cNvPr id="22" name="">
            <a:extLst xmlns:a="http://schemas.openxmlformats.org/drawingml/2006/main">
              <a:ext uri="{FF2B5EF4-FFF2-40B4-BE49-F238E27FC236}">
                <a16:creationId xmlns:a16="http://schemas.microsoft.com/office/drawing/2014/main" id="{54035AC3-7424-4FBE-ADBE-97701FD4F889}"/>
              </a:ext>
            </a:extLst>
          </p:cNvPr>
          <p:cNvSpPr>
            <a:spLocks xmlns:a="http://schemas.openxmlformats.org/drawingml/2006/main" noGrp="1"/>
          </p:cNvSpPr>
          <p:nvPr/>
        </p:nvSpPr>
        <p:spPr>
          <a:xfrm xmlns:a="http://schemas.openxmlformats.org/drawingml/2006/main">
            <a:off x="6419850" y="2895600"/>
            <a:ext cx="49149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23" name="">
            <a:extLst xmlns:a="http://schemas.openxmlformats.org/drawingml/2006/main">
              <a:ext uri="{FF2B5EF4-FFF2-40B4-BE49-F238E27FC236}">
                <a16:creationId xmlns:a16="http://schemas.microsoft.com/office/drawing/2014/main" id="{2DB39E1D-874F-4043-BCD9-9430A655BB5E}"/>
              </a:ext>
            </a:extLst>
          </p:cNvPr>
          <p:cNvSpPr>
            <a:spLocks xmlns:a="http://schemas.openxmlformats.org/drawingml/2006/main" noGrp="1"/>
          </p:cNvSpPr>
          <p:nvPr/>
        </p:nvSpPr>
        <p:spPr>
          <a:xfrm xmlns:a="http://schemas.openxmlformats.org/drawingml/2006/main">
            <a:off x="6419850" y="3095625"/>
            <a:ext cx="400050" cy="400050"/>
          </a:xfrm>
          <a:prstGeom xmlns:a="http://schemas.openxmlformats.org/drawingml/2006/main" prst="ellipse">
            <a:avLst/>
          </a:prstGeom>
          <a:solidFill xmlns:a="http://schemas.openxmlformats.org/drawingml/2006/main">
            <a:srgbClr val="E7F4F1"/>
          </a:solidFill>
          <a:ln xmlns:a="http://schemas.openxmlformats.org/drawingml/2006/main" w="0">
            <a:solidFill>
              <a:srgbClr val="E7F4F1"/>
            </a:solidFill>
            <a:prstDash val="solid"/>
          </a:ln>
        </p:spPr>
      </p:sp>
      <p:sp>
        <p:nvSpPr>
          <p:cNvPr id="24" name="">
            <a:extLst xmlns:a="http://schemas.openxmlformats.org/drawingml/2006/main">
              <a:ext uri="{FF2B5EF4-FFF2-40B4-BE49-F238E27FC236}">
                <a16:creationId xmlns:a16="http://schemas.microsoft.com/office/drawing/2014/main" id="{76FFE259-0C05-46B5-B173-51C678B4FD36}"/>
              </a:ext>
            </a:extLst>
          </p:cNvPr>
          <p:cNvSpPr>
            <a:spLocks xmlns:a="http://schemas.openxmlformats.org/drawingml/2006/main" noGrp="1"/>
          </p:cNvSpPr>
          <p:nvPr/>
        </p:nvSpPr>
        <p:spPr>
          <a:xfrm xmlns:a="http://schemas.openxmlformats.org/drawingml/2006/main">
            <a:off x="6419850" y="3105150"/>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F8B70"/>
                </a:solidFill>
              </a:defRPr>
            </a:pPr>
            <a:r>
              <a:rPr sz="1050" b="1">
                <a:solidFill>
                  <a:srgbClr val="2F8B70"/>
                </a:solidFill>
              </a:rPr>
              <a:t>AI</a:t>
            </a:r>
          </a:p>
        </p:txBody>
      </p:sp>
      <p:sp>
        <p:nvSpPr>
          <p:cNvPr id="25" name="">
            <a:extLst xmlns:a="http://schemas.openxmlformats.org/drawingml/2006/main">
              <a:ext uri="{FF2B5EF4-FFF2-40B4-BE49-F238E27FC236}">
                <a16:creationId xmlns:a16="http://schemas.microsoft.com/office/drawing/2014/main" id="{7CB1386B-0AD7-48AF-A3A4-18CD88565348}"/>
              </a:ext>
            </a:extLst>
          </p:cNvPr>
          <p:cNvSpPr>
            <a:spLocks xmlns:a="http://schemas.openxmlformats.org/drawingml/2006/main" noGrp="1"/>
          </p:cNvSpPr>
          <p:nvPr/>
        </p:nvSpPr>
        <p:spPr>
          <a:xfrm xmlns:a="http://schemas.openxmlformats.org/drawingml/2006/main">
            <a:off x="6972300" y="3133725"/>
            <a:ext cx="436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8B70"/>
                </a:solidFill>
              </a:defRPr>
            </a:pPr>
            <a:r>
              <a:rPr sz="900" b="1">
                <a:solidFill>
                  <a:srgbClr val="2F8B70"/>
                </a:solidFill>
              </a:rPr>
              <a:t>AI RESPONSE</a:t>
            </a:r>
          </a:p>
        </p:txBody>
      </p:sp>
      <p:sp>
        <p:nvSpPr>
          <p:cNvPr id="26" name="">
            <a:extLst xmlns:a="http://schemas.openxmlformats.org/drawingml/2006/main">
              <a:ext uri="{FF2B5EF4-FFF2-40B4-BE49-F238E27FC236}">
                <a16:creationId xmlns:a16="http://schemas.microsoft.com/office/drawing/2014/main" id="{DBC94FB9-BCDC-4BB2-91C8-B6D9CEE99F9B}"/>
              </a:ext>
            </a:extLst>
          </p:cNvPr>
          <p:cNvSpPr>
            <a:spLocks xmlns:a="http://schemas.openxmlformats.org/drawingml/2006/main" noGrp="1"/>
          </p:cNvSpPr>
          <p:nvPr/>
        </p:nvSpPr>
        <p:spPr>
          <a:xfrm xmlns:a="http://schemas.openxmlformats.org/drawingml/2006/main">
            <a:off x="6972300" y="3429000"/>
            <a:ext cx="43624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72A3A"/>
                </a:solidFill>
              </a:defRPr>
            </a:pPr>
            <a:r>
              <a:rPr sz="1275" b="0">
                <a:solidFill>
                  <a:srgbClr val="172A3A"/>
                </a:solidFill>
              </a:rPr>
              <a:t>They are not learned from the LLM. The prototype uses simplified Python rules created for demonstration. Production rules should be translated from approved CMS, PQA, NCQA, and internal specifications into versioned executable logic. RAG retrieves the supporting passage. The LLM explains the governed decision.</a:t>
            </a:r>
          </a:p>
        </p:txBody>
      </p:sp>
      <p:sp>
        <p:nvSpPr>
          <p:cNvPr id="27" name="">
            <a:extLst xmlns:a="http://schemas.openxmlformats.org/drawingml/2006/main">
              <a:ext uri="{FF2B5EF4-FFF2-40B4-BE49-F238E27FC236}">
                <a16:creationId xmlns:a16="http://schemas.microsoft.com/office/drawing/2014/main" id="{9AD96C32-2DE1-42DC-823E-3C307907C708}"/>
              </a:ext>
            </a:extLst>
          </p:cNvPr>
          <p:cNvSpPr>
            <a:spLocks xmlns:a="http://schemas.openxmlformats.org/drawingml/2006/main" noGrp="1"/>
          </p:cNvSpPr>
          <p:nvPr/>
        </p:nvSpPr>
        <p:spPr>
          <a:xfrm xmlns:a="http://schemas.openxmlformats.org/drawingml/2006/main">
            <a:off x="609600" y="6486525"/>
            <a:ext cx="523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788B98"/>
                </a:solidFill>
              </a:defRPr>
            </a:pPr>
            <a:r>
              <a:rPr sz="750" b="0">
                <a:solidFill>
                  <a:srgbClr val="788B98"/>
                </a:solidFill>
              </a:rPr>
              <a:t>CareAllies Data Lake LLM  |  Conversation extract</a:t>
            </a:r>
          </a:p>
        </p:txBody>
      </p:sp>
      <p:sp>
        <p:nvSpPr>
          <p:cNvPr id="28" name="">
            <a:extLst xmlns:a="http://schemas.openxmlformats.org/drawingml/2006/main">
              <a:ext uri="{FF2B5EF4-FFF2-40B4-BE49-F238E27FC236}">
                <a16:creationId xmlns:a16="http://schemas.microsoft.com/office/drawing/2014/main" id="{BB7C2289-EE8C-4541-9569-F6C89C7AA556}"/>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Tree>
    <p:extLst>
      <p:ext uri="{BB962C8B-B14F-4D97-AF65-F5344CB8AC3E}">
        <p14:creationId xmlns:p14="http://schemas.microsoft.com/office/powerpoint/2010/main" val="1689511785"/>
      </p:ext>
    </p:extLst>
  </p:cSld>
</p:sld>
</file>

<file path=ppt/slides/slide11.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77E83F9-93D2-4A5D-93FE-AB50B2450417}"/>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D9A8A"/>
                </a:solidFill>
              </a:defRPr>
            </a:pPr>
            <a:r>
              <a:rPr sz="900" b="1">
                <a:solidFill>
                  <a:srgbClr val="1D9A8A"/>
                </a:solidFill>
              </a:rPr>
              <a:t>QUESTION + ANSWER</a:t>
            </a:r>
          </a:p>
        </p:txBody>
      </p:sp>
      <p:sp>
        <p:nvSpPr>
          <p:cNvPr id="2" name="">
            <a:extLst xmlns:a="http://schemas.openxmlformats.org/drawingml/2006/main">
              <a:ext uri="{FF2B5EF4-FFF2-40B4-BE49-F238E27FC236}">
                <a16:creationId xmlns:a16="http://schemas.microsoft.com/office/drawing/2014/main" id="{FDAA2F11-57BD-41FA-B562-0198FA4A98E4}"/>
              </a:ext>
            </a:extLst>
          </p:cNvPr>
          <p:cNvSpPr>
            <a:spLocks xmlns:a="http://schemas.openxmlformats.org/drawingml/2006/main" noGrp="1"/>
          </p:cNvSpPr>
          <p:nvPr/>
        </p:nvSpPr>
        <p:spPr>
          <a:xfrm xmlns:a="http://schemas.openxmlformats.org/drawingml/2006/main">
            <a:off x="609600" y="6477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2850"/>
                </a:solidFill>
              </a:defRPr>
            </a:pPr>
            <a:r>
              <a:rPr sz="2700" b="1">
                <a:solidFill>
                  <a:srgbClr val="002850"/>
                </a:solidFill>
              </a:rPr>
              <a:t>Conversation highlights: Teradata and claims evidence</a:t>
            </a:r>
          </a:p>
        </p:txBody>
      </p:sp>
      <p:sp>
        <p:nvSpPr>
          <p:cNvPr id="3" name="">
            <a:extLst xmlns:a="http://schemas.openxmlformats.org/drawingml/2006/main">
              <a:ext uri="{FF2B5EF4-FFF2-40B4-BE49-F238E27FC236}">
                <a16:creationId xmlns:a16="http://schemas.microsoft.com/office/drawing/2014/main" id="{C7F6F021-41C3-4EE9-B862-0EDE31288AF7}"/>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4" name="">
            <a:extLst xmlns:a="http://schemas.openxmlformats.org/drawingml/2006/main">
              <a:ext uri="{FF2B5EF4-FFF2-40B4-BE49-F238E27FC236}">
                <a16:creationId xmlns:a16="http://schemas.microsoft.com/office/drawing/2014/main" id="{D11FB1C2-FDBE-4D22-9ADE-C35531893CFD}"/>
              </a:ext>
            </a:extLst>
          </p:cNvPr>
          <p:cNvSpPr>
            <a:spLocks xmlns:a="http://schemas.openxmlformats.org/drawingml/2006/main" noGrp="1"/>
          </p:cNvSpPr>
          <p:nvPr/>
        </p:nvSpPr>
        <p:spPr>
          <a:xfrm xmlns:a="http://schemas.openxmlformats.org/drawingml/2006/main">
            <a:off x="11087100" y="3619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788B98"/>
                </a:solidFill>
              </a:defRPr>
            </a:pPr>
            <a:r>
              <a:rPr sz="900" b="1">
                <a:solidFill>
                  <a:srgbClr val="788B98"/>
                </a:solidFill>
              </a:rPr>
              <a:t>11</a:t>
            </a:r>
          </a:p>
        </p:txBody>
      </p:sp>
      <p:sp>
        <p:nvSpPr>
          <p:cNvPr id="5" name="">
            <a:extLst xmlns:a="http://schemas.openxmlformats.org/drawingml/2006/main">
              <a:ext uri="{FF2B5EF4-FFF2-40B4-BE49-F238E27FC236}">
                <a16:creationId xmlns:a16="http://schemas.microsoft.com/office/drawing/2014/main" id="{76FF2F82-80D6-4C43-BD19-49B64179122B}"/>
              </a:ext>
            </a:extLst>
          </p:cNvPr>
          <p:cNvSpPr>
            <a:spLocks xmlns:a="http://schemas.openxmlformats.org/drawingml/2006/main" noGrp="1"/>
          </p:cNvSpPr>
          <p:nvPr/>
        </p:nvSpPr>
        <p:spPr>
          <a:xfrm xmlns:a="http://schemas.openxmlformats.org/drawingml/2006/main">
            <a:off x="609600" y="1552575"/>
            <a:ext cx="5257800" cy="4476750"/>
          </a:xfrm>
          <a:prstGeom xmlns:a="http://schemas.openxmlformats.org/drawingml/2006/main" prst="roundRect">
            <a:avLst>
              <a:gd name="adj" fmla="val 2553"/>
            </a:avLst>
          </a:prstGeom>
          <a:solidFill xmlns:a="http://schemas.openxmlformats.org/drawingml/2006/main">
            <a:srgbClr val="FFFFFF"/>
          </a:solidFill>
          <a:ln xmlns:a="http://schemas.openxmlformats.org/drawingml/2006/main" w="9525">
            <a:solidFill>
              <a:srgbClr val="D5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81D8C26F-7012-44AD-8B01-48B822570536}"/>
              </a:ext>
            </a:extLst>
          </p:cNvPr>
          <p:cNvSpPr>
            <a:spLocks xmlns:a="http://schemas.openxmlformats.org/drawingml/2006/main" noGrp="1"/>
          </p:cNvSpPr>
          <p:nvPr/>
        </p:nvSpPr>
        <p:spPr>
          <a:xfrm xmlns:a="http://schemas.openxmlformats.org/drawingml/2006/main">
            <a:off x="609600" y="1552575"/>
            <a:ext cx="85725" cy="4476750"/>
          </a:xfrm>
          <a:prstGeom xmlns:a="http://schemas.openxmlformats.org/drawingml/2006/main" prst="rect">
            <a:avLst/>
          </a:prstGeom>
          <a:solidFill xmlns:a="http://schemas.openxmlformats.org/drawingml/2006/main">
            <a:srgbClr val="2B6F9F"/>
          </a:solidFill>
          <a:ln xmlns:a="http://schemas.openxmlformats.org/drawingml/2006/main" w="0">
            <a:solidFill>
              <a:srgbClr val="2B6F9F"/>
            </a:solidFill>
            <a:prstDash val="solid"/>
          </a:ln>
        </p:spPr>
      </p:sp>
      <p:sp>
        <p:nvSpPr>
          <p:cNvPr id="7" name="">
            <a:extLst xmlns:a="http://schemas.openxmlformats.org/drawingml/2006/main">
              <a:ext uri="{FF2B5EF4-FFF2-40B4-BE49-F238E27FC236}">
                <a16:creationId xmlns:a16="http://schemas.microsoft.com/office/drawing/2014/main" id="{BDDD6FB3-430A-4EAC-A598-A406A88A7388}"/>
              </a:ext>
            </a:extLst>
          </p:cNvPr>
          <p:cNvSpPr>
            <a:spLocks xmlns:a="http://schemas.openxmlformats.org/drawingml/2006/main" noGrp="1"/>
          </p:cNvSpPr>
          <p:nvPr/>
        </p:nvSpPr>
        <p:spPr>
          <a:xfrm xmlns:a="http://schemas.openxmlformats.org/drawingml/2006/main">
            <a:off x="857250" y="1790700"/>
            <a:ext cx="400050" cy="400050"/>
          </a:xfrm>
          <a:prstGeom xmlns:a="http://schemas.openxmlformats.org/drawingml/2006/main" prst="ellipse">
            <a:avLst/>
          </a:prstGeom>
          <a:solidFill xmlns:a="http://schemas.openxmlformats.org/drawingml/2006/main">
            <a:srgbClr val="FFF2E6"/>
          </a:solidFill>
          <a:ln xmlns:a="http://schemas.openxmlformats.org/drawingml/2006/main" w="0">
            <a:solidFill>
              <a:srgbClr val="FFF2E6"/>
            </a:solidFill>
            <a:prstDash val="solid"/>
          </a:ln>
        </p:spPr>
      </p:sp>
      <p:sp>
        <p:nvSpPr>
          <p:cNvPr id="8" name="">
            <a:extLst xmlns:a="http://schemas.openxmlformats.org/drawingml/2006/main">
              <a:ext uri="{FF2B5EF4-FFF2-40B4-BE49-F238E27FC236}">
                <a16:creationId xmlns:a16="http://schemas.microsoft.com/office/drawing/2014/main" id="{86672B37-E990-4F4B-8535-E1F0A1646068}"/>
              </a:ext>
            </a:extLst>
          </p:cNvPr>
          <p:cNvSpPr>
            <a:spLocks xmlns:a="http://schemas.openxmlformats.org/drawingml/2006/main" noGrp="1"/>
          </p:cNvSpPr>
          <p:nvPr/>
        </p:nvSpPr>
        <p:spPr>
          <a:xfrm xmlns:a="http://schemas.openxmlformats.org/drawingml/2006/main">
            <a:off x="857250" y="1800225"/>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2B6F9F"/>
                </a:solidFill>
              </a:defRPr>
            </a:pPr>
            <a:r>
              <a:rPr sz="1725" b="1">
                <a:solidFill>
                  <a:srgbClr val="2B6F9F"/>
                </a:solidFill>
              </a:rPr>
              <a:t>?</a:t>
            </a:r>
          </a:p>
        </p:txBody>
      </p:sp>
      <p:sp>
        <p:nvSpPr>
          <p:cNvPr id="9" name="">
            <a:extLst xmlns:a="http://schemas.openxmlformats.org/drawingml/2006/main">
              <a:ext uri="{FF2B5EF4-FFF2-40B4-BE49-F238E27FC236}">
                <a16:creationId xmlns:a16="http://schemas.microsoft.com/office/drawing/2014/main" id="{7AA5687F-76DC-4EEC-B382-8A8AD2ED12C2}"/>
              </a:ext>
            </a:extLst>
          </p:cNvPr>
          <p:cNvSpPr>
            <a:spLocks xmlns:a="http://schemas.openxmlformats.org/drawingml/2006/main" noGrp="1"/>
          </p:cNvSpPr>
          <p:nvPr/>
        </p:nvSpPr>
        <p:spPr>
          <a:xfrm xmlns:a="http://schemas.openxmlformats.org/drawingml/2006/main">
            <a:off x="1409700" y="1800225"/>
            <a:ext cx="421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B6F9F"/>
                </a:solidFill>
              </a:defRPr>
            </a:pPr>
            <a:r>
              <a:rPr sz="900" b="1">
                <a:solidFill>
                  <a:srgbClr val="2B6F9F"/>
                </a:solidFill>
              </a:rPr>
              <a:t>PROMPT / QUESTION</a:t>
            </a:r>
          </a:p>
        </p:txBody>
      </p:sp>
      <p:sp>
        <p:nvSpPr>
          <p:cNvPr id="10" name="">
            <a:extLst xmlns:a="http://schemas.openxmlformats.org/drawingml/2006/main">
              <a:ext uri="{FF2B5EF4-FFF2-40B4-BE49-F238E27FC236}">
                <a16:creationId xmlns:a16="http://schemas.microsoft.com/office/drawing/2014/main" id="{013D0921-A9A9-4E46-B9C6-32C5A4CE6F3F}"/>
              </a:ext>
            </a:extLst>
          </p:cNvPr>
          <p:cNvSpPr>
            <a:spLocks xmlns:a="http://schemas.openxmlformats.org/drawingml/2006/main" noGrp="1"/>
          </p:cNvSpPr>
          <p:nvPr/>
        </p:nvSpPr>
        <p:spPr>
          <a:xfrm xmlns:a="http://schemas.openxmlformats.org/drawingml/2006/main">
            <a:off x="1409700" y="2095500"/>
            <a:ext cx="4210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02850"/>
                </a:solidFill>
              </a:defRPr>
            </a:pPr>
            <a:r>
              <a:rPr sz="1425" b="1">
                <a:solidFill>
                  <a:srgbClr val="002850"/>
                </a:solidFill>
              </a:rPr>
              <a:t>If the data is in Teradata, how does the RAG system productionalize and scale?</a:t>
            </a:r>
          </a:p>
        </p:txBody>
      </p:sp>
      <p:sp>
        <p:nvSpPr>
          <p:cNvPr id="11" name="">
            <a:extLst xmlns:a="http://schemas.openxmlformats.org/drawingml/2006/main">
              <a:ext uri="{FF2B5EF4-FFF2-40B4-BE49-F238E27FC236}">
                <a16:creationId xmlns:a16="http://schemas.microsoft.com/office/drawing/2014/main" id="{DE1E33EA-B46F-4353-BC8F-832449936CAE}"/>
              </a:ext>
            </a:extLst>
          </p:cNvPr>
          <p:cNvSpPr>
            <a:spLocks xmlns:a="http://schemas.openxmlformats.org/drawingml/2006/main" noGrp="1"/>
          </p:cNvSpPr>
          <p:nvPr/>
        </p:nvSpPr>
        <p:spPr>
          <a:xfrm xmlns:a="http://schemas.openxmlformats.org/drawingml/2006/main">
            <a:off x="857250" y="2895600"/>
            <a:ext cx="47625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12" name="">
            <a:extLst xmlns:a="http://schemas.openxmlformats.org/drawingml/2006/main">
              <a:ext uri="{FF2B5EF4-FFF2-40B4-BE49-F238E27FC236}">
                <a16:creationId xmlns:a16="http://schemas.microsoft.com/office/drawing/2014/main" id="{723EC360-449D-4ABA-ABC8-4D349BA0A8A7}"/>
              </a:ext>
            </a:extLst>
          </p:cNvPr>
          <p:cNvSpPr>
            <a:spLocks xmlns:a="http://schemas.openxmlformats.org/drawingml/2006/main" noGrp="1"/>
          </p:cNvSpPr>
          <p:nvPr/>
        </p:nvSpPr>
        <p:spPr>
          <a:xfrm xmlns:a="http://schemas.openxmlformats.org/drawingml/2006/main">
            <a:off x="857250" y="3095625"/>
            <a:ext cx="400050" cy="400050"/>
          </a:xfrm>
          <a:prstGeom xmlns:a="http://schemas.openxmlformats.org/drawingml/2006/main" prst="ellipse">
            <a:avLst/>
          </a:prstGeom>
          <a:solidFill xmlns:a="http://schemas.openxmlformats.org/drawingml/2006/main">
            <a:srgbClr val="E7F4F1"/>
          </a:solidFill>
          <a:ln xmlns:a="http://schemas.openxmlformats.org/drawingml/2006/main" w="0">
            <a:solidFill>
              <a:srgbClr val="E7F4F1"/>
            </a:solidFill>
            <a:prstDash val="solid"/>
          </a:ln>
        </p:spPr>
      </p:sp>
      <p:sp>
        <p:nvSpPr>
          <p:cNvPr id="13" name="">
            <a:extLst xmlns:a="http://schemas.openxmlformats.org/drawingml/2006/main">
              <a:ext uri="{FF2B5EF4-FFF2-40B4-BE49-F238E27FC236}">
                <a16:creationId xmlns:a16="http://schemas.microsoft.com/office/drawing/2014/main" id="{E523E143-B3D8-4E28-A398-64EDAAB91F35}"/>
              </a:ext>
            </a:extLst>
          </p:cNvPr>
          <p:cNvSpPr>
            <a:spLocks xmlns:a="http://schemas.openxmlformats.org/drawingml/2006/main" noGrp="1"/>
          </p:cNvSpPr>
          <p:nvPr/>
        </p:nvSpPr>
        <p:spPr>
          <a:xfrm xmlns:a="http://schemas.openxmlformats.org/drawingml/2006/main">
            <a:off x="857250" y="3105150"/>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F8B70"/>
                </a:solidFill>
              </a:defRPr>
            </a:pPr>
            <a:r>
              <a:rPr sz="1050" b="1">
                <a:solidFill>
                  <a:srgbClr val="2F8B70"/>
                </a:solidFill>
              </a:rPr>
              <a:t>AI</a:t>
            </a:r>
          </a:p>
        </p:txBody>
      </p:sp>
      <p:sp>
        <p:nvSpPr>
          <p:cNvPr id="14" name="">
            <a:extLst xmlns:a="http://schemas.openxmlformats.org/drawingml/2006/main">
              <a:ext uri="{FF2B5EF4-FFF2-40B4-BE49-F238E27FC236}">
                <a16:creationId xmlns:a16="http://schemas.microsoft.com/office/drawing/2014/main" id="{68965739-4ADB-4A1C-9CC4-A4588669D97A}"/>
              </a:ext>
            </a:extLst>
          </p:cNvPr>
          <p:cNvSpPr>
            <a:spLocks xmlns:a="http://schemas.openxmlformats.org/drawingml/2006/main" noGrp="1"/>
          </p:cNvSpPr>
          <p:nvPr/>
        </p:nvSpPr>
        <p:spPr>
          <a:xfrm xmlns:a="http://schemas.openxmlformats.org/drawingml/2006/main">
            <a:off x="1409700" y="3133725"/>
            <a:ext cx="421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8B70"/>
                </a:solidFill>
              </a:defRPr>
            </a:pPr>
            <a:r>
              <a:rPr sz="900" b="1">
                <a:solidFill>
                  <a:srgbClr val="2F8B70"/>
                </a:solidFill>
              </a:rPr>
              <a:t>AI RESPONSE</a:t>
            </a:r>
          </a:p>
        </p:txBody>
      </p:sp>
      <p:sp>
        <p:nvSpPr>
          <p:cNvPr id="15" name="">
            <a:extLst xmlns:a="http://schemas.openxmlformats.org/drawingml/2006/main">
              <a:ext uri="{FF2B5EF4-FFF2-40B4-BE49-F238E27FC236}">
                <a16:creationId xmlns:a16="http://schemas.microsoft.com/office/drawing/2014/main" id="{474828C1-8649-4C8E-857D-C2AFCBC1557F}"/>
              </a:ext>
            </a:extLst>
          </p:cNvPr>
          <p:cNvSpPr>
            <a:spLocks xmlns:a="http://schemas.openxmlformats.org/drawingml/2006/main" noGrp="1"/>
          </p:cNvSpPr>
          <p:nvPr/>
        </p:nvSpPr>
        <p:spPr>
          <a:xfrm xmlns:a="http://schemas.openxmlformats.org/drawingml/2006/main">
            <a:off x="1409700" y="3429000"/>
            <a:ext cx="42100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72A3A"/>
                </a:solidFill>
              </a:defRPr>
            </a:pPr>
            <a:r>
              <a:rPr sz="1275" b="0">
                <a:solidFill>
                  <a:srgbClr val="172A3A"/>
                </a:solidFill>
              </a:rPr>
              <a:t>It becomes a hybrid data application. Structured facts are retrieved through parameterized SQL against curated AI views. Notes and specifications use vector retrieval. Approved rules determine evidence sufficiency. An orchestration API composes a small evidence bundle for the LLM and records the answer, sources, and audit trail.</a:t>
            </a:r>
          </a:p>
        </p:txBody>
      </p:sp>
      <p:sp>
        <p:nvSpPr>
          <p:cNvPr id="16" name="">
            <a:extLst xmlns:a="http://schemas.openxmlformats.org/drawingml/2006/main">
              <a:ext uri="{FF2B5EF4-FFF2-40B4-BE49-F238E27FC236}">
                <a16:creationId xmlns:a16="http://schemas.microsoft.com/office/drawing/2014/main" id="{1C8A2817-C170-4C2B-8F0A-A77713922E8D}"/>
              </a:ext>
            </a:extLst>
          </p:cNvPr>
          <p:cNvSpPr>
            <a:spLocks xmlns:a="http://schemas.openxmlformats.org/drawingml/2006/main" noGrp="1"/>
          </p:cNvSpPr>
          <p:nvPr/>
        </p:nvSpPr>
        <p:spPr>
          <a:xfrm xmlns:a="http://schemas.openxmlformats.org/drawingml/2006/main">
            <a:off x="6172200" y="1552575"/>
            <a:ext cx="5410200" cy="4476750"/>
          </a:xfrm>
          <a:prstGeom xmlns:a="http://schemas.openxmlformats.org/drawingml/2006/main" prst="roundRect">
            <a:avLst>
              <a:gd name="adj" fmla="val 2553"/>
            </a:avLst>
          </a:prstGeom>
          <a:solidFill xmlns:a="http://schemas.openxmlformats.org/drawingml/2006/main">
            <a:srgbClr val="FFFFFF"/>
          </a:solidFill>
          <a:ln xmlns:a="http://schemas.openxmlformats.org/drawingml/2006/main" w="9525">
            <a:solidFill>
              <a:srgbClr val="D5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6098D93E-C0F1-438D-9BBD-48E2A3589776}"/>
              </a:ext>
            </a:extLst>
          </p:cNvPr>
          <p:cNvSpPr>
            <a:spLocks xmlns:a="http://schemas.openxmlformats.org/drawingml/2006/main" noGrp="1"/>
          </p:cNvSpPr>
          <p:nvPr/>
        </p:nvSpPr>
        <p:spPr>
          <a:xfrm xmlns:a="http://schemas.openxmlformats.org/drawingml/2006/main">
            <a:off x="6172200" y="1552575"/>
            <a:ext cx="85725" cy="4476750"/>
          </a:xfrm>
          <a:prstGeom xmlns:a="http://schemas.openxmlformats.org/drawingml/2006/main" prst="rect">
            <a:avLst/>
          </a:prstGeom>
          <a:solidFill xmlns:a="http://schemas.openxmlformats.org/drawingml/2006/main">
            <a:srgbClr val="E58A3A"/>
          </a:solidFill>
          <a:ln xmlns:a="http://schemas.openxmlformats.org/drawingml/2006/main" w="0">
            <a:solidFill>
              <a:srgbClr val="E58A3A"/>
            </a:solidFill>
            <a:prstDash val="solid"/>
          </a:ln>
        </p:spPr>
      </p:sp>
      <p:sp>
        <p:nvSpPr>
          <p:cNvPr id="18" name="">
            <a:extLst xmlns:a="http://schemas.openxmlformats.org/drawingml/2006/main">
              <a:ext uri="{FF2B5EF4-FFF2-40B4-BE49-F238E27FC236}">
                <a16:creationId xmlns:a16="http://schemas.microsoft.com/office/drawing/2014/main" id="{FDA417D2-C6D3-4235-8140-B8CD1610EBBF}"/>
              </a:ext>
            </a:extLst>
          </p:cNvPr>
          <p:cNvSpPr>
            <a:spLocks xmlns:a="http://schemas.openxmlformats.org/drawingml/2006/main" noGrp="1"/>
          </p:cNvSpPr>
          <p:nvPr/>
        </p:nvSpPr>
        <p:spPr>
          <a:xfrm xmlns:a="http://schemas.openxmlformats.org/drawingml/2006/main">
            <a:off x="6419850" y="1790700"/>
            <a:ext cx="400050" cy="400050"/>
          </a:xfrm>
          <a:prstGeom xmlns:a="http://schemas.openxmlformats.org/drawingml/2006/main" prst="ellipse">
            <a:avLst/>
          </a:prstGeom>
          <a:solidFill xmlns:a="http://schemas.openxmlformats.org/drawingml/2006/main">
            <a:srgbClr val="FFF2E6"/>
          </a:solidFill>
          <a:ln xmlns:a="http://schemas.openxmlformats.org/drawingml/2006/main" w="0">
            <a:solidFill>
              <a:srgbClr val="FFF2E6"/>
            </a:solidFill>
            <a:prstDash val="solid"/>
          </a:ln>
        </p:spPr>
      </p:sp>
      <p:sp>
        <p:nvSpPr>
          <p:cNvPr id="19" name="">
            <a:extLst xmlns:a="http://schemas.openxmlformats.org/drawingml/2006/main">
              <a:ext uri="{FF2B5EF4-FFF2-40B4-BE49-F238E27FC236}">
                <a16:creationId xmlns:a16="http://schemas.microsoft.com/office/drawing/2014/main" id="{45DF72C5-F003-40BC-8379-C77311C104E0}"/>
              </a:ext>
            </a:extLst>
          </p:cNvPr>
          <p:cNvSpPr>
            <a:spLocks xmlns:a="http://schemas.openxmlformats.org/drawingml/2006/main" noGrp="1"/>
          </p:cNvSpPr>
          <p:nvPr/>
        </p:nvSpPr>
        <p:spPr>
          <a:xfrm xmlns:a="http://schemas.openxmlformats.org/drawingml/2006/main">
            <a:off x="6419850" y="1800225"/>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E58A3A"/>
                </a:solidFill>
              </a:defRPr>
            </a:pPr>
            <a:r>
              <a:rPr sz="1725" b="1">
                <a:solidFill>
                  <a:srgbClr val="E58A3A"/>
                </a:solidFill>
              </a:rPr>
              <a:t>?</a:t>
            </a:r>
          </a:p>
        </p:txBody>
      </p:sp>
      <p:sp>
        <p:nvSpPr>
          <p:cNvPr id="20" name="">
            <a:extLst xmlns:a="http://schemas.openxmlformats.org/drawingml/2006/main">
              <a:ext uri="{FF2B5EF4-FFF2-40B4-BE49-F238E27FC236}">
                <a16:creationId xmlns:a16="http://schemas.microsoft.com/office/drawing/2014/main" id="{23A4AFCF-D46B-4A3D-83E3-EF8D9E2EDAC9}"/>
              </a:ext>
            </a:extLst>
          </p:cNvPr>
          <p:cNvSpPr>
            <a:spLocks xmlns:a="http://schemas.openxmlformats.org/drawingml/2006/main" noGrp="1"/>
          </p:cNvSpPr>
          <p:nvPr/>
        </p:nvSpPr>
        <p:spPr>
          <a:xfrm xmlns:a="http://schemas.openxmlformats.org/drawingml/2006/main">
            <a:off x="6972300" y="1800225"/>
            <a:ext cx="436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E58A3A"/>
                </a:solidFill>
              </a:defRPr>
            </a:pPr>
            <a:r>
              <a:rPr sz="900" b="1">
                <a:solidFill>
                  <a:srgbClr val="E58A3A"/>
                </a:solidFill>
              </a:rPr>
              <a:t>PROMPT / QUESTION</a:t>
            </a:r>
          </a:p>
        </p:txBody>
      </p:sp>
      <p:sp>
        <p:nvSpPr>
          <p:cNvPr id="21" name="">
            <a:extLst xmlns:a="http://schemas.openxmlformats.org/drawingml/2006/main">
              <a:ext uri="{FF2B5EF4-FFF2-40B4-BE49-F238E27FC236}">
                <a16:creationId xmlns:a16="http://schemas.microsoft.com/office/drawing/2014/main" id="{7EEC7B53-54D0-40E0-A832-C890A931277C}"/>
              </a:ext>
            </a:extLst>
          </p:cNvPr>
          <p:cNvSpPr>
            <a:spLocks xmlns:a="http://schemas.openxmlformats.org/drawingml/2006/main" noGrp="1"/>
          </p:cNvSpPr>
          <p:nvPr/>
        </p:nvSpPr>
        <p:spPr>
          <a:xfrm xmlns:a="http://schemas.openxmlformats.org/drawingml/2006/main">
            <a:off x="6972300" y="2095500"/>
            <a:ext cx="4362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02850"/>
                </a:solidFill>
              </a:defRPr>
            </a:pPr>
            <a:r>
              <a:rPr sz="1425" b="1">
                <a:solidFill>
                  <a:srgbClr val="002850"/>
                </a:solidFill>
              </a:rPr>
              <a:t>Where is the notebook reading and analyzing claims data?</a:t>
            </a:r>
          </a:p>
        </p:txBody>
      </p:sp>
      <p:sp>
        <p:nvSpPr>
          <p:cNvPr id="22" name="">
            <a:extLst xmlns:a="http://schemas.openxmlformats.org/drawingml/2006/main">
              <a:ext uri="{FF2B5EF4-FFF2-40B4-BE49-F238E27FC236}">
                <a16:creationId xmlns:a16="http://schemas.microsoft.com/office/drawing/2014/main" id="{7FE86F94-ECDE-4253-8206-FD6126EE0CC5}"/>
              </a:ext>
            </a:extLst>
          </p:cNvPr>
          <p:cNvSpPr>
            <a:spLocks xmlns:a="http://schemas.openxmlformats.org/drawingml/2006/main" noGrp="1"/>
          </p:cNvSpPr>
          <p:nvPr/>
        </p:nvSpPr>
        <p:spPr>
          <a:xfrm xmlns:a="http://schemas.openxmlformats.org/drawingml/2006/main">
            <a:off x="6419850" y="2895600"/>
            <a:ext cx="49149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23" name="">
            <a:extLst xmlns:a="http://schemas.openxmlformats.org/drawingml/2006/main">
              <a:ext uri="{FF2B5EF4-FFF2-40B4-BE49-F238E27FC236}">
                <a16:creationId xmlns:a16="http://schemas.microsoft.com/office/drawing/2014/main" id="{810CB28A-5CE7-4582-AEE2-C2EC8E887A9B}"/>
              </a:ext>
            </a:extLst>
          </p:cNvPr>
          <p:cNvSpPr>
            <a:spLocks xmlns:a="http://schemas.openxmlformats.org/drawingml/2006/main" noGrp="1"/>
          </p:cNvSpPr>
          <p:nvPr/>
        </p:nvSpPr>
        <p:spPr>
          <a:xfrm xmlns:a="http://schemas.openxmlformats.org/drawingml/2006/main">
            <a:off x="6419850" y="3095625"/>
            <a:ext cx="400050" cy="400050"/>
          </a:xfrm>
          <a:prstGeom xmlns:a="http://schemas.openxmlformats.org/drawingml/2006/main" prst="ellipse">
            <a:avLst/>
          </a:prstGeom>
          <a:solidFill xmlns:a="http://schemas.openxmlformats.org/drawingml/2006/main">
            <a:srgbClr val="E7F4F1"/>
          </a:solidFill>
          <a:ln xmlns:a="http://schemas.openxmlformats.org/drawingml/2006/main" w="0">
            <a:solidFill>
              <a:srgbClr val="E7F4F1"/>
            </a:solidFill>
            <a:prstDash val="solid"/>
          </a:ln>
        </p:spPr>
      </p:sp>
      <p:sp>
        <p:nvSpPr>
          <p:cNvPr id="24" name="">
            <a:extLst xmlns:a="http://schemas.openxmlformats.org/drawingml/2006/main">
              <a:ext uri="{FF2B5EF4-FFF2-40B4-BE49-F238E27FC236}">
                <a16:creationId xmlns:a16="http://schemas.microsoft.com/office/drawing/2014/main" id="{9DF5759D-FCCD-45C0-91D2-CE116A65A7FA}"/>
              </a:ext>
            </a:extLst>
          </p:cNvPr>
          <p:cNvSpPr>
            <a:spLocks xmlns:a="http://schemas.openxmlformats.org/drawingml/2006/main" noGrp="1"/>
          </p:cNvSpPr>
          <p:nvPr/>
        </p:nvSpPr>
        <p:spPr>
          <a:xfrm xmlns:a="http://schemas.openxmlformats.org/drawingml/2006/main">
            <a:off x="6419850" y="3105150"/>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F8B70"/>
                </a:solidFill>
              </a:defRPr>
            </a:pPr>
            <a:r>
              <a:rPr sz="1050" b="1">
                <a:solidFill>
                  <a:srgbClr val="2F8B70"/>
                </a:solidFill>
              </a:rPr>
              <a:t>AI</a:t>
            </a:r>
          </a:p>
        </p:txBody>
      </p:sp>
      <p:sp>
        <p:nvSpPr>
          <p:cNvPr id="25" name="">
            <a:extLst xmlns:a="http://schemas.openxmlformats.org/drawingml/2006/main">
              <a:ext uri="{FF2B5EF4-FFF2-40B4-BE49-F238E27FC236}">
                <a16:creationId xmlns:a16="http://schemas.microsoft.com/office/drawing/2014/main" id="{03FC1602-C838-4BB1-A33F-33D3C72974FA}"/>
              </a:ext>
            </a:extLst>
          </p:cNvPr>
          <p:cNvSpPr>
            <a:spLocks xmlns:a="http://schemas.openxmlformats.org/drawingml/2006/main" noGrp="1"/>
          </p:cNvSpPr>
          <p:nvPr/>
        </p:nvSpPr>
        <p:spPr>
          <a:xfrm xmlns:a="http://schemas.openxmlformats.org/drawingml/2006/main">
            <a:off x="6972300" y="3133725"/>
            <a:ext cx="436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8B70"/>
                </a:solidFill>
              </a:defRPr>
            </a:pPr>
            <a:r>
              <a:rPr sz="900" b="1">
                <a:solidFill>
                  <a:srgbClr val="2F8B70"/>
                </a:solidFill>
              </a:rPr>
              <a:t>AI RESPONSE</a:t>
            </a:r>
          </a:p>
        </p:txBody>
      </p:sp>
      <p:sp>
        <p:nvSpPr>
          <p:cNvPr id="26" name="">
            <a:extLst xmlns:a="http://schemas.openxmlformats.org/drawingml/2006/main">
              <a:ext uri="{FF2B5EF4-FFF2-40B4-BE49-F238E27FC236}">
                <a16:creationId xmlns:a16="http://schemas.microsoft.com/office/drawing/2014/main" id="{B3575739-5456-4704-B019-A4CBA2D7A527}"/>
              </a:ext>
            </a:extLst>
          </p:cNvPr>
          <p:cNvSpPr>
            <a:spLocks xmlns:a="http://schemas.openxmlformats.org/drawingml/2006/main" noGrp="1"/>
          </p:cNvSpPr>
          <p:nvPr/>
        </p:nvSpPr>
        <p:spPr>
          <a:xfrm xmlns:a="http://schemas.openxmlformats.org/drawingml/2006/main">
            <a:off x="6972300" y="3429000"/>
            <a:ext cx="43624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72A3A"/>
                </a:solidFill>
              </a:defRPr>
            </a:pPr>
            <a:r>
              <a:rPr sz="1275" b="0">
                <a:solidFill>
                  <a:srgbClr val="172A3A"/>
                </a:solidFill>
              </a:rPr>
              <a:t>The claims-enabled version defines CLAIMS_CSV, reads careallies_claims_evidence.csv, converts claim lines into documents, and calls claim_measure_result() from stars_claims_reconciliation_context(). In production, claims stay structured in Teradata and the rule engine evaluates only the relevant rows. Vectorizing every claim line is not the scalable target.</a:t>
            </a:r>
          </a:p>
        </p:txBody>
      </p:sp>
      <p:sp>
        <p:nvSpPr>
          <p:cNvPr id="27" name="">
            <a:extLst xmlns:a="http://schemas.openxmlformats.org/drawingml/2006/main">
              <a:ext uri="{FF2B5EF4-FFF2-40B4-BE49-F238E27FC236}">
                <a16:creationId xmlns:a16="http://schemas.microsoft.com/office/drawing/2014/main" id="{12A06B01-4E5C-44CD-A8E7-C8B48461F4B6}"/>
              </a:ext>
            </a:extLst>
          </p:cNvPr>
          <p:cNvSpPr>
            <a:spLocks xmlns:a="http://schemas.openxmlformats.org/drawingml/2006/main" noGrp="1"/>
          </p:cNvSpPr>
          <p:nvPr/>
        </p:nvSpPr>
        <p:spPr>
          <a:xfrm xmlns:a="http://schemas.openxmlformats.org/drawingml/2006/main">
            <a:off x="609600" y="6486525"/>
            <a:ext cx="523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788B98"/>
                </a:solidFill>
              </a:defRPr>
            </a:pPr>
            <a:r>
              <a:rPr sz="750" b="0">
                <a:solidFill>
                  <a:srgbClr val="788B98"/>
                </a:solidFill>
              </a:rPr>
              <a:t>CareAllies Data Lake LLM  |  Conversation extract</a:t>
            </a:r>
          </a:p>
        </p:txBody>
      </p:sp>
      <p:sp>
        <p:nvSpPr>
          <p:cNvPr id="28" name="">
            <a:extLst xmlns:a="http://schemas.openxmlformats.org/drawingml/2006/main">
              <a:ext uri="{FF2B5EF4-FFF2-40B4-BE49-F238E27FC236}">
                <a16:creationId xmlns:a16="http://schemas.microsoft.com/office/drawing/2014/main" id="{B598A1E0-240F-44B9-BF68-D5E294A8C836}"/>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Tree>
    <p:extLst>
      <p:ext uri="{BB962C8B-B14F-4D97-AF65-F5344CB8AC3E}">
        <p14:creationId xmlns:p14="http://schemas.microsoft.com/office/powerpoint/2010/main" val="844551951"/>
      </p:ext>
    </p:extLst>
  </p:cSld>
</p:sld>
</file>

<file path=ppt/slides/slide12.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8252DB5A-9E1B-4CDE-A050-E853A79A9D4C}"/>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D9A8A"/>
                </a:solidFill>
              </a:defRPr>
            </a:pPr>
            <a:r>
              <a:rPr sz="900" b="1">
                <a:solidFill>
                  <a:srgbClr val="1D9A8A"/>
                </a:solidFill>
              </a:rPr>
              <a:t>QUESTION + ANSWER</a:t>
            </a:r>
          </a:p>
        </p:txBody>
      </p:sp>
      <p:sp>
        <p:nvSpPr>
          <p:cNvPr id="2" name="">
            <a:extLst xmlns:a="http://schemas.openxmlformats.org/drawingml/2006/main">
              <a:ext uri="{FF2B5EF4-FFF2-40B4-BE49-F238E27FC236}">
                <a16:creationId xmlns:a16="http://schemas.microsoft.com/office/drawing/2014/main" id="{8C9B2C5D-1C9F-4E06-B7FB-2A4B1E46C76C}"/>
              </a:ext>
            </a:extLst>
          </p:cNvPr>
          <p:cNvSpPr>
            <a:spLocks xmlns:a="http://schemas.openxmlformats.org/drawingml/2006/main" noGrp="1"/>
          </p:cNvSpPr>
          <p:nvPr/>
        </p:nvSpPr>
        <p:spPr>
          <a:xfrm xmlns:a="http://schemas.openxmlformats.org/drawingml/2006/main">
            <a:off x="609600" y="6477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2850"/>
                </a:solidFill>
              </a:defRPr>
            </a:pPr>
            <a:r>
              <a:rPr sz="2700" b="1">
                <a:solidFill>
                  <a:srgbClr val="002850"/>
                </a:solidFill>
              </a:rPr>
              <a:t>Conversation highlights: follow-ups and tuning</a:t>
            </a:r>
          </a:p>
        </p:txBody>
      </p:sp>
      <p:sp>
        <p:nvSpPr>
          <p:cNvPr id="3" name="">
            <a:extLst xmlns:a="http://schemas.openxmlformats.org/drawingml/2006/main">
              <a:ext uri="{FF2B5EF4-FFF2-40B4-BE49-F238E27FC236}">
                <a16:creationId xmlns:a16="http://schemas.microsoft.com/office/drawing/2014/main" id="{76950F06-96DB-4075-80CF-9550E0D3C952}"/>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4" name="">
            <a:extLst xmlns:a="http://schemas.openxmlformats.org/drawingml/2006/main">
              <a:ext uri="{FF2B5EF4-FFF2-40B4-BE49-F238E27FC236}">
                <a16:creationId xmlns:a16="http://schemas.microsoft.com/office/drawing/2014/main" id="{EB0B91B4-D420-4E1F-8230-E126C86B0A62}"/>
              </a:ext>
            </a:extLst>
          </p:cNvPr>
          <p:cNvSpPr>
            <a:spLocks xmlns:a="http://schemas.openxmlformats.org/drawingml/2006/main" noGrp="1"/>
          </p:cNvSpPr>
          <p:nvPr/>
        </p:nvSpPr>
        <p:spPr>
          <a:xfrm xmlns:a="http://schemas.openxmlformats.org/drawingml/2006/main">
            <a:off x="11087100" y="3619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788B98"/>
                </a:solidFill>
              </a:defRPr>
            </a:pPr>
            <a:r>
              <a:rPr sz="900" b="1">
                <a:solidFill>
                  <a:srgbClr val="788B98"/>
                </a:solidFill>
              </a:rPr>
              <a:t>12</a:t>
            </a:r>
          </a:p>
        </p:txBody>
      </p:sp>
      <p:sp>
        <p:nvSpPr>
          <p:cNvPr id="5" name="">
            <a:extLst xmlns:a="http://schemas.openxmlformats.org/drawingml/2006/main">
              <a:ext uri="{FF2B5EF4-FFF2-40B4-BE49-F238E27FC236}">
                <a16:creationId xmlns:a16="http://schemas.microsoft.com/office/drawing/2014/main" id="{18637647-15B8-4EC9-8B35-2E485B786C02}"/>
              </a:ext>
            </a:extLst>
          </p:cNvPr>
          <p:cNvSpPr>
            <a:spLocks xmlns:a="http://schemas.openxmlformats.org/drawingml/2006/main" noGrp="1"/>
          </p:cNvSpPr>
          <p:nvPr/>
        </p:nvSpPr>
        <p:spPr>
          <a:xfrm xmlns:a="http://schemas.openxmlformats.org/drawingml/2006/main">
            <a:off x="609600" y="1552575"/>
            <a:ext cx="5257800" cy="4476750"/>
          </a:xfrm>
          <a:prstGeom xmlns:a="http://schemas.openxmlformats.org/drawingml/2006/main" prst="roundRect">
            <a:avLst>
              <a:gd name="adj" fmla="val 2553"/>
            </a:avLst>
          </a:prstGeom>
          <a:solidFill xmlns:a="http://schemas.openxmlformats.org/drawingml/2006/main">
            <a:srgbClr val="FFFFFF"/>
          </a:solidFill>
          <a:ln xmlns:a="http://schemas.openxmlformats.org/drawingml/2006/main" w="9525">
            <a:solidFill>
              <a:srgbClr val="D5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1209A1F8-B799-491F-9B21-1152E0F97E43}"/>
              </a:ext>
            </a:extLst>
          </p:cNvPr>
          <p:cNvSpPr>
            <a:spLocks xmlns:a="http://schemas.openxmlformats.org/drawingml/2006/main" noGrp="1"/>
          </p:cNvSpPr>
          <p:nvPr/>
        </p:nvSpPr>
        <p:spPr>
          <a:xfrm xmlns:a="http://schemas.openxmlformats.org/drawingml/2006/main">
            <a:off x="609600" y="1552575"/>
            <a:ext cx="85725" cy="4476750"/>
          </a:xfrm>
          <a:prstGeom xmlns:a="http://schemas.openxmlformats.org/drawingml/2006/main" prst="rect">
            <a:avLst/>
          </a:prstGeom>
          <a:solidFill xmlns:a="http://schemas.openxmlformats.org/drawingml/2006/main">
            <a:srgbClr val="1D9A8A"/>
          </a:solidFill>
          <a:ln xmlns:a="http://schemas.openxmlformats.org/drawingml/2006/main" w="0">
            <a:solidFill>
              <a:srgbClr val="1D9A8A"/>
            </a:solidFill>
            <a:prstDash val="solid"/>
          </a:ln>
        </p:spPr>
      </p:sp>
      <p:sp>
        <p:nvSpPr>
          <p:cNvPr id="7" name="">
            <a:extLst xmlns:a="http://schemas.openxmlformats.org/drawingml/2006/main">
              <a:ext uri="{FF2B5EF4-FFF2-40B4-BE49-F238E27FC236}">
                <a16:creationId xmlns:a16="http://schemas.microsoft.com/office/drawing/2014/main" id="{1B14FD3A-BDFC-49F9-9944-75AC03D94480}"/>
              </a:ext>
            </a:extLst>
          </p:cNvPr>
          <p:cNvSpPr>
            <a:spLocks xmlns:a="http://schemas.openxmlformats.org/drawingml/2006/main" noGrp="1"/>
          </p:cNvSpPr>
          <p:nvPr/>
        </p:nvSpPr>
        <p:spPr>
          <a:xfrm xmlns:a="http://schemas.openxmlformats.org/drawingml/2006/main">
            <a:off x="857250" y="1790700"/>
            <a:ext cx="400050" cy="400050"/>
          </a:xfrm>
          <a:prstGeom xmlns:a="http://schemas.openxmlformats.org/drawingml/2006/main" prst="ellipse">
            <a:avLst/>
          </a:prstGeom>
          <a:solidFill xmlns:a="http://schemas.openxmlformats.org/drawingml/2006/main">
            <a:srgbClr val="FFF2E6"/>
          </a:solidFill>
          <a:ln xmlns:a="http://schemas.openxmlformats.org/drawingml/2006/main" w="0">
            <a:solidFill>
              <a:srgbClr val="FFF2E6"/>
            </a:solidFill>
            <a:prstDash val="solid"/>
          </a:ln>
        </p:spPr>
      </p:sp>
      <p:sp>
        <p:nvSpPr>
          <p:cNvPr id="8" name="">
            <a:extLst xmlns:a="http://schemas.openxmlformats.org/drawingml/2006/main">
              <a:ext uri="{FF2B5EF4-FFF2-40B4-BE49-F238E27FC236}">
                <a16:creationId xmlns:a16="http://schemas.microsoft.com/office/drawing/2014/main" id="{7ECF74D2-F2EB-473F-B94E-E161E0962AFE}"/>
              </a:ext>
            </a:extLst>
          </p:cNvPr>
          <p:cNvSpPr>
            <a:spLocks xmlns:a="http://schemas.openxmlformats.org/drawingml/2006/main" noGrp="1"/>
          </p:cNvSpPr>
          <p:nvPr/>
        </p:nvSpPr>
        <p:spPr>
          <a:xfrm xmlns:a="http://schemas.openxmlformats.org/drawingml/2006/main">
            <a:off x="857250" y="1800225"/>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1D9A8A"/>
                </a:solidFill>
              </a:defRPr>
            </a:pPr>
            <a:r>
              <a:rPr sz="1725" b="1">
                <a:solidFill>
                  <a:srgbClr val="1D9A8A"/>
                </a:solidFill>
              </a:rPr>
              <a:t>?</a:t>
            </a:r>
          </a:p>
        </p:txBody>
      </p:sp>
      <p:sp>
        <p:nvSpPr>
          <p:cNvPr id="9" name="">
            <a:extLst xmlns:a="http://schemas.openxmlformats.org/drawingml/2006/main">
              <a:ext uri="{FF2B5EF4-FFF2-40B4-BE49-F238E27FC236}">
                <a16:creationId xmlns:a16="http://schemas.microsoft.com/office/drawing/2014/main" id="{0411D01A-1AA9-4D6C-A60E-781614324FA6}"/>
              </a:ext>
            </a:extLst>
          </p:cNvPr>
          <p:cNvSpPr>
            <a:spLocks xmlns:a="http://schemas.openxmlformats.org/drawingml/2006/main" noGrp="1"/>
          </p:cNvSpPr>
          <p:nvPr/>
        </p:nvSpPr>
        <p:spPr>
          <a:xfrm xmlns:a="http://schemas.openxmlformats.org/drawingml/2006/main">
            <a:off x="1409700" y="1800225"/>
            <a:ext cx="421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D9A8A"/>
                </a:solidFill>
              </a:defRPr>
            </a:pPr>
            <a:r>
              <a:rPr sz="900" b="1">
                <a:solidFill>
                  <a:srgbClr val="1D9A8A"/>
                </a:solidFill>
              </a:rPr>
              <a:t>PROMPT / QUESTION</a:t>
            </a:r>
          </a:p>
        </p:txBody>
      </p:sp>
      <p:sp>
        <p:nvSpPr>
          <p:cNvPr id="10" name="">
            <a:extLst xmlns:a="http://schemas.openxmlformats.org/drawingml/2006/main">
              <a:ext uri="{FF2B5EF4-FFF2-40B4-BE49-F238E27FC236}">
                <a16:creationId xmlns:a16="http://schemas.microsoft.com/office/drawing/2014/main" id="{D453B178-8B39-4D09-81B9-988D284D66FF}"/>
              </a:ext>
            </a:extLst>
          </p:cNvPr>
          <p:cNvSpPr>
            <a:spLocks xmlns:a="http://schemas.openxmlformats.org/drawingml/2006/main" noGrp="1"/>
          </p:cNvSpPr>
          <p:nvPr/>
        </p:nvSpPr>
        <p:spPr>
          <a:xfrm xmlns:a="http://schemas.openxmlformats.org/drawingml/2006/main">
            <a:off x="1409700" y="2095500"/>
            <a:ext cx="4210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02850"/>
                </a:solidFill>
              </a:defRPr>
            </a:pPr>
            <a:r>
              <a:rPr sz="1425" b="1">
                <a:solidFill>
                  <a:srgbClr val="002850"/>
                </a:solidFill>
              </a:rPr>
              <a:t>Does the code support investigative follow-up questions across separate prompts?</a:t>
            </a:r>
          </a:p>
        </p:txBody>
      </p:sp>
      <p:sp>
        <p:nvSpPr>
          <p:cNvPr id="11" name="">
            <a:extLst xmlns:a="http://schemas.openxmlformats.org/drawingml/2006/main">
              <a:ext uri="{FF2B5EF4-FFF2-40B4-BE49-F238E27FC236}">
                <a16:creationId xmlns:a16="http://schemas.microsoft.com/office/drawing/2014/main" id="{C2743B62-2831-4FD6-B9A6-61094B59868C}"/>
              </a:ext>
            </a:extLst>
          </p:cNvPr>
          <p:cNvSpPr>
            <a:spLocks xmlns:a="http://schemas.openxmlformats.org/drawingml/2006/main" noGrp="1"/>
          </p:cNvSpPr>
          <p:nvPr/>
        </p:nvSpPr>
        <p:spPr>
          <a:xfrm xmlns:a="http://schemas.openxmlformats.org/drawingml/2006/main">
            <a:off x="857250" y="2895600"/>
            <a:ext cx="47625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12" name="">
            <a:extLst xmlns:a="http://schemas.openxmlformats.org/drawingml/2006/main">
              <a:ext uri="{FF2B5EF4-FFF2-40B4-BE49-F238E27FC236}">
                <a16:creationId xmlns:a16="http://schemas.microsoft.com/office/drawing/2014/main" id="{A123E3FA-3354-48AE-ACCA-B170B53B6084}"/>
              </a:ext>
            </a:extLst>
          </p:cNvPr>
          <p:cNvSpPr>
            <a:spLocks xmlns:a="http://schemas.openxmlformats.org/drawingml/2006/main" noGrp="1"/>
          </p:cNvSpPr>
          <p:nvPr/>
        </p:nvSpPr>
        <p:spPr>
          <a:xfrm xmlns:a="http://schemas.openxmlformats.org/drawingml/2006/main">
            <a:off x="857250" y="3095625"/>
            <a:ext cx="400050" cy="400050"/>
          </a:xfrm>
          <a:prstGeom xmlns:a="http://schemas.openxmlformats.org/drawingml/2006/main" prst="ellipse">
            <a:avLst/>
          </a:prstGeom>
          <a:solidFill xmlns:a="http://schemas.openxmlformats.org/drawingml/2006/main">
            <a:srgbClr val="E7F4F1"/>
          </a:solidFill>
          <a:ln xmlns:a="http://schemas.openxmlformats.org/drawingml/2006/main" w="0">
            <a:solidFill>
              <a:srgbClr val="E7F4F1"/>
            </a:solidFill>
            <a:prstDash val="solid"/>
          </a:ln>
        </p:spPr>
      </p:sp>
      <p:sp>
        <p:nvSpPr>
          <p:cNvPr id="13" name="">
            <a:extLst xmlns:a="http://schemas.openxmlformats.org/drawingml/2006/main">
              <a:ext uri="{FF2B5EF4-FFF2-40B4-BE49-F238E27FC236}">
                <a16:creationId xmlns:a16="http://schemas.microsoft.com/office/drawing/2014/main" id="{5D129706-15B7-48CC-8953-B186B64124E0}"/>
              </a:ext>
            </a:extLst>
          </p:cNvPr>
          <p:cNvSpPr>
            <a:spLocks xmlns:a="http://schemas.openxmlformats.org/drawingml/2006/main" noGrp="1"/>
          </p:cNvSpPr>
          <p:nvPr/>
        </p:nvSpPr>
        <p:spPr>
          <a:xfrm xmlns:a="http://schemas.openxmlformats.org/drawingml/2006/main">
            <a:off x="857250" y="3105150"/>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F8B70"/>
                </a:solidFill>
              </a:defRPr>
            </a:pPr>
            <a:r>
              <a:rPr sz="1050" b="1">
                <a:solidFill>
                  <a:srgbClr val="2F8B70"/>
                </a:solidFill>
              </a:rPr>
              <a:t>AI</a:t>
            </a:r>
          </a:p>
        </p:txBody>
      </p:sp>
      <p:sp>
        <p:nvSpPr>
          <p:cNvPr id="14" name="">
            <a:extLst xmlns:a="http://schemas.openxmlformats.org/drawingml/2006/main">
              <a:ext uri="{FF2B5EF4-FFF2-40B4-BE49-F238E27FC236}">
                <a16:creationId xmlns:a16="http://schemas.microsoft.com/office/drawing/2014/main" id="{EB0C5388-8FAE-4067-8DA0-CBF015EA8934}"/>
              </a:ext>
            </a:extLst>
          </p:cNvPr>
          <p:cNvSpPr>
            <a:spLocks xmlns:a="http://schemas.openxmlformats.org/drawingml/2006/main" noGrp="1"/>
          </p:cNvSpPr>
          <p:nvPr/>
        </p:nvSpPr>
        <p:spPr>
          <a:xfrm xmlns:a="http://schemas.openxmlformats.org/drawingml/2006/main">
            <a:off x="1409700" y="3133725"/>
            <a:ext cx="421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8B70"/>
                </a:solidFill>
              </a:defRPr>
            </a:pPr>
            <a:r>
              <a:rPr sz="900" b="1">
                <a:solidFill>
                  <a:srgbClr val="2F8B70"/>
                </a:solidFill>
              </a:rPr>
              <a:t>AI RESPONSE</a:t>
            </a:r>
          </a:p>
        </p:txBody>
      </p:sp>
      <p:sp>
        <p:nvSpPr>
          <p:cNvPr id="15" name="">
            <a:extLst xmlns:a="http://schemas.openxmlformats.org/drawingml/2006/main">
              <a:ext uri="{FF2B5EF4-FFF2-40B4-BE49-F238E27FC236}">
                <a16:creationId xmlns:a16="http://schemas.microsoft.com/office/drawing/2014/main" id="{00564BAC-21B9-4DAA-A582-6FFBF05F9A6D}"/>
              </a:ext>
            </a:extLst>
          </p:cNvPr>
          <p:cNvSpPr>
            <a:spLocks xmlns:a="http://schemas.openxmlformats.org/drawingml/2006/main" noGrp="1"/>
          </p:cNvSpPr>
          <p:nvPr/>
        </p:nvSpPr>
        <p:spPr>
          <a:xfrm xmlns:a="http://schemas.openxmlformats.org/drawingml/2006/main">
            <a:off x="1409700" y="3429000"/>
            <a:ext cx="42100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72A3A"/>
                </a:solidFill>
              </a:defRPr>
            </a:pPr>
            <a:r>
              <a:rPr sz="1275" b="0">
                <a:solidFill>
                  <a:srgbClr val="172A3A"/>
                </a:solidFill>
              </a:rPr>
              <a:t>Not yet. V5 is effectively single-turn. Add structured session state for member, provider, measure, prior route, and recent turns. A follow-up such as ‘What do her claims show?’ is rewritten into a standalone question using the previously resolved member. The application should display that inherited context instead of making a hidden assumption.</a:t>
            </a:r>
          </a:p>
        </p:txBody>
      </p:sp>
      <p:sp>
        <p:nvSpPr>
          <p:cNvPr id="16" name="">
            <a:extLst xmlns:a="http://schemas.openxmlformats.org/drawingml/2006/main">
              <a:ext uri="{FF2B5EF4-FFF2-40B4-BE49-F238E27FC236}">
                <a16:creationId xmlns:a16="http://schemas.microsoft.com/office/drawing/2014/main" id="{23057071-2C8E-472B-9D48-2725683D785F}"/>
              </a:ext>
            </a:extLst>
          </p:cNvPr>
          <p:cNvSpPr>
            <a:spLocks xmlns:a="http://schemas.openxmlformats.org/drawingml/2006/main" noGrp="1"/>
          </p:cNvSpPr>
          <p:nvPr/>
        </p:nvSpPr>
        <p:spPr>
          <a:xfrm xmlns:a="http://schemas.openxmlformats.org/drawingml/2006/main">
            <a:off x="6172200" y="1552575"/>
            <a:ext cx="5410200" cy="4476750"/>
          </a:xfrm>
          <a:prstGeom xmlns:a="http://schemas.openxmlformats.org/drawingml/2006/main" prst="roundRect">
            <a:avLst>
              <a:gd name="adj" fmla="val 2553"/>
            </a:avLst>
          </a:prstGeom>
          <a:solidFill xmlns:a="http://schemas.openxmlformats.org/drawingml/2006/main">
            <a:srgbClr val="FFFFFF"/>
          </a:solidFill>
          <a:ln xmlns:a="http://schemas.openxmlformats.org/drawingml/2006/main" w="9525">
            <a:solidFill>
              <a:srgbClr val="D5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DFD1274E-CB9D-42C4-A56A-6E904862CD38}"/>
              </a:ext>
            </a:extLst>
          </p:cNvPr>
          <p:cNvSpPr>
            <a:spLocks xmlns:a="http://schemas.openxmlformats.org/drawingml/2006/main" noGrp="1"/>
          </p:cNvSpPr>
          <p:nvPr/>
        </p:nvSpPr>
        <p:spPr>
          <a:xfrm xmlns:a="http://schemas.openxmlformats.org/drawingml/2006/main">
            <a:off x="6172200" y="1552575"/>
            <a:ext cx="85725" cy="4476750"/>
          </a:xfrm>
          <a:prstGeom xmlns:a="http://schemas.openxmlformats.org/drawingml/2006/main" prst="rect">
            <a:avLst/>
          </a:prstGeom>
          <a:solidFill xmlns:a="http://schemas.openxmlformats.org/drawingml/2006/main">
            <a:srgbClr val="2B6F9F"/>
          </a:solidFill>
          <a:ln xmlns:a="http://schemas.openxmlformats.org/drawingml/2006/main" w="0">
            <a:solidFill>
              <a:srgbClr val="2B6F9F"/>
            </a:solidFill>
            <a:prstDash val="solid"/>
          </a:ln>
        </p:spPr>
      </p:sp>
      <p:sp>
        <p:nvSpPr>
          <p:cNvPr id="18" name="">
            <a:extLst xmlns:a="http://schemas.openxmlformats.org/drawingml/2006/main">
              <a:ext uri="{FF2B5EF4-FFF2-40B4-BE49-F238E27FC236}">
                <a16:creationId xmlns:a16="http://schemas.microsoft.com/office/drawing/2014/main" id="{4E7058DA-1A11-4E32-B384-F450840E3086}"/>
              </a:ext>
            </a:extLst>
          </p:cNvPr>
          <p:cNvSpPr>
            <a:spLocks xmlns:a="http://schemas.openxmlformats.org/drawingml/2006/main" noGrp="1"/>
          </p:cNvSpPr>
          <p:nvPr/>
        </p:nvSpPr>
        <p:spPr>
          <a:xfrm xmlns:a="http://schemas.openxmlformats.org/drawingml/2006/main">
            <a:off x="6419850" y="1790700"/>
            <a:ext cx="400050" cy="400050"/>
          </a:xfrm>
          <a:prstGeom xmlns:a="http://schemas.openxmlformats.org/drawingml/2006/main" prst="ellipse">
            <a:avLst/>
          </a:prstGeom>
          <a:solidFill xmlns:a="http://schemas.openxmlformats.org/drawingml/2006/main">
            <a:srgbClr val="FFF2E6"/>
          </a:solidFill>
          <a:ln xmlns:a="http://schemas.openxmlformats.org/drawingml/2006/main" w="0">
            <a:solidFill>
              <a:srgbClr val="FFF2E6"/>
            </a:solidFill>
            <a:prstDash val="solid"/>
          </a:ln>
        </p:spPr>
      </p:sp>
      <p:sp>
        <p:nvSpPr>
          <p:cNvPr id="19" name="">
            <a:extLst xmlns:a="http://schemas.openxmlformats.org/drawingml/2006/main">
              <a:ext uri="{FF2B5EF4-FFF2-40B4-BE49-F238E27FC236}">
                <a16:creationId xmlns:a16="http://schemas.microsoft.com/office/drawing/2014/main" id="{272609AD-1FEC-4841-9C27-04851A9EDBE0}"/>
              </a:ext>
            </a:extLst>
          </p:cNvPr>
          <p:cNvSpPr>
            <a:spLocks xmlns:a="http://schemas.openxmlformats.org/drawingml/2006/main" noGrp="1"/>
          </p:cNvSpPr>
          <p:nvPr/>
        </p:nvSpPr>
        <p:spPr>
          <a:xfrm xmlns:a="http://schemas.openxmlformats.org/drawingml/2006/main">
            <a:off x="6419850" y="1800225"/>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2B6F9F"/>
                </a:solidFill>
              </a:defRPr>
            </a:pPr>
            <a:r>
              <a:rPr sz="1725" b="1">
                <a:solidFill>
                  <a:srgbClr val="2B6F9F"/>
                </a:solidFill>
              </a:rPr>
              <a:t>?</a:t>
            </a:r>
          </a:p>
        </p:txBody>
      </p:sp>
      <p:sp>
        <p:nvSpPr>
          <p:cNvPr id="20" name="">
            <a:extLst xmlns:a="http://schemas.openxmlformats.org/drawingml/2006/main">
              <a:ext uri="{FF2B5EF4-FFF2-40B4-BE49-F238E27FC236}">
                <a16:creationId xmlns:a16="http://schemas.microsoft.com/office/drawing/2014/main" id="{AD5F1CA6-CF68-4BAA-9633-8D2E94F30C19}"/>
              </a:ext>
            </a:extLst>
          </p:cNvPr>
          <p:cNvSpPr>
            <a:spLocks xmlns:a="http://schemas.openxmlformats.org/drawingml/2006/main" noGrp="1"/>
          </p:cNvSpPr>
          <p:nvPr/>
        </p:nvSpPr>
        <p:spPr>
          <a:xfrm xmlns:a="http://schemas.openxmlformats.org/drawingml/2006/main">
            <a:off x="6972300" y="1800225"/>
            <a:ext cx="436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B6F9F"/>
                </a:solidFill>
              </a:defRPr>
            </a:pPr>
            <a:r>
              <a:rPr sz="900" b="1">
                <a:solidFill>
                  <a:srgbClr val="2B6F9F"/>
                </a:solidFill>
              </a:rPr>
              <a:t>PROMPT / QUESTION</a:t>
            </a:r>
          </a:p>
        </p:txBody>
      </p:sp>
      <p:sp>
        <p:nvSpPr>
          <p:cNvPr id="21" name="">
            <a:extLst xmlns:a="http://schemas.openxmlformats.org/drawingml/2006/main">
              <a:ext uri="{FF2B5EF4-FFF2-40B4-BE49-F238E27FC236}">
                <a16:creationId xmlns:a16="http://schemas.microsoft.com/office/drawing/2014/main" id="{3EF637F6-AED0-4837-8A2C-A9E6D5063D55}"/>
              </a:ext>
            </a:extLst>
          </p:cNvPr>
          <p:cNvSpPr>
            <a:spLocks xmlns:a="http://schemas.openxmlformats.org/drawingml/2006/main" noGrp="1"/>
          </p:cNvSpPr>
          <p:nvPr/>
        </p:nvSpPr>
        <p:spPr>
          <a:xfrm xmlns:a="http://schemas.openxmlformats.org/drawingml/2006/main">
            <a:off x="6972300" y="2095500"/>
            <a:ext cx="4362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02850"/>
                </a:solidFill>
              </a:defRPr>
            </a:pPr>
            <a:r>
              <a:rPr sz="1425" b="1">
                <a:solidFill>
                  <a:srgbClr val="002850"/>
                </a:solidFill>
              </a:rPr>
              <a:t>Which hyperparameters can I tune to improve model performance?</a:t>
            </a:r>
          </a:p>
        </p:txBody>
      </p:sp>
      <p:sp>
        <p:nvSpPr>
          <p:cNvPr id="22" name="">
            <a:extLst xmlns:a="http://schemas.openxmlformats.org/drawingml/2006/main">
              <a:ext uri="{FF2B5EF4-FFF2-40B4-BE49-F238E27FC236}">
                <a16:creationId xmlns:a16="http://schemas.microsoft.com/office/drawing/2014/main" id="{86E72DA7-C65A-4319-A9A6-F394E9EBAAEB}"/>
              </a:ext>
            </a:extLst>
          </p:cNvPr>
          <p:cNvSpPr>
            <a:spLocks xmlns:a="http://schemas.openxmlformats.org/drawingml/2006/main" noGrp="1"/>
          </p:cNvSpPr>
          <p:nvPr/>
        </p:nvSpPr>
        <p:spPr>
          <a:xfrm xmlns:a="http://schemas.openxmlformats.org/drawingml/2006/main">
            <a:off x="6419850" y="2895600"/>
            <a:ext cx="49149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23" name="">
            <a:extLst xmlns:a="http://schemas.openxmlformats.org/drawingml/2006/main">
              <a:ext uri="{FF2B5EF4-FFF2-40B4-BE49-F238E27FC236}">
                <a16:creationId xmlns:a16="http://schemas.microsoft.com/office/drawing/2014/main" id="{693544A0-7ACA-4799-94DC-C14E4C6B1C55}"/>
              </a:ext>
            </a:extLst>
          </p:cNvPr>
          <p:cNvSpPr>
            <a:spLocks xmlns:a="http://schemas.openxmlformats.org/drawingml/2006/main" noGrp="1"/>
          </p:cNvSpPr>
          <p:nvPr/>
        </p:nvSpPr>
        <p:spPr>
          <a:xfrm xmlns:a="http://schemas.openxmlformats.org/drawingml/2006/main">
            <a:off x="6419850" y="3095625"/>
            <a:ext cx="400050" cy="400050"/>
          </a:xfrm>
          <a:prstGeom xmlns:a="http://schemas.openxmlformats.org/drawingml/2006/main" prst="ellipse">
            <a:avLst/>
          </a:prstGeom>
          <a:solidFill xmlns:a="http://schemas.openxmlformats.org/drawingml/2006/main">
            <a:srgbClr val="E7F4F1"/>
          </a:solidFill>
          <a:ln xmlns:a="http://schemas.openxmlformats.org/drawingml/2006/main" w="0">
            <a:solidFill>
              <a:srgbClr val="E7F4F1"/>
            </a:solidFill>
            <a:prstDash val="solid"/>
          </a:ln>
        </p:spPr>
      </p:sp>
      <p:sp>
        <p:nvSpPr>
          <p:cNvPr id="24" name="">
            <a:extLst xmlns:a="http://schemas.openxmlformats.org/drawingml/2006/main">
              <a:ext uri="{FF2B5EF4-FFF2-40B4-BE49-F238E27FC236}">
                <a16:creationId xmlns:a16="http://schemas.microsoft.com/office/drawing/2014/main" id="{AEB26933-7B5B-4914-B92E-80740153FA08}"/>
              </a:ext>
            </a:extLst>
          </p:cNvPr>
          <p:cNvSpPr>
            <a:spLocks xmlns:a="http://schemas.openxmlformats.org/drawingml/2006/main" noGrp="1"/>
          </p:cNvSpPr>
          <p:nvPr/>
        </p:nvSpPr>
        <p:spPr>
          <a:xfrm xmlns:a="http://schemas.openxmlformats.org/drawingml/2006/main">
            <a:off x="6419850" y="3105150"/>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F8B70"/>
                </a:solidFill>
              </a:defRPr>
            </a:pPr>
            <a:r>
              <a:rPr sz="1050" b="1">
                <a:solidFill>
                  <a:srgbClr val="2F8B70"/>
                </a:solidFill>
              </a:rPr>
              <a:t>AI</a:t>
            </a:r>
          </a:p>
        </p:txBody>
      </p:sp>
      <p:sp>
        <p:nvSpPr>
          <p:cNvPr id="25" name="">
            <a:extLst xmlns:a="http://schemas.openxmlformats.org/drawingml/2006/main">
              <a:ext uri="{FF2B5EF4-FFF2-40B4-BE49-F238E27FC236}">
                <a16:creationId xmlns:a16="http://schemas.microsoft.com/office/drawing/2014/main" id="{1364848A-70FF-43F1-8E51-76C4641E135E}"/>
              </a:ext>
            </a:extLst>
          </p:cNvPr>
          <p:cNvSpPr>
            <a:spLocks xmlns:a="http://schemas.openxmlformats.org/drawingml/2006/main" noGrp="1"/>
          </p:cNvSpPr>
          <p:nvPr/>
        </p:nvSpPr>
        <p:spPr>
          <a:xfrm xmlns:a="http://schemas.openxmlformats.org/drawingml/2006/main">
            <a:off x="6972300" y="3133725"/>
            <a:ext cx="436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8B70"/>
                </a:solidFill>
              </a:defRPr>
            </a:pPr>
            <a:r>
              <a:rPr sz="900" b="1">
                <a:solidFill>
                  <a:srgbClr val="2F8B70"/>
                </a:solidFill>
              </a:rPr>
              <a:t>AI RESPONSE</a:t>
            </a:r>
          </a:p>
        </p:txBody>
      </p:sp>
      <p:sp>
        <p:nvSpPr>
          <p:cNvPr id="26" name="">
            <a:extLst xmlns:a="http://schemas.openxmlformats.org/drawingml/2006/main">
              <a:ext uri="{FF2B5EF4-FFF2-40B4-BE49-F238E27FC236}">
                <a16:creationId xmlns:a16="http://schemas.microsoft.com/office/drawing/2014/main" id="{C32322F3-365E-4122-AC00-D9DA9C46E6D9}"/>
              </a:ext>
            </a:extLst>
          </p:cNvPr>
          <p:cNvSpPr>
            <a:spLocks xmlns:a="http://schemas.openxmlformats.org/drawingml/2006/main" noGrp="1"/>
          </p:cNvSpPr>
          <p:nvPr/>
        </p:nvSpPr>
        <p:spPr>
          <a:xfrm xmlns:a="http://schemas.openxmlformats.org/drawingml/2006/main">
            <a:off x="6972300" y="3429000"/>
            <a:ext cx="43624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72A3A"/>
                </a:solidFill>
              </a:defRPr>
            </a:pPr>
            <a:r>
              <a:rPr sz="1275" b="0">
                <a:solidFill>
                  <a:srgbClr val="172A3A"/>
                </a:solidFill>
              </a:rPr>
              <a:t>Tune by layer. Generation: max tokens, repetition penalty, and low-temperature sampling. Retrieval: chunk size, overlap, top-k, metadata filters, and reranking. Routing: ID patterns, intent precedence, and confidence thresholds. Fine-tuning: LoRA rank, learning rate, and epochs. First fix routing, chat formatting, and model size. Temperature cannot rescue the wrong member.</a:t>
            </a:r>
          </a:p>
        </p:txBody>
      </p:sp>
      <p:sp>
        <p:nvSpPr>
          <p:cNvPr id="27" name="">
            <a:extLst xmlns:a="http://schemas.openxmlformats.org/drawingml/2006/main">
              <a:ext uri="{FF2B5EF4-FFF2-40B4-BE49-F238E27FC236}">
                <a16:creationId xmlns:a16="http://schemas.microsoft.com/office/drawing/2014/main" id="{22431B83-062B-4651-B041-04B43D6FD9B5}"/>
              </a:ext>
            </a:extLst>
          </p:cNvPr>
          <p:cNvSpPr>
            <a:spLocks xmlns:a="http://schemas.openxmlformats.org/drawingml/2006/main" noGrp="1"/>
          </p:cNvSpPr>
          <p:nvPr/>
        </p:nvSpPr>
        <p:spPr>
          <a:xfrm xmlns:a="http://schemas.openxmlformats.org/drawingml/2006/main">
            <a:off x="609600" y="6486525"/>
            <a:ext cx="523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788B98"/>
                </a:solidFill>
              </a:defRPr>
            </a:pPr>
            <a:r>
              <a:rPr sz="750" b="0">
                <a:solidFill>
                  <a:srgbClr val="788B98"/>
                </a:solidFill>
              </a:rPr>
              <a:t>CareAllies Data Lake LLM  |  Conversation extract</a:t>
            </a:r>
          </a:p>
        </p:txBody>
      </p:sp>
      <p:sp>
        <p:nvSpPr>
          <p:cNvPr id="28" name="">
            <a:extLst xmlns:a="http://schemas.openxmlformats.org/drawingml/2006/main">
              <a:ext uri="{FF2B5EF4-FFF2-40B4-BE49-F238E27FC236}">
                <a16:creationId xmlns:a16="http://schemas.microsoft.com/office/drawing/2014/main" id="{3D7362D7-1A32-4AFE-85AE-D2A3F8A27930}"/>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Tree>
    <p:extLst>
      <p:ext uri="{BB962C8B-B14F-4D97-AF65-F5344CB8AC3E}">
        <p14:creationId xmlns:p14="http://schemas.microsoft.com/office/powerpoint/2010/main" val="652883935"/>
      </p:ext>
    </p:extLst>
  </p:cSld>
</p:sld>
</file>

<file path=ppt/slides/slide13.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F1925C5-CDFD-4882-B410-9F6C73D4FC14}"/>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D9A8A"/>
                </a:solidFill>
              </a:defRPr>
            </a:pPr>
            <a:r>
              <a:rPr sz="900" b="1">
                <a:solidFill>
                  <a:srgbClr val="1D9A8A"/>
                </a:solidFill>
              </a:rPr>
              <a:t>QUESTION + ANSWER</a:t>
            </a:r>
          </a:p>
        </p:txBody>
      </p:sp>
      <p:sp>
        <p:nvSpPr>
          <p:cNvPr id="2" name="">
            <a:extLst xmlns:a="http://schemas.openxmlformats.org/drawingml/2006/main">
              <a:ext uri="{FF2B5EF4-FFF2-40B4-BE49-F238E27FC236}">
                <a16:creationId xmlns:a16="http://schemas.microsoft.com/office/drawing/2014/main" id="{727971AB-8D52-4FBA-88F9-B88AE51A2787}"/>
              </a:ext>
            </a:extLst>
          </p:cNvPr>
          <p:cNvSpPr>
            <a:spLocks xmlns:a="http://schemas.openxmlformats.org/drawingml/2006/main" noGrp="1"/>
          </p:cNvSpPr>
          <p:nvPr/>
        </p:nvSpPr>
        <p:spPr>
          <a:xfrm xmlns:a="http://schemas.openxmlformats.org/drawingml/2006/main">
            <a:off x="609600" y="6477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2850"/>
                </a:solidFill>
              </a:defRPr>
            </a:pPr>
            <a:r>
              <a:rPr sz="2700" b="1">
                <a:solidFill>
                  <a:srgbClr val="002850"/>
                </a:solidFill>
              </a:rPr>
              <a:t>Conversation highlights: performance and observed quality</a:t>
            </a:r>
          </a:p>
        </p:txBody>
      </p:sp>
      <p:sp>
        <p:nvSpPr>
          <p:cNvPr id="3" name="">
            <a:extLst xmlns:a="http://schemas.openxmlformats.org/drawingml/2006/main">
              <a:ext uri="{FF2B5EF4-FFF2-40B4-BE49-F238E27FC236}">
                <a16:creationId xmlns:a16="http://schemas.microsoft.com/office/drawing/2014/main" id="{BC710AF8-089A-460D-8D38-BEC35DC3504D}"/>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4" name="">
            <a:extLst xmlns:a="http://schemas.openxmlformats.org/drawingml/2006/main">
              <a:ext uri="{FF2B5EF4-FFF2-40B4-BE49-F238E27FC236}">
                <a16:creationId xmlns:a16="http://schemas.microsoft.com/office/drawing/2014/main" id="{B6BCEF3A-3715-4B83-BC2B-5A99F40FA0C8}"/>
              </a:ext>
            </a:extLst>
          </p:cNvPr>
          <p:cNvSpPr>
            <a:spLocks xmlns:a="http://schemas.openxmlformats.org/drawingml/2006/main" noGrp="1"/>
          </p:cNvSpPr>
          <p:nvPr/>
        </p:nvSpPr>
        <p:spPr>
          <a:xfrm xmlns:a="http://schemas.openxmlformats.org/drawingml/2006/main">
            <a:off x="11087100" y="3619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788B98"/>
                </a:solidFill>
              </a:defRPr>
            </a:pPr>
            <a:r>
              <a:rPr sz="900" b="1">
                <a:solidFill>
                  <a:srgbClr val="788B98"/>
                </a:solidFill>
              </a:rPr>
              <a:t>13</a:t>
            </a:r>
          </a:p>
        </p:txBody>
      </p:sp>
      <p:sp>
        <p:nvSpPr>
          <p:cNvPr id="5" name="">
            <a:extLst xmlns:a="http://schemas.openxmlformats.org/drawingml/2006/main">
              <a:ext uri="{FF2B5EF4-FFF2-40B4-BE49-F238E27FC236}">
                <a16:creationId xmlns:a16="http://schemas.microsoft.com/office/drawing/2014/main" id="{98B6912B-5DF9-45FE-8267-78532964A079}"/>
              </a:ext>
            </a:extLst>
          </p:cNvPr>
          <p:cNvSpPr>
            <a:spLocks xmlns:a="http://schemas.openxmlformats.org/drawingml/2006/main" noGrp="1"/>
          </p:cNvSpPr>
          <p:nvPr/>
        </p:nvSpPr>
        <p:spPr>
          <a:xfrm xmlns:a="http://schemas.openxmlformats.org/drawingml/2006/main">
            <a:off x="609600" y="1552575"/>
            <a:ext cx="5257800" cy="4476750"/>
          </a:xfrm>
          <a:prstGeom xmlns:a="http://schemas.openxmlformats.org/drawingml/2006/main" prst="roundRect">
            <a:avLst>
              <a:gd name="adj" fmla="val 2553"/>
            </a:avLst>
          </a:prstGeom>
          <a:solidFill xmlns:a="http://schemas.openxmlformats.org/drawingml/2006/main">
            <a:srgbClr val="FFFFFF"/>
          </a:solidFill>
          <a:ln xmlns:a="http://schemas.openxmlformats.org/drawingml/2006/main" w="9525">
            <a:solidFill>
              <a:srgbClr val="D5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6" name="">
            <a:extLst xmlns:a="http://schemas.openxmlformats.org/drawingml/2006/main">
              <a:ext uri="{FF2B5EF4-FFF2-40B4-BE49-F238E27FC236}">
                <a16:creationId xmlns:a16="http://schemas.microsoft.com/office/drawing/2014/main" id="{F2DCC3C0-C1EE-4C12-A96A-170353DF9D21}"/>
              </a:ext>
            </a:extLst>
          </p:cNvPr>
          <p:cNvSpPr>
            <a:spLocks xmlns:a="http://schemas.openxmlformats.org/drawingml/2006/main" noGrp="1"/>
          </p:cNvSpPr>
          <p:nvPr/>
        </p:nvSpPr>
        <p:spPr>
          <a:xfrm xmlns:a="http://schemas.openxmlformats.org/drawingml/2006/main">
            <a:off x="609600" y="1552575"/>
            <a:ext cx="85725" cy="4476750"/>
          </a:xfrm>
          <a:prstGeom xmlns:a="http://schemas.openxmlformats.org/drawingml/2006/main" prst="rect">
            <a:avLst/>
          </a:prstGeom>
          <a:solidFill xmlns:a="http://schemas.openxmlformats.org/drawingml/2006/main">
            <a:srgbClr val="2B6F9F"/>
          </a:solidFill>
          <a:ln xmlns:a="http://schemas.openxmlformats.org/drawingml/2006/main" w="0">
            <a:solidFill>
              <a:srgbClr val="2B6F9F"/>
            </a:solidFill>
            <a:prstDash val="solid"/>
          </a:ln>
        </p:spPr>
      </p:sp>
      <p:sp>
        <p:nvSpPr>
          <p:cNvPr id="7" name="">
            <a:extLst xmlns:a="http://schemas.openxmlformats.org/drawingml/2006/main">
              <a:ext uri="{FF2B5EF4-FFF2-40B4-BE49-F238E27FC236}">
                <a16:creationId xmlns:a16="http://schemas.microsoft.com/office/drawing/2014/main" id="{C5A38224-8C20-4F02-A2F3-9746089BE249}"/>
              </a:ext>
            </a:extLst>
          </p:cNvPr>
          <p:cNvSpPr>
            <a:spLocks xmlns:a="http://schemas.openxmlformats.org/drawingml/2006/main" noGrp="1"/>
          </p:cNvSpPr>
          <p:nvPr/>
        </p:nvSpPr>
        <p:spPr>
          <a:xfrm xmlns:a="http://schemas.openxmlformats.org/drawingml/2006/main">
            <a:off x="857250" y="1790700"/>
            <a:ext cx="400050" cy="400050"/>
          </a:xfrm>
          <a:prstGeom xmlns:a="http://schemas.openxmlformats.org/drawingml/2006/main" prst="ellipse">
            <a:avLst/>
          </a:prstGeom>
          <a:solidFill xmlns:a="http://schemas.openxmlformats.org/drawingml/2006/main">
            <a:srgbClr val="FFF2E6"/>
          </a:solidFill>
          <a:ln xmlns:a="http://schemas.openxmlformats.org/drawingml/2006/main" w="0">
            <a:solidFill>
              <a:srgbClr val="FFF2E6"/>
            </a:solidFill>
            <a:prstDash val="solid"/>
          </a:ln>
        </p:spPr>
      </p:sp>
      <p:sp>
        <p:nvSpPr>
          <p:cNvPr id="8" name="">
            <a:extLst xmlns:a="http://schemas.openxmlformats.org/drawingml/2006/main">
              <a:ext uri="{FF2B5EF4-FFF2-40B4-BE49-F238E27FC236}">
                <a16:creationId xmlns:a16="http://schemas.microsoft.com/office/drawing/2014/main" id="{4E6244FD-BEBA-498D-8C9D-EECE495FDF78}"/>
              </a:ext>
            </a:extLst>
          </p:cNvPr>
          <p:cNvSpPr>
            <a:spLocks xmlns:a="http://schemas.openxmlformats.org/drawingml/2006/main" noGrp="1"/>
          </p:cNvSpPr>
          <p:nvPr/>
        </p:nvSpPr>
        <p:spPr>
          <a:xfrm xmlns:a="http://schemas.openxmlformats.org/drawingml/2006/main">
            <a:off x="857250" y="1800225"/>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2B6F9F"/>
                </a:solidFill>
              </a:defRPr>
            </a:pPr>
            <a:r>
              <a:rPr sz="1725" b="1">
                <a:solidFill>
                  <a:srgbClr val="2B6F9F"/>
                </a:solidFill>
              </a:rPr>
              <a:t>?</a:t>
            </a:r>
          </a:p>
        </p:txBody>
      </p:sp>
      <p:sp>
        <p:nvSpPr>
          <p:cNvPr id="9" name="">
            <a:extLst xmlns:a="http://schemas.openxmlformats.org/drawingml/2006/main">
              <a:ext uri="{FF2B5EF4-FFF2-40B4-BE49-F238E27FC236}">
                <a16:creationId xmlns:a16="http://schemas.microsoft.com/office/drawing/2014/main" id="{31475E73-3AD1-4B22-B046-6D2A79AECD70}"/>
              </a:ext>
            </a:extLst>
          </p:cNvPr>
          <p:cNvSpPr>
            <a:spLocks xmlns:a="http://schemas.openxmlformats.org/drawingml/2006/main" noGrp="1"/>
          </p:cNvSpPr>
          <p:nvPr/>
        </p:nvSpPr>
        <p:spPr>
          <a:xfrm xmlns:a="http://schemas.openxmlformats.org/drawingml/2006/main">
            <a:off x="1409700" y="1800225"/>
            <a:ext cx="421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B6F9F"/>
                </a:solidFill>
              </a:defRPr>
            </a:pPr>
            <a:r>
              <a:rPr sz="900" b="1">
                <a:solidFill>
                  <a:srgbClr val="2B6F9F"/>
                </a:solidFill>
              </a:rPr>
              <a:t>PROMPT / QUESTION</a:t>
            </a:r>
          </a:p>
        </p:txBody>
      </p:sp>
      <p:sp>
        <p:nvSpPr>
          <p:cNvPr id="10" name="">
            <a:extLst xmlns:a="http://schemas.openxmlformats.org/drawingml/2006/main">
              <a:ext uri="{FF2B5EF4-FFF2-40B4-BE49-F238E27FC236}">
                <a16:creationId xmlns:a16="http://schemas.microsoft.com/office/drawing/2014/main" id="{CF9546A6-F774-4395-888B-1A40F2D555B3}"/>
              </a:ext>
            </a:extLst>
          </p:cNvPr>
          <p:cNvSpPr>
            <a:spLocks xmlns:a="http://schemas.openxmlformats.org/drawingml/2006/main" noGrp="1"/>
          </p:cNvSpPr>
          <p:nvPr/>
        </p:nvSpPr>
        <p:spPr>
          <a:xfrm xmlns:a="http://schemas.openxmlformats.org/drawingml/2006/main">
            <a:off x="1409700" y="2095500"/>
            <a:ext cx="4210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02850"/>
                </a:solidFill>
              </a:defRPr>
            </a:pPr>
            <a:r>
              <a:rPr sz="1425" b="1">
                <a:solidFill>
                  <a:srgbClr val="002850"/>
                </a:solidFill>
              </a:rPr>
              <a:t>How do I measure the system’s performance?</a:t>
            </a:r>
          </a:p>
        </p:txBody>
      </p:sp>
      <p:sp>
        <p:nvSpPr>
          <p:cNvPr id="11" name="">
            <a:extLst xmlns:a="http://schemas.openxmlformats.org/drawingml/2006/main">
              <a:ext uri="{FF2B5EF4-FFF2-40B4-BE49-F238E27FC236}">
                <a16:creationId xmlns:a16="http://schemas.microsoft.com/office/drawing/2014/main" id="{E48ABBC1-0D5B-463E-9813-2EF9DED1088C}"/>
              </a:ext>
            </a:extLst>
          </p:cNvPr>
          <p:cNvSpPr>
            <a:spLocks xmlns:a="http://schemas.openxmlformats.org/drawingml/2006/main" noGrp="1"/>
          </p:cNvSpPr>
          <p:nvPr/>
        </p:nvSpPr>
        <p:spPr>
          <a:xfrm xmlns:a="http://schemas.openxmlformats.org/drawingml/2006/main">
            <a:off x="857250" y="2895600"/>
            <a:ext cx="47625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12" name="">
            <a:extLst xmlns:a="http://schemas.openxmlformats.org/drawingml/2006/main">
              <a:ext uri="{FF2B5EF4-FFF2-40B4-BE49-F238E27FC236}">
                <a16:creationId xmlns:a16="http://schemas.microsoft.com/office/drawing/2014/main" id="{BBE3724F-D50A-4805-ACB5-959B4CF6AF58}"/>
              </a:ext>
            </a:extLst>
          </p:cNvPr>
          <p:cNvSpPr>
            <a:spLocks xmlns:a="http://schemas.openxmlformats.org/drawingml/2006/main" noGrp="1"/>
          </p:cNvSpPr>
          <p:nvPr/>
        </p:nvSpPr>
        <p:spPr>
          <a:xfrm xmlns:a="http://schemas.openxmlformats.org/drawingml/2006/main">
            <a:off x="857250" y="3095625"/>
            <a:ext cx="400050" cy="400050"/>
          </a:xfrm>
          <a:prstGeom xmlns:a="http://schemas.openxmlformats.org/drawingml/2006/main" prst="ellipse">
            <a:avLst/>
          </a:prstGeom>
          <a:solidFill xmlns:a="http://schemas.openxmlformats.org/drawingml/2006/main">
            <a:srgbClr val="E7F4F1"/>
          </a:solidFill>
          <a:ln xmlns:a="http://schemas.openxmlformats.org/drawingml/2006/main" w="0">
            <a:solidFill>
              <a:srgbClr val="E7F4F1"/>
            </a:solidFill>
            <a:prstDash val="solid"/>
          </a:ln>
        </p:spPr>
      </p:sp>
      <p:sp>
        <p:nvSpPr>
          <p:cNvPr id="13" name="">
            <a:extLst xmlns:a="http://schemas.openxmlformats.org/drawingml/2006/main">
              <a:ext uri="{FF2B5EF4-FFF2-40B4-BE49-F238E27FC236}">
                <a16:creationId xmlns:a16="http://schemas.microsoft.com/office/drawing/2014/main" id="{F06FB251-8CE8-4654-BDB4-39E9439C0B34}"/>
              </a:ext>
            </a:extLst>
          </p:cNvPr>
          <p:cNvSpPr>
            <a:spLocks xmlns:a="http://schemas.openxmlformats.org/drawingml/2006/main" noGrp="1"/>
          </p:cNvSpPr>
          <p:nvPr/>
        </p:nvSpPr>
        <p:spPr>
          <a:xfrm xmlns:a="http://schemas.openxmlformats.org/drawingml/2006/main">
            <a:off x="857250" y="3105150"/>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F8B70"/>
                </a:solidFill>
              </a:defRPr>
            </a:pPr>
            <a:r>
              <a:rPr sz="1050" b="1">
                <a:solidFill>
                  <a:srgbClr val="2F8B70"/>
                </a:solidFill>
              </a:rPr>
              <a:t>AI</a:t>
            </a:r>
          </a:p>
        </p:txBody>
      </p:sp>
      <p:sp>
        <p:nvSpPr>
          <p:cNvPr id="14" name="">
            <a:extLst xmlns:a="http://schemas.openxmlformats.org/drawingml/2006/main">
              <a:ext uri="{FF2B5EF4-FFF2-40B4-BE49-F238E27FC236}">
                <a16:creationId xmlns:a16="http://schemas.microsoft.com/office/drawing/2014/main" id="{08DECB29-0409-490C-B926-CC8C13E83563}"/>
              </a:ext>
            </a:extLst>
          </p:cNvPr>
          <p:cNvSpPr>
            <a:spLocks xmlns:a="http://schemas.openxmlformats.org/drawingml/2006/main" noGrp="1"/>
          </p:cNvSpPr>
          <p:nvPr/>
        </p:nvSpPr>
        <p:spPr>
          <a:xfrm xmlns:a="http://schemas.openxmlformats.org/drawingml/2006/main">
            <a:off x="1409700" y="3133725"/>
            <a:ext cx="42100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8B70"/>
                </a:solidFill>
              </a:defRPr>
            </a:pPr>
            <a:r>
              <a:rPr sz="900" b="1">
                <a:solidFill>
                  <a:srgbClr val="2F8B70"/>
                </a:solidFill>
              </a:rPr>
              <a:t>AI RESPONSE</a:t>
            </a:r>
          </a:p>
        </p:txBody>
      </p:sp>
      <p:sp>
        <p:nvSpPr>
          <p:cNvPr id="15" name="">
            <a:extLst xmlns:a="http://schemas.openxmlformats.org/drawingml/2006/main">
              <a:ext uri="{FF2B5EF4-FFF2-40B4-BE49-F238E27FC236}">
                <a16:creationId xmlns:a16="http://schemas.microsoft.com/office/drawing/2014/main" id="{EE1D14AC-3B34-4A90-B019-31B3F4707B32}"/>
              </a:ext>
            </a:extLst>
          </p:cNvPr>
          <p:cNvSpPr>
            <a:spLocks xmlns:a="http://schemas.openxmlformats.org/drawingml/2006/main" noGrp="1"/>
          </p:cNvSpPr>
          <p:nvPr/>
        </p:nvSpPr>
        <p:spPr>
          <a:xfrm xmlns:a="http://schemas.openxmlformats.org/drawingml/2006/main">
            <a:off x="1409700" y="3429000"/>
            <a:ext cx="42100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72A3A"/>
                </a:solidFill>
              </a:defRPr>
            </a:pPr>
            <a:r>
              <a:rPr sz="1275" b="0">
                <a:solidFill>
                  <a:srgbClr val="172A3A"/>
                </a:solidFill>
              </a:rPr>
              <a:t>Use a fixed golden test set and score each component: entity resolution, route accuracy, Recall@k, rule agreement, citation correctness, groundedness, follow-up retention, hallucination rate, latency, and token cost. Log the question, resolved entity, route, retrieved evidence, deterministic result, answer, expected result, and failure reason.</a:t>
            </a:r>
          </a:p>
        </p:txBody>
      </p:sp>
      <p:sp>
        <p:nvSpPr>
          <p:cNvPr id="16" name="">
            <a:extLst xmlns:a="http://schemas.openxmlformats.org/drawingml/2006/main">
              <a:ext uri="{FF2B5EF4-FFF2-40B4-BE49-F238E27FC236}">
                <a16:creationId xmlns:a16="http://schemas.microsoft.com/office/drawing/2014/main" id="{0CE7644E-463E-4E88-A213-FF7851E10067}"/>
              </a:ext>
            </a:extLst>
          </p:cNvPr>
          <p:cNvSpPr>
            <a:spLocks xmlns:a="http://schemas.openxmlformats.org/drawingml/2006/main" noGrp="1"/>
          </p:cNvSpPr>
          <p:nvPr/>
        </p:nvSpPr>
        <p:spPr>
          <a:xfrm xmlns:a="http://schemas.openxmlformats.org/drawingml/2006/main">
            <a:off x="6172200" y="1552575"/>
            <a:ext cx="5410200" cy="4476750"/>
          </a:xfrm>
          <a:prstGeom xmlns:a="http://schemas.openxmlformats.org/drawingml/2006/main" prst="roundRect">
            <a:avLst>
              <a:gd name="adj" fmla="val 2553"/>
            </a:avLst>
          </a:prstGeom>
          <a:solidFill xmlns:a="http://schemas.openxmlformats.org/drawingml/2006/main">
            <a:srgbClr val="FFFFFF"/>
          </a:solidFill>
          <a:ln xmlns:a="http://schemas.openxmlformats.org/drawingml/2006/main" w="9525">
            <a:solidFill>
              <a:srgbClr val="D5E0E8"/>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7" name="">
            <a:extLst xmlns:a="http://schemas.openxmlformats.org/drawingml/2006/main">
              <a:ext uri="{FF2B5EF4-FFF2-40B4-BE49-F238E27FC236}">
                <a16:creationId xmlns:a16="http://schemas.microsoft.com/office/drawing/2014/main" id="{7ED27070-EA1E-4166-9845-28D97AD53827}"/>
              </a:ext>
            </a:extLst>
          </p:cNvPr>
          <p:cNvSpPr>
            <a:spLocks xmlns:a="http://schemas.openxmlformats.org/drawingml/2006/main" noGrp="1"/>
          </p:cNvSpPr>
          <p:nvPr/>
        </p:nvSpPr>
        <p:spPr>
          <a:xfrm xmlns:a="http://schemas.openxmlformats.org/drawingml/2006/main">
            <a:off x="6172200" y="1552575"/>
            <a:ext cx="85725" cy="4476750"/>
          </a:xfrm>
          <a:prstGeom xmlns:a="http://schemas.openxmlformats.org/drawingml/2006/main" prst="rect">
            <a:avLst/>
          </a:prstGeom>
          <a:solidFill xmlns:a="http://schemas.openxmlformats.org/drawingml/2006/main">
            <a:srgbClr val="B74444"/>
          </a:solidFill>
          <a:ln xmlns:a="http://schemas.openxmlformats.org/drawingml/2006/main" w="0">
            <a:solidFill>
              <a:srgbClr val="B74444"/>
            </a:solidFill>
            <a:prstDash val="solid"/>
          </a:ln>
        </p:spPr>
      </p:sp>
      <p:sp>
        <p:nvSpPr>
          <p:cNvPr id="18" name="">
            <a:extLst xmlns:a="http://schemas.openxmlformats.org/drawingml/2006/main">
              <a:ext uri="{FF2B5EF4-FFF2-40B4-BE49-F238E27FC236}">
                <a16:creationId xmlns:a16="http://schemas.microsoft.com/office/drawing/2014/main" id="{50D3FBF7-4025-4ADC-879B-DC939D655933}"/>
              </a:ext>
            </a:extLst>
          </p:cNvPr>
          <p:cNvSpPr>
            <a:spLocks xmlns:a="http://schemas.openxmlformats.org/drawingml/2006/main" noGrp="1"/>
          </p:cNvSpPr>
          <p:nvPr/>
        </p:nvSpPr>
        <p:spPr>
          <a:xfrm xmlns:a="http://schemas.openxmlformats.org/drawingml/2006/main">
            <a:off x="6419850" y="1790700"/>
            <a:ext cx="400050" cy="400050"/>
          </a:xfrm>
          <a:prstGeom xmlns:a="http://schemas.openxmlformats.org/drawingml/2006/main" prst="ellipse">
            <a:avLst/>
          </a:prstGeom>
          <a:solidFill xmlns:a="http://schemas.openxmlformats.org/drawingml/2006/main">
            <a:srgbClr val="FFF2E6"/>
          </a:solidFill>
          <a:ln xmlns:a="http://schemas.openxmlformats.org/drawingml/2006/main" w="0">
            <a:solidFill>
              <a:srgbClr val="FFF2E6"/>
            </a:solidFill>
            <a:prstDash val="solid"/>
          </a:ln>
        </p:spPr>
      </p:sp>
      <p:sp>
        <p:nvSpPr>
          <p:cNvPr id="19" name="">
            <a:extLst xmlns:a="http://schemas.openxmlformats.org/drawingml/2006/main">
              <a:ext uri="{FF2B5EF4-FFF2-40B4-BE49-F238E27FC236}">
                <a16:creationId xmlns:a16="http://schemas.microsoft.com/office/drawing/2014/main" id="{BE4202C0-DAEE-47B1-A8EB-6319E1B0D92A}"/>
              </a:ext>
            </a:extLst>
          </p:cNvPr>
          <p:cNvSpPr>
            <a:spLocks xmlns:a="http://schemas.openxmlformats.org/drawingml/2006/main" noGrp="1"/>
          </p:cNvSpPr>
          <p:nvPr/>
        </p:nvSpPr>
        <p:spPr>
          <a:xfrm xmlns:a="http://schemas.openxmlformats.org/drawingml/2006/main">
            <a:off x="6419850" y="1800225"/>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725" b="1">
                <a:solidFill>
                  <a:srgbClr val="B74444"/>
                </a:solidFill>
              </a:defRPr>
            </a:pPr>
            <a:r>
              <a:rPr sz="1725" b="1">
                <a:solidFill>
                  <a:srgbClr val="B74444"/>
                </a:solidFill>
              </a:rPr>
              <a:t>?</a:t>
            </a:r>
          </a:p>
        </p:txBody>
      </p:sp>
      <p:sp>
        <p:nvSpPr>
          <p:cNvPr id="20" name="">
            <a:extLst xmlns:a="http://schemas.openxmlformats.org/drawingml/2006/main">
              <a:ext uri="{FF2B5EF4-FFF2-40B4-BE49-F238E27FC236}">
                <a16:creationId xmlns:a16="http://schemas.microsoft.com/office/drawing/2014/main" id="{5742D27B-4FB3-4FFF-8D37-15FD24AC488D}"/>
              </a:ext>
            </a:extLst>
          </p:cNvPr>
          <p:cNvSpPr>
            <a:spLocks xmlns:a="http://schemas.openxmlformats.org/drawingml/2006/main" noGrp="1"/>
          </p:cNvSpPr>
          <p:nvPr/>
        </p:nvSpPr>
        <p:spPr>
          <a:xfrm xmlns:a="http://schemas.openxmlformats.org/drawingml/2006/main">
            <a:off x="6972300" y="1800225"/>
            <a:ext cx="436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B74444"/>
                </a:solidFill>
              </a:defRPr>
            </a:pPr>
            <a:r>
              <a:rPr sz="900" b="1">
                <a:solidFill>
                  <a:srgbClr val="B74444"/>
                </a:solidFill>
              </a:rPr>
              <a:t>PROMPT / QUESTION</a:t>
            </a:r>
          </a:p>
        </p:txBody>
      </p:sp>
      <p:sp>
        <p:nvSpPr>
          <p:cNvPr id="21" name="">
            <a:extLst xmlns:a="http://schemas.openxmlformats.org/drawingml/2006/main">
              <a:ext uri="{FF2B5EF4-FFF2-40B4-BE49-F238E27FC236}">
                <a16:creationId xmlns:a16="http://schemas.microsoft.com/office/drawing/2014/main" id="{F4EE5BB4-27D8-402D-A1C0-9EBEB0812C6D}"/>
              </a:ext>
            </a:extLst>
          </p:cNvPr>
          <p:cNvSpPr>
            <a:spLocks xmlns:a="http://schemas.openxmlformats.org/drawingml/2006/main" noGrp="1"/>
          </p:cNvSpPr>
          <p:nvPr/>
        </p:nvSpPr>
        <p:spPr>
          <a:xfrm xmlns:a="http://schemas.openxmlformats.org/drawingml/2006/main">
            <a:off x="6972300" y="2095500"/>
            <a:ext cx="43624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a:solidFill>
                  <a:srgbClr val="002850"/>
                </a:solidFill>
              </a:defRPr>
            </a:pPr>
            <a:r>
              <a:rPr sz="1425" b="1">
                <a:solidFill>
                  <a:srgbClr val="002850"/>
                </a:solidFill>
              </a:rPr>
              <a:t>What did the executed V5 outputs reveal?</a:t>
            </a:r>
          </a:p>
        </p:txBody>
      </p:sp>
      <p:sp>
        <p:nvSpPr>
          <p:cNvPr id="22" name="">
            <a:extLst xmlns:a="http://schemas.openxmlformats.org/drawingml/2006/main">
              <a:ext uri="{FF2B5EF4-FFF2-40B4-BE49-F238E27FC236}">
                <a16:creationId xmlns:a16="http://schemas.microsoft.com/office/drawing/2014/main" id="{8A250524-765E-4ECE-A706-3E32D4C0483F}"/>
              </a:ext>
            </a:extLst>
          </p:cNvPr>
          <p:cNvSpPr>
            <a:spLocks xmlns:a="http://schemas.openxmlformats.org/drawingml/2006/main" noGrp="1"/>
          </p:cNvSpPr>
          <p:nvPr/>
        </p:nvSpPr>
        <p:spPr>
          <a:xfrm xmlns:a="http://schemas.openxmlformats.org/drawingml/2006/main">
            <a:off x="6419850" y="2895600"/>
            <a:ext cx="49149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23" name="">
            <a:extLst xmlns:a="http://schemas.openxmlformats.org/drawingml/2006/main">
              <a:ext uri="{FF2B5EF4-FFF2-40B4-BE49-F238E27FC236}">
                <a16:creationId xmlns:a16="http://schemas.microsoft.com/office/drawing/2014/main" id="{8A04D335-21C6-47C3-A2DD-0DEA25B593AD}"/>
              </a:ext>
            </a:extLst>
          </p:cNvPr>
          <p:cNvSpPr>
            <a:spLocks xmlns:a="http://schemas.openxmlformats.org/drawingml/2006/main" noGrp="1"/>
          </p:cNvSpPr>
          <p:nvPr/>
        </p:nvSpPr>
        <p:spPr>
          <a:xfrm xmlns:a="http://schemas.openxmlformats.org/drawingml/2006/main">
            <a:off x="6419850" y="3095625"/>
            <a:ext cx="400050" cy="400050"/>
          </a:xfrm>
          <a:prstGeom xmlns:a="http://schemas.openxmlformats.org/drawingml/2006/main" prst="ellipse">
            <a:avLst/>
          </a:prstGeom>
          <a:solidFill xmlns:a="http://schemas.openxmlformats.org/drawingml/2006/main">
            <a:srgbClr val="E7F4F1"/>
          </a:solidFill>
          <a:ln xmlns:a="http://schemas.openxmlformats.org/drawingml/2006/main" w="0">
            <a:solidFill>
              <a:srgbClr val="E7F4F1"/>
            </a:solidFill>
            <a:prstDash val="solid"/>
          </a:ln>
        </p:spPr>
      </p:sp>
      <p:sp>
        <p:nvSpPr>
          <p:cNvPr id="24" name="">
            <a:extLst xmlns:a="http://schemas.openxmlformats.org/drawingml/2006/main">
              <a:ext uri="{FF2B5EF4-FFF2-40B4-BE49-F238E27FC236}">
                <a16:creationId xmlns:a16="http://schemas.microsoft.com/office/drawing/2014/main" id="{987AE98A-C059-48F6-8310-72FAF59D45D1}"/>
              </a:ext>
            </a:extLst>
          </p:cNvPr>
          <p:cNvSpPr>
            <a:spLocks xmlns:a="http://schemas.openxmlformats.org/drawingml/2006/main" noGrp="1"/>
          </p:cNvSpPr>
          <p:nvPr/>
        </p:nvSpPr>
        <p:spPr>
          <a:xfrm xmlns:a="http://schemas.openxmlformats.org/drawingml/2006/main">
            <a:off x="6419850" y="3105150"/>
            <a:ext cx="4000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2F8B70"/>
                </a:solidFill>
              </a:defRPr>
            </a:pPr>
            <a:r>
              <a:rPr sz="1050" b="1">
                <a:solidFill>
                  <a:srgbClr val="2F8B70"/>
                </a:solidFill>
              </a:rPr>
              <a:t>AI</a:t>
            </a:r>
          </a:p>
        </p:txBody>
      </p:sp>
      <p:sp>
        <p:nvSpPr>
          <p:cNvPr id="25" name="">
            <a:extLst xmlns:a="http://schemas.openxmlformats.org/drawingml/2006/main">
              <a:ext uri="{FF2B5EF4-FFF2-40B4-BE49-F238E27FC236}">
                <a16:creationId xmlns:a16="http://schemas.microsoft.com/office/drawing/2014/main" id="{BA627AAD-793B-4211-BD61-77EB411EBE63}"/>
              </a:ext>
            </a:extLst>
          </p:cNvPr>
          <p:cNvSpPr>
            <a:spLocks xmlns:a="http://schemas.openxmlformats.org/drawingml/2006/main" noGrp="1"/>
          </p:cNvSpPr>
          <p:nvPr/>
        </p:nvSpPr>
        <p:spPr>
          <a:xfrm xmlns:a="http://schemas.openxmlformats.org/drawingml/2006/main">
            <a:off x="6972300" y="3133725"/>
            <a:ext cx="4362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2F8B70"/>
                </a:solidFill>
              </a:defRPr>
            </a:pPr>
            <a:r>
              <a:rPr sz="900" b="1">
                <a:solidFill>
                  <a:srgbClr val="2F8B70"/>
                </a:solidFill>
              </a:rPr>
              <a:t>OUTPUT REVIEW</a:t>
            </a:r>
          </a:p>
        </p:txBody>
      </p:sp>
      <p:sp>
        <p:nvSpPr>
          <p:cNvPr id="26" name="">
            <a:extLst xmlns:a="http://schemas.openxmlformats.org/drawingml/2006/main">
              <a:ext uri="{FF2B5EF4-FFF2-40B4-BE49-F238E27FC236}">
                <a16:creationId xmlns:a16="http://schemas.microsoft.com/office/drawing/2014/main" id="{D37BEAC2-4BB2-4862-9808-94D37F4E5C8A}"/>
              </a:ext>
            </a:extLst>
          </p:cNvPr>
          <p:cNvSpPr>
            <a:spLocks xmlns:a="http://schemas.openxmlformats.org/drawingml/2006/main" noGrp="1"/>
          </p:cNvSpPr>
          <p:nvPr/>
        </p:nvSpPr>
        <p:spPr>
          <a:xfrm xmlns:a="http://schemas.openxmlformats.org/drawingml/2006/main">
            <a:off x="6972300" y="3429000"/>
            <a:ext cx="4362450" cy="2400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72A3A"/>
                </a:solidFill>
              </a:defRPr>
            </a:pPr>
            <a:r>
              <a:rPr sz="1275" b="0">
                <a:solidFill>
                  <a:srgbClr val="172A3A"/>
                </a:solidFill>
              </a:rPr>
              <a:t>The notebook ran end to end and its data, indexing, provider aggregation, and claims calculations worked. The weakest layer was narrative generation. Mia’s note-versus-Stars prompt was misrouted because ‘evidence’ triggered claims routing. Ava, Ethan, and Mia also showed cases where the LLM contradicted the deterministic result or added unsupported recommendations.</a:t>
            </a:r>
          </a:p>
        </p:txBody>
      </p:sp>
      <p:sp>
        <p:nvSpPr>
          <p:cNvPr id="27" name="">
            <a:extLst xmlns:a="http://schemas.openxmlformats.org/drawingml/2006/main">
              <a:ext uri="{FF2B5EF4-FFF2-40B4-BE49-F238E27FC236}">
                <a16:creationId xmlns:a16="http://schemas.microsoft.com/office/drawing/2014/main" id="{824726FF-7BEB-42D0-A809-800F0B6DF2C1}"/>
              </a:ext>
            </a:extLst>
          </p:cNvPr>
          <p:cNvSpPr>
            <a:spLocks xmlns:a="http://schemas.openxmlformats.org/drawingml/2006/main" noGrp="1"/>
          </p:cNvSpPr>
          <p:nvPr/>
        </p:nvSpPr>
        <p:spPr>
          <a:xfrm xmlns:a="http://schemas.openxmlformats.org/drawingml/2006/main">
            <a:off x="609600" y="6486525"/>
            <a:ext cx="523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788B98"/>
                </a:solidFill>
              </a:defRPr>
            </a:pPr>
            <a:r>
              <a:rPr sz="750" b="0">
                <a:solidFill>
                  <a:srgbClr val="788B98"/>
                </a:solidFill>
              </a:rPr>
              <a:t>CareAllies Data Lake LLM  |  Conversation extract</a:t>
            </a:r>
          </a:p>
        </p:txBody>
      </p:sp>
      <p:sp>
        <p:nvSpPr>
          <p:cNvPr id="28" name="">
            <a:extLst xmlns:a="http://schemas.openxmlformats.org/drawingml/2006/main">
              <a:ext uri="{FF2B5EF4-FFF2-40B4-BE49-F238E27FC236}">
                <a16:creationId xmlns:a16="http://schemas.microsoft.com/office/drawing/2014/main" id="{396D0DEA-6505-430E-9718-94DA574A4EB4}"/>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Tree>
    <p:extLst>
      <p:ext uri="{BB962C8B-B14F-4D97-AF65-F5344CB8AC3E}">
        <p14:creationId xmlns:p14="http://schemas.microsoft.com/office/powerpoint/2010/main" val="1320664499"/>
      </p:ext>
    </p:extLst>
  </p:cSld>
</p:sld>
</file>

<file path=ppt/slides/slide14.xml><?xml version="1.0" encoding="utf-8"?>
<p:sld xmlns:p="http://schemas.openxmlformats.org/presentationml/2006/main">
  <p:cSld>
    <p:bg>
      <p:bgPr>
        <a:solidFill xmlns:a="http://schemas.openxmlformats.org/drawingml/2006/main">
          <a:srgbClr val="F7F9FB"/>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EE69A6C5-ECE2-4438-831D-C51F7E1625F5}"/>
              </a:ext>
            </a:extLst>
          </p:cNvPr>
          <p:cNvSpPr>
            <a:spLocks xmlns:a="http://schemas.openxmlformats.org/drawingml/2006/main" noGrp="1"/>
          </p:cNvSpPr>
          <p:nvPr/>
        </p:nvSpPr>
        <p:spPr>
          <a:xfrm xmlns:a="http://schemas.openxmlformats.org/drawingml/2006/main">
            <a:off x="609600" y="333375"/>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00" b="1">
                <a:solidFill>
                  <a:srgbClr val="1D9A8A"/>
                </a:solidFill>
              </a:defRPr>
            </a:pPr>
            <a:r>
              <a:rPr sz="900" b="1">
                <a:solidFill>
                  <a:srgbClr val="1D9A8A"/>
                </a:solidFill>
              </a:rPr>
              <a:t>PRIORITIZED ROADMAP</a:t>
            </a:r>
          </a:p>
        </p:txBody>
      </p:sp>
      <p:sp>
        <p:nvSpPr>
          <p:cNvPr id="2" name="">
            <a:extLst xmlns:a="http://schemas.openxmlformats.org/drawingml/2006/main">
              <a:ext uri="{FF2B5EF4-FFF2-40B4-BE49-F238E27FC236}">
                <a16:creationId xmlns:a16="http://schemas.microsoft.com/office/drawing/2014/main" id="{3BB03A8B-EFC6-4DE7-8DE0-AC17FB3A5DB2}"/>
              </a:ext>
            </a:extLst>
          </p:cNvPr>
          <p:cNvSpPr>
            <a:spLocks xmlns:a="http://schemas.openxmlformats.org/drawingml/2006/main" noGrp="1"/>
          </p:cNvSpPr>
          <p:nvPr/>
        </p:nvSpPr>
        <p:spPr>
          <a:xfrm xmlns:a="http://schemas.openxmlformats.org/drawingml/2006/main">
            <a:off x="609600" y="647700"/>
            <a:ext cx="1038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002850"/>
                </a:solidFill>
              </a:defRPr>
            </a:pPr>
            <a:r>
              <a:rPr sz="2700" b="1">
                <a:solidFill>
                  <a:srgbClr val="002850"/>
                </a:solidFill>
              </a:rPr>
              <a:t>The next iteration should harden correctness before adding breadth</a:t>
            </a:r>
          </a:p>
        </p:txBody>
      </p:sp>
      <p:sp>
        <p:nvSpPr>
          <p:cNvPr id="3" name="">
            <a:extLst xmlns:a="http://schemas.openxmlformats.org/drawingml/2006/main">
              <a:ext uri="{FF2B5EF4-FFF2-40B4-BE49-F238E27FC236}">
                <a16:creationId xmlns:a16="http://schemas.microsoft.com/office/drawing/2014/main" id="{931084F0-BC19-4324-8156-1A6842A5F5A8}"/>
              </a:ext>
            </a:extLst>
          </p:cNvPr>
          <p:cNvSpPr>
            <a:spLocks xmlns:a="http://schemas.openxmlformats.org/drawingml/2006/main" noGrp="1"/>
          </p:cNvSpPr>
          <p:nvPr/>
        </p:nvSpPr>
        <p:spPr>
          <a:xfrm xmlns:a="http://schemas.openxmlformats.org/drawingml/2006/main">
            <a:off x="609600" y="1219200"/>
            <a:ext cx="10972800" cy="19050"/>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
        <p:nvSpPr>
          <p:cNvPr id="4" name="">
            <a:extLst xmlns:a="http://schemas.openxmlformats.org/drawingml/2006/main">
              <a:ext uri="{FF2B5EF4-FFF2-40B4-BE49-F238E27FC236}">
                <a16:creationId xmlns:a16="http://schemas.microsoft.com/office/drawing/2014/main" id="{996CD76F-0E3F-4076-B266-697DDC6590C4}"/>
              </a:ext>
            </a:extLst>
          </p:cNvPr>
          <p:cNvSpPr>
            <a:spLocks xmlns:a="http://schemas.openxmlformats.org/drawingml/2006/main" noGrp="1"/>
          </p:cNvSpPr>
          <p:nvPr/>
        </p:nvSpPr>
        <p:spPr>
          <a:xfrm xmlns:a="http://schemas.openxmlformats.org/drawingml/2006/main">
            <a:off x="11087100" y="3619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788B98"/>
                </a:solidFill>
              </a:defRPr>
            </a:pPr>
            <a:r>
              <a:rPr sz="900" b="1">
                <a:solidFill>
                  <a:srgbClr val="788B98"/>
                </a:solidFill>
              </a:rPr>
              <a:t>14</a:t>
            </a:r>
          </a:p>
        </p:txBody>
      </p:sp>
      <p:sp>
        <p:nvSpPr>
          <p:cNvPr id="5" name="">
            <a:extLst xmlns:a="http://schemas.openxmlformats.org/drawingml/2006/main">
              <a:ext uri="{FF2B5EF4-FFF2-40B4-BE49-F238E27FC236}">
                <a16:creationId xmlns:a16="http://schemas.microsoft.com/office/drawing/2014/main" id="{A413E4BB-BC46-4D4E-B4AF-7AD135C889C9}"/>
              </a:ext>
            </a:extLst>
          </p:cNvPr>
          <p:cNvSpPr>
            <a:spLocks xmlns:a="http://schemas.openxmlformats.org/drawingml/2006/main" noGrp="1"/>
          </p:cNvSpPr>
          <p:nvPr/>
        </p:nvSpPr>
        <p:spPr>
          <a:xfrm xmlns:a="http://schemas.openxmlformats.org/drawingml/2006/main">
            <a:off x="609600" y="1562100"/>
            <a:ext cx="5181600" cy="1200150"/>
          </a:xfrm>
          <a:prstGeom xmlns:a="http://schemas.openxmlformats.org/drawingml/2006/main" prst="roundRect">
            <a:avLst>
              <a:gd name="adj" fmla="val 9524"/>
            </a:avLst>
          </a:prstGeom>
          <a:solidFill xmlns:a="http://schemas.openxmlformats.org/drawingml/2006/main">
            <a:srgbClr val="FBECEC"/>
          </a:solidFill>
          <a:ln xmlns:a="http://schemas.openxmlformats.org/drawingml/2006/main" w="9525">
            <a:solidFill>
              <a:srgbClr val="D5E0E8"/>
            </a:solidFill>
            <a:prstDash val="solid"/>
          </a:ln>
        </p:spPr>
      </p:sp>
      <p:sp>
        <p:nvSpPr>
          <p:cNvPr id="6" name="">
            <a:extLst xmlns:a="http://schemas.openxmlformats.org/drawingml/2006/main">
              <a:ext uri="{FF2B5EF4-FFF2-40B4-BE49-F238E27FC236}">
                <a16:creationId xmlns:a16="http://schemas.microsoft.com/office/drawing/2014/main" id="{ED3424E2-B879-41A1-816B-AE2F204A2EDB}"/>
              </a:ext>
            </a:extLst>
          </p:cNvPr>
          <p:cNvSpPr>
            <a:spLocks xmlns:a="http://schemas.openxmlformats.org/drawingml/2006/main" noGrp="1"/>
          </p:cNvSpPr>
          <p:nvPr/>
        </p:nvSpPr>
        <p:spPr>
          <a:xfrm xmlns:a="http://schemas.openxmlformats.org/drawingml/2006/main">
            <a:off x="800100" y="1771650"/>
            <a:ext cx="457200" cy="457200"/>
          </a:xfrm>
          <a:prstGeom xmlns:a="http://schemas.openxmlformats.org/drawingml/2006/main" prst="ellipse">
            <a:avLst/>
          </a:prstGeom>
          <a:solidFill xmlns:a="http://schemas.openxmlformats.org/drawingml/2006/main">
            <a:srgbClr val="B74444"/>
          </a:solidFill>
          <a:ln xmlns:a="http://schemas.openxmlformats.org/drawingml/2006/main" w="0">
            <a:solidFill>
              <a:srgbClr val="B74444"/>
            </a:solidFill>
            <a:prstDash val="solid"/>
          </a:ln>
        </p:spPr>
      </p:sp>
      <p:sp>
        <p:nvSpPr>
          <p:cNvPr id="7" name="">
            <a:extLst xmlns:a="http://schemas.openxmlformats.org/drawingml/2006/main">
              <a:ext uri="{FF2B5EF4-FFF2-40B4-BE49-F238E27FC236}">
                <a16:creationId xmlns:a16="http://schemas.microsoft.com/office/drawing/2014/main" id="{CA75F924-B417-4DA0-A4C8-71FEFABA8E75}"/>
              </a:ext>
            </a:extLst>
          </p:cNvPr>
          <p:cNvSpPr>
            <a:spLocks xmlns:a="http://schemas.openxmlformats.org/drawingml/2006/main" noGrp="1"/>
          </p:cNvSpPr>
          <p:nvPr/>
        </p:nvSpPr>
        <p:spPr>
          <a:xfrm xmlns:a="http://schemas.openxmlformats.org/drawingml/2006/main">
            <a:off x="800100" y="1781175"/>
            <a:ext cx="457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defRPr>
            </a:pPr>
            <a:r>
              <a:rPr sz="1050" b="1">
                <a:solidFill>
                  <a:srgbClr val="FFFFFF"/>
                </a:solidFill>
              </a:rPr>
              <a:t>01</a:t>
            </a:r>
          </a:p>
        </p:txBody>
      </p:sp>
      <p:sp>
        <p:nvSpPr>
          <p:cNvPr id="8" name="">
            <a:extLst xmlns:a="http://schemas.openxmlformats.org/drawingml/2006/main">
              <a:ext uri="{FF2B5EF4-FFF2-40B4-BE49-F238E27FC236}">
                <a16:creationId xmlns:a16="http://schemas.microsoft.com/office/drawing/2014/main" id="{64008557-72E1-40A7-9835-473CF98D2765}"/>
              </a:ext>
            </a:extLst>
          </p:cNvPr>
          <p:cNvSpPr>
            <a:spLocks xmlns:a="http://schemas.openxmlformats.org/drawingml/2006/main" noGrp="1"/>
          </p:cNvSpPr>
          <p:nvPr/>
        </p:nvSpPr>
        <p:spPr>
          <a:xfrm xmlns:a="http://schemas.openxmlformats.org/drawingml/2006/main">
            <a:off x="1409700" y="1752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02850"/>
                </a:solidFill>
              </a:defRPr>
            </a:pPr>
            <a:r>
              <a:rPr sz="1500" b="1">
                <a:solidFill>
                  <a:srgbClr val="002850"/>
                </a:solidFill>
              </a:rPr>
              <a:t>Fix entity resolution + routing</a:t>
            </a:r>
          </a:p>
        </p:txBody>
      </p:sp>
      <p:sp>
        <p:nvSpPr>
          <p:cNvPr id="9" name="">
            <a:extLst xmlns:a="http://schemas.openxmlformats.org/drawingml/2006/main">
              <a:ext uri="{FF2B5EF4-FFF2-40B4-BE49-F238E27FC236}">
                <a16:creationId xmlns:a16="http://schemas.microsoft.com/office/drawing/2014/main" id="{D8DF1FD3-57AB-4BDB-92EC-26EE2C323F37}"/>
              </a:ext>
            </a:extLst>
          </p:cNvPr>
          <p:cNvSpPr>
            <a:spLocks xmlns:a="http://schemas.openxmlformats.org/drawingml/2006/main" noGrp="1"/>
          </p:cNvSpPr>
          <p:nvPr/>
        </p:nvSpPr>
        <p:spPr>
          <a:xfrm xmlns:a="http://schemas.openxmlformats.org/drawingml/2006/main">
            <a:off x="1409700" y="213360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516575"/>
                </a:solidFill>
              </a:defRPr>
            </a:pPr>
            <a:r>
              <a:rPr sz="1125" b="0">
                <a:solidFill>
                  <a:srgbClr val="516575"/>
                </a:solidFill>
              </a:rPr>
              <a:t>Index member IDs and names; prioritize clinical-plus-Stars requests over generic ‘evidence’ terms.</a:t>
            </a:r>
          </a:p>
        </p:txBody>
      </p:sp>
      <p:sp>
        <p:nvSpPr>
          <p:cNvPr id="10" name="">
            <a:extLst xmlns:a="http://schemas.openxmlformats.org/drawingml/2006/main">
              <a:ext uri="{FF2B5EF4-FFF2-40B4-BE49-F238E27FC236}">
                <a16:creationId xmlns:a16="http://schemas.microsoft.com/office/drawing/2014/main" id="{7B09FD61-B97B-4D77-B52D-401DDD12218E}"/>
              </a:ext>
            </a:extLst>
          </p:cNvPr>
          <p:cNvSpPr>
            <a:spLocks xmlns:a="http://schemas.openxmlformats.org/drawingml/2006/main" noGrp="1"/>
          </p:cNvSpPr>
          <p:nvPr/>
        </p:nvSpPr>
        <p:spPr>
          <a:xfrm xmlns:a="http://schemas.openxmlformats.org/drawingml/2006/main">
            <a:off x="6096000" y="1562100"/>
            <a:ext cx="5181600" cy="1200150"/>
          </a:xfrm>
          <a:prstGeom xmlns:a="http://schemas.openxmlformats.org/drawingml/2006/main" prst="roundRect">
            <a:avLst>
              <a:gd name="adj" fmla="val 9524"/>
            </a:avLst>
          </a:prstGeom>
          <a:solidFill xmlns:a="http://schemas.openxmlformats.org/drawingml/2006/main">
            <a:srgbClr val="FFF2E6"/>
          </a:solidFill>
          <a:ln xmlns:a="http://schemas.openxmlformats.org/drawingml/2006/main" w="9525">
            <a:solidFill>
              <a:srgbClr val="D5E0E8"/>
            </a:solidFill>
            <a:prstDash val="solid"/>
          </a:ln>
        </p:spPr>
      </p:sp>
      <p:sp>
        <p:nvSpPr>
          <p:cNvPr id="11" name="">
            <a:extLst xmlns:a="http://schemas.openxmlformats.org/drawingml/2006/main">
              <a:ext uri="{FF2B5EF4-FFF2-40B4-BE49-F238E27FC236}">
                <a16:creationId xmlns:a16="http://schemas.microsoft.com/office/drawing/2014/main" id="{9A207DBE-80D1-4A8F-AB04-183D7E6931CD}"/>
              </a:ext>
            </a:extLst>
          </p:cNvPr>
          <p:cNvSpPr>
            <a:spLocks xmlns:a="http://schemas.openxmlformats.org/drawingml/2006/main" noGrp="1"/>
          </p:cNvSpPr>
          <p:nvPr/>
        </p:nvSpPr>
        <p:spPr>
          <a:xfrm xmlns:a="http://schemas.openxmlformats.org/drawingml/2006/main">
            <a:off x="6286500" y="1771650"/>
            <a:ext cx="457200" cy="457200"/>
          </a:xfrm>
          <a:prstGeom xmlns:a="http://schemas.openxmlformats.org/drawingml/2006/main" prst="ellipse">
            <a:avLst/>
          </a:prstGeom>
          <a:solidFill xmlns:a="http://schemas.openxmlformats.org/drawingml/2006/main">
            <a:srgbClr val="E58A3A"/>
          </a:solidFill>
          <a:ln xmlns:a="http://schemas.openxmlformats.org/drawingml/2006/main" w="0">
            <a:solidFill>
              <a:srgbClr val="E58A3A"/>
            </a:solidFill>
            <a:prstDash val="solid"/>
          </a:ln>
        </p:spPr>
      </p:sp>
      <p:sp>
        <p:nvSpPr>
          <p:cNvPr id="12" name="">
            <a:extLst xmlns:a="http://schemas.openxmlformats.org/drawingml/2006/main">
              <a:ext uri="{FF2B5EF4-FFF2-40B4-BE49-F238E27FC236}">
                <a16:creationId xmlns:a16="http://schemas.microsoft.com/office/drawing/2014/main" id="{DAC744E2-745E-4F09-9E7A-32ED12A59592}"/>
              </a:ext>
            </a:extLst>
          </p:cNvPr>
          <p:cNvSpPr>
            <a:spLocks xmlns:a="http://schemas.openxmlformats.org/drawingml/2006/main" noGrp="1"/>
          </p:cNvSpPr>
          <p:nvPr/>
        </p:nvSpPr>
        <p:spPr>
          <a:xfrm xmlns:a="http://schemas.openxmlformats.org/drawingml/2006/main">
            <a:off x="6286500" y="1781175"/>
            <a:ext cx="457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defRPr>
            </a:pPr>
            <a:r>
              <a:rPr sz="1050" b="1">
                <a:solidFill>
                  <a:srgbClr val="FFFFFF"/>
                </a:solidFill>
              </a:rPr>
              <a:t>02</a:t>
            </a:r>
          </a:p>
        </p:txBody>
      </p:sp>
      <p:sp>
        <p:nvSpPr>
          <p:cNvPr id="13" name="">
            <a:extLst xmlns:a="http://schemas.openxmlformats.org/drawingml/2006/main">
              <a:ext uri="{FF2B5EF4-FFF2-40B4-BE49-F238E27FC236}">
                <a16:creationId xmlns:a16="http://schemas.microsoft.com/office/drawing/2014/main" id="{F05B8FD0-7684-4D04-B4F8-866A7359E2C6}"/>
              </a:ext>
            </a:extLst>
          </p:cNvPr>
          <p:cNvSpPr>
            <a:spLocks xmlns:a="http://schemas.openxmlformats.org/drawingml/2006/main" noGrp="1"/>
          </p:cNvSpPr>
          <p:nvPr/>
        </p:nvSpPr>
        <p:spPr>
          <a:xfrm xmlns:a="http://schemas.openxmlformats.org/drawingml/2006/main">
            <a:off x="6896100" y="17526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02850"/>
                </a:solidFill>
              </a:defRPr>
            </a:pPr>
            <a:r>
              <a:rPr sz="1500" b="1">
                <a:solidFill>
                  <a:srgbClr val="002850"/>
                </a:solidFill>
              </a:rPr>
              <a:t>Lock deterministic outputs</a:t>
            </a:r>
          </a:p>
        </p:txBody>
      </p:sp>
      <p:sp>
        <p:nvSpPr>
          <p:cNvPr id="14" name="">
            <a:extLst xmlns:a="http://schemas.openxmlformats.org/drawingml/2006/main">
              <a:ext uri="{FF2B5EF4-FFF2-40B4-BE49-F238E27FC236}">
                <a16:creationId xmlns:a16="http://schemas.microsoft.com/office/drawing/2014/main" id="{A5B57419-0C3B-4E2D-81F1-0599521B97B7}"/>
              </a:ext>
            </a:extLst>
          </p:cNvPr>
          <p:cNvSpPr>
            <a:spLocks xmlns:a="http://schemas.openxmlformats.org/drawingml/2006/main" noGrp="1"/>
          </p:cNvSpPr>
          <p:nvPr/>
        </p:nvSpPr>
        <p:spPr>
          <a:xfrm xmlns:a="http://schemas.openxmlformats.org/drawingml/2006/main">
            <a:off x="6896100" y="213360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516575"/>
                </a:solidFill>
              </a:defRPr>
            </a:pPr>
            <a:r>
              <a:rPr sz="1125" b="0">
                <a:solidFill>
                  <a:srgbClr val="516575"/>
                </a:solidFill>
              </a:rPr>
              <a:t>Render the reconciliation table in code and reject narrative statements that conflict with it.</a:t>
            </a:r>
          </a:p>
        </p:txBody>
      </p:sp>
      <p:sp>
        <p:nvSpPr>
          <p:cNvPr id="15" name="">
            <a:extLst xmlns:a="http://schemas.openxmlformats.org/drawingml/2006/main">
              <a:ext uri="{FF2B5EF4-FFF2-40B4-BE49-F238E27FC236}">
                <a16:creationId xmlns:a16="http://schemas.microsoft.com/office/drawing/2014/main" id="{4855B303-48F8-4C83-8A1E-C6F5693A972C}"/>
              </a:ext>
            </a:extLst>
          </p:cNvPr>
          <p:cNvSpPr>
            <a:spLocks xmlns:a="http://schemas.openxmlformats.org/drawingml/2006/main" noGrp="1"/>
          </p:cNvSpPr>
          <p:nvPr/>
        </p:nvSpPr>
        <p:spPr>
          <a:xfrm xmlns:a="http://schemas.openxmlformats.org/drawingml/2006/main">
            <a:off x="609600" y="2990850"/>
            <a:ext cx="5181600" cy="1200150"/>
          </a:xfrm>
          <a:prstGeom xmlns:a="http://schemas.openxmlformats.org/drawingml/2006/main" prst="roundRect">
            <a:avLst>
              <a:gd name="adj" fmla="val 9524"/>
            </a:avLst>
          </a:prstGeom>
          <a:solidFill xmlns:a="http://schemas.openxmlformats.org/drawingml/2006/main">
            <a:srgbClr val="E5F0F7"/>
          </a:solidFill>
          <a:ln xmlns:a="http://schemas.openxmlformats.org/drawingml/2006/main" w="9525">
            <a:solidFill>
              <a:srgbClr val="D5E0E8"/>
            </a:solidFill>
            <a:prstDash val="solid"/>
          </a:ln>
        </p:spPr>
      </p:sp>
      <p:sp>
        <p:nvSpPr>
          <p:cNvPr id="16" name="">
            <a:extLst xmlns:a="http://schemas.openxmlformats.org/drawingml/2006/main">
              <a:ext uri="{FF2B5EF4-FFF2-40B4-BE49-F238E27FC236}">
                <a16:creationId xmlns:a16="http://schemas.microsoft.com/office/drawing/2014/main" id="{7D23B5FB-923C-422E-8577-94F6A17F127F}"/>
              </a:ext>
            </a:extLst>
          </p:cNvPr>
          <p:cNvSpPr>
            <a:spLocks xmlns:a="http://schemas.openxmlformats.org/drawingml/2006/main" noGrp="1"/>
          </p:cNvSpPr>
          <p:nvPr/>
        </p:nvSpPr>
        <p:spPr>
          <a:xfrm xmlns:a="http://schemas.openxmlformats.org/drawingml/2006/main">
            <a:off x="800100" y="3200400"/>
            <a:ext cx="457200" cy="457200"/>
          </a:xfrm>
          <a:prstGeom xmlns:a="http://schemas.openxmlformats.org/drawingml/2006/main" prst="ellipse">
            <a:avLst/>
          </a:prstGeom>
          <a:solidFill xmlns:a="http://schemas.openxmlformats.org/drawingml/2006/main">
            <a:srgbClr val="2B6F9F"/>
          </a:solidFill>
          <a:ln xmlns:a="http://schemas.openxmlformats.org/drawingml/2006/main" w="0">
            <a:solidFill>
              <a:srgbClr val="2B6F9F"/>
            </a:solidFill>
            <a:prstDash val="solid"/>
          </a:ln>
        </p:spPr>
      </p:sp>
      <p:sp>
        <p:nvSpPr>
          <p:cNvPr id="17" name="">
            <a:extLst xmlns:a="http://schemas.openxmlformats.org/drawingml/2006/main">
              <a:ext uri="{FF2B5EF4-FFF2-40B4-BE49-F238E27FC236}">
                <a16:creationId xmlns:a16="http://schemas.microsoft.com/office/drawing/2014/main" id="{82F97C1B-02BA-4641-A0C4-3557ABE08ECC}"/>
              </a:ext>
            </a:extLst>
          </p:cNvPr>
          <p:cNvSpPr>
            <a:spLocks xmlns:a="http://schemas.openxmlformats.org/drawingml/2006/main" noGrp="1"/>
          </p:cNvSpPr>
          <p:nvPr/>
        </p:nvSpPr>
        <p:spPr>
          <a:xfrm xmlns:a="http://schemas.openxmlformats.org/drawingml/2006/main">
            <a:off x="800100" y="3209925"/>
            <a:ext cx="457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defRPr>
            </a:pPr>
            <a:r>
              <a:rPr sz="1050" b="1">
                <a:solidFill>
                  <a:srgbClr val="FFFFFF"/>
                </a:solidFill>
              </a:rPr>
              <a:t>03</a:t>
            </a:r>
          </a:p>
        </p:txBody>
      </p:sp>
      <p:sp>
        <p:nvSpPr>
          <p:cNvPr id="18" name="">
            <a:extLst xmlns:a="http://schemas.openxmlformats.org/drawingml/2006/main">
              <a:ext uri="{FF2B5EF4-FFF2-40B4-BE49-F238E27FC236}">
                <a16:creationId xmlns:a16="http://schemas.microsoft.com/office/drawing/2014/main" id="{F5C6253C-5E4B-4950-81DE-9E9FD044E15D}"/>
              </a:ext>
            </a:extLst>
          </p:cNvPr>
          <p:cNvSpPr>
            <a:spLocks xmlns:a="http://schemas.openxmlformats.org/drawingml/2006/main" noGrp="1"/>
          </p:cNvSpPr>
          <p:nvPr/>
        </p:nvSpPr>
        <p:spPr>
          <a:xfrm xmlns:a="http://schemas.openxmlformats.org/drawingml/2006/main">
            <a:off x="1409700" y="31813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02850"/>
                </a:solidFill>
              </a:defRPr>
            </a:pPr>
            <a:r>
              <a:rPr sz="1500" b="1">
                <a:solidFill>
                  <a:srgbClr val="002850"/>
                </a:solidFill>
              </a:rPr>
              <a:t>Improve model instruction following</a:t>
            </a:r>
          </a:p>
        </p:txBody>
      </p:sp>
      <p:sp>
        <p:nvSpPr>
          <p:cNvPr id="19" name="">
            <a:extLst xmlns:a="http://schemas.openxmlformats.org/drawingml/2006/main">
              <a:ext uri="{FF2B5EF4-FFF2-40B4-BE49-F238E27FC236}">
                <a16:creationId xmlns:a16="http://schemas.microsoft.com/office/drawing/2014/main" id="{B6451A39-CF5B-4A61-8DC4-8C172F549D54}"/>
              </a:ext>
            </a:extLst>
          </p:cNvPr>
          <p:cNvSpPr>
            <a:spLocks xmlns:a="http://schemas.openxmlformats.org/drawingml/2006/main" noGrp="1"/>
          </p:cNvSpPr>
          <p:nvPr/>
        </p:nvSpPr>
        <p:spPr>
          <a:xfrm xmlns:a="http://schemas.openxmlformats.org/drawingml/2006/main">
            <a:off x="1409700" y="35623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516575"/>
                </a:solidFill>
              </a:defRPr>
            </a:pPr>
            <a:r>
              <a:rPr sz="1125" b="0">
                <a:solidFill>
                  <a:srgbClr val="516575"/>
                </a:solidFill>
              </a:rPr>
              <a:t>Use the native chat template, structured answer schema, and compare 1.5B versus 3B/7B models.</a:t>
            </a:r>
          </a:p>
        </p:txBody>
      </p:sp>
      <p:sp>
        <p:nvSpPr>
          <p:cNvPr id="20" name="">
            <a:extLst xmlns:a="http://schemas.openxmlformats.org/drawingml/2006/main">
              <a:ext uri="{FF2B5EF4-FFF2-40B4-BE49-F238E27FC236}">
                <a16:creationId xmlns:a16="http://schemas.microsoft.com/office/drawing/2014/main" id="{D7A6A791-F48B-4F3B-A30E-EF0B59ADD1B9}"/>
              </a:ext>
            </a:extLst>
          </p:cNvPr>
          <p:cNvSpPr>
            <a:spLocks xmlns:a="http://schemas.openxmlformats.org/drawingml/2006/main" noGrp="1"/>
          </p:cNvSpPr>
          <p:nvPr/>
        </p:nvSpPr>
        <p:spPr>
          <a:xfrm xmlns:a="http://schemas.openxmlformats.org/drawingml/2006/main">
            <a:off x="6096000" y="2990850"/>
            <a:ext cx="5181600" cy="1200150"/>
          </a:xfrm>
          <a:prstGeom xmlns:a="http://schemas.openxmlformats.org/drawingml/2006/main" prst="roundRect">
            <a:avLst>
              <a:gd name="adj" fmla="val 9524"/>
            </a:avLst>
          </a:prstGeom>
          <a:solidFill xmlns:a="http://schemas.openxmlformats.org/drawingml/2006/main">
            <a:srgbClr val="E7F4F1"/>
          </a:solidFill>
          <a:ln xmlns:a="http://schemas.openxmlformats.org/drawingml/2006/main" w="9525">
            <a:solidFill>
              <a:srgbClr val="D5E0E8"/>
            </a:solidFill>
            <a:prstDash val="solid"/>
          </a:ln>
        </p:spPr>
      </p:sp>
      <p:sp>
        <p:nvSpPr>
          <p:cNvPr id="21" name="">
            <a:extLst xmlns:a="http://schemas.openxmlformats.org/drawingml/2006/main">
              <a:ext uri="{FF2B5EF4-FFF2-40B4-BE49-F238E27FC236}">
                <a16:creationId xmlns:a16="http://schemas.microsoft.com/office/drawing/2014/main" id="{D1C5A6D3-D7D9-49B3-85CF-C53855410F63}"/>
              </a:ext>
            </a:extLst>
          </p:cNvPr>
          <p:cNvSpPr>
            <a:spLocks xmlns:a="http://schemas.openxmlformats.org/drawingml/2006/main" noGrp="1"/>
          </p:cNvSpPr>
          <p:nvPr/>
        </p:nvSpPr>
        <p:spPr>
          <a:xfrm xmlns:a="http://schemas.openxmlformats.org/drawingml/2006/main">
            <a:off x="6286500" y="3200400"/>
            <a:ext cx="457200" cy="457200"/>
          </a:xfrm>
          <a:prstGeom xmlns:a="http://schemas.openxmlformats.org/drawingml/2006/main" prst="ellipse">
            <a:avLst/>
          </a:prstGeom>
          <a:solidFill xmlns:a="http://schemas.openxmlformats.org/drawingml/2006/main">
            <a:srgbClr val="1D9A8A"/>
          </a:solidFill>
          <a:ln xmlns:a="http://schemas.openxmlformats.org/drawingml/2006/main" w="0">
            <a:solidFill>
              <a:srgbClr val="1D9A8A"/>
            </a:solidFill>
            <a:prstDash val="solid"/>
          </a:ln>
        </p:spPr>
      </p:sp>
      <p:sp>
        <p:nvSpPr>
          <p:cNvPr id="22" name="">
            <a:extLst xmlns:a="http://schemas.openxmlformats.org/drawingml/2006/main">
              <a:ext uri="{FF2B5EF4-FFF2-40B4-BE49-F238E27FC236}">
                <a16:creationId xmlns:a16="http://schemas.microsoft.com/office/drawing/2014/main" id="{FBEB331D-976E-419E-B953-C0078F0C3342}"/>
              </a:ext>
            </a:extLst>
          </p:cNvPr>
          <p:cNvSpPr>
            <a:spLocks xmlns:a="http://schemas.openxmlformats.org/drawingml/2006/main" noGrp="1"/>
          </p:cNvSpPr>
          <p:nvPr/>
        </p:nvSpPr>
        <p:spPr>
          <a:xfrm xmlns:a="http://schemas.openxmlformats.org/drawingml/2006/main">
            <a:off x="6286500" y="3209925"/>
            <a:ext cx="457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defRPr>
            </a:pPr>
            <a:r>
              <a:rPr sz="1050" b="1">
                <a:solidFill>
                  <a:srgbClr val="FFFFFF"/>
                </a:solidFill>
              </a:rPr>
              <a:t>04</a:t>
            </a:r>
          </a:p>
        </p:txBody>
      </p:sp>
      <p:sp>
        <p:nvSpPr>
          <p:cNvPr id="23" name="">
            <a:extLst xmlns:a="http://schemas.openxmlformats.org/drawingml/2006/main">
              <a:ext uri="{FF2B5EF4-FFF2-40B4-BE49-F238E27FC236}">
                <a16:creationId xmlns:a16="http://schemas.microsoft.com/office/drawing/2014/main" id="{1BC02AB1-C587-49C4-A01A-30896B7AFCBF}"/>
              </a:ext>
            </a:extLst>
          </p:cNvPr>
          <p:cNvSpPr>
            <a:spLocks xmlns:a="http://schemas.openxmlformats.org/drawingml/2006/main" noGrp="1"/>
          </p:cNvSpPr>
          <p:nvPr/>
        </p:nvSpPr>
        <p:spPr>
          <a:xfrm xmlns:a="http://schemas.openxmlformats.org/drawingml/2006/main">
            <a:off x="6896100" y="31813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02850"/>
                </a:solidFill>
              </a:defRPr>
            </a:pPr>
            <a:r>
              <a:rPr sz="1500" b="1">
                <a:solidFill>
                  <a:srgbClr val="002850"/>
                </a:solidFill>
              </a:rPr>
              <a:t>Add investigative session state</a:t>
            </a:r>
          </a:p>
        </p:txBody>
      </p:sp>
      <p:sp>
        <p:nvSpPr>
          <p:cNvPr id="24" name="">
            <a:extLst xmlns:a="http://schemas.openxmlformats.org/drawingml/2006/main">
              <a:ext uri="{FF2B5EF4-FFF2-40B4-BE49-F238E27FC236}">
                <a16:creationId xmlns:a16="http://schemas.microsoft.com/office/drawing/2014/main" id="{CDF541D0-BB79-4AAF-B810-328EE3972F5B}"/>
              </a:ext>
            </a:extLst>
          </p:cNvPr>
          <p:cNvSpPr>
            <a:spLocks xmlns:a="http://schemas.openxmlformats.org/drawingml/2006/main" noGrp="1"/>
          </p:cNvSpPr>
          <p:nvPr/>
        </p:nvSpPr>
        <p:spPr>
          <a:xfrm xmlns:a="http://schemas.openxmlformats.org/drawingml/2006/main">
            <a:off x="6896100" y="356235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516575"/>
                </a:solidFill>
              </a:defRPr>
            </a:pPr>
            <a:r>
              <a:rPr sz="1125" b="0">
                <a:solidFill>
                  <a:srgbClr val="516575"/>
                </a:solidFill>
              </a:rPr>
              <a:t>Carry member, provider, measure, route, and explicit topic resets across turns.</a:t>
            </a:r>
          </a:p>
        </p:txBody>
      </p:sp>
      <p:sp>
        <p:nvSpPr>
          <p:cNvPr id="25" name="">
            <a:extLst xmlns:a="http://schemas.openxmlformats.org/drawingml/2006/main">
              <a:ext uri="{FF2B5EF4-FFF2-40B4-BE49-F238E27FC236}">
                <a16:creationId xmlns:a16="http://schemas.microsoft.com/office/drawing/2014/main" id="{AA372B12-2C28-4B9D-986A-6131C4E0DFA4}"/>
              </a:ext>
            </a:extLst>
          </p:cNvPr>
          <p:cNvSpPr>
            <a:spLocks xmlns:a="http://schemas.openxmlformats.org/drawingml/2006/main" noGrp="1"/>
          </p:cNvSpPr>
          <p:nvPr/>
        </p:nvSpPr>
        <p:spPr>
          <a:xfrm xmlns:a="http://schemas.openxmlformats.org/drawingml/2006/main">
            <a:off x="609600" y="4419600"/>
            <a:ext cx="5181600" cy="1200150"/>
          </a:xfrm>
          <a:prstGeom xmlns:a="http://schemas.openxmlformats.org/drawingml/2006/main" prst="roundRect">
            <a:avLst>
              <a:gd name="adj" fmla="val 9524"/>
            </a:avLst>
          </a:prstGeom>
          <a:solidFill xmlns:a="http://schemas.openxmlformats.org/drawingml/2006/main">
            <a:srgbClr val="FFFFFF"/>
          </a:solidFill>
          <a:ln xmlns:a="http://schemas.openxmlformats.org/drawingml/2006/main" w="9525">
            <a:solidFill>
              <a:srgbClr val="D5E0E8"/>
            </a:solidFill>
            <a:prstDash val="solid"/>
          </a:ln>
        </p:spPr>
      </p:sp>
      <p:sp>
        <p:nvSpPr>
          <p:cNvPr id="26" name="">
            <a:extLst xmlns:a="http://schemas.openxmlformats.org/drawingml/2006/main">
              <a:ext uri="{FF2B5EF4-FFF2-40B4-BE49-F238E27FC236}">
                <a16:creationId xmlns:a16="http://schemas.microsoft.com/office/drawing/2014/main" id="{63228CB6-747A-4544-AD0E-AD67D6A01FFD}"/>
              </a:ext>
            </a:extLst>
          </p:cNvPr>
          <p:cNvSpPr>
            <a:spLocks xmlns:a="http://schemas.openxmlformats.org/drawingml/2006/main" noGrp="1"/>
          </p:cNvSpPr>
          <p:nvPr/>
        </p:nvSpPr>
        <p:spPr>
          <a:xfrm xmlns:a="http://schemas.openxmlformats.org/drawingml/2006/main">
            <a:off x="800100" y="4629150"/>
            <a:ext cx="457200" cy="457200"/>
          </a:xfrm>
          <a:prstGeom xmlns:a="http://schemas.openxmlformats.org/drawingml/2006/main" prst="ellipse">
            <a:avLst/>
          </a:prstGeom>
          <a:solidFill xmlns:a="http://schemas.openxmlformats.org/drawingml/2006/main">
            <a:srgbClr val="002850"/>
          </a:solidFill>
          <a:ln xmlns:a="http://schemas.openxmlformats.org/drawingml/2006/main" w="0">
            <a:solidFill>
              <a:srgbClr val="002850"/>
            </a:solidFill>
            <a:prstDash val="solid"/>
          </a:ln>
        </p:spPr>
      </p:sp>
      <p:sp>
        <p:nvSpPr>
          <p:cNvPr id="27" name="">
            <a:extLst xmlns:a="http://schemas.openxmlformats.org/drawingml/2006/main">
              <a:ext uri="{FF2B5EF4-FFF2-40B4-BE49-F238E27FC236}">
                <a16:creationId xmlns:a16="http://schemas.microsoft.com/office/drawing/2014/main" id="{474A968F-84F7-4BF0-9192-5D56053689FA}"/>
              </a:ext>
            </a:extLst>
          </p:cNvPr>
          <p:cNvSpPr>
            <a:spLocks xmlns:a="http://schemas.openxmlformats.org/drawingml/2006/main" noGrp="1"/>
          </p:cNvSpPr>
          <p:nvPr/>
        </p:nvSpPr>
        <p:spPr>
          <a:xfrm xmlns:a="http://schemas.openxmlformats.org/drawingml/2006/main">
            <a:off x="800100" y="4638675"/>
            <a:ext cx="457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defRPr>
            </a:pPr>
            <a:r>
              <a:rPr sz="1050" b="1">
                <a:solidFill>
                  <a:srgbClr val="FFFFFF"/>
                </a:solidFill>
              </a:rPr>
              <a:t>05</a:t>
            </a:r>
          </a:p>
        </p:txBody>
      </p:sp>
      <p:sp>
        <p:nvSpPr>
          <p:cNvPr id="28" name="">
            <a:extLst xmlns:a="http://schemas.openxmlformats.org/drawingml/2006/main">
              <a:ext uri="{FF2B5EF4-FFF2-40B4-BE49-F238E27FC236}">
                <a16:creationId xmlns:a16="http://schemas.microsoft.com/office/drawing/2014/main" id="{2AF96BC0-FE96-48E4-B86B-26C0B3EED203}"/>
              </a:ext>
            </a:extLst>
          </p:cNvPr>
          <p:cNvSpPr>
            <a:spLocks xmlns:a="http://schemas.openxmlformats.org/drawingml/2006/main" noGrp="1"/>
          </p:cNvSpPr>
          <p:nvPr/>
        </p:nvSpPr>
        <p:spPr>
          <a:xfrm xmlns:a="http://schemas.openxmlformats.org/drawingml/2006/main">
            <a:off x="1409700" y="46101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02850"/>
                </a:solidFill>
              </a:defRPr>
            </a:pPr>
            <a:r>
              <a:rPr sz="1500" b="1">
                <a:solidFill>
                  <a:srgbClr val="002850"/>
                </a:solidFill>
              </a:rPr>
              <a:t>Externalize governed specifications</a:t>
            </a:r>
          </a:p>
        </p:txBody>
      </p:sp>
      <p:sp>
        <p:nvSpPr>
          <p:cNvPr id="29" name="">
            <a:extLst xmlns:a="http://schemas.openxmlformats.org/drawingml/2006/main">
              <a:ext uri="{FF2B5EF4-FFF2-40B4-BE49-F238E27FC236}">
                <a16:creationId xmlns:a16="http://schemas.microsoft.com/office/drawing/2014/main" id="{33BBA1A1-619C-4646-8637-9CE8A1A5E8BD}"/>
              </a:ext>
            </a:extLst>
          </p:cNvPr>
          <p:cNvSpPr>
            <a:spLocks xmlns:a="http://schemas.openxmlformats.org/drawingml/2006/main" noGrp="1"/>
          </p:cNvSpPr>
          <p:nvPr/>
        </p:nvSpPr>
        <p:spPr>
          <a:xfrm xmlns:a="http://schemas.openxmlformats.org/drawingml/2006/main">
            <a:off x="1409700" y="499110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516575"/>
                </a:solidFill>
              </a:defRPr>
            </a:pPr>
            <a:r>
              <a:rPr sz="1125" b="0">
                <a:solidFill>
                  <a:srgbClr val="516575"/>
                </a:solidFill>
              </a:rPr>
              <a:t>Move demo rules into versioned tables/configuration with measure year, rule version, and citations.</a:t>
            </a:r>
          </a:p>
        </p:txBody>
      </p:sp>
      <p:sp>
        <p:nvSpPr>
          <p:cNvPr id="30" name="">
            <a:extLst xmlns:a="http://schemas.openxmlformats.org/drawingml/2006/main">
              <a:ext uri="{FF2B5EF4-FFF2-40B4-BE49-F238E27FC236}">
                <a16:creationId xmlns:a16="http://schemas.microsoft.com/office/drawing/2014/main" id="{CA45BFB5-9167-449E-9D7D-AA3950B759F3}"/>
              </a:ext>
            </a:extLst>
          </p:cNvPr>
          <p:cNvSpPr>
            <a:spLocks xmlns:a="http://schemas.openxmlformats.org/drawingml/2006/main" noGrp="1"/>
          </p:cNvSpPr>
          <p:nvPr/>
        </p:nvSpPr>
        <p:spPr>
          <a:xfrm xmlns:a="http://schemas.openxmlformats.org/drawingml/2006/main">
            <a:off x="6096000" y="4419600"/>
            <a:ext cx="5181600" cy="1200150"/>
          </a:xfrm>
          <a:prstGeom xmlns:a="http://schemas.openxmlformats.org/drawingml/2006/main" prst="roundRect">
            <a:avLst>
              <a:gd name="adj" fmla="val 9524"/>
            </a:avLst>
          </a:prstGeom>
          <a:solidFill xmlns:a="http://schemas.openxmlformats.org/drawingml/2006/main">
            <a:srgbClr val="E7F4F1"/>
          </a:solidFill>
          <a:ln xmlns:a="http://schemas.openxmlformats.org/drawingml/2006/main" w="9525">
            <a:solidFill>
              <a:srgbClr val="D5E0E8"/>
            </a:solidFill>
            <a:prstDash val="solid"/>
          </a:ln>
        </p:spPr>
      </p:sp>
      <p:sp>
        <p:nvSpPr>
          <p:cNvPr id="31" name="">
            <a:extLst xmlns:a="http://schemas.openxmlformats.org/drawingml/2006/main">
              <a:ext uri="{FF2B5EF4-FFF2-40B4-BE49-F238E27FC236}">
                <a16:creationId xmlns:a16="http://schemas.microsoft.com/office/drawing/2014/main" id="{347B577F-841D-4530-BF4D-CBD00B10D5B3}"/>
              </a:ext>
            </a:extLst>
          </p:cNvPr>
          <p:cNvSpPr>
            <a:spLocks xmlns:a="http://schemas.openxmlformats.org/drawingml/2006/main" noGrp="1"/>
          </p:cNvSpPr>
          <p:nvPr/>
        </p:nvSpPr>
        <p:spPr>
          <a:xfrm xmlns:a="http://schemas.openxmlformats.org/drawingml/2006/main">
            <a:off x="6286500" y="4629150"/>
            <a:ext cx="457200" cy="457200"/>
          </a:xfrm>
          <a:prstGeom xmlns:a="http://schemas.openxmlformats.org/drawingml/2006/main" prst="ellipse">
            <a:avLst/>
          </a:prstGeom>
          <a:solidFill xmlns:a="http://schemas.openxmlformats.org/drawingml/2006/main">
            <a:srgbClr val="2F8B70"/>
          </a:solidFill>
          <a:ln xmlns:a="http://schemas.openxmlformats.org/drawingml/2006/main" w="0">
            <a:solidFill>
              <a:srgbClr val="2F8B70"/>
            </a:solidFill>
            <a:prstDash val="solid"/>
          </a:ln>
        </p:spPr>
      </p:sp>
      <p:sp>
        <p:nvSpPr>
          <p:cNvPr id="32" name="">
            <a:extLst xmlns:a="http://schemas.openxmlformats.org/drawingml/2006/main">
              <a:ext uri="{FF2B5EF4-FFF2-40B4-BE49-F238E27FC236}">
                <a16:creationId xmlns:a16="http://schemas.microsoft.com/office/drawing/2014/main" id="{BFCF8451-8FAC-4A3B-B4B9-00A5A2DAFFFE}"/>
              </a:ext>
            </a:extLst>
          </p:cNvPr>
          <p:cNvSpPr>
            <a:spLocks xmlns:a="http://schemas.openxmlformats.org/drawingml/2006/main" noGrp="1"/>
          </p:cNvSpPr>
          <p:nvPr/>
        </p:nvSpPr>
        <p:spPr>
          <a:xfrm xmlns:a="http://schemas.openxmlformats.org/drawingml/2006/main">
            <a:off x="6286500" y="4638675"/>
            <a:ext cx="457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a:solidFill>
                  <a:srgbClr val="FFFFFF"/>
                </a:solidFill>
              </a:defRPr>
            </a:pPr>
            <a:r>
              <a:rPr sz="1050" b="1">
                <a:solidFill>
                  <a:srgbClr val="FFFFFF"/>
                </a:solidFill>
              </a:rPr>
              <a:t>06</a:t>
            </a:r>
          </a:p>
        </p:txBody>
      </p:sp>
      <p:sp>
        <p:nvSpPr>
          <p:cNvPr id="33" name="">
            <a:extLst xmlns:a="http://schemas.openxmlformats.org/drawingml/2006/main">
              <a:ext uri="{FF2B5EF4-FFF2-40B4-BE49-F238E27FC236}">
                <a16:creationId xmlns:a16="http://schemas.microsoft.com/office/drawing/2014/main" id="{4607B63B-9E1A-44FD-A80C-B5D392009F9C}"/>
              </a:ext>
            </a:extLst>
          </p:cNvPr>
          <p:cNvSpPr>
            <a:spLocks xmlns:a="http://schemas.openxmlformats.org/drawingml/2006/main" noGrp="1"/>
          </p:cNvSpPr>
          <p:nvPr/>
        </p:nvSpPr>
        <p:spPr>
          <a:xfrm xmlns:a="http://schemas.openxmlformats.org/drawingml/2006/main">
            <a:off x="6896100" y="46101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002850"/>
                </a:solidFill>
              </a:defRPr>
            </a:pPr>
            <a:r>
              <a:rPr sz="1500" b="1">
                <a:solidFill>
                  <a:srgbClr val="002850"/>
                </a:solidFill>
              </a:rPr>
              <a:t>Create the evaluation harness</a:t>
            </a:r>
          </a:p>
        </p:txBody>
      </p:sp>
      <p:sp>
        <p:nvSpPr>
          <p:cNvPr id="34" name="">
            <a:extLst xmlns:a="http://schemas.openxmlformats.org/drawingml/2006/main">
              <a:ext uri="{FF2B5EF4-FFF2-40B4-BE49-F238E27FC236}">
                <a16:creationId xmlns:a16="http://schemas.microsoft.com/office/drawing/2014/main" id="{C6BD813A-FDE5-4C62-8C97-13BD3429C641}"/>
              </a:ext>
            </a:extLst>
          </p:cNvPr>
          <p:cNvSpPr>
            <a:spLocks xmlns:a="http://schemas.openxmlformats.org/drawingml/2006/main" noGrp="1"/>
          </p:cNvSpPr>
          <p:nvPr/>
        </p:nvSpPr>
        <p:spPr>
          <a:xfrm xmlns:a="http://schemas.openxmlformats.org/drawingml/2006/main">
            <a:off x="6896100" y="4991100"/>
            <a:ext cx="4095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516575"/>
                </a:solidFill>
              </a:defRPr>
            </a:pPr>
            <a:r>
              <a:rPr sz="1125" b="0">
                <a:solidFill>
                  <a:srgbClr val="516575"/>
                </a:solidFill>
              </a:rPr>
              <a:t>Build gold cases for IDs, routing, claims, notes, contradictions, missing evidence, and follow-ups.</a:t>
            </a:r>
          </a:p>
        </p:txBody>
      </p:sp>
      <p:sp>
        <p:nvSpPr>
          <p:cNvPr id="35" name="">
            <a:extLst xmlns:a="http://schemas.openxmlformats.org/drawingml/2006/main">
              <a:ext uri="{FF2B5EF4-FFF2-40B4-BE49-F238E27FC236}">
                <a16:creationId xmlns:a16="http://schemas.microsoft.com/office/drawing/2014/main" id="{94BDB974-C8EB-473D-A61D-93533258AE2B}"/>
              </a:ext>
            </a:extLst>
          </p:cNvPr>
          <p:cNvSpPr>
            <a:spLocks xmlns:a="http://schemas.openxmlformats.org/drawingml/2006/main" noGrp="1"/>
          </p:cNvSpPr>
          <p:nvPr/>
        </p:nvSpPr>
        <p:spPr>
          <a:xfrm xmlns:a="http://schemas.openxmlformats.org/drawingml/2006/main">
            <a:off x="609600" y="6486525"/>
            <a:ext cx="523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750" b="0">
                <a:solidFill>
                  <a:srgbClr val="788B98"/>
                </a:solidFill>
              </a:defRPr>
            </a:pPr>
            <a:r>
              <a:rPr sz="750" b="0">
                <a:solidFill>
                  <a:srgbClr val="788B98"/>
                </a:solidFill>
              </a:rPr>
              <a:t>CareAllies Data Lake LLM</a:t>
            </a:r>
          </a:p>
        </p:txBody>
      </p:sp>
      <p:sp>
        <p:nvSpPr>
          <p:cNvPr id="36" name="">
            <a:extLst xmlns:a="http://schemas.openxmlformats.org/drawingml/2006/main">
              <a:ext uri="{FF2B5EF4-FFF2-40B4-BE49-F238E27FC236}">
                <a16:creationId xmlns:a16="http://schemas.microsoft.com/office/drawing/2014/main" id="{999FE210-81E2-4AAB-B1E9-A1CEA273E47D}"/>
              </a:ext>
            </a:extLst>
          </p:cNvPr>
          <p:cNvSpPr>
            <a:spLocks xmlns:a="http://schemas.openxmlformats.org/drawingml/2006/main" noGrp="1"/>
          </p:cNvSpPr>
          <p:nvPr/>
        </p:nvSpPr>
        <p:spPr>
          <a:xfrm xmlns:a="http://schemas.openxmlformats.org/drawingml/2006/main">
            <a:off x="609600" y="6372225"/>
            <a:ext cx="10972800" cy="9525"/>
          </a:xfrm>
          <a:prstGeom xmlns:a="http://schemas.openxmlformats.org/drawingml/2006/main" prst="rect">
            <a:avLst/>
          </a:prstGeom>
          <a:solidFill xmlns:a="http://schemas.openxmlformats.org/drawingml/2006/main">
            <a:srgbClr val="D5E0E8"/>
          </a:solidFill>
          <a:ln xmlns:a="http://schemas.openxmlformats.org/drawingml/2006/main" w="0">
            <a:solidFill>
              <a:srgbClr val="D5E0E8"/>
            </a:solidFill>
            <a:prstDash val="solid"/>
          </a:ln>
        </p:spPr>
      </p:sp>
    </p:spTree>
    <p:extLst>
      <p:ext uri="{BB962C8B-B14F-4D97-AF65-F5344CB8AC3E}">
        <p14:creationId xmlns:p14="http://schemas.microsoft.com/office/powerpoint/2010/main" val="1393821813"/>
      </p:ext>
    </p:extLst>
  </p:cSld>
</p:sld>
</file>

<file path=ppt/slides/slide15.xml><?xml version="1.0" encoding="utf-8"?>
<p:sld xmlns:p="http://schemas.openxmlformats.org/presentationml/2006/main">
  <p:cSld>
    <p:bg>
      <p:bgPr>
        <a:solidFill xmlns:a="http://schemas.openxmlformats.org/drawingml/2006/main">
          <a:srgbClr val="002850"/>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FC70ACF-F6E6-4C0A-A301-7951853C9BF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D9A8A"/>
          </a:solidFill>
          <a:ln xmlns:a="http://schemas.openxmlformats.org/drawingml/2006/main" w="0">
            <a:solidFill>
              <a:srgbClr val="1D9A8A"/>
            </a:solidFill>
            <a:prstDash val="solid"/>
          </a:ln>
        </p:spPr>
      </p:sp>
      <p:sp>
        <p:nvSpPr>
          <p:cNvPr id="2" name="">
            <a:extLst xmlns:a="http://schemas.openxmlformats.org/drawingml/2006/main">
              <a:ext uri="{FF2B5EF4-FFF2-40B4-BE49-F238E27FC236}">
                <a16:creationId xmlns:a16="http://schemas.microsoft.com/office/drawing/2014/main" id="{CD04954E-1DD5-47B7-B706-E1CCD39D828A}"/>
              </a:ext>
            </a:extLst>
          </p:cNvPr>
          <p:cNvSpPr>
            <a:spLocks xmlns:a="http://schemas.openxmlformats.org/drawingml/2006/main" noGrp="1"/>
          </p:cNvSpPr>
          <p:nvPr/>
        </p:nvSpPr>
        <p:spPr>
          <a:xfrm xmlns:a="http://schemas.openxmlformats.org/drawingml/2006/main">
            <a:off x="685800" y="60007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5BB8D1"/>
                </a:solidFill>
              </a:defRPr>
            </a:pPr>
            <a:r>
              <a:rPr sz="975" b="1">
                <a:solidFill>
                  <a:srgbClr val="5BB8D1"/>
                </a:solidFill>
              </a:rPr>
              <a:t>RECOMMENDED FIRST PRODUCTION POC</a:t>
            </a:r>
          </a:p>
        </p:txBody>
      </p:sp>
      <p:sp>
        <p:nvSpPr>
          <p:cNvPr id="3" name="">
            <a:extLst xmlns:a="http://schemas.openxmlformats.org/drawingml/2006/main">
              <a:ext uri="{FF2B5EF4-FFF2-40B4-BE49-F238E27FC236}">
                <a16:creationId xmlns:a16="http://schemas.microsoft.com/office/drawing/2014/main" id="{601A6E91-94E4-40A4-8675-5FACA7C904D9}"/>
              </a:ext>
            </a:extLst>
          </p:cNvPr>
          <p:cNvSpPr>
            <a:spLocks xmlns:a="http://schemas.openxmlformats.org/drawingml/2006/main" noGrp="1"/>
          </p:cNvSpPr>
          <p:nvPr/>
        </p:nvSpPr>
        <p:spPr>
          <a:xfrm xmlns:a="http://schemas.openxmlformats.org/drawingml/2006/main">
            <a:off x="685800" y="1123950"/>
            <a:ext cx="9429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225" b="1">
                <a:solidFill>
                  <a:srgbClr val="FFFFFF"/>
                </a:solidFill>
              </a:defRPr>
            </a:pPr>
            <a:r>
              <a:rPr sz="3225" b="1">
                <a:solidFill>
                  <a:srgbClr val="FFFFFF"/>
                </a:solidFill>
              </a:rPr>
              <a:t>Constrain the first release to one auditable investigation</a:t>
            </a:r>
          </a:p>
        </p:txBody>
      </p:sp>
      <p:sp>
        <p:nvSpPr>
          <p:cNvPr id="4" name="">
            <a:extLst xmlns:a="http://schemas.openxmlformats.org/drawingml/2006/main">
              <a:ext uri="{FF2B5EF4-FFF2-40B4-BE49-F238E27FC236}">
                <a16:creationId xmlns:a16="http://schemas.microsoft.com/office/drawing/2014/main" id="{2DBBE995-83AB-4CA6-AC75-6A4F71E27784}"/>
              </a:ext>
            </a:extLst>
          </p:cNvPr>
          <p:cNvSpPr>
            <a:spLocks xmlns:a="http://schemas.openxmlformats.org/drawingml/2006/main" noGrp="1"/>
          </p:cNvSpPr>
          <p:nvPr/>
        </p:nvSpPr>
        <p:spPr>
          <a:xfrm xmlns:a="http://schemas.openxmlformats.org/drawingml/2006/main">
            <a:off x="685800" y="2447925"/>
            <a:ext cx="10096500" cy="1809750"/>
          </a:xfrm>
          <a:prstGeom xmlns:a="http://schemas.openxmlformats.org/drawingml/2006/main" prst="roundRect">
            <a:avLst>
              <a:gd name="adj" fmla="val 6316"/>
            </a:avLst>
          </a:prstGeom>
          <a:solidFill xmlns:a="http://schemas.openxmlformats.org/drawingml/2006/main">
            <a:srgbClr val="123F66"/>
          </a:solidFill>
          <a:ln xmlns:a="http://schemas.openxmlformats.org/drawingml/2006/main" w="9525">
            <a:solidFill>
              <a:srgbClr val="315E7F"/>
            </a:solidFill>
            <a:prstDash val="solid"/>
          </a:ln>
        </p:spPr>
      </p:sp>
      <p:sp>
        <p:nvSpPr>
          <p:cNvPr id="5" name="">
            <a:extLst xmlns:a="http://schemas.openxmlformats.org/drawingml/2006/main">
              <a:ext uri="{FF2B5EF4-FFF2-40B4-BE49-F238E27FC236}">
                <a16:creationId xmlns:a16="http://schemas.microsoft.com/office/drawing/2014/main" id="{ED46DD1F-5190-471C-BA87-A0232E54D5B9}"/>
              </a:ext>
            </a:extLst>
          </p:cNvPr>
          <p:cNvSpPr>
            <a:spLocks xmlns:a="http://schemas.openxmlformats.org/drawingml/2006/main" noGrp="1"/>
          </p:cNvSpPr>
          <p:nvPr/>
        </p:nvSpPr>
        <p:spPr>
          <a:xfrm xmlns:a="http://schemas.openxmlformats.org/drawingml/2006/main">
            <a:off x="1028700" y="2790825"/>
            <a:ext cx="941070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75" b="1">
                <a:solidFill>
                  <a:srgbClr val="FFFFFF"/>
                </a:solidFill>
              </a:defRPr>
            </a:pPr>
            <a:r>
              <a:rPr sz="1875" b="1">
                <a:solidFill>
                  <a:srgbClr val="FFFFFF"/>
                </a:solidFill>
              </a:rPr>
              <a:t>Given a member ID, retrieve the member’s Stars record and relevant claims, apply approved evidence rules for two measures, retrieve the applicable specification sections, and produce a cited reconciliation report.</a:t>
            </a:r>
          </a:p>
        </p:txBody>
      </p:sp>
      <p:sp>
        <p:nvSpPr>
          <p:cNvPr id="6" name="">
            <a:extLst xmlns:a="http://schemas.openxmlformats.org/drawingml/2006/main">
              <a:ext uri="{FF2B5EF4-FFF2-40B4-BE49-F238E27FC236}">
                <a16:creationId xmlns:a16="http://schemas.microsoft.com/office/drawing/2014/main" id="{A8B7C193-D884-4CB7-9E05-3322F3F87550}"/>
              </a:ext>
            </a:extLst>
          </p:cNvPr>
          <p:cNvSpPr>
            <a:spLocks xmlns:a="http://schemas.openxmlformats.org/drawingml/2006/main" noGrp="1"/>
          </p:cNvSpPr>
          <p:nvPr/>
        </p:nvSpPr>
        <p:spPr>
          <a:xfrm xmlns:a="http://schemas.openxmlformats.org/drawingml/2006/main">
            <a:off x="876300" y="4695825"/>
            <a:ext cx="2324100" cy="266700"/>
          </a:xfrm>
          <a:prstGeom xmlns:a="http://schemas.openxmlformats.org/drawingml/2006/main" prst="roundRect">
            <a:avLst>
              <a:gd name="adj" fmla="val 50000"/>
            </a:avLst>
          </a:prstGeom>
          <a:solidFill xmlns:a="http://schemas.openxmlformats.org/drawingml/2006/main">
            <a:srgbClr val="E5F0F7"/>
          </a:solidFill>
          <a:ln xmlns:a="http://schemas.openxmlformats.org/drawingml/2006/main" w="0">
            <a:solidFill>
              <a:srgbClr val="E5F0F7"/>
            </a:solidFill>
            <a:prstDash val="solid"/>
          </a:ln>
        </p:spPr>
      </p:sp>
      <p:sp>
        <p:nvSpPr>
          <p:cNvPr id="7" name="">
            <a:extLst xmlns:a="http://schemas.openxmlformats.org/drawingml/2006/main">
              <a:ext uri="{FF2B5EF4-FFF2-40B4-BE49-F238E27FC236}">
                <a16:creationId xmlns:a16="http://schemas.microsoft.com/office/drawing/2014/main" id="{B9DAD227-082B-4D52-97FB-A65E8620F27E}"/>
              </a:ext>
            </a:extLst>
          </p:cNvPr>
          <p:cNvSpPr>
            <a:spLocks xmlns:a="http://schemas.openxmlformats.org/drawingml/2006/main" noGrp="1"/>
          </p:cNvSpPr>
          <p:nvPr/>
        </p:nvSpPr>
        <p:spPr>
          <a:xfrm xmlns:a="http://schemas.openxmlformats.org/drawingml/2006/main">
            <a:off x="971550" y="47244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002850"/>
                </a:solidFill>
              </a:defRPr>
            </a:pPr>
            <a:r>
              <a:rPr sz="900" b="1">
                <a:solidFill>
                  <a:srgbClr val="002850"/>
                </a:solidFill>
              </a:rPr>
              <a:t>Exact identity</a:t>
            </a:r>
          </a:p>
        </p:txBody>
      </p:sp>
      <p:sp>
        <p:nvSpPr>
          <p:cNvPr id="8" name="">
            <a:extLst xmlns:a="http://schemas.openxmlformats.org/drawingml/2006/main">
              <a:ext uri="{FF2B5EF4-FFF2-40B4-BE49-F238E27FC236}">
                <a16:creationId xmlns:a16="http://schemas.microsoft.com/office/drawing/2014/main" id="{DC2D184D-497A-4AC6-83C9-0DE33D12F3D5}"/>
              </a:ext>
            </a:extLst>
          </p:cNvPr>
          <p:cNvSpPr>
            <a:spLocks xmlns:a="http://schemas.openxmlformats.org/drawingml/2006/main" noGrp="1"/>
          </p:cNvSpPr>
          <p:nvPr/>
        </p:nvSpPr>
        <p:spPr>
          <a:xfrm xmlns:a="http://schemas.openxmlformats.org/drawingml/2006/main">
            <a:off x="3209925" y="46958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5BB8D1"/>
                </a:solidFill>
              </a:defRPr>
            </a:pPr>
            <a:r>
              <a:rPr sz="1650" b="1">
                <a:solidFill>
                  <a:srgbClr val="5BB8D1"/>
                </a:solidFill>
              </a:rPr>
              <a:t>→</a:t>
            </a:r>
          </a:p>
        </p:txBody>
      </p:sp>
      <p:sp>
        <p:nvSpPr>
          <p:cNvPr id="9" name="">
            <a:extLst xmlns:a="http://schemas.openxmlformats.org/drawingml/2006/main">
              <a:ext uri="{FF2B5EF4-FFF2-40B4-BE49-F238E27FC236}">
                <a16:creationId xmlns:a16="http://schemas.microsoft.com/office/drawing/2014/main" id="{7A82C77A-10E0-45E8-96C1-D38D448ED1E3}"/>
              </a:ext>
            </a:extLst>
          </p:cNvPr>
          <p:cNvSpPr>
            <a:spLocks xmlns:a="http://schemas.openxmlformats.org/drawingml/2006/main" noGrp="1"/>
          </p:cNvSpPr>
          <p:nvPr/>
        </p:nvSpPr>
        <p:spPr>
          <a:xfrm xmlns:a="http://schemas.openxmlformats.org/drawingml/2006/main">
            <a:off x="3524250" y="4695825"/>
            <a:ext cx="2324100" cy="266700"/>
          </a:xfrm>
          <a:prstGeom xmlns:a="http://schemas.openxmlformats.org/drawingml/2006/main" prst="roundRect">
            <a:avLst>
              <a:gd name="adj" fmla="val 50000"/>
            </a:avLst>
          </a:prstGeom>
          <a:solidFill xmlns:a="http://schemas.openxmlformats.org/drawingml/2006/main">
            <a:srgbClr val="E7F4F1"/>
          </a:solidFill>
          <a:ln xmlns:a="http://schemas.openxmlformats.org/drawingml/2006/main" w="0">
            <a:solidFill>
              <a:srgbClr val="E7F4F1"/>
            </a:solidFill>
            <a:prstDash val="solid"/>
          </a:ln>
        </p:spPr>
      </p:sp>
      <p:sp>
        <p:nvSpPr>
          <p:cNvPr id="10" name="">
            <a:extLst xmlns:a="http://schemas.openxmlformats.org/drawingml/2006/main">
              <a:ext uri="{FF2B5EF4-FFF2-40B4-BE49-F238E27FC236}">
                <a16:creationId xmlns:a16="http://schemas.microsoft.com/office/drawing/2014/main" id="{941637D2-8D68-44BD-BB42-832394AEB8BA}"/>
              </a:ext>
            </a:extLst>
          </p:cNvPr>
          <p:cNvSpPr>
            <a:spLocks xmlns:a="http://schemas.openxmlformats.org/drawingml/2006/main" noGrp="1"/>
          </p:cNvSpPr>
          <p:nvPr/>
        </p:nvSpPr>
        <p:spPr>
          <a:xfrm xmlns:a="http://schemas.openxmlformats.org/drawingml/2006/main">
            <a:off x="3619500" y="47244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002850"/>
                </a:solidFill>
              </a:defRPr>
            </a:pPr>
            <a:r>
              <a:rPr sz="900" b="1">
                <a:solidFill>
                  <a:srgbClr val="002850"/>
                </a:solidFill>
              </a:rPr>
              <a:t>Governed evidence</a:t>
            </a:r>
          </a:p>
        </p:txBody>
      </p:sp>
      <p:sp>
        <p:nvSpPr>
          <p:cNvPr id="11" name="">
            <a:extLst xmlns:a="http://schemas.openxmlformats.org/drawingml/2006/main">
              <a:ext uri="{FF2B5EF4-FFF2-40B4-BE49-F238E27FC236}">
                <a16:creationId xmlns:a16="http://schemas.microsoft.com/office/drawing/2014/main" id="{23BC4D97-0E2F-447A-AC6C-06B894317BC8}"/>
              </a:ext>
            </a:extLst>
          </p:cNvPr>
          <p:cNvSpPr>
            <a:spLocks xmlns:a="http://schemas.openxmlformats.org/drawingml/2006/main" noGrp="1"/>
          </p:cNvSpPr>
          <p:nvPr/>
        </p:nvSpPr>
        <p:spPr>
          <a:xfrm xmlns:a="http://schemas.openxmlformats.org/drawingml/2006/main">
            <a:off x="5857875" y="46958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5BB8D1"/>
                </a:solidFill>
              </a:defRPr>
            </a:pPr>
            <a:r>
              <a:rPr sz="1650" b="1">
                <a:solidFill>
                  <a:srgbClr val="5BB8D1"/>
                </a:solidFill>
              </a:rPr>
              <a:t>→</a:t>
            </a:r>
          </a:p>
        </p:txBody>
      </p:sp>
      <p:sp>
        <p:nvSpPr>
          <p:cNvPr id="12" name="">
            <a:extLst xmlns:a="http://schemas.openxmlformats.org/drawingml/2006/main">
              <a:ext uri="{FF2B5EF4-FFF2-40B4-BE49-F238E27FC236}">
                <a16:creationId xmlns:a16="http://schemas.microsoft.com/office/drawing/2014/main" id="{FF8DC8DF-7791-4BAA-A853-09CE9E03B362}"/>
              </a:ext>
            </a:extLst>
          </p:cNvPr>
          <p:cNvSpPr>
            <a:spLocks xmlns:a="http://schemas.openxmlformats.org/drawingml/2006/main" noGrp="1"/>
          </p:cNvSpPr>
          <p:nvPr/>
        </p:nvSpPr>
        <p:spPr>
          <a:xfrm xmlns:a="http://schemas.openxmlformats.org/drawingml/2006/main">
            <a:off x="6172200" y="4695825"/>
            <a:ext cx="2324100" cy="266700"/>
          </a:xfrm>
          <a:prstGeom xmlns:a="http://schemas.openxmlformats.org/drawingml/2006/main" prst="roundRect">
            <a:avLst>
              <a:gd name="adj" fmla="val 50000"/>
            </a:avLst>
          </a:prstGeom>
          <a:solidFill xmlns:a="http://schemas.openxmlformats.org/drawingml/2006/main">
            <a:srgbClr val="FFF2E6"/>
          </a:solidFill>
          <a:ln xmlns:a="http://schemas.openxmlformats.org/drawingml/2006/main" w="0">
            <a:solidFill>
              <a:srgbClr val="FFF2E6"/>
            </a:solidFill>
            <a:prstDash val="solid"/>
          </a:ln>
        </p:spPr>
      </p:sp>
      <p:sp>
        <p:nvSpPr>
          <p:cNvPr id="13" name="">
            <a:extLst xmlns:a="http://schemas.openxmlformats.org/drawingml/2006/main">
              <a:ext uri="{FF2B5EF4-FFF2-40B4-BE49-F238E27FC236}">
                <a16:creationId xmlns:a16="http://schemas.microsoft.com/office/drawing/2014/main" id="{2B4BA325-94F5-4F9A-91F4-EC837C702AE3}"/>
              </a:ext>
            </a:extLst>
          </p:cNvPr>
          <p:cNvSpPr>
            <a:spLocks xmlns:a="http://schemas.openxmlformats.org/drawingml/2006/main" noGrp="1"/>
          </p:cNvSpPr>
          <p:nvPr/>
        </p:nvSpPr>
        <p:spPr>
          <a:xfrm xmlns:a="http://schemas.openxmlformats.org/drawingml/2006/main">
            <a:off x="6267450" y="47244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E58A3A"/>
                </a:solidFill>
              </a:defRPr>
            </a:pPr>
            <a:r>
              <a:rPr sz="900" b="1">
                <a:solidFill>
                  <a:srgbClr val="E58A3A"/>
                </a:solidFill>
              </a:rPr>
              <a:t>Versioned decision</a:t>
            </a:r>
          </a:p>
        </p:txBody>
      </p:sp>
      <p:sp>
        <p:nvSpPr>
          <p:cNvPr id="14" name="">
            <a:extLst xmlns:a="http://schemas.openxmlformats.org/drawingml/2006/main">
              <a:ext uri="{FF2B5EF4-FFF2-40B4-BE49-F238E27FC236}">
                <a16:creationId xmlns:a16="http://schemas.microsoft.com/office/drawing/2014/main" id="{13D53187-1F09-406B-91C4-9DE33B7C1ECD}"/>
              </a:ext>
            </a:extLst>
          </p:cNvPr>
          <p:cNvSpPr>
            <a:spLocks xmlns:a="http://schemas.openxmlformats.org/drawingml/2006/main" noGrp="1"/>
          </p:cNvSpPr>
          <p:nvPr/>
        </p:nvSpPr>
        <p:spPr>
          <a:xfrm xmlns:a="http://schemas.openxmlformats.org/drawingml/2006/main">
            <a:off x="8505825" y="4695825"/>
            <a:ext cx="2667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1">
                <a:solidFill>
                  <a:srgbClr val="5BB8D1"/>
                </a:solidFill>
              </a:defRPr>
            </a:pPr>
            <a:r>
              <a:rPr sz="1650" b="1">
                <a:solidFill>
                  <a:srgbClr val="5BB8D1"/>
                </a:solidFill>
              </a:rPr>
              <a:t>→</a:t>
            </a:r>
          </a:p>
        </p:txBody>
      </p:sp>
      <p:sp>
        <p:nvSpPr>
          <p:cNvPr id="15" name="">
            <a:extLst xmlns:a="http://schemas.openxmlformats.org/drawingml/2006/main">
              <a:ext uri="{FF2B5EF4-FFF2-40B4-BE49-F238E27FC236}">
                <a16:creationId xmlns:a16="http://schemas.microsoft.com/office/drawing/2014/main" id="{8033C778-6279-449F-BB89-FCB66D4054A9}"/>
              </a:ext>
            </a:extLst>
          </p:cNvPr>
          <p:cNvSpPr>
            <a:spLocks xmlns:a="http://schemas.openxmlformats.org/drawingml/2006/main" noGrp="1"/>
          </p:cNvSpPr>
          <p:nvPr/>
        </p:nvSpPr>
        <p:spPr>
          <a:xfrm xmlns:a="http://schemas.openxmlformats.org/drawingml/2006/main">
            <a:off x="8820150" y="4695825"/>
            <a:ext cx="2324100" cy="266700"/>
          </a:xfrm>
          <a:prstGeom xmlns:a="http://schemas.openxmlformats.org/drawingml/2006/main" prst="roundRect">
            <a:avLst>
              <a:gd name="adj" fmla="val 50000"/>
            </a:avLst>
          </a:prstGeom>
          <a:solidFill xmlns:a="http://schemas.openxmlformats.org/drawingml/2006/main">
            <a:srgbClr val="FFFFFF"/>
          </a:solidFill>
          <a:ln xmlns:a="http://schemas.openxmlformats.org/drawingml/2006/main" w="0">
            <a:solidFill>
              <a:srgbClr val="FFFFFF"/>
            </a:solidFill>
            <a:prstDash val="solid"/>
          </a:ln>
        </p:spPr>
      </p:sp>
      <p:sp>
        <p:nvSpPr>
          <p:cNvPr id="16" name="">
            <a:extLst xmlns:a="http://schemas.openxmlformats.org/drawingml/2006/main">
              <a:ext uri="{FF2B5EF4-FFF2-40B4-BE49-F238E27FC236}">
                <a16:creationId xmlns:a16="http://schemas.microsoft.com/office/drawing/2014/main" id="{9673EB31-07DC-4231-9421-9A5984B420EB}"/>
              </a:ext>
            </a:extLst>
          </p:cNvPr>
          <p:cNvSpPr>
            <a:spLocks xmlns:a="http://schemas.openxmlformats.org/drawingml/2006/main" noGrp="1"/>
          </p:cNvSpPr>
          <p:nvPr/>
        </p:nvSpPr>
        <p:spPr>
          <a:xfrm xmlns:a="http://schemas.openxmlformats.org/drawingml/2006/main">
            <a:off x="8915400" y="4724400"/>
            <a:ext cx="2133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00" b="1">
                <a:solidFill>
                  <a:srgbClr val="002850"/>
                </a:solidFill>
              </a:defRPr>
            </a:pPr>
            <a:r>
              <a:rPr sz="900" b="1">
                <a:solidFill>
                  <a:srgbClr val="002850"/>
                </a:solidFill>
              </a:rPr>
              <a:t>Cited explanation</a:t>
            </a:r>
          </a:p>
        </p:txBody>
      </p:sp>
      <p:sp>
        <p:nvSpPr>
          <p:cNvPr id="17" name="">
            <a:extLst xmlns:a="http://schemas.openxmlformats.org/drawingml/2006/main">
              <a:ext uri="{FF2B5EF4-FFF2-40B4-BE49-F238E27FC236}">
                <a16:creationId xmlns:a16="http://schemas.microsoft.com/office/drawing/2014/main" id="{FA76E33F-E960-4344-B1BA-AEF16A65EA54}"/>
              </a:ext>
            </a:extLst>
          </p:cNvPr>
          <p:cNvSpPr>
            <a:spLocks xmlns:a="http://schemas.openxmlformats.org/drawingml/2006/main" noGrp="1"/>
          </p:cNvSpPr>
          <p:nvPr/>
        </p:nvSpPr>
        <p:spPr>
          <a:xfrm xmlns:a="http://schemas.openxmlformats.org/drawingml/2006/main">
            <a:off x="685800" y="5724525"/>
            <a:ext cx="1009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650" b="0">
                <a:solidFill>
                  <a:srgbClr val="D7E5ED"/>
                </a:solidFill>
              </a:defRPr>
            </a:pPr>
            <a:r>
              <a:rPr sz="1650" b="0">
                <a:solidFill>
                  <a:srgbClr val="D7E5ED"/>
                </a:solidFill>
              </a:rPr>
              <a:t>This is narrow enough to validate. It is real enough to prove the production architecture.</a:t>
            </a:r>
          </a:p>
        </p:txBody>
      </p:sp>
    </p:spTree>
    <p:extLst>
      <p:ext uri="{BB962C8B-B14F-4D97-AF65-F5344CB8AC3E}">
        <p14:creationId xmlns:p14="http://schemas.microsoft.com/office/powerpoint/2010/main" val="18232347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2026-09-02T17:25:12.9360000Z</dcterms:created>
  <dcterms:modified xsi:type="dcterms:W3CDTF">2026-09-02T17:25:12.9360000Z</dcterms:modified>
</coreProperties>
</file>