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7ccf8b387643e9" /><Relationship Type="http://schemas.openxmlformats.org/officeDocument/2006/relationships/extended-properties" Target="/docProps/app.xml" Id="Rda8acb9b6a374426" /><Relationship Type="http://schemas.openxmlformats.org/officeDocument/2006/relationships/officeDocument" Target="/ppt/presentation.xml" Id="R57841150af47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7f3e9c7934d8f"/>
  </p:sldMasterIdLst>
  <p:notesMasterIdLst>
    <p:notesMasterId xmlns:r="http://schemas.openxmlformats.org/officeDocument/2006/relationships" r:id="R98792ecead034f53"/>
  </p:notesMasterIdLst>
  <p:sldIdLst>
    <p:sldId xmlns:r="http://schemas.openxmlformats.org/officeDocument/2006/relationships" id="256" r:id="R0e023b0036f3443e"/>
    <p:sldId xmlns:r="http://schemas.openxmlformats.org/officeDocument/2006/relationships" id="257" r:id="R3c19023cb2c84ba4"/>
    <p:sldId xmlns:r="http://schemas.openxmlformats.org/officeDocument/2006/relationships" id="258" r:id="Rf924403a4c9c4ac4"/>
    <p:sldId xmlns:r="http://schemas.openxmlformats.org/officeDocument/2006/relationships" id="259" r:id="Rac09ff5799cc4857"/>
    <p:sldId xmlns:r="http://schemas.openxmlformats.org/officeDocument/2006/relationships" id="260" r:id="Rd4e464c0c9c04596"/>
    <p:sldId xmlns:r="http://schemas.openxmlformats.org/officeDocument/2006/relationships" id="261" r:id="R9588004a7a8b448a"/>
    <p:sldId xmlns:r="http://schemas.openxmlformats.org/officeDocument/2006/relationships" id="262" r:id="R5b000725bbf64e96"/>
    <p:sldId xmlns:r="http://schemas.openxmlformats.org/officeDocument/2006/relationships" id="263" r:id="R8d5ffb9484ab4e0c"/>
    <p:sldId xmlns:r="http://schemas.openxmlformats.org/officeDocument/2006/relationships" id="264" r:id="Rb3e0a0032bdd4ef1"/>
    <p:sldId xmlns:r="http://schemas.openxmlformats.org/officeDocument/2006/relationships" id="265" r:id="Rd5882596cbc74848"/>
    <p:sldId xmlns:r="http://schemas.openxmlformats.org/officeDocument/2006/relationships" id="266" r:id="Rd2483cd330374357"/>
    <p:sldId xmlns:r="http://schemas.openxmlformats.org/officeDocument/2006/relationships" id="267" r:id="R45c240ed6ae44c8c"/>
    <p:sldId xmlns:r="http://schemas.openxmlformats.org/officeDocument/2006/relationships" id="268" r:id="R27773b80da1a495f"/>
    <p:sldId xmlns:r="http://schemas.openxmlformats.org/officeDocument/2006/relationships" id="269" r:id="Rba349d2754a5402a"/>
    <p:sldId xmlns:r="http://schemas.openxmlformats.org/officeDocument/2006/relationships" id="270" r:id="R6e675b6f119941ff"/>
    <p:sldId xmlns:r="http://schemas.openxmlformats.org/officeDocument/2006/relationships" id="271" r:id="R4af4379f63974ed1"/>
    <p:sldId xmlns:r="http://schemas.openxmlformats.org/officeDocument/2006/relationships" id="272" r:id="Rc2025d5672084402"/>
    <p:sldId xmlns:r="http://schemas.openxmlformats.org/officeDocument/2006/relationships" id="273" r:id="R7e4f135f7e194ac6"/>
    <p:sldId xmlns:r="http://schemas.openxmlformats.org/officeDocument/2006/relationships" id="274" r:id="R570225c43bf2488f"/>
    <p:sldId xmlns:r="http://schemas.openxmlformats.org/officeDocument/2006/relationships" id="275" r:id="Ra9b3e0e6a2924aa5"/>
    <p:sldId xmlns:r="http://schemas.openxmlformats.org/officeDocument/2006/relationships" id="276" r:id="R7dbe93bf911e4f78"/>
    <p:sldId xmlns:r="http://schemas.openxmlformats.org/officeDocument/2006/relationships" id="277" r:id="R6d0c0a220ac9438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1f115525694f74" /><Relationship Type="http://schemas.openxmlformats.org/officeDocument/2006/relationships/slideMaster" Target="/ppt/slideMasters/slideMaster1.xml" Id="R5637f3e9c7934d8f" /><Relationship Type="http://schemas.openxmlformats.org/officeDocument/2006/relationships/notesMaster" Target="/ppt/notesMasters/notesMaster1.xml" Id="R98792ecead034f53" /><Relationship Type="http://schemas.openxmlformats.org/officeDocument/2006/relationships/presProps" Target="/ppt/presProps.xml" Id="Re2aaed2766d64a8d" /><Relationship Type="http://schemas.openxmlformats.org/officeDocument/2006/relationships/viewProps" Target="/ppt/viewProps.xml" Id="R44fcce3bd04a403f" /><Relationship Type="http://schemas.openxmlformats.org/officeDocument/2006/relationships/tableStyles" Target="/ppt/tableStyles.xml" Id="R27e2be6e12704335" /><Relationship Type="http://schemas.openxmlformats.org/officeDocument/2006/relationships/slide" Target="/ppt/slides/slide1.xml" Id="R0e023b0036f3443e" /><Relationship Type="http://schemas.openxmlformats.org/officeDocument/2006/relationships/slide" Target="/ppt/slides/slide2.xml" Id="R3c19023cb2c84ba4" /><Relationship Type="http://schemas.openxmlformats.org/officeDocument/2006/relationships/slide" Target="/ppt/slides/slide3.xml" Id="Rf924403a4c9c4ac4" /><Relationship Type="http://schemas.openxmlformats.org/officeDocument/2006/relationships/slide" Target="/ppt/slides/slide4.xml" Id="Rac09ff5799cc4857" /><Relationship Type="http://schemas.openxmlformats.org/officeDocument/2006/relationships/slide" Target="/ppt/slides/slide5.xml" Id="Rd4e464c0c9c04596" /><Relationship Type="http://schemas.openxmlformats.org/officeDocument/2006/relationships/slide" Target="/ppt/slides/slide6.xml" Id="R9588004a7a8b448a" /><Relationship Type="http://schemas.openxmlformats.org/officeDocument/2006/relationships/slide" Target="/ppt/slides/slide7.xml" Id="R5b000725bbf64e96" /><Relationship Type="http://schemas.openxmlformats.org/officeDocument/2006/relationships/slide" Target="/ppt/slides/slide8.xml" Id="R8d5ffb9484ab4e0c" /><Relationship Type="http://schemas.openxmlformats.org/officeDocument/2006/relationships/slide" Target="/ppt/slides/slide9.xml" Id="Rb3e0a0032bdd4ef1" /><Relationship Type="http://schemas.openxmlformats.org/officeDocument/2006/relationships/slide" Target="/ppt/slides/slide10.xml" Id="Rd5882596cbc74848" /><Relationship Type="http://schemas.openxmlformats.org/officeDocument/2006/relationships/slide" Target="/ppt/slides/slide11.xml" Id="Rd2483cd330374357" /><Relationship Type="http://schemas.openxmlformats.org/officeDocument/2006/relationships/slide" Target="/ppt/slides/slide12.xml" Id="R45c240ed6ae44c8c" /><Relationship Type="http://schemas.openxmlformats.org/officeDocument/2006/relationships/slide" Target="/ppt/slides/slide13.xml" Id="R27773b80da1a495f" /><Relationship Type="http://schemas.openxmlformats.org/officeDocument/2006/relationships/slide" Target="/ppt/slides/slide14.xml" Id="Rba349d2754a5402a" /><Relationship Type="http://schemas.openxmlformats.org/officeDocument/2006/relationships/slide" Target="/ppt/slides/slide15.xml" Id="R6e675b6f119941ff" /><Relationship Type="http://schemas.openxmlformats.org/officeDocument/2006/relationships/slide" Target="/ppt/slides/slide16.xml" Id="R4af4379f63974ed1" /><Relationship Type="http://schemas.openxmlformats.org/officeDocument/2006/relationships/slide" Target="/ppt/slides/slide17.xml" Id="Rc2025d5672084402" /><Relationship Type="http://schemas.openxmlformats.org/officeDocument/2006/relationships/slide" Target="/ppt/slides/slide18.xml" Id="R7e4f135f7e194ac6" /><Relationship Type="http://schemas.openxmlformats.org/officeDocument/2006/relationships/slide" Target="/ppt/slides/slide19.xml" Id="R570225c43bf2488f" /><Relationship Type="http://schemas.openxmlformats.org/officeDocument/2006/relationships/slide" Target="/ppt/slides/slide20.xml" Id="Ra9b3e0e6a2924aa5" /><Relationship Type="http://schemas.openxmlformats.org/officeDocument/2006/relationships/slide" Target="/ppt/slides/slide21.xml" Id="R7dbe93bf911e4f78" /><Relationship Type="http://schemas.openxmlformats.org/officeDocument/2006/relationships/slide" Target="/ppt/slides/slide22.xml" Id="R6d0c0a220ac9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f2c2c30887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96d5e050146c8" /><Relationship Type="http://schemas.openxmlformats.org/officeDocument/2006/relationships/notesMaster" Target="/ppt/notesMasters/notesMaster1.xml" Id="Rca68f4137d50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74b0c996594c22" /><Relationship Type="http://schemas.openxmlformats.org/officeDocument/2006/relationships/notesMaster" Target="/ppt/notesMasters/notesMaster1.xml" Id="R83ce3ed554ef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5553654cc4d13" /><Relationship Type="http://schemas.openxmlformats.org/officeDocument/2006/relationships/notesMaster" Target="/ppt/notesMasters/notesMaster1.xml" Id="Re26c46e068d040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621f2c37da459e" /><Relationship Type="http://schemas.openxmlformats.org/officeDocument/2006/relationships/notesMaster" Target="/ppt/notesMasters/notesMaster1.xml" Id="R79cef901e41c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86f8e952134b03" /><Relationship Type="http://schemas.openxmlformats.org/officeDocument/2006/relationships/notesMaster" Target="/ppt/notesMasters/notesMaster1.xml" Id="R4f1a62b56285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2560139814124" /><Relationship Type="http://schemas.openxmlformats.org/officeDocument/2006/relationships/notesMaster" Target="/ppt/notesMasters/notesMaster1.xml" Id="R924a7535ffa1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c02ecd5d847df" /><Relationship Type="http://schemas.openxmlformats.org/officeDocument/2006/relationships/notesMaster" Target="/ppt/notesMasters/notesMaster1.xml" Id="R9f0816835b3f4e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1a5a3a537742c7" /><Relationship Type="http://schemas.openxmlformats.org/officeDocument/2006/relationships/notesMaster" Target="/ppt/notesMasters/notesMaster1.xml" Id="R884af905821a4b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6b063e2b394ec7" /><Relationship Type="http://schemas.openxmlformats.org/officeDocument/2006/relationships/notesMaster" Target="/ppt/notesMasters/notesMaster1.xml" Id="Ra7433890e6f24c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a35baed3c340b8" /><Relationship Type="http://schemas.openxmlformats.org/officeDocument/2006/relationships/notesMaster" Target="/ppt/notesMasters/notesMaster1.xml" Id="R8f14fbe2dcec47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9335a6d0d447b1" /><Relationship Type="http://schemas.openxmlformats.org/officeDocument/2006/relationships/notesMaster" Target="/ppt/notesMasters/notesMaster1.xml" Id="Rc56ba98a5a8e44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2ea1a60ec74b32" /><Relationship Type="http://schemas.openxmlformats.org/officeDocument/2006/relationships/notesMaster" Target="/ppt/notesMasters/notesMaster1.xml" Id="R8d7518d162b740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f96b3edf234863" /><Relationship Type="http://schemas.openxmlformats.org/officeDocument/2006/relationships/notesMaster" Target="/ppt/notesMasters/notesMaster1.xml" Id="R7243cde4340041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3cb6b2aab24953" /><Relationship Type="http://schemas.openxmlformats.org/officeDocument/2006/relationships/notesMaster" Target="/ppt/notesMasters/notesMaster1.xml" Id="R6214319ec2e247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d4eddbaf1d4b54" /><Relationship Type="http://schemas.openxmlformats.org/officeDocument/2006/relationships/notesMaster" Target="/ppt/notesMasters/notesMaster1.xml" Id="R331535922c9543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cb362ccf554560" /><Relationship Type="http://schemas.openxmlformats.org/officeDocument/2006/relationships/notesMaster" Target="/ppt/notesMasters/notesMaster1.xml" Id="R5969fa5c67c94d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1ebf99eab34deb" /><Relationship Type="http://schemas.openxmlformats.org/officeDocument/2006/relationships/notesMaster" Target="/ppt/notesMasters/notesMaster1.xml" Id="R8799a95b94b14d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b83302c6a64dc0" /><Relationship Type="http://schemas.openxmlformats.org/officeDocument/2006/relationships/notesMaster" Target="/ppt/notesMasters/notesMaster1.xml" Id="R40bad98a08c943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72714df0bb4499" /><Relationship Type="http://schemas.openxmlformats.org/officeDocument/2006/relationships/notesMaster" Target="/ppt/notesMasters/notesMaster1.xml" Id="R81adeb2945ba46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f58bcf8a8648d1" /><Relationship Type="http://schemas.openxmlformats.org/officeDocument/2006/relationships/notesMaster" Target="/ppt/notesMasters/notesMaster1.xml" Id="R7b5075e7af204a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71e235467f4135" /><Relationship Type="http://schemas.openxmlformats.org/officeDocument/2006/relationships/notesMaster" Target="/ppt/notesMasters/notesMaster1.xml" Id="R54ca4e44c8ed4b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df94152cbe449b" /><Relationship Type="http://schemas.openxmlformats.org/officeDocument/2006/relationships/notesMaster" Target="/ppt/notesMasters/notesMaster1.xml" Id="R394a7c4025d3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three roles rather than model architecture. The featured examples are desired answer shapes on synthetic/mock data. The appendix is a structured testing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Show the cohort, periods, factor contribution, refreshed data, and reconciled totals. Separate a coding opportunity from a data-lag explanation. If encounter completeness is unknown, say so before attributing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List eligible denominator, open gaps, evidence date/source, recoverability window, responsible team and projected numerator effect. Do not close a gap from a plausible chart mention without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Define the pre-visit gap snapshot, eligible visits, action window, event evidence, duplicates and a drill-down by provider. An order or referral is not the same as a completed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Use matching market, period, attribution, refresh and metric definition; expose the query and adjustment rows for Finance review. Never certify a financial result or invent a balancing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Show yesterday/today snapshots, retroactive corrections, source-system deltas, affected members, severity, owner and proposed investigation. An anomaly is not proof the source system is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This is a response-design example, not a measured model result. Demo with approved synthetic/mock records only. Show observed profile, comparator cohort, historical intervention outcomes, uncertainty and a measurable next-step experiment. Present similarity as a hypothesis; do not claim causal lift without a valid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Financial performance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Stars and quality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Clinical chart and evidence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Audit the Auditor: objective checks.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Audit the Auditor: clinical review.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Audit impact and ROI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Risk analytics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Utilization and operations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Provider intelligence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Market and growth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Proactive monitoring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Proactive intervention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Synthetic demo and trust questions.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Evaluation questions for every pilot.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bank for Pilot scorecard and next steps. Expected-answer column is a success criterion, not a claim that an existing LLM can do this today.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2d810bc21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ebf72548f4a68" /><Relationship Type="http://schemas.openxmlformats.org/officeDocument/2006/relationships/slideLayout" Target="/ppt/slideLayouts/slideLayout1.xml" Id="R2bc0e0940f7b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c0e0940f7b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7112955cf4f6a" /><Relationship Type="http://schemas.openxmlformats.org/officeDocument/2006/relationships/notesSlide" Target="/ppt/notesSlides/notesSlide1.xml" Id="R460e2bcf5574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9ca774c64dd2" /><Relationship Type="http://schemas.openxmlformats.org/officeDocument/2006/relationships/notesSlide" Target="/ppt/notesSlides/notesSlide2.xml" Id="Rf4303be7e1f6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2d6b88966463a" /><Relationship Type="http://schemas.openxmlformats.org/officeDocument/2006/relationships/notesSlide" Target="/ppt/notesSlides/notesSlide3.xml" Id="Ra83a514d3f21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f7c5a413c43d2" /><Relationship Type="http://schemas.openxmlformats.org/officeDocument/2006/relationships/notesSlide" Target="/ppt/notesSlides/notesSlide4.xml" Id="R4129c1122fbf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04aea2d1430c" /><Relationship Type="http://schemas.openxmlformats.org/officeDocument/2006/relationships/notesSlide" Target="/ppt/notesSlides/notesSlide5.xml" Id="Rff04b000a6094c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ef4190ccd4f6c" /><Relationship Type="http://schemas.openxmlformats.org/officeDocument/2006/relationships/notesSlide" Target="/ppt/notesSlides/notesSlide6.xml" Id="Rfe3b35924272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f580a7f645cf" /><Relationship Type="http://schemas.openxmlformats.org/officeDocument/2006/relationships/notesSlide" Target="/ppt/notesSlides/notesSlide7.xml" Id="R344d4fcaedb1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db326bd454a94" /><Relationship Type="http://schemas.openxmlformats.org/officeDocument/2006/relationships/notesSlide" Target="/ppt/notesSlides/notesSlide8.xml" Id="R200b1a548cc546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b76fa96a3452e" /><Relationship Type="http://schemas.openxmlformats.org/officeDocument/2006/relationships/notesSlide" Target="/ppt/notesSlides/notesSlide9.xml" Id="R7098bde3c6904c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a7e9b922247f6" /><Relationship Type="http://schemas.openxmlformats.org/officeDocument/2006/relationships/notesSlide" Target="/ppt/notesSlides/notesSlide10.xml" Id="R543a4f79ea664f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dd28b66c5438f" /><Relationship Type="http://schemas.openxmlformats.org/officeDocument/2006/relationships/notesSlide" Target="/ppt/notesSlides/notesSlide11.xml" Id="Rcec0203620e24e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290b62a0d44d5" /><Relationship Type="http://schemas.openxmlformats.org/officeDocument/2006/relationships/notesSlide" Target="/ppt/notesSlides/notesSlide12.xml" Id="R71ac014c072847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fa4b86650473c" /><Relationship Type="http://schemas.openxmlformats.org/officeDocument/2006/relationships/notesSlide" Target="/ppt/notesSlides/notesSlide13.xml" Id="Re6cd330763034d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a1f6a54e64e3f" /><Relationship Type="http://schemas.openxmlformats.org/officeDocument/2006/relationships/notesSlide" Target="/ppt/notesSlides/notesSlide14.xml" Id="Rd5adbfeddf634f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8237c18dd4182" /><Relationship Type="http://schemas.openxmlformats.org/officeDocument/2006/relationships/notesSlide" Target="/ppt/notesSlides/notesSlide15.xml" Id="Redf80fa9ef28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39de684ad4f29" /><Relationship Type="http://schemas.openxmlformats.org/officeDocument/2006/relationships/notesSlide" Target="/ppt/notesSlides/notesSlide16.xml" Id="R3ea4c4b8c03c44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365a6dda8411c" /><Relationship Type="http://schemas.openxmlformats.org/officeDocument/2006/relationships/notesSlide" Target="/ppt/notesSlides/notesSlide17.xml" Id="Rdd8fb089e1f546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6fc6474524288" /><Relationship Type="http://schemas.openxmlformats.org/officeDocument/2006/relationships/notesSlide" Target="/ppt/notesSlides/notesSlide18.xml" Id="Ra4adbde5333741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fa35cb3a948b3" /><Relationship Type="http://schemas.openxmlformats.org/officeDocument/2006/relationships/notesSlide" Target="/ppt/notesSlides/notesSlide19.xml" Id="Ra60830840c5b43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82efd9e164197" /><Relationship Type="http://schemas.openxmlformats.org/officeDocument/2006/relationships/notesSlide" Target="/ppt/notesSlides/notesSlide20.xml" Id="R89ed767810ff46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ee9d645204643" /><Relationship Type="http://schemas.openxmlformats.org/officeDocument/2006/relationships/notesSlide" Target="/ppt/notesSlides/notesSlide21.xml" Id="Re5a08139acc040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38b7b0ce949f4" /><Relationship Type="http://schemas.openxmlformats.org/officeDocument/2006/relationships/notesSlide" Target="/ppt/notesSlides/notesSlide22.xml" Id="Re5a4153e83b4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 useful AI assistant answers business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 short leadership demo, followed by a complete test-question bank.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Prototype examples use synthetic/mock records only. PHI use requires explicit approved controls.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D0EDE-80AE-4FA8-A7CC-C1019F20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24025"/>
            <a:ext cx="11353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40381-3482-4407-B1B3-4FC22CA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The test is not whether it can chat. It is whether it can explain a decision.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34F56-8ABB-4A5B-AF38-8E47D65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Every answer should show the number, the driver, the source, the next action—and what is still unknown.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1670D-94D6-4E1D-B42F-65CE33A0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3657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A15023-3F63-40B1-90EA-999AC7A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LEADER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BEAFC3-1384-42BB-9C91-BC4B5C8D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What changed and what should we do?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754B1B-F083-44D1-AF71-40CFB3EE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3657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7D601-6730-4EF9-BBFE-0B7F8F1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575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ANALYST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4CE388-9567-4F5B-9633-2B380F65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Can I reproduce the number and trace the logic?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523AB-84A9-48C1-A335-B4177DF2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3657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BAD43E-F5D1-4C3C-9F6A-D1E8A36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USER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64D5F-B6E5-4E56-B9ED-457611F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Which member, provider or case needs attention?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Risk: explain the change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Focused module within the Analytics &amp; Knowledge Assistant.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17B15-6B1E-4C7A-A20E-8AAD21D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BEF53-DADD-4ECD-9F6E-A331FCC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69D92-7455-48C6-9BCF-89CA678B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LEADER / RISK ANALYST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44B04-FB39-45E8-81B0-1E09191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Why did this provider’s risk score fall, and what can we act on?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A19008-55A4-44C9-85FB-70D67D45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FE3B0-5521-481C-8955-74EBF40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“The decline is concentrated in three drivers: membership mix, fewer documented conditions, and timing of submitted encounters. Here is a member-level bridge from the prior period to the current period; the largest actionable group is [defined cohort].”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23F1C-F0A6-47F2-A64A-CD07627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359463-3D46-4F91-AE38-431827C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Show the cohort, periods, factor contribution, refreshed data, and reconciled totals. Separate a coding opportunity from a data-lag explanation.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93AAB-98F8-496D-936C-9577BF6D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If encounter completeness is unknown, say so before attributing cause.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Stars: find recoverable opportunities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Turn a panel summary into a specific, safe action list.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D3338-4423-4670-A0F8-B4F0727C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5AD61-F105-48DC-B4A2-7D24E33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84318-493C-416F-B02F-38B99D6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QUALITY LEADER / PCP 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A87CD-25D4-450C-AC43-03ABA25D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Which measure is Dr. Chen’s largest recoverable Stars opportunity this month?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68755-DCCD-4E77-A246-BD1AB65C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45173-C70B-4E52-A49F-409E7F25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“In this synthetic panel, diabetic eye exams contribute the largest recoverable gap count. Some members have possible chart evidence; others have upcoming visits or need outreach. Here is the ordered worklist with eligibility and measure-year checks.”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F02281-4864-4508-93AA-574D9DC7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707264-7761-45D1-8680-D51273E4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List eligible denominator, open gaps, evidence date/source, recoverability window, responsible team and projected numerator effect.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CE4A48-982D-4F1C-BD48-B05977B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Do not close a gap from a plausible chart mention without validation.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Visit effectiveness: did action follow?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 practical workflow metric leadership can use now.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44B5D-52E3-4FBA-B699-C55C9D04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C2189-0DCC-41FF-B7AD-5115A191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D9450-D4E7-4B59-A43B-642917ED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OPERATIONS LEADER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D2D2B0-EB89-435A-9643-8802A2AC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At recent PCP visits, how many actionable gaps were closed, acted on, or left open?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D7806-BD97-4598-B6AA-81BB06A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FDE3B-DAA6-4C99-96E2-A6D681C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“Of the gaps eligible for action at these visits, [X] closed, [Y] had a documented action and remain pending, and [Z] had no recorded action. The unaddressed rate is highest in [cohort/provider group].”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1AB4E-70A1-4315-BBB7-55CF569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B00A0D-DA10-4276-9C06-F44A2CC7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Define the pre-visit gap snapshot, eligible visits, action window, event evidence, duplicates and a drill-down by provider.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49D3AF-3D99-4CAF-B16A-F5A3857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An order or referral is not the same as a completed measure.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Finance: reconcile before explaining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 trustworthy answer names the variance and shows the arithmetic.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04BFF-B7D7-4DF7-ABE6-8C5808B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A576D-8765-47A5-B3D1-951C8DE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E151F-AEAB-44FF-B377-356F7091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FINANCE / SLT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92DA3-7431-4E28-A3E5-97F6764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The scorecard reports $39M of surplus. Does it reconcile to the latest detail?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E89DD-741E-4E2B-B5E5-FACFA047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62D19-4C49-49AE-B16A-93DF4C7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“The two sources do not yet match for the selected period. The variance is [amount], attributable to [verified timing/definition/source rows] and [unresolved balance]. Here is the line-item bridge and calculation used.”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BB411B-2A45-45DD-A2FF-BFB47902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8C854-5417-4E7B-97E0-21800BE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Use matching market, period, attribution, refresh and metric definition; expose the query and adjustment rows for Finance review.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2C5BEE-C60A-43FB-965F-54985BE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Never certify a financial result or invent a balancing item.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Operations: detect a bad change early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Proactive monitoring should route a fix, not just send an alert.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414AF-7EB8-4FBC-AAB5-613101FB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41041-B5BF-4D77-B56B-B3D2B7F0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A0A25-73B3-4BD6-A6EC-F0849F0B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PROVIDER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C7CA8-1E78-48C9-84EC-5E10BD1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Which provider, alignment or membership changes look wrong after today’s refresh?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67045-4710-42A7-B373-04C0E206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CF439D-3818-4892-A7FA-E47884F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“This provider dropped from 200 to 150 attributed members in the synthetic scenario. That exceeds the expected daily range and disagrees with the source-of-truth roster. These 50 changes share [status/source pattern].”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894FD-7C07-483A-A282-89B7910F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E459F-C47C-4757-9C64-6E243FF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Show yesterday/today snapshots, retroactive corrections, source-system deltas, affected members, severity, owner and proposed investigation.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24DFB7-6C86-4C99-8185-70575A7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An anomaly is not proof the source system is wrong.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Provider intelligence: choose the action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Segmentation matters only if it improves an intervention.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Illustrative response on synthetic/mock data. No CareAllies findings or PHI are shown.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1BFEB-11CB-4780-8726-5C977A2C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28775"/>
            <a:ext cx="42957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55138-E731-49FF-BE4A-70EDA2C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28775"/>
            <a:ext cx="6867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59D32-EA7F-495C-B1A3-FF128090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ASK  •  PROVIDER STRATEGY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4DD8B-92CD-45FB-A717-DE87DF1F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8004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Which engagement approach should we try with this provider—and why?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78BEB9-CB5E-4987-AA9B-B15CCF3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47850"/>
            <a:ext cx="628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EXPECTED SATISFYING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AC8AD-9273-4698-A9F7-D7BBA40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57425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“The provider resembles groups with high clinical engagement but low operational follow-through. A short prioritized worklist plus staff support is a testable first approach. Comparable groups responded better to that approach than to generic outreach.”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3D7F49-A6FA-4762-AB91-6D2DE7E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PROOF / NEXT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64BE67-8510-4CAE-B235-19F09C8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338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Show observed profile, comparator cohort, historical intervention outcomes, uncertainty and a measurable next-step experiment.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076F9-DC2C-4868-BC6F-3AE0031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Present similarity as a hypothesis; do not claim causal lift without a valid comparison.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Financial performance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Reconcile, explain, and forecast from the same governed definitions.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Finance validates any figure used for decision-making.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Does the reported $39M surplus reconcile to the latest financial detail?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Give a period-matched calculation bridge, source rows, refresh times and unresolved balance.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Why do the scorecard and financial detail differ?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Isolate definition, timing, membership, claims or code differences; quantify each.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markets are above or below financial forecast, and why?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variance by market and driver; separate observed effects from hypotheses.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changed after the latest refresh, including retroactive items?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Compare snapshots, identify backdated records and show net financial effect.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leading indicators explain current financial performance?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Tie named, pre-defined indicators to actual trends; avoid causal overclaim.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does this compare with the same period last year?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like-for-like populations and definitions; show mix/contract changes.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Stars and quality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Find eligible opportunities and explain whether performance is recoverable.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drives VOP’s projected Stars performance?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Decompose by eligible measure, current result, weight/threshold and uncertainty.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measures are strongest, weakest and most recoverable?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Separate current rank from achievable near-term lift and member counts.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 panel has the largest actionable quality opportunity?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eligible gaps by measure, time window, evidence and outreach effort.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members have open gaps, upcoming visits or pending outreach?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Return a deduplicated worklist with owners and last-action dates.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Are the open gaps missing care or missing evidence?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Distinguish service completion from documentation/administrative gaps.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happened to gaps identified before PCP visits?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Count closed, actioned/pending and unaddressed, with denominator and event trail.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Clinical chart and evidence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Document intelligence supports—but does not itself certify—measure closure.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The measure owner must validate eligible evidence and current specifications.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open breast-screening gaps have possible exclusion evidence?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Find relevant bilateral mastectomy documentation, date/page and review status.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members have a prior colonoscopy within the applicable window?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procedure date, evidence location and measure-year rule before recommendation.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open gaps have chart evidence versus insufficient evidence?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Classify evidence quality and route ambiguity to a reviewer.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Can you extract the measure evidence from handwritten and digital charts?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Provide structured fields, page crop/source and reading confidence.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Why does the chart appear to disagree with the structured gap status?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both sources, latency and a reconciled explanation or an unresolved flag.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outreach would duplicate a documented service?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Match member/measure/date and offer review before suppressing outreach.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measures cannot be closed with this chart evidence?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State permitted evidence type and current measure-year source; do not overclaim.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Audit the Auditor: objective checks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Start with crisp discrepancies before tackling complex documentation judgment.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Do not treat a code mapping alone as sufficient clinical support.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“review not required” cases map to a risk-adjusting code?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Join code, date, model year and auditor disposition; list concrete exceptions.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auditor decisions disagree with ICD/HCC mappings?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the code-to-model mapping and why each decision is suspect.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Were any cases evaluated against the wrong model year or rule version?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Identify year/version mismatch and re-evaluate against applicable guidance.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Where do auditor decision, coded claim and chart-derived data conflict?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Triangulate all three records and point to the exact disagreement.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known missed cases can the prototype detect?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Report case-level recall, misses and the specific failure mode.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is the highest-yield batch for secondary review?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by validated discrepancy likelihood and expected reviewer time.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Audit the Auditor: clinical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 model should flag review, not independently adjudicate payment.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Does this chart document the condition clearly enough for review?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Quote the exact chart evidence and applicable rule; express uncertainty.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Is the diagnosis coded incorrectly despite supporting documentation?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Distinguish documentation, coding and submission issues.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secondary-review cases have the strongest chart evidence?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by relevant date, assessment/treatment evidence and reviewer confidence.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evidence supports or contradicts the auditor’s decision?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Cite chart page and guidance version on both sides of the assessment.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ambiguous cases should be escalated instead of auto-flagged?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Explain missing context, ambiguous handwriting or conflicting sources.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Audit impact and ROI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Measure realized changes, not merely model flags.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The often-cited $3,000 per HCC is a hypothesis, not a universal unit value.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discrepancy rate did we observe in a blinded chart sample?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Report numerator/denominator and interval; treat the cited 3% as unverified.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many flags were confirmed by the coding SME?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Separate true findings, false positives and unresolved cases.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confirmed findings changed a submitted result?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Distinguish detected opportunity, accepted correction and final outcome.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is the low / expected / high financial impact?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Apply Finance-approved assumptions, contract share and timing, with caveats.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much net review time was saved?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Subtract extraction/validation/false-positive work from baseline audit effort.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Risk analytics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Focused investigations within the shared data-answering experience.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Why did this provider’s risk score fall?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Bridge period-over-period change by cohort, diagnoses, member mix and timing.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is VOP performing on risk overall?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Define population/time/model; trend both score and operational drivers.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factors drive risk declines for PCP A versus PCP B?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comparable cohorts and quantify driver differences.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Are declines due to data lag, membership shifts or missed coding?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Test each explanation using encounter completeness and validated evidence.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finding should the risk team investigate first?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by size, actionability, deadline and uncertainty.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Utilization and operations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Translate utilization shifts into investigations and workflow decisions.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 membership changes are unexpectedly large?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Compare with a baseline, show affected members and source discrepancies.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Are utilization trends moving before financial results change?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time-lagged trend, cohort/seasonal context and tentative signal.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Where are acute events rising while follow-up is falling?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Identify affected cohorts/providers and reliable visit definitions.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alignment, panel or status fields disagree across systems?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source-of-truth rule, delta rows, owner and fix workflow.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changed in operations outside normal variation?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Apply stated thresholds, compare history and avoid false alarm from refresh lag.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effective were PCP visits at closing or acting on gaps?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Report eligible opportunities, completed actions and outstanding work.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Provider intelligence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Compare providers to relevant peers and test interventions.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providers resemble our highest-performing groups?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similarity features, peer cohort and limits of comparability.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providers appear clinically engaged but operationally constrained?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documented patterns, not speculative personality labels.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Who has high engagement but low action completion?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Quantify both rates over a consistent period and identify workflow bottlenecks.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engagement strategies worked for similar providers?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historical intervention data, outcome definition and a fair comparator.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groups merit high-touch versus automated support?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Estimate incremental value and workload; preserve human escalation.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leading indicators suggest this provider is improving or declining?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validated indicator trends and prediction uncertainty.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Market and growth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Join external market intelligence with CareAllies footprint and readiness.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External market data alone cannot answer CareAllies-specific impact.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has MA/SNP plan availability changed in our service counties?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Trend external data by county/year with source publication dates.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Where do D-SNP or SNP changes overlap our network and members?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Spatial/market join plus current provider capacity and data freshness.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counties combine growth potential and adequate coverage?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explicit selection criteria and display trade-offs.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markets look attractive but lack operational readiness?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Contrast demand/competition with provider, staffing and data capabilities.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changed this AEP that affects our existing footprint?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Identify relevant external changes and distinguish them from internal exposure.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Proactive monitoring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From refresh deltas to a routed operational exception.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changed after today’s data refresh?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Summarize material deltas, drivers, source systems and timestamps.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 panels had implausible membership movement?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baseline, threshold, affected members and likely source path.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statuses stopped matching across systems?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Identify mismatch, last-good state and source-of-truth owner.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retroactive changes altered previously published results?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Show effective date, posting date and impacted reports.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Was any refresh late, incomplete or unexpectedly small?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Compare pipeline checks and expected volume; suppress downstream conclusions.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anomaly has no owner or remains unresolved?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Report assigned owner, age, severity and escalation route.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4893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medication-adherence members are nearing an action window?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defined eligibility/PDC rules and actionable visit or outreach timing.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Proactive intervention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Make alerts actionable without automating an unsafe decision.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7829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7829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upcoming visits coincide with actionable care gaps?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Prepare a visit-specific worklist with evidence and due dates.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29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provider issues have repeated escalations?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Group related cases, show history and likely systemic fix.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7829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should operations prioritize tomorrow morning?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Rank open exceptions by impact, urgency, confidence and owner capacity.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29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Can a resolved correction be sent back to the source system?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Require approved workflow, write authority, audit log and confirmation.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Synthetic demo and trust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Use these to expose grounding and multi-turn behavior to leaders.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 good follow-up question must preserve context but still apply the same access controls.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Summarize Dr. Maya Chen’s Stars panel.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Give eligibility-aware measures, gaps, trends and source-backed priorities.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measure has the largest opportunity in her panel?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Quantify recoverable opportunities rather than just lowest percentage.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preventive care is Ava Carter overdue for?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Use only available mock member data, with dates and eligibility checks.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medications is Ava Carter currently taking?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List current reconciled mock medications—or say information is missing.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Which result has no supporting data?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Explicitly abstain and identify the missing table, field or refresh.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Where did each figure and claim come from?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Provide linked source, period, definition and calculation trail.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Evaluation questions for every pilot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A model demonstration becomes evidence only after blinded validation.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answers against a trusted source; an articulate answer alone is not a pass.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Was the answer factually and numerically correct?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Recompute against adjudicated records and trusted data.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Was the important information complete?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Check required cohorts, exceptions and limitations.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Can each statement be traced to its source?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Verify citations, timestamps, versioned rules and records.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Did it use the right period, eligibility and metric definition?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Reconcile calculation details, not just final totals.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Did it clearly say when data was unavailable?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Count unsupported claims and appropriate abstentions.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Did it avoid unsafe automatic closure or coding advice?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Require SME review of flagged cases and false-closure rate.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Pilot scorecard and next steps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6636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636C"/>
                </a:solidFill>
                <a:latin typeface="Calibri"/>
                <a:ea typeface="Calibri"/>
                <a:cs typeface="Calibri"/>
              </a:rPr>
              <a:t>Select a few bounded questions, then validate accuracy, value and cost.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Proposed kickoff: one risk bridge, one Stars panel/visit question, and a small chart-review benchmark.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972175"/>
              </a:tblGrid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 THE ASSISTANT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 SATISFYING ANSWER SHOULD...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Would the answer change an actual business action?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Record decision usefulness and reviewer acceptance.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How much analyst or reviewer time did it save?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Measure full workflow time, including verification and correction.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is the per-question or per-chart cost?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Measure compute, storage, human review and support.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Is the answer stable when the same case is repeated?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Check repeatability under controlled data/model versions.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Can it handle production volume and latency?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Test batch throughput, security, failure handling and ownership.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925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What is the next bounded pilot?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Assign business owner, ground truth, success threshold and approved environment.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2026-10-07T18:38:27.7050000Z</dcterms:created>
  <dcterms:modified xsi:type="dcterms:W3CDTF">2026-10-07T18:38:27.7050000Z</dcterms:modified>
</coreProperties>
</file>