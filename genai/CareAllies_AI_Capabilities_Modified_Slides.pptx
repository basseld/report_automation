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2" d="100"/>
          <a:sy n="102" d="100"/>
        </p:scale>
        <p:origin x="140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User-provided project discussion and four slide screenshots (IMG_4085–4088).</a:t>
            </a:r>
          </a:p>
          <a:p>
            <a:r>
              <a:t>[/Sources]</a:t>
            </a:r>
          </a:p>
          <a:p>
            <a:r>
              <a:t>Proposed architecture and capability mappings are design recommendations, not claims of deployed functionality.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User-provided project discussion and four slide screenshots (IMG_4085–4088).</a:t>
            </a:r>
          </a:p>
          <a:p>
            <a:r>
              <a:t>[/Sources]</a:t>
            </a:r>
          </a:p>
          <a:p>
            <a:r>
              <a:t>Proposed architecture and capability mappings are design recommendations, not claims of deployed functionality.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User-provided project discussion and four slide screenshots (IMG_4085–4088).</a:t>
            </a:r>
          </a:p>
          <a:p>
            <a:r>
              <a:t>[/Sources]</a:t>
            </a:r>
          </a:p>
          <a:p>
            <a:r>
              <a:t>Proposed architecture and capability mappings are design recommendations, not claims of deployed functionality.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User-provided project discussion and four slide screenshots (IMG_4085–4088).</a:t>
            </a:r>
          </a:p>
          <a:p>
            <a:r>
              <a:t>[/Sources]</a:t>
            </a:r>
          </a:p>
          <a:p>
            <a:r>
              <a:t>Proposed architecture and capability mappings are design recommendations, not claims of deployed functionality.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User-provided project discussion and four slide screenshots (IMG_4085–4088).</a:t>
            </a:r>
          </a:p>
          <a:p>
            <a:r>
              <a:t>[/Sources]</a:t>
            </a:r>
          </a:p>
          <a:p>
            <a:r>
              <a:t>Proposed architecture and capability mappings are design recommendations, not claims of deployed functionality.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User-provided project discussion and four slide screenshots (IMG_4085–4088).</a:t>
            </a:r>
          </a:p>
          <a:p>
            <a:r>
              <a:t>[/Sources]</a:t>
            </a:r>
          </a:p>
          <a:p>
            <a:r>
              <a:t>Proposed architecture and capability mappings are design recommendations, not claims of deployed functionality.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User-provided project discussion and four slide screenshots (IMG_4085–4088).</a:t>
            </a:r>
          </a:p>
          <a:p>
            <a:r>
              <a:t>[/Sources]</a:t>
            </a:r>
          </a:p>
          <a:p>
            <a:r>
              <a:t>Proposed architecture and capability mappings are design recommendations, not claims of deployed functionality.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9D9FCAA-0EE0-4824-8B52-8A1CB3E6A066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113538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000" b="0">
                <a:solidFill>
                  <a:srgbClr val="172B3A"/>
                </a:solidFill>
              </a:defRPr>
            </a:pPr>
            <a:r>
              <a:rPr sz="3000" b="0">
                <a:solidFill>
                  <a:srgbClr val="172B3A"/>
                </a:solidFill>
              </a:rPr>
              <a:t>Projects Portfolio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BBFC66-FC96-4779-A6D0-604082FAC066}"/>
              </a:ext>
            </a:extLst>
          </p:cNvPr>
          <p:cNvSpPr>
            <a:spLocks noGrp="1"/>
          </p:cNvSpPr>
          <p:nvPr/>
        </p:nvSpPr>
        <p:spPr>
          <a:xfrm>
            <a:off x="438150" y="971550"/>
            <a:ext cx="113157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0">
                <a:solidFill>
                  <a:srgbClr val="56636C"/>
                </a:solidFill>
              </a:defRPr>
            </a:pPr>
            <a:r>
              <a:rPr sz="1425" b="0">
                <a:solidFill>
                  <a:srgbClr val="56636C"/>
                </a:solidFill>
              </a:rPr>
              <a:t>Six initiatives. Shared capabilities support independently scoped business applications.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EB14CC-B74B-4206-8195-A187223C5EFC}"/>
              </a:ext>
            </a:extLst>
          </p:cNvPr>
          <p:cNvSpPr>
            <a:spLocks noGrp="1"/>
          </p:cNvSpPr>
          <p:nvPr/>
        </p:nvSpPr>
        <p:spPr>
          <a:xfrm>
            <a:off x="0" y="5934075"/>
            <a:ext cx="12192000" cy="438150"/>
          </a:xfrm>
          <a:prstGeom prst="rect">
            <a:avLst/>
          </a:prstGeom>
          <a:solidFill>
            <a:srgbClr val="E8EAE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1027D1-6D46-4038-A485-08F3E8C96FDB}"/>
              </a:ext>
            </a:extLst>
          </p:cNvPr>
          <p:cNvSpPr>
            <a:spLocks noGrp="1"/>
          </p:cNvSpPr>
          <p:nvPr/>
        </p:nvSpPr>
        <p:spPr>
          <a:xfrm>
            <a:off x="381000" y="6029325"/>
            <a:ext cx="11430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Build reusable evidence and knowledge capabilities. Prove value through focused applications.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1C5705-2CF1-4C4F-A48B-6E902B295D19}"/>
              </a:ext>
            </a:extLst>
          </p:cNvPr>
          <p:cNvSpPr>
            <a:spLocks noGrp="1"/>
          </p:cNvSpPr>
          <p:nvPr/>
        </p:nvSpPr>
        <p:spPr>
          <a:xfrm>
            <a:off x="457200" y="6524625"/>
            <a:ext cx="6286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3F88AB-EA26-4624-BB31-C99F65848A72}"/>
              </a:ext>
            </a:extLst>
          </p:cNvPr>
          <p:cNvSpPr>
            <a:spLocks noGrp="1"/>
          </p:cNvSpPr>
          <p:nvPr/>
        </p:nvSpPr>
        <p:spPr>
          <a:xfrm>
            <a:off x="7620000" y="65151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74B05B-10DE-49AD-8C47-E1EEC1C72569}"/>
              </a:ext>
            </a:extLst>
          </p:cNvPr>
          <p:cNvSpPr>
            <a:spLocks noGrp="1"/>
          </p:cNvSpPr>
          <p:nvPr/>
        </p:nvSpPr>
        <p:spPr>
          <a:xfrm>
            <a:off x="10334625" y="646747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593797-94C3-42BE-A53B-500C1A959777}"/>
              </a:ext>
            </a:extLst>
          </p:cNvPr>
          <p:cNvSpPr>
            <a:spLocks noGrp="1"/>
          </p:cNvSpPr>
          <p:nvPr/>
        </p:nvSpPr>
        <p:spPr>
          <a:xfrm>
            <a:off x="419100" y="1638300"/>
            <a:ext cx="3657600" cy="1866900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479754"/>
                </a:gs>
                <a:gs pos="50000">
                  <a:srgbClr val="E8EDF0"/>
                </a:gs>
                <a:gs pos="100000">
                  <a:srgbClr val="479754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6144E2-3EA2-4120-971A-53033C6A7F77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32766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>
                <a:solidFill>
                  <a:srgbClr val="479754"/>
                </a:solidFill>
              </a:defRPr>
            </a:pPr>
            <a:r>
              <a:rPr sz="1875" b="0">
                <a:solidFill>
                  <a:srgbClr val="479754"/>
                </a:solidFill>
              </a:rPr>
              <a:t>Clinical Documentation</a:t>
            </a:r>
          </a:p>
          <a:p>
            <a:pPr>
              <a:defRPr sz="1875" b="0">
                <a:solidFill>
                  <a:srgbClr val="479754"/>
                </a:solidFill>
              </a:defRPr>
            </a:pPr>
            <a:r>
              <a:rPr sz="1875" b="0">
                <a:solidFill>
                  <a:srgbClr val="479754"/>
                </a:solidFill>
              </a:rPr>
              <a:t>Intelligence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4DAF70-96E6-4482-97C6-070A2C2AB394}"/>
              </a:ext>
            </a:extLst>
          </p:cNvPr>
          <p:cNvSpPr>
            <a:spLocks noGrp="1"/>
          </p:cNvSpPr>
          <p:nvPr/>
        </p:nvSpPr>
        <p:spPr>
          <a:xfrm>
            <a:off x="609600" y="2533650"/>
            <a:ext cx="3276600" cy="771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Convert clinical records into structured, traceable evidence.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A0317B-9D20-4F53-AD0E-A444479BE184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3238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479754"/>
                </a:solidFill>
              </a:defRPr>
            </a:pPr>
            <a:r>
              <a:rPr sz="900" b="1" dirty="0">
                <a:solidFill>
                  <a:srgbClr val="479754"/>
                </a:solidFill>
              </a:rPr>
              <a:t>1  |  CAPABILITY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CE09AC-1284-4AA1-8BF4-CC3D6A29BD66}"/>
              </a:ext>
            </a:extLst>
          </p:cNvPr>
          <p:cNvSpPr>
            <a:spLocks noGrp="1"/>
          </p:cNvSpPr>
          <p:nvPr/>
        </p:nvSpPr>
        <p:spPr>
          <a:xfrm>
            <a:off x="4267200" y="1638300"/>
            <a:ext cx="3657600" cy="1866900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172B3A"/>
                </a:gs>
                <a:gs pos="50000">
                  <a:srgbClr val="E8EDF0"/>
                </a:gs>
                <a:gs pos="100000">
                  <a:srgbClr val="172B3A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E35412-49A4-4C9F-898D-C65E7CC6D7EA}"/>
              </a:ext>
            </a:extLst>
          </p:cNvPr>
          <p:cNvSpPr>
            <a:spLocks noGrp="1"/>
          </p:cNvSpPr>
          <p:nvPr/>
        </p:nvSpPr>
        <p:spPr>
          <a:xfrm>
            <a:off x="4457700" y="1809750"/>
            <a:ext cx="32766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Audit the Auditor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4025CD-A7A6-432C-9169-3C7990FCB7C5}"/>
              </a:ext>
            </a:extLst>
          </p:cNvPr>
          <p:cNvSpPr>
            <a:spLocks noGrp="1"/>
          </p:cNvSpPr>
          <p:nvPr/>
        </p:nvSpPr>
        <p:spPr>
          <a:xfrm>
            <a:off x="4457700" y="2533650"/>
            <a:ext cx="3276600" cy="771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Compare evidence with audit decisions to target secondary review.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0269AD-26E1-46DC-832F-EDBBF301F3CA}"/>
              </a:ext>
            </a:extLst>
          </p:cNvPr>
          <p:cNvSpPr>
            <a:spLocks noGrp="1"/>
          </p:cNvSpPr>
          <p:nvPr/>
        </p:nvSpPr>
        <p:spPr>
          <a:xfrm>
            <a:off x="4457700" y="3238500"/>
            <a:ext cx="3238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172B3A"/>
                </a:solidFill>
              </a:defRPr>
            </a:pPr>
            <a:r>
              <a:rPr sz="900" b="1">
                <a:solidFill>
                  <a:srgbClr val="172B3A"/>
                </a:solidFill>
              </a:rPr>
              <a:t>2  |  APPLICATION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95A8B3-4DA2-4D8E-8352-D015068CE4CD}"/>
              </a:ext>
            </a:extLst>
          </p:cNvPr>
          <p:cNvSpPr>
            <a:spLocks noGrp="1"/>
          </p:cNvSpPr>
          <p:nvPr/>
        </p:nvSpPr>
        <p:spPr>
          <a:xfrm>
            <a:off x="8115300" y="1638300"/>
            <a:ext cx="3657600" cy="1866900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287BA8"/>
                </a:gs>
                <a:gs pos="50000">
                  <a:srgbClr val="E8EDF0"/>
                </a:gs>
                <a:gs pos="100000">
                  <a:srgbClr val="287BA8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F54B75-A7DE-4E71-9B56-B29C33801A87}"/>
              </a:ext>
            </a:extLst>
          </p:cNvPr>
          <p:cNvSpPr>
            <a:spLocks noGrp="1"/>
          </p:cNvSpPr>
          <p:nvPr/>
        </p:nvSpPr>
        <p:spPr>
          <a:xfrm>
            <a:off x="8305800" y="1809750"/>
            <a:ext cx="32766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>
                <a:solidFill>
                  <a:srgbClr val="287BA8"/>
                </a:solidFill>
              </a:defRPr>
            </a:pPr>
            <a:r>
              <a:rPr sz="1875" b="0">
                <a:solidFill>
                  <a:srgbClr val="287BA8"/>
                </a:solidFill>
              </a:rPr>
              <a:t>CareAllies AI</a:t>
            </a:r>
          </a:p>
          <a:p>
            <a:pPr>
              <a:defRPr sz="1875" b="0">
                <a:solidFill>
                  <a:srgbClr val="287BA8"/>
                </a:solidFill>
              </a:defRPr>
            </a:pPr>
            <a:r>
              <a:rPr sz="1875" b="0">
                <a:solidFill>
                  <a:srgbClr val="287BA8"/>
                </a:solidFill>
              </a:rPr>
              <a:t>Intelligence Layer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D56CFB-1C47-4850-BFB7-6359D4BEBBE7}"/>
              </a:ext>
            </a:extLst>
          </p:cNvPr>
          <p:cNvSpPr>
            <a:spLocks noGrp="1"/>
          </p:cNvSpPr>
          <p:nvPr/>
        </p:nvSpPr>
        <p:spPr>
          <a:xfrm>
            <a:off x="8305800" y="2533650"/>
            <a:ext cx="3276600" cy="771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Connect governed data, knowledge, retrieval, and analytical tools.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79225B-9DF1-4CDC-AA66-2B50895D973F}"/>
              </a:ext>
            </a:extLst>
          </p:cNvPr>
          <p:cNvSpPr>
            <a:spLocks noGrp="1"/>
          </p:cNvSpPr>
          <p:nvPr/>
        </p:nvSpPr>
        <p:spPr>
          <a:xfrm>
            <a:off x="8305800" y="3238500"/>
            <a:ext cx="3238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287BA8"/>
                </a:solidFill>
              </a:defRPr>
            </a:pPr>
            <a:r>
              <a:rPr sz="900" b="1">
                <a:solidFill>
                  <a:srgbClr val="287BA8"/>
                </a:solidFill>
              </a:rPr>
              <a:t>3  |  SHARED PLATFORM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B04C92-C803-4889-A4B7-C7BAB87799AD}"/>
              </a:ext>
            </a:extLst>
          </p:cNvPr>
          <p:cNvSpPr>
            <a:spLocks noGrp="1"/>
          </p:cNvSpPr>
          <p:nvPr/>
        </p:nvSpPr>
        <p:spPr>
          <a:xfrm>
            <a:off x="419100" y="3686175"/>
            <a:ext cx="3657600" cy="1866900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479754"/>
                </a:gs>
                <a:gs pos="50000">
                  <a:srgbClr val="E8EDF0"/>
                </a:gs>
                <a:gs pos="100000">
                  <a:srgbClr val="479754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738B4A-E055-4932-B598-4EC22AE8F3D3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32766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>
                <a:solidFill>
                  <a:srgbClr val="479754"/>
                </a:solidFill>
              </a:defRPr>
            </a:pPr>
            <a:r>
              <a:rPr sz="1875" b="0">
                <a:solidFill>
                  <a:srgbClr val="479754"/>
                </a:solidFill>
              </a:rPr>
              <a:t>Automated Risk Score</a:t>
            </a:r>
          </a:p>
          <a:p>
            <a:pPr>
              <a:defRPr sz="1875" b="0">
                <a:solidFill>
                  <a:srgbClr val="479754"/>
                </a:solidFill>
              </a:defRPr>
            </a:pPr>
            <a:r>
              <a:rPr sz="1875" b="0">
                <a:solidFill>
                  <a:srgbClr val="479754"/>
                </a:solidFill>
              </a:rPr>
              <a:t>Investigator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A3D396-3444-42DB-BAA9-4FBD4B2D158D}"/>
              </a:ext>
            </a:extLst>
          </p:cNvPr>
          <p:cNvSpPr>
            <a:spLocks noGrp="1"/>
          </p:cNvSpPr>
          <p:nvPr/>
        </p:nvSpPr>
        <p:spPr>
          <a:xfrm>
            <a:off x="609600" y="4581525"/>
            <a:ext cx="3276600" cy="771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Calculate and explain the drivers of risk-score changes.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7C402C-AB6E-4CEF-B42D-36BA13ACE4D2}"/>
              </a:ext>
            </a:extLst>
          </p:cNvPr>
          <p:cNvSpPr>
            <a:spLocks noGrp="1"/>
          </p:cNvSpPr>
          <p:nvPr/>
        </p:nvSpPr>
        <p:spPr>
          <a:xfrm>
            <a:off x="609600" y="5286375"/>
            <a:ext cx="3238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479754"/>
                </a:solidFill>
              </a:defRPr>
            </a:pPr>
            <a:r>
              <a:rPr sz="900" b="1">
                <a:solidFill>
                  <a:srgbClr val="479754"/>
                </a:solidFill>
              </a:rPr>
              <a:t>4  |  APPLICATION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34FC8F-DFD4-433A-A42A-97F43E6C08A7}"/>
              </a:ext>
            </a:extLst>
          </p:cNvPr>
          <p:cNvSpPr>
            <a:spLocks noGrp="1"/>
          </p:cNvSpPr>
          <p:nvPr/>
        </p:nvSpPr>
        <p:spPr>
          <a:xfrm>
            <a:off x="4267200" y="3686175"/>
            <a:ext cx="3657600" cy="1866900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172B3A"/>
                </a:gs>
                <a:gs pos="50000">
                  <a:srgbClr val="E8EDF0"/>
                </a:gs>
                <a:gs pos="100000">
                  <a:srgbClr val="172B3A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7BD5D5-6A67-4BC2-A680-6CAE4F5E194B}"/>
              </a:ext>
            </a:extLst>
          </p:cNvPr>
          <p:cNvSpPr>
            <a:spLocks noGrp="1"/>
          </p:cNvSpPr>
          <p:nvPr/>
        </p:nvSpPr>
        <p:spPr>
          <a:xfrm>
            <a:off x="4457700" y="3857625"/>
            <a:ext cx="32766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Stars Performance</a:t>
            </a:r>
          </a:p>
          <a:p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Investigator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75DEDC-ABE5-4F6E-8A39-B622B87E6059}"/>
              </a:ext>
            </a:extLst>
          </p:cNvPr>
          <p:cNvSpPr>
            <a:spLocks noGrp="1"/>
          </p:cNvSpPr>
          <p:nvPr/>
        </p:nvSpPr>
        <p:spPr>
          <a:xfrm>
            <a:off x="4457700" y="4581525"/>
            <a:ext cx="3276600" cy="771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Investigate performance, find chart evidence, and prioritize gaps.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6587191-A657-406F-8DF8-3062E8CEC86E}"/>
              </a:ext>
            </a:extLst>
          </p:cNvPr>
          <p:cNvSpPr>
            <a:spLocks noGrp="1"/>
          </p:cNvSpPr>
          <p:nvPr/>
        </p:nvSpPr>
        <p:spPr>
          <a:xfrm>
            <a:off x="4457700" y="5286375"/>
            <a:ext cx="3238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172B3A"/>
                </a:solidFill>
              </a:defRPr>
            </a:pPr>
            <a:r>
              <a:rPr sz="900" b="1">
                <a:solidFill>
                  <a:srgbClr val="172B3A"/>
                </a:solidFill>
              </a:rPr>
              <a:t>5  |  APPLICATION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DF9AFF-95FB-48A1-A912-AA6A7D30320D}"/>
              </a:ext>
            </a:extLst>
          </p:cNvPr>
          <p:cNvSpPr>
            <a:spLocks noGrp="1"/>
          </p:cNvSpPr>
          <p:nvPr/>
        </p:nvSpPr>
        <p:spPr>
          <a:xfrm>
            <a:off x="8115300" y="3686175"/>
            <a:ext cx="3657600" cy="1866900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287BA8"/>
                </a:gs>
                <a:gs pos="50000">
                  <a:srgbClr val="E8EDF0"/>
                </a:gs>
                <a:gs pos="100000">
                  <a:srgbClr val="287BA8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623FA6-3FED-48DC-88B8-9041C38B7970}"/>
              </a:ext>
            </a:extLst>
          </p:cNvPr>
          <p:cNvSpPr>
            <a:spLocks noGrp="1"/>
          </p:cNvSpPr>
          <p:nvPr/>
        </p:nvSpPr>
        <p:spPr>
          <a:xfrm>
            <a:off x="8305800" y="3857625"/>
            <a:ext cx="32766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>
                <a:solidFill>
                  <a:srgbClr val="287BA8"/>
                </a:solidFill>
              </a:defRPr>
            </a:pPr>
            <a:r>
              <a:rPr sz="1875" b="0">
                <a:solidFill>
                  <a:srgbClr val="287BA8"/>
                </a:solidFill>
              </a:rPr>
              <a:t>Provider Behavior</a:t>
            </a:r>
          </a:p>
          <a:p>
            <a:pPr>
              <a:defRPr sz="1875" b="0">
                <a:solidFill>
                  <a:srgbClr val="287BA8"/>
                </a:solidFill>
              </a:defRPr>
            </a:pPr>
            <a:r>
              <a:rPr sz="1875" b="0">
                <a:solidFill>
                  <a:srgbClr val="287BA8"/>
                </a:solidFill>
              </a:rPr>
              <a:t>Profiling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051D5A-5A02-4D49-88EE-0B0F9BD58327}"/>
              </a:ext>
            </a:extLst>
          </p:cNvPr>
          <p:cNvSpPr>
            <a:spLocks noGrp="1"/>
          </p:cNvSpPr>
          <p:nvPr/>
        </p:nvSpPr>
        <p:spPr>
          <a:xfrm>
            <a:off x="8305800" y="4581525"/>
            <a:ext cx="3276600" cy="771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Identify behavioral segments and engagement opportunities.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D174B1-6D5F-43E9-A19E-AE75EFAB6EFE}"/>
              </a:ext>
            </a:extLst>
          </p:cNvPr>
          <p:cNvSpPr>
            <a:spLocks noGrp="1"/>
          </p:cNvSpPr>
          <p:nvPr/>
        </p:nvSpPr>
        <p:spPr>
          <a:xfrm>
            <a:off x="8305800" y="5286375"/>
            <a:ext cx="3238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287BA8"/>
                </a:solidFill>
              </a:defRPr>
            </a:pPr>
            <a:r>
              <a:rPr sz="900" b="1">
                <a:solidFill>
                  <a:srgbClr val="287BA8"/>
                </a:solidFill>
              </a:rPr>
              <a:t>6  |  APPLICATION / ML</a:t>
            </a:r>
          </a:p>
        </p:txBody>
      </p:sp>
    </p:spTree>
    <p:extLst>
      <p:ext uri="{BB962C8B-B14F-4D97-AF65-F5344CB8AC3E}">
        <p14:creationId xmlns:p14="http://schemas.microsoft.com/office/powerpoint/2010/main" val="2058126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59A9A05-2C78-4782-AA85-375DAD72CDF4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113538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000" b="0">
                <a:solidFill>
                  <a:srgbClr val="172B3A"/>
                </a:solidFill>
              </a:defRPr>
            </a:pPr>
            <a:r>
              <a:rPr sz="3000" b="0">
                <a:solidFill>
                  <a:srgbClr val="172B3A"/>
                </a:solidFill>
              </a:rPr>
              <a:t>Capability vs Application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C29D89-C311-4D34-8A41-D84ADAE12CDF}"/>
              </a:ext>
            </a:extLst>
          </p:cNvPr>
          <p:cNvSpPr>
            <a:spLocks noGrp="1"/>
          </p:cNvSpPr>
          <p:nvPr/>
        </p:nvSpPr>
        <p:spPr>
          <a:xfrm>
            <a:off x="438150" y="971550"/>
            <a:ext cx="113157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0">
                <a:solidFill>
                  <a:srgbClr val="56636C"/>
                </a:solidFill>
              </a:defRPr>
            </a:pPr>
            <a:r>
              <a:rPr sz="1425" b="0">
                <a:solidFill>
                  <a:srgbClr val="56636C"/>
                </a:solidFill>
              </a:rPr>
              <a:t>A capability is reused. An application solves a defined business problem.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AE4474-5BCE-44F1-A7AF-BD6FBF6A7347}"/>
              </a:ext>
            </a:extLst>
          </p:cNvPr>
          <p:cNvSpPr>
            <a:spLocks noGrp="1"/>
          </p:cNvSpPr>
          <p:nvPr/>
        </p:nvSpPr>
        <p:spPr>
          <a:xfrm>
            <a:off x="0" y="5934075"/>
            <a:ext cx="12192000" cy="438150"/>
          </a:xfrm>
          <a:prstGeom prst="rect">
            <a:avLst/>
          </a:prstGeom>
          <a:solidFill>
            <a:srgbClr val="E8EAE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F6A84D-F992-495D-99A6-E2DA8026CE90}"/>
              </a:ext>
            </a:extLst>
          </p:cNvPr>
          <p:cNvSpPr>
            <a:spLocks noGrp="1"/>
          </p:cNvSpPr>
          <p:nvPr/>
        </p:nvSpPr>
        <p:spPr>
          <a:xfrm>
            <a:off x="381000" y="6029325"/>
            <a:ext cx="11430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Invest in shared capabilities once. Measure business outcomes within each application.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ED3DB3-6C2C-49A0-813C-E478776EEB69}"/>
              </a:ext>
            </a:extLst>
          </p:cNvPr>
          <p:cNvSpPr>
            <a:spLocks noGrp="1"/>
          </p:cNvSpPr>
          <p:nvPr/>
        </p:nvSpPr>
        <p:spPr>
          <a:xfrm>
            <a:off x="457200" y="6524625"/>
            <a:ext cx="6286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126184-453F-40C4-BC93-754CAD1A8103}"/>
              </a:ext>
            </a:extLst>
          </p:cNvPr>
          <p:cNvSpPr>
            <a:spLocks noGrp="1"/>
          </p:cNvSpPr>
          <p:nvPr/>
        </p:nvSpPr>
        <p:spPr>
          <a:xfrm>
            <a:off x="7620000" y="65151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4F4F06-2D04-49BC-82A3-437F7946E2A6}"/>
              </a:ext>
            </a:extLst>
          </p:cNvPr>
          <p:cNvSpPr>
            <a:spLocks noGrp="1"/>
          </p:cNvSpPr>
          <p:nvPr/>
        </p:nvSpPr>
        <p:spPr>
          <a:xfrm>
            <a:off x="10334625" y="646747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5A40EE-522E-433A-BEA0-16FFFB2ED59F}"/>
              </a:ext>
            </a:extLst>
          </p:cNvPr>
          <p:cNvSpPr>
            <a:spLocks noGrp="1"/>
          </p:cNvSpPr>
          <p:nvPr/>
        </p:nvSpPr>
        <p:spPr>
          <a:xfrm>
            <a:off x="419100" y="1752600"/>
            <a:ext cx="5391150" cy="3333750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479754"/>
                </a:gs>
                <a:gs pos="50000">
                  <a:srgbClr val="E8EDF0"/>
                </a:gs>
                <a:gs pos="100000">
                  <a:srgbClr val="479754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EA60CE-70F1-4AFD-95ED-BE7205470F0D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50101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>
                <a:solidFill>
                  <a:srgbClr val="479754"/>
                </a:solidFill>
              </a:defRPr>
            </a:pPr>
            <a:r>
              <a:rPr sz="1875" b="0">
                <a:solidFill>
                  <a:srgbClr val="479754"/>
                </a:solidFill>
              </a:rPr>
              <a:t>CAPABILITY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ECA16D-FF0E-474A-94AA-E5699601419D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5010150" cy="2238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Reusable technical building blocks</a:t>
            </a:r>
          </a:p>
          <a:p>
            <a:endParaRPr sz="1500" b="0">
              <a:solidFill>
                <a:srgbClr val="172B3A"/>
              </a:solidFill>
            </a:endParaRPr>
          </a:p>
          <a:p>
            <a:pPr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Clinical Documentation Intelligence</a:t>
            </a:r>
          </a:p>
          <a:p>
            <a:pPr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Extraction, normalization, source evidence</a:t>
            </a:r>
          </a:p>
          <a:p>
            <a:endParaRPr sz="1500" b="0">
              <a:solidFill>
                <a:srgbClr val="172B3A"/>
              </a:solidFill>
            </a:endParaRPr>
          </a:p>
          <a:p>
            <a:pPr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CareAllies AI Intelligence Layer</a:t>
            </a:r>
          </a:p>
          <a:p>
            <a:pPr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RAG, governed data access, LLM services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DD562D-4500-4A86-873B-8A61A65B2F8F}"/>
              </a:ext>
            </a:extLst>
          </p:cNvPr>
          <p:cNvSpPr>
            <a:spLocks noGrp="1"/>
          </p:cNvSpPr>
          <p:nvPr/>
        </p:nvSpPr>
        <p:spPr>
          <a:xfrm>
            <a:off x="6076950" y="1752600"/>
            <a:ext cx="5695950" cy="3333750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287BA8"/>
                </a:gs>
                <a:gs pos="50000">
                  <a:srgbClr val="E8EDF0"/>
                </a:gs>
                <a:gs pos="100000">
                  <a:srgbClr val="287BA8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18FF64-E4B1-4848-B782-1A092CCE2833}"/>
              </a:ext>
            </a:extLst>
          </p:cNvPr>
          <p:cNvSpPr>
            <a:spLocks noGrp="1"/>
          </p:cNvSpPr>
          <p:nvPr/>
        </p:nvSpPr>
        <p:spPr>
          <a:xfrm>
            <a:off x="6267450" y="1924050"/>
            <a:ext cx="53149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>
                <a:solidFill>
                  <a:srgbClr val="287BA8"/>
                </a:solidFill>
              </a:defRPr>
            </a:pPr>
            <a:r>
              <a:rPr sz="1875" b="0">
                <a:solidFill>
                  <a:srgbClr val="287BA8"/>
                </a:solidFill>
              </a:rPr>
              <a:t>APPLICATION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D689E0-E4A9-4CFC-BE5B-0229291B2F70}"/>
              </a:ext>
            </a:extLst>
          </p:cNvPr>
          <p:cNvSpPr>
            <a:spLocks noGrp="1"/>
          </p:cNvSpPr>
          <p:nvPr/>
        </p:nvSpPr>
        <p:spPr>
          <a:xfrm>
            <a:off x="6267450" y="2647950"/>
            <a:ext cx="5314950" cy="2238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A workflow with users, decisions, and KPIs</a:t>
            </a:r>
          </a:p>
          <a:p>
            <a:endParaRPr sz="1500" b="0">
              <a:solidFill>
                <a:srgbClr val="172B3A"/>
              </a:solidFill>
            </a:endParaRPr>
          </a:p>
          <a:p>
            <a:pPr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Audit the Auditor • Risk Investigator</a:t>
            </a:r>
          </a:p>
          <a:p>
            <a:pPr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Stars Investigator • Provider Profiling</a:t>
            </a:r>
          </a:p>
          <a:p>
            <a:endParaRPr sz="1500" b="0">
              <a:solidFill>
                <a:srgbClr val="172B3A"/>
              </a:solidFill>
            </a:endParaRPr>
          </a:p>
          <a:p>
            <a:pPr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Combines only the capabilities it needs.</a:t>
            </a:r>
          </a:p>
          <a:p>
            <a:pPr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Provider profiling can begin with traditional ML.</a:t>
            </a:r>
          </a:p>
        </p:txBody>
      </p:sp>
    </p:spTree>
    <p:extLst>
      <p:ext uri="{BB962C8B-B14F-4D97-AF65-F5344CB8AC3E}">
        <p14:creationId xmlns:p14="http://schemas.microsoft.com/office/powerpoint/2010/main" val="1243996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F8B229D-A31B-434E-AE54-253942519EC3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113538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000" b="0">
                <a:solidFill>
                  <a:srgbClr val="172B3A"/>
                </a:solidFill>
              </a:defRPr>
            </a:pPr>
            <a:r>
              <a:rPr sz="3000" b="0">
                <a:solidFill>
                  <a:srgbClr val="172B3A"/>
                </a:solidFill>
              </a:rPr>
              <a:t>Projects Connectivity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65CC6E-4060-4512-BBE3-B3C0C564CE97}"/>
              </a:ext>
            </a:extLst>
          </p:cNvPr>
          <p:cNvSpPr>
            <a:spLocks noGrp="1"/>
          </p:cNvSpPr>
          <p:nvPr/>
        </p:nvSpPr>
        <p:spPr>
          <a:xfrm>
            <a:off x="438150" y="971550"/>
            <a:ext cx="113157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0">
                <a:solidFill>
                  <a:srgbClr val="56636C"/>
                </a:solidFill>
              </a:defRPr>
            </a:pPr>
            <a:r>
              <a:rPr sz="1425" b="0">
                <a:solidFill>
                  <a:srgbClr val="56636C"/>
                </a:solidFill>
              </a:rPr>
              <a:t>Applications select reusable services. The layers describe architecture, not a mandatory project sequence.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3A9BE3-3DD8-4721-A4B4-638692475822}"/>
              </a:ext>
            </a:extLst>
          </p:cNvPr>
          <p:cNvSpPr>
            <a:spLocks noGrp="1"/>
          </p:cNvSpPr>
          <p:nvPr/>
        </p:nvSpPr>
        <p:spPr>
          <a:xfrm>
            <a:off x="0" y="5934075"/>
            <a:ext cx="12192000" cy="438150"/>
          </a:xfrm>
          <a:prstGeom prst="rect">
            <a:avLst/>
          </a:prstGeom>
          <a:solidFill>
            <a:srgbClr val="E8EAE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867F42-113A-4919-A8F3-F6F4FBB02ED1}"/>
              </a:ext>
            </a:extLst>
          </p:cNvPr>
          <p:cNvSpPr>
            <a:spLocks noGrp="1"/>
          </p:cNvSpPr>
          <p:nvPr/>
        </p:nvSpPr>
        <p:spPr>
          <a:xfrm>
            <a:off x="381000" y="6029325"/>
            <a:ext cx="11430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Chart extraction enables chart workflows. Structured analytics can advance independently.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A9894A-30E7-436E-841F-08B9E0C55460}"/>
              </a:ext>
            </a:extLst>
          </p:cNvPr>
          <p:cNvSpPr>
            <a:spLocks noGrp="1"/>
          </p:cNvSpPr>
          <p:nvPr/>
        </p:nvSpPr>
        <p:spPr>
          <a:xfrm>
            <a:off x="457200" y="6524625"/>
            <a:ext cx="6286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DCCAD9-77EF-475D-8D1A-2F60CAA30410}"/>
              </a:ext>
            </a:extLst>
          </p:cNvPr>
          <p:cNvSpPr>
            <a:spLocks noGrp="1"/>
          </p:cNvSpPr>
          <p:nvPr/>
        </p:nvSpPr>
        <p:spPr>
          <a:xfrm>
            <a:off x="7620000" y="65151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982A9B-8B38-406C-9CF1-479D2F70FBC2}"/>
              </a:ext>
            </a:extLst>
          </p:cNvPr>
          <p:cNvSpPr>
            <a:spLocks noGrp="1"/>
          </p:cNvSpPr>
          <p:nvPr/>
        </p:nvSpPr>
        <p:spPr>
          <a:xfrm>
            <a:off x="10334625" y="646747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3A7BA5-98FB-491D-8E2B-1D839842EA66}"/>
              </a:ext>
            </a:extLst>
          </p:cNvPr>
          <p:cNvSpPr>
            <a:spLocks noGrp="1"/>
          </p:cNvSpPr>
          <p:nvPr/>
        </p:nvSpPr>
        <p:spPr>
          <a:xfrm>
            <a:off x="419100" y="1628775"/>
            <a:ext cx="5410200" cy="1095375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479754"/>
                </a:gs>
                <a:gs pos="50000">
                  <a:srgbClr val="E8EDF0"/>
                </a:gs>
                <a:gs pos="100000">
                  <a:srgbClr val="479754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B07E54-6F83-49EF-9478-8B129849AF17}"/>
              </a:ext>
            </a:extLst>
          </p:cNvPr>
          <p:cNvSpPr>
            <a:spLocks noGrp="1"/>
          </p:cNvSpPr>
          <p:nvPr/>
        </p:nvSpPr>
        <p:spPr>
          <a:xfrm>
            <a:off x="590550" y="1762125"/>
            <a:ext cx="5048250" cy="314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>
                <a:solidFill>
                  <a:srgbClr val="479754"/>
                </a:solidFill>
              </a:defRPr>
            </a:pPr>
            <a:r>
              <a:rPr sz="1875" b="0">
                <a:solidFill>
                  <a:srgbClr val="479754"/>
                </a:solidFill>
              </a:rPr>
              <a:t>Clinical Documentation Intelligence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61E89F-747B-4A52-BB5B-7087F5505D06}"/>
              </a:ext>
            </a:extLst>
          </p:cNvPr>
          <p:cNvSpPr>
            <a:spLocks noGrp="1"/>
          </p:cNvSpPr>
          <p:nvPr/>
        </p:nvSpPr>
        <p:spPr>
          <a:xfrm>
            <a:off x="590550" y="2209800"/>
            <a:ext cx="5000625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0">
                <a:solidFill>
                  <a:srgbClr val="172B3A"/>
                </a:solidFill>
              </a:defRPr>
            </a:pPr>
            <a:r>
              <a:rPr sz="1425" b="0">
                <a:solidFill>
                  <a:srgbClr val="172B3A"/>
                </a:solidFill>
              </a:rPr>
              <a:t>Digital / scanned / handwritten records → traceable evidence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586567-E798-4E19-B97A-BF0C8B28B0AA}"/>
              </a:ext>
            </a:extLst>
          </p:cNvPr>
          <p:cNvSpPr>
            <a:spLocks noGrp="1"/>
          </p:cNvSpPr>
          <p:nvPr/>
        </p:nvSpPr>
        <p:spPr>
          <a:xfrm>
            <a:off x="6057900" y="1628775"/>
            <a:ext cx="5715000" cy="1095375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287BA8"/>
                </a:gs>
                <a:gs pos="50000">
                  <a:srgbClr val="E8EDF0"/>
                </a:gs>
                <a:gs pos="100000">
                  <a:srgbClr val="287BA8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43B1F4-88CA-4D03-AC72-176E16A4780F}"/>
              </a:ext>
            </a:extLst>
          </p:cNvPr>
          <p:cNvSpPr>
            <a:spLocks noGrp="1"/>
          </p:cNvSpPr>
          <p:nvPr/>
        </p:nvSpPr>
        <p:spPr>
          <a:xfrm>
            <a:off x="6229350" y="1762125"/>
            <a:ext cx="5334000" cy="314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>
                <a:solidFill>
                  <a:srgbClr val="287BA8"/>
                </a:solidFill>
              </a:defRPr>
            </a:pPr>
            <a:r>
              <a:rPr sz="1875" b="0">
                <a:solidFill>
                  <a:srgbClr val="287BA8"/>
                </a:solidFill>
              </a:rPr>
              <a:t>Governed data + business knowledge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B4DD2-3AD8-4E28-8070-E71C430E3EC7}"/>
              </a:ext>
            </a:extLst>
          </p:cNvPr>
          <p:cNvSpPr>
            <a:spLocks noGrp="1"/>
          </p:cNvSpPr>
          <p:nvPr/>
        </p:nvSpPr>
        <p:spPr>
          <a:xfrm>
            <a:off x="6229350" y="2209800"/>
            <a:ext cx="535305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0">
                <a:solidFill>
                  <a:srgbClr val="172B3A"/>
                </a:solidFill>
              </a:defRPr>
            </a:pPr>
            <a:r>
              <a:rPr sz="1425" b="0">
                <a:solidFill>
                  <a:srgbClr val="172B3A"/>
                </a:solidFill>
              </a:rPr>
              <a:t>Teradata / approved data • methodologies • SOPs • guidance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21489C-FFDC-45C4-B17E-CE3EA6D3A24F}"/>
              </a:ext>
            </a:extLst>
          </p:cNvPr>
          <p:cNvSpPr>
            <a:spLocks noGrp="1"/>
          </p:cNvSpPr>
          <p:nvPr/>
        </p:nvSpPr>
        <p:spPr>
          <a:xfrm>
            <a:off x="5753100" y="2781300"/>
            <a:ext cx="6667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250" b="0">
                <a:solidFill>
                  <a:srgbClr val="56636C"/>
                </a:solidFill>
              </a:defRPr>
            </a:pPr>
            <a:r>
              <a:rPr sz="2250" b="0">
                <a:solidFill>
                  <a:srgbClr val="56636C"/>
                </a:solidFill>
              </a:rPr>
              <a:t>↓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281F7F-8616-472D-B718-919FA4C9B1D4}"/>
              </a:ext>
            </a:extLst>
          </p:cNvPr>
          <p:cNvSpPr>
            <a:spLocks noGrp="1"/>
          </p:cNvSpPr>
          <p:nvPr/>
        </p:nvSpPr>
        <p:spPr>
          <a:xfrm>
            <a:off x="419100" y="3209925"/>
            <a:ext cx="11353800" cy="1057275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287BA8"/>
                </a:gs>
                <a:gs pos="50000">
                  <a:srgbClr val="E8EDF0"/>
                </a:gs>
                <a:gs pos="100000">
                  <a:srgbClr val="287BA8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697EAC-C336-4C80-8F92-3FA18703B6A2}"/>
              </a:ext>
            </a:extLst>
          </p:cNvPr>
          <p:cNvSpPr>
            <a:spLocks noGrp="1"/>
          </p:cNvSpPr>
          <p:nvPr/>
        </p:nvSpPr>
        <p:spPr>
          <a:xfrm>
            <a:off x="590550" y="333375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0">
                <a:solidFill>
                  <a:srgbClr val="287BA8"/>
                </a:solidFill>
              </a:defRPr>
            </a:pPr>
            <a:r>
              <a:rPr sz="2100" b="0">
                <a:solidFill>
                  <a:srgbClr val="287BA8"/>
                </a:solidFill>
              </a:rPr>
              <a:t>CareAllies AI Intelligence Layer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A6606C-DC75-4B1D-9053-1502D2A47AAD}"/>
              </a:ext>
            </a:extLst>
          </p:cNvPr>
          <p:cNvSpPr>
            <a:spLocks noGrp="1"/>
          </p:cNvSpPr>
          <p:nvPr/>
        </p:nvSpPr>
        <p:spPr>
          <a:xfrm>
            <a:off x="590550" y="3781425"/>
            <a:ext cx="10763250" cy="2952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LLM services   |   RAG / citations   |   SQL + rules   |   APIs   |   Permissions + evaluation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3A6037-DB5E-4B68-8CE2-D0AED0C4F818}"/>
              </a:ext>
            </a:extLst>
          </p:cNvPr>
          <p:cNvSpPr>
            <a:spLocks noGrp="1"/>
          </p:cNvSpPr>
          <p:nvPr/>
        </p:nvSpPr>
        <p:spPr>
          <a:xfrm>
            <a:off x="457200" y="4419600"/>
            <a:ext cx="11239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56636C"/>
                </a:solidFill>
              </a:defRPr>
            </a:pPr>
            <a:r>
              <a:rPr sz="1350" b="0">
                <a:solidFill>
                  <a:srgbClr val="56636C"/>
                </a:solidFill>
              </a:rPr>
              <a:t>Applications use the relevant services; provider ML also consumes governed data directly.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A5D827-7D14-417E-A439-1B56D5D48491}"/>
              </a:ext>
            </a:extLst>
          </p:cNvPr>
          <p:cNvSpPr>
            <a:spLocks noGrp="1"/>
          </p:cNvSpPr>
          <p:nvPr/>
        </p:nvSpPr>
        <p:spPr>
          <a:xfrm>
            <a:off x="419100" y="4886325"/>
            <a:ext cx="2724150" cy="666750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479754"/>
                </a:gs>
                <a:gs pos="50000">
                  <a:srgbClr val="E8EDF0"/>
                </a:gs>
                <a:gs pos="100000">
                  <a:srgbClr val="479754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FF8A06-889A-4D29-A55C-BDAE7B32CBBC}"/>
              </a:ext>
            </a:extLst>
          </p:cNvPr>
          <p:cNvSpPr>
            <a:spLocks noGrp="1"/>
          </p:cNvSpPr>
          <p:nvPr/>
        </p:nvSpPr>
        <p:spPr>
          <a:xfrm>
            <a:off x="561975" y="5086350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Audit the Auditor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B93CF4-B181-4C80-8CBE-48006F88F1B5}"/>
              </a:ext>
            </a:extLst>
          </p:cNvPr>
          <p:cNvSpPr>
            <a:spLocks noGrp="1"/>
          </p:cNvSpPr>
          <p:nvPr/>
        </p:nvSpPr>
        <p:spPr>
          <a:xfrm>
            <a:off x="3295650" y="4886325"/>
            <a:ext cx="2724150" cy="666750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479754"/>
                </a:gs>
                <a:gs pos="50000">
                  <a:srgbClr val="E8EDF0"/>
                </a:gs>
                <a:gs pos="100000">
                  <a:srgbClr val="479754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5ED442-3BE4-4245-9846-D800471CC1B8}"/>
              </a:ext>
            </a:extLst>
          </p:cNvPr>
          <p:cNvSpPr>
            <a:spLocks noGrp="1"/>
          </p:cNvSpPr>
          <p:nvPr/>
        </p:nvSpPr>
        <p:spPr>
          <a:xfrm>
            <a:off x="3438525" y="5086350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Risk Investigator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00AC385-DED3-476F-8EA4-132EDDF5507A}"/>
              </a:ext>
            </a:extLst>
          </p:cNvPr>
          <p:cNvSpPr>
            <a:spLocks noGrp="1"/>
          </p:cNvSpPr>
          <p:nvPr/>
        </p:nvSpPr>
        <p:spPr>
          <a:xfrm>
            <a:off x="6172200" y="4886325"/>
            <a:ext cx="2724150" cy="666750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479754"/>
                </a:gs>
                <a:gs pos="50000">
                  <a:srgbClr val="E8EDF0"/>
                </a:gs>
                <a:gs pos="100000">
                  <a:srgbClr val="479754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14F6145-601F-4164-8BAD-6B33D78DCB29}"/>
              </a:ext>
            </a:extLst>
          </p:cNvPr>
          <p:cNvSpPr>
            <a:spLocks noGrp="1"/>
          </p:cNvSpPr>
          <p:nvPr/>
        </p:nvSpPr>
        <p:spPr>
          <a:xfrm>
            <a:off x="6315075" y="5086350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Stars Investigator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70ECC6-0B7C-4E19-8857-6E19801E6213}"/>
              </a:ext>
            </a:extLst>
          </p:cNvPr>
          <p:cNvSpPr>
            <a:spLocks noGrp="1"/>
          </p:cNvSpPr>
          <p:nvPr/>
        </p:nvSpPr>
        <p:spPr>
          <a:xfrm>
            <a:off x="9048750" y="4886325"/>
            <a:ext cx="2724150" cy="666750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287BA8"/>
                </a:gs>
                <a:gs pos="50000">
                  <a:srgbClr val="E8EDF0"/>
                </a:gs>
                <a:gs pos="100000">
                  <a:srgbClr val="287BA8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B5E80D-CEA2-47F0-BF2C-6785CC75A5F3}"/>
              </a:ext>
            </a:extLst>
          </p:cNvPr>
          <p:cNvSpPr>
            <a:spLocks noGrp="1"/>
          </p:cNvSpPr>
          <p:nvPr/>
        </p:nvSpPr>
        <p:spPr>
          <a:xfrm>
            <a:off x="9191625" y="5086350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Provider Profiling</a:t>
            </a:r>
          </a:p>
        </p:txBody>
      </p:sp>
    </p:spTree>
    <p:extLst>
      <p:ext uri="{BB962C8B-B14F-4D97-AF65-F5344CB8AC3E}">
        <p14:creationId xmlns:p14="http://schemas.microsoft.com/office/powerpoint/2010/main" val="1672175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21">
            <a:extLst>
              <a:ext uri="{FF2B5EF4-FFF2-40B4-BE49-F238E27FC236}">
                <a16:creationId xmlns:a16="http://schemas.microsoft.com/office/drawing/2014/main" id="{14504043-EE8E-4C46-BA0D-EB756C3317A8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113538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000" b="0">
                <a:solidFill>
                  <a:srgbClr val="172B3A"/>
                </a:solidFill>
              </a:defRPr>
            </a:pPr>
            <a:r>
              <a:rPr sz="3000" b="0">
                <a:solidFill>
                  <a:srgbClr val="172B3A"/>
                </a:solidFill>
              </a:rPr>
              <a:t>Project × Capability Matrix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C91172-AD68-4FD9-A137-6DB4F5528671}"/>
              </a:ext>
            </a:extLst>
          </p:cNvPr>
          <p:cNvSpPr>
            <a:spLocks noGrp="1"/>
          </p:cNvSpPr>
          <p:nvPr/>
        </p:nvSpPr>
        <p:spPr>
          <a:xfrm>
            <a:off x="438150" y="971550"/>
            <a:ext cx="113157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0">
                <a:solidFill>
                  <a:srgbClr val="56636C"/>
                </a:solidFill>
              </a:defRPr>
            </a:pPr>
            <a:r>
              <a:rPr sz="1425" b="0">
                <a:solidFill>
                  <a:srgbClr val="56636C"/>
                </a:solidFill>
              </a:rPr>
              <a:t>Proposed scope: ● core role    ○ optional enhancement    · not in baseline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DD299A-0B1C-473D-9395-39AF498C12D7}"/>
              </a:ext>
            </a:extLst>
          </p:cNvPr>
          <p:cNvSpPr>
            <a:spLocks noGrp="1"/>
          </p:cNvSpPr>
          <p:nvPr/>
        </p:nvSpPr>
        <p:spPr>
          <a:xfrm>
            <a:off x="0" y="5934075"/>
            <a:ext cx="12192000" cy="438150"/>
          </a:xfrm>
          <a:prstGeom prst="rect">
            <a:avLst/>
          </a:prstGeom>
          <a:solidFill>
            <a:srgbClr val="E8EAE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B8D2B3-8D88-47F5-8B05-1F3621664B16}"/>
              </a:ext>
            </a:extLst>
          </p:cNvPr>
          <p:cNvSpPr>
            <a:spLocks noGrp="1"/>
          </p:cNvSpPr>
          <p:nvPr/>
        </p:nvSpPr>
        <p:spPr>
          <a:xfrm>
            <a:off x="381000" y="6029325"/>
            <a:ext cx="11430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Document extraction, knowledge retrieval, exact data access, and predictive ML serve different purposes.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478F69-D8EA-43CC-BDA9-963DD8E2F21B}"/>
              </a:ext>
            </a:extLst>
          </p:cNvPr>
          <p:cNvSpPr>
            <a:spLocks noGrp="1"/>
          </p:cNvSpPr>
          <p:nvPr/>
        </p:nvSpPr>
        <p:spPr>
          <a:xfrm>
            <a:off x="457200" y="6524625"/>
            <a:ext cx="6286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CAD3C7-24C6-4A61-B3F2-EA3C1A5C636B}"/>
              </a:ext>
            </a:extLst>
          </p:cNvPr>
          <p:cNvSpPr>
            <a:spLocks noGrp="1"/>
          </p:cNvSpPr>
          <p:nvPr/>
        </p:nvSpPr>
        <p:spPr>
          <a:xfrm>
            <a:off x="7620000" y="65151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C47C91-15BD-418E-83ED-6E2484F637F8}"/>
              </a:ext>
            </a:extLst>
          </p:cNvPr>
          <p:cNvSpPr>
            <a:spLocks noGrp="1"/>
          </p:cNvSpPr>
          <p:nvPr/>
        </p:nvSpPr>
        <p:spPr>
          <a:xfrm>
            <a:off x="10334625" y="646747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572DD7-8E94-4840-8326-267F81B4E8A7}"/>
              </a:ext>
            </a:extLst>
          </p:cNvPr>
          <p:cNvSpPr>
            <a:spLocks noGrp="1"/>
          </p:cNvSpPr>
          <p:nvPr/>
        </p:nvSpPr>
        <p:spPr>
          <a:xfrm>
            <a:off x="419100" y="1619250"/>
            <a:ext cx="6381750" cy="476250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287BA8"/>
                </a:gs>
                <a:gs pos="50000">
                  <a:srgbClr val="E8EDF0"/>
                </a:gs>
                <a:gs pos="100000">
                  <a:srgbClr val="287BA8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5C3DE9-264E-4D61-8B83-8EEC797AB96E}"/>
              </a:ext>
            </a:extLst>
          </p:cNvPr>
          <p:cNvSpPr>
            <a:spLocks noGrp="1"/>
          </p:cNvSpPr>
          <p:nvPr/>
        </p:nvSpPr>
        <p:spPr>
          <a:xfrm>
            <a:off x="514350" y="1752600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287BA8"/>
                </a:solidFill>
              </a:defRPr>
            </a:pPr>
            <a:r>
              <a:rPr sz="1500" b="1">
                <a:solidFill>
                  <a:srgbClr val="287BA8"/>
                </a:solidFill>
              </a:rPr>
              <a:t>Project / application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D6A38E-E7B7-419C-9693-4CB947608451}"/>
              </a:ext>
            </a:extLst>
          </p:cNvPr>
          <p:cNvSpPr>
            <a:spLocks noGrp="1"/>
          </p:cNvSpPr>
          <p:nvPr/>
        </p:nvSpPr>
        <p:spPr>
          <a:xfrm>
            <a:off x="4667250" y="1752600"/>
            <a:ext cx="9715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287BA8"/>
                </a:solidFill>
              </a:defRPr>
            </a:pPr>
            <a:r>
              <a:rPr sz="1350" b="1">
                <a:solidFill>
                  <a:srgbClr val="287BA8"/>
                </a:solidFill>
              </a:rPr>
              <a:t>Docs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C46B9E-EF59-477A-8A46-E07BF28E4E9F}"/>
              </a:ext>
            </a:extLst>
          </p:cNvPr>
          <p:cNvSpPr>
            <a:spLocks noGrp="1"/>
          </p:cNvSpPr>
          <p:nvPr/>
        </p:nvSpPr>
        <p:spPr>
          <a:xfrm>
            <a:off x="5791200" y="1752600"/>
            <a:ext cx="9715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287BA8"/>
                </a:solidFill>
              </a:defRPr>
            </a:pPr>
            <a:r>
              <a:rPr sz="1350" b="1">
                <a:solidFill>
                  <a:srgbClr val="287BA8"/>
                </a:solidFill>
              </a:rPr>
              <a:t>RAG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F499D6-321A-4126-9EF9-DFB6939906D2}"/>
              </a:ext>
            </a:extLst>
          </p:cNvPr>
          <p:cNvSpPr>
            <a:spLocks noGrp="1"/>
          </p:cNvSpPr>
          <p:nvPr/>
        </p:nvSpPr>
        <p:spPr>
          <a:xfrm>
            <a:off x="6819900" y="1619250"/>
            <a:ext cx="1428750" cy="476250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287BA8"/>
                </a:gs>
                <a:gs pos="50000">
                  <a:srgbClr val="E8EDF0"/>
                </a:gs>
                <a:gs pos="100000">
                  <a:srgbClr val="287BA8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82281D-811D-4ACA-8817-00DD77BF4A50}"/>
              </a:ext>
            </a:extLst>
          </p:cNvPr>
          <p:cNvSpPr>
            <a:spLocks noGrp="1"/>
          </p:cNvSpPr>
          <p:nvPr/>
        </p:nvSpPr>
        <p:spPr>
          <a:xfrm>
            <a:off x="6915150" y="1752600"/>
            <a:ext cx="12763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287BA8"/>
                </a:solidFill>
              </a:defRPr>
            </a:pPr>
            <a:r>
              <a:rPr sz="1350" b="1">
                <a:solidFill>
                  <a:srgbClr val="287BA8"/>
                </a:solidFill>
              </a:rPr>
              <a:t>SQL / Data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487402-E676-406C-ADFB-9EA7F7413DA9}"/>
              </a:ext>
            </a:extLst>
          </p:cNvPr>
          <p:cNvSpPr>
            <a:spLocks noGrp="1"/>
          </p:cNvSpPr>
          <p:nvPr/>
        </p:nvSpPr>
        <p:spPr>
          <a:xfrm>
            <a:off x="8248650" y="1619250"/>
            <a:ext cx="1143000" cy="476250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287BA8"/>
                </a:gs>
                <a:gs pos="50000">
                  <a:srgbClr val="E8EDF0"/>
                </a:gs>
                <a:gs pos="100000">
                  <a:srgbClr val="287BA8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112017-125D-4740-9E36-4F0F1891D784}"/>
              </a:ext>
            </a:extLst>
          </p:cNvPr>
          <p:cNvSpPr>
            <a:spLocks noGrp="1"/>
          </p:cNvSpPr>
          <p:nvPr/>
        </p:nvSpPr>
        <p:spPr>
          <a:xfrm>
            <a:off x="8343900" y="1752600"/>
            <a:ext cx="9906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287BA8"/>
                </a:solidFill>
              </a:defRPr>
            </a:pPr>
            <a:r>
              <a:rPr sz="1350" b="1">
                <a:solidFill>
                  <a:srgbClr val="287BA8"/>
                </a:solidFill>
              </a:rPr>
              <a:t>Rules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214826-4FB4-4F6C-9200-C773143ABE27}"/>
              </a:ext>
            </a:extLst>
          </p:cNvPr>
          <p:cNvSpPr>
            <a:spLocks noGrp="1"/>
          </p:cNvSpPr>
          <p:nvPr/>
        </p:nvSpPr>
        <p:spPr>
          <a:xfrm>
            <a:off x="9391650" y="1619250"/>
            <a:ext cx="942975" cy="476250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287BA8"/>
                </a:gs>
                <a:gs pos="50000">
                  <a:srgbClr val="E8EDF0"/>
                </a:gs>
                <a:gs pos="100000">
                  <a:srgbClr val="287BA8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4D6955-0EAE-4E4E-982F-E0367AC9D7FC}"/>
              </a:ext>
            </a:extLst>
          </p:cNvPr>
          <p:cNvSpPr>
            <a:spLocks noGrp="1"/>
          </p:cNvSpPr>
          <p:nvPr/>
        </p:nvSpPr>
        <p:spPr>
          <a:xfrm>
            <a:off x="9486900" y="1752600"/>
            <a:ext cx="79057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287BA8"/>
                </a:solidFill>
              </a:defRPr>
            </a:pPr>
            <a:r>
              <a:rPr sz="1350" b="1">
                <a:solidFill>
                  <a:srgbClr val="287BA8"/>
                </a:solidFill>
              </a:rPr>
              <a:t>ML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33B513-2C10-4AF4-89E9-6822BE37C9A7}"/>
              </a:ext>
            </a:extLst>
          </p:cNvPr>
          <p:cNvSpPr>
            <a:spLocks noGrp="1"/>
          </p:cNvSpPr>
          <p:nvPr/>
        </p:nvSpPr>
        <p:spPr>
          <a:xfrm>
            <a:off x="10334625" y="1619250"/>
            <a:ext cx="1438275" cy="476250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287BA8"/>
                </a:gs>
                <a:gs pos="50000">
                  <a:srgbClr val="E8EDF0"/>
                </a:gs>
                <a:gs pos="100000">
                  <a:srgbClr val="287BA8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F3324B-56A0-4E3F-99CF-7ABD80D549B4}"/>
              </a:ext>
            </a:extLst>
          </p:cNvPr>
          <p:cNvSpPr>
            <a:spLocks noGrp="1"/>
          </p:cNvSpPr>
          <p:nvPr/>
        </p:nvSpPr>
        <p:spPr>
          <a:xfrm>
            <a:off x="10429875" y="1752600"/>
            <a:ext cx="128587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287BA8"/>
                </a:solidFill>
              </a:defRPr>
            </a:pPr>
            <a:r>
              <a:rPr sz="1350" b="1">
                <a:solidFill>
                  <a:srgbClr val="287BA8"/>
                </a:solidFill>
              </a:rPr>
              <a:t>Embeddings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8B7781-811B-4FCC-8920-0800BEB67F53}"/>
              </a:ext>
            </a:extLst>
          </p:cNvPr>
          <p:cNvSpPr>
            <a:spLocks noGrp="1"/>
          </p:cNvSpPr>
          <p:nvPr/>
        </p:nvSpPr>
        <p:spPr>
          <a:xfrm>
            <a:off x="419100" y="2095500"/>
            <a:ext cx="4152900" cy="428625"/>
          </a:xfrm>
          <a:prstGeom prst="rect">
            <a:avLst/>
          </a:prstGeom>
          <a:solidFill>
            <a:srgbClr val="FFFFFF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AF7CB8-F2FC-46D0-9738-32D0519EA62B}"/>
              </a:ext>
            </a:extLst>
          </p:cNvPr>
          <p:cNvSpPr>
            <a:spLocks noGrp="1"/>
          </p:cNvSpPr>
          <p:nvPr/>
        </p:nvSpPr>
        <p:spPr>
          <a:xfrm>
            <a:off x="514350" y="2200275"/>
            <a:ext cx="40100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56636C"/>
                </a:solidFill>
              </a:defRPr>
            </a:pPr>
            <a:r>
              <a:rPr sz="1350" b="0">
                <a:solidFill>
                  <a:srgbClr val="56636C"/>
                </a:solidFill>
              </a:rPr>
              <a:t>Clinical Documentation Intelligence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C7B2C5-D6DB-462C-931E-ACFEA3D8C33B}"/>
              </a:ext>
            </a:extLst>
          </p:cNvPr>
          <p:cNvSpPr>
            <a:spLocks noGrp="1"/>
          </p:cNvSpPr>
          <p:nvPr/>
        </p:nvSpPr>
        <p:spPr>
          <a:xfrm>
            <a:off x="4572000" y="2095500"/>
            <a:ext cx="1123950" cy="428625"/>
          </a:xfrm>
          <a:prstGeom prst="rect">
            <a:avLst/>
          </a:prstGeom>
          <a:solidFill>
            <a:srgbClr val="FFFFFF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D5A07E-FA78-4684-9030-525873CE5EB9}"/>
              </a:ext>
            </a:extLst>
          </p:cNvPr>
          <p:cNvSpPr>
            <a:spLocks noGrp="1"/>
          </p:cNvSpPr>
          <p:nvPr/>
        </p:nvSpPr>
        <p:spPr>
          <a:xfrm>
            <a:off x="4981575" y="2200275"/>
            <a:ext cx="6953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479754"/>
                </a:solidFill>
              </a:defRPr>
            </a:pPr>
            <a:r>
              <a:rPr sz="1650" b="0">
                <a:solidFill>
                  <a:srgbClr val="479754"/>
                </a:solidFill>
              </a:rPr>
              <a:t>●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67D3BC0-3905-4AE1-9A2C-0A51652FC889}"/>
              </a:ext>
            </a:extLst>
          </p:cNvPr>
          <p:cNvSpPr>
            <a:spLocks noGrp="1"/>
          </p:cNvSpPr>
          <p:nvPr/>
        </p:nvSpPr>
        <p:spPr>
          <a:xfrm>
            <a:off x="5695950" y="2095500"/>
            <a:ext cx="1123950" cy="428625"/>
          </a:xfrm>
          <a:prstGeom prst="rect">
            <a:avLst/>
          </a:prstGeom>
          <a:solidFill>
            <a:srgbClr val="FFFFFF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501C40-7427-41BA-BA41-23F208009602}"/>
              </a:ext>
            </a:extLst>
          </p:cNvPr>
          <p:cNvSpPr>
            <a:spLocks noGrp="1"/>
          </p:cNvSpPr>
          <p:nvPr/>
        </p:nvSpPr>
        <p:spPr>
          <a:xfrm>
            <a:off x="6105525" y="2200275"/>
            <a:ext cx="6953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56636C"/>
                </a:solidFill>
              </a:defRPr>
            </a:pPr>
            <a:r>
              <a:rPr sz="1650" b="0">
                <a:solidFill>
                  <a:srgbClr val="56636C"/>
                </a:solidFill>
              </a:rPr>
              <a:t>○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FA32C6-83EC-42E0-866E-1C36E3B55783}"/>
              </a:ext>
            </a:extLst>
          </p:cNvPr>
          <p:cNvSpPr>
            <a:spLocks noGrp="1"/>
          </p:cNvSpPr>
          <p:nvPr/>
        </p:nvSpPr>
        <p:spPr>
          <a:xfrm>
            <a:off x="6819900" y="2095500"/>
            <a:ext cx="1428750" cy="428625"/>
          </a:xfrm>
          <a:prstGeom prst="rect">
            <a:avLst/>
          </a:prstGeom>
          <a:solidFill>
            <a:srgbClr val="FFFFFF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9C3F730-B4BC-4F3E-A828-0868DC1EF22C}"/>
              </a:ext>
            </a:extLst>
          </p:cNvPr>
          <p:cNvSpPr>
            <a:spLocks noGrp="1"/>
          </p:cNvSpPr>
          <p:nvPr/>
        </p:nvSpPr>
        <p:spPr>
          <a:xfrm>
            <a:off x="7229475" y="2200275"/>
            <a:ext cx="10001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479754"/>
                </a:solidFill>
              </a:defRPr>
            </a:pPr>
            <a:r>
              <a:rPr sz="1650" b="0">
                <a:solidFill>
                  <a:srgbClr val="479754"/>
                </a:solidFill>
              </a:rPr>
              <a:t>●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EC75758-BBFF-4DCB-8A74-0B6F4E72D55B}"/>
              </a:ext>
            </a:extLst>
          </p:cNvPr>
          <p:cNvSpPr>
            <a:spLocks noGrp="1"/>
          </p:cNvSpPr>
          <p:nvPr/>
        </p:nvSpPr>
        <p:spPr>
          <a:xfrm>
            <a:off x="8248650" y="2095500"/>
            <a:ext cx="1143000" cy="428625"/>
          </a:xfrm>
          <a:prstGeom prst="rect">
            <a:avLst/>
          </a:prstGeom>
          <a:solidFill>
            <a:srgbClr val="FFFFFF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74369F-9788-408C-A122-BC9321439552}"/>
              </a:ext>
            </a:extLst>
          </p:cNvPr>
          <p:cNvSpPr>
            <a:spLocks noGrp="1"/>
          </p:cNvSpPr>
          <p:nvPr/>
        </p:nvSpPr>
        <p:spPr>
          <a:xfrm>
            <a:off x="8658225" y="220027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479754"/>
                </a:solidFill>
              </a:defRPr>
            </a:pPr>
            <a:r>
              <a:rPr sz="1650" b="0">
                <a:solidFill>
                  <a:srgbClr val="479754"/>
                </a:solidFill>
              </a:rPr>
              <a:t>●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36C58B3-AF1E-4243-95B9-4616390E898C}"/>
              </a:ext>
            </a:extLst>
          </p:cNvPr>
          <p:cNvSpPr>
            <a:spLocks noGrp="1"/>
          </p:cNvSpPr>
          <p:nvPr/>
        </p:nvSpPr>
        <p:spPr>
          <a:xfrm>
            <a:off x="9391650" y="2095500"/>
            <a:ext cx="942975" cy="428625"/>
          </a:xfrm>
          <a:prstGeom prst="rect">
            <a:avLst/>
          </a:prstGeom>
          <a:solidFill>
            <a:srgbClr val="FFFFFF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310F14-770D-4A6E-A6DB-83B8C3EF145E}"/>
              </a:ext>
            </a:extLst>
          </p:cNvPr>
          <p:cNvSpPr>
            <a:spLocks noGrp="1"/>
          </p:cNvSpPr>
          <p:nvPr/>
        </p:nvSpPr>
        <p:spPr>
          <a:xfrm>
            <a:off x="9801225" y="2200275"/>
            <a:ext cx="5143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56636C"/>
                </a:solidFill>
              </a:defRPr>
            </a:pPr>
            <a:r>
              <a:rPr sz="1650" b="0">
                <a:solidFill>
                  <a:srgbClr val="56636C"/>
                </a:solidFill>
              </a:rPr>
              <a:t>○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7D88369-F0AF-4184-84CD-AB42E222A004}"/>
              </a:ext>
            </a:extLst>
          </p:cNvPr>
          <p:cNvSpPr>
            <a:spLocks noGrp="1"/>
          </p:cNvSpPr>
          <p:nvPr/>
        </p:nvSpPr>
        <p:spPr>
          <a:xfrm>
            <a:off x="10334625" y="2095500"/>
            <a:ext cx="1438275" cy="428625"/>
          </a:xfrm>
          <a:prstGeom prst="rect">
            <a:avLst/>
          </a:prstGeom>
          <a:solidFill>
            <a:srgbClr val="FFFFFF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AD8295B-97AA-4C1B-A951-05778FDD294D}"/>
              </a:ext>
            </a:extLst>
          </p:cNvPr>
          <p:cNvSpPr>
            <a:spLocks noGrp="1"/>
          </p:cNvSpPr>
          <p:nvPr/>
        </p:nvSpPr>
        <p:spPr>
          <a:xfrm>
            <a:off x="10744200" y="2200275"/>
            <a:ext cx="10096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56636C"/>
                </a:solidFill>
              </a:defRPr>
            </a:pPr>
            <a:r>
              <a:rPr sz="1650" b="0">
                <a:solidFill>
                  <a:srgbClr val="56636C"/>
                </a:solidFill>
              </a:rPr>
              <a:t>○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E71AB4E-5835-4885-A9E4-84C41D003747}"/>
              </a:ext>
            </a:extLst>
          </p:cNvPr>
          <p:cNvSpPr>
            <a:spLocks noGrp="1"/>
          </p:cNvSpPr>
          <p:nvPr/>
        </p:nvSpPr>
        <p:spPr>
          <a:xfrm>
            <a:off x="419100" y="2524125"/>
            <a:ext cx="4152900" cy="428625"/>
          </a:xfrm>
          <a:prstGeom prst="rect">
            <a:avLst/>
          </a:prstGeom>
          <a:solidFill>
            <a:srgbClr val="F1F5F5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706B1FC-33B7-46B6-B608-2156C7013D77}"/>
              </a:ext>
            </a:extLst>
          </p:cNvPr>
          <p:cNvSpPr>
            <a:spLocks noGrp="1"/>
          </p:cNvSpPr>
          <p:nvPr/>
        </p:nvSpPr>
        <p:spPr>
          <a:xfrm>
            <a:off x="514350" y="2628900"/>
            <a:ext cx="40100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56636C"/>
                </a:solidFill>
              </a:defRPr>
            </a:pPr>
            <a:r>
              <a:rPr sz="1350" b="0">
                <a:solidFill>
                  <a:srgbClr val="56636C"/>
                </a:solidFill>
              </a:rPr>
              <a:t>CareAllies AI Intelligence Layer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F717103-2A26-45C5-B535-52E7328622D9}"/>
              </a:ext>
            </a:extLst>
          </p:cNvPr>
          <p:cNvSpPr>
            <a:spLocks noGrp="1"/>
          </p:cNvSpPr>
          <p:nvPr/>
        </p:nvSpPr>
        <p:spPr>
          <a:xfrm>
            <a:off x="4572000" y="2524125"/>
            <a:ext cx="1123950" cy="428625"/>
          </a:xfrm>
          <a:prstGeom prst="rect">
            <a:avLst/>
          </a:prstGeom>
          <a:solidFill>
            <a:srgbClr val="F1F5F5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248ED62-DD30-4FEB-8F00-A8AC5C424B23}"/>
              </a:ext>
            </a:extLst>
          </p:cNvPr>
          <p:cNvSpPr>
            <a:spLocks noGrp="1"/>
          </p:cNvSpPr>
          <p:nvPr/>
        </p:nvSpPr>
        <p:spPr>
          <a:xfrm>
            <a:off x="4981575" y="2628900"/>
            <a:ext cx="6953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56636C"/>
                </a:solidFill>
              </a:defRPr>
            </a:pPr>
            <a:r>
              <a:rPr sz="1650" b="0">
                <a:solidFill>
                  <a:srgbClr val="56636C"/>
                </a:solidFill>
              </a:rPr>
              <a:t>○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BDCB9E3-A3A1-4B4F-B50D-D9CF28E41BB5}"/>
              </a:ext>
            </a:extLst>
          </p:cNvPr>
          <p:cNvSpPr>
            <a:spLocks noGrp="1"/>
          </p:cNvSpPr>
          <p:nvPr/>
        </p:nvSpPr>
        <p:spPr>
          <a:xfrm>
            <a:off x="5695950" y="2524125"/>
            <a:ext cx="1123950" cy="428625"/>
          </a:xfrm>
          <a:prstGeom prst="rect">
            <a:avLst/>
          </a:prstGeom>
          <a:solidFill>
            <a:srgbClr val="F1F5F5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18D84F7-4341-4A7D-92A4-D85FCC00DFB6}"/>
              </a:ext>
            </a:extLst>
          </p:cNvPr>
          <p:cNvSpPr>
            <a:spLocks noGrp="1"/>
          </p:cNvSpPr>
          <p:nvPr/>
        </p:nvSpPr>
        <p:spPr>
          <a:xfrm>
            <a:off x="6105525" y="2628900"/>
            <a:ext cx="6953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479754"/>
                </a:solidFill>
              </a:defRPr>
            </a:pPr>
            <a:r>
              <a:rPr sz="1650" b="0">
                <a:solidFill>
                  <a:srgbClr val="479754"/>
                </a:solidFill>
              </a:rPr>
              <a:t>●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396FBDC-0653-4912-A1CC-E1F1A696997E}"/>
              </a:ext>
            </a:extLst>
          </p:cNvPr>
          <p:cNvSpPr>
            <a:spLocks noGrp="1"/>
          </p:cNvSpPr>
          <p:nvPr/>
        </p:nvSpPr>
        <p:spPr>
          <a:xfrm>
            <a:off x="6819900" y="2524125"/>
            <a:ext cx="1428750" cy="428625"/>
          </a:xfrm>
          <a:prstGeom prst="rect">
            <a:avLst/>
          </a:prstGeom>
          <a:solidFill>
            <a:srgbClr val="F1F5F5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EFA7656-5456-4FEC-9908-DF334929C2BD}"/>
              </a:ext>
            </a:extLst>
          </p:cNvPr>
          <p:cNvSpPr>
            <a:spLocks noGrp="1"/>
          </p:cNvSpPr>
          <p:nvPr/>
        </p:nvSpPr>
        <p:spPr>
          <a:xfrm>
            <a:off x="7229475" y="2628900"/>
            <a:ext cx="10001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479754"/>
                </a:solidFill>
              </a:defRPr>
            </a:pPr>
            <a:r>
              <a:rPr sz="1650" b="0">
                <a:solidFill>
                  <a:srgbClr val="479754"/>
                </a:solidFill>
              </a:rPr>
              <a:t>●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5AB40E0-0C0A-4D83-ADD2-5D10271ED9D6}"/>
              </a:ext>
            </a:extLst>
          </p:cNvPr>
          <p:cNvSpPr>
            <a:spLocks noGrp="1"/>
          </p:cNvSpPr>
          <p:nvPr/>
        </p:nvSpPr>
        <p:spPr>
          <a:xfrm>
            <a:off x="8248650" y="2524125"/>
            <a:ext cx="1143000" cy="428625"/>
          </a:xfrm>
          <a:prstGeom prst="rect">
            <a:avLst/>
          </a:prstGeom>
          <a:solidFill>
            <a:srgbClr val="F1F5F5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B070338-8CF5-46BA-9B42-33FBDC3F629E}"/>
              </a:ext>
            </a:extLst>
          </p:cNvPr>
          <p:cNvSpPr>
            <a:spLocks noGrp="1"/>
          </p:cNvSpPr>
          <p:nvPr/>
        </p:nvSpPr>
        <p:spPr>
          <a:xfrm>
            <a:off x="8658225" y="2628900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479754"/>
                </a:solidFill>
              </a:defRPr>
            </a:pPr>
            <a:r>
              <a:rPr sz="1650" b="0">
                <a:solidFill>
                  <a:srgbClr val="479754"/>
                </a:solidFill>
              </a:rPr>
              <a:t>●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4A9A33A-E844-4A8A-9393-257F94D679DF}"/>
              </a:ext>
            </a:extLst>
          </p:cNvPr>
          <p:cNvSpPr>
            <a:spLocks noGrp="1"/>
          </p:cNvSpPr>
          <p:nvPr/>
        </p:nvSpPr>
        <p:spPr>
          <a:xfrm>
            <a:off x="9391650" y="2524125"/>
            <a:ext cx="942975" cy="428625"/>
          </a:xfrm>
          <a:prstGeom prst="rect">
            <a:avLst/>
          </a:prstGeom>
          <a:solidFill>
            <a:srgbClr val="F1F5F5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E96DE39-14D5-4E55-AAD5-D2B074BB27AF}"/>
              </a:ext>
            </a:extLst>
          </p:cNvPr>
          <p:cNvSpPr>
            <a:spLocks noGrp="1"/>
          </p:cNvSpPr>
          <p:nvPr/>
        </p:nvSpPr>
        <p:spPr>
          <a:xfrm>
            <a:off x="9801225" y="2628900"/>
            <a:ext cx="5143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56636C"/>
                </a:solidFill>
              </a:defRPr>
            </a:pPr>
            <a:r>
              <a:rPr sz="1650" b="0">
                <a:solidFill>
                  <a:srgbClr val="56636C"/>
                </a:solidFill>
              </a:rPr>
              <a:t>○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0AE4762-014B-42E0-8F76-0C4E11F00972}"/>
              </a:ext>
            </a:extLst>
          </p:cNvPr>
          <p:cNvSpPr>
            <a:spLocks noGrp="1"/>
          </p:cNvSpPr>
          <p:nvPr/>
        </p:nvSpPr>
        <p:spPr>
          <a:xfrm>
            <a:off x="10334625" y="2524125"/>
            <a:ext cx="1438275" cy="428625"/>
          </a:xfrm>
          <a:prstGeom prst="rect">
            <a:avLst/>
          </a:prstGeom>
          <a:solidFill>
            <a:srgbClr val="F1F5F5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2167DE9-8887-4245-8F6A-BB8A9ACB3E39}"/>
              </a:ext>
            </a:extLst>
          </p:cNvPr>
          <p:cNvSpPr>
            <a:spLocks noGrp="1"/>
          </p:cNvSpPr>
          <p:nvPr/>
        </p:nvSpPr>
        <p:spPr>
          <a:xfrm>
            <a:off x="10744200" y="2628900"/>
            <a:ext cx="10096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56636C"/>
                </a:solidFill>
              </a:defRPr>
            </a:pPr>
            <a:r>
              <a:rPr sz="1650" b="0">
                <a:solidFill>
                  <a:srgbClr val="56636C"/>
                </a:solidFill>
              </a:rPr>
              <a:t>○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2A272BC-4E66-49DC-9F22-5C39A78DE5D0}"/>
              </a:ext>
            </a:extLst>
          </p:cNvPr>
          <p:cNvSpPr>
            <a:spLocks noGrp="1"/>
          </p:cNvSpPr>
          <p:nvPr/>
        </p:nvSpPr>
        <p:spPr>
          <a:xfrm>
            <a:off x="419100" y="2952750"/>
            <a:ext cx="4152900" cy="428625"/>
          </a:xfrm>
          <a:prstGeom prst="rect">
            <a:avLst/>
          </a:prstGeom>
          <a:solidFill>
            <a:srgbClr val="FFFFFF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274E53A-C93F-40C9-ACCB-024BDA0DC89C}"/>
              </a:ext>
            </a:extLst>
          </p:cNvPr>
          <p:cNvSpPr>
            <a:spLocks noGrp="1"/>
          </p:cNvSpPr>
          <p:nvPr/>
        </p:nvSpPr>
        <p:spPr>
          <a:xfrm>
            <a:off x="514350" y="3057525"/>
            <a:ext cx="40100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56636C"/>
                </a:solidFill>
              </a:defRPr>
            </a:pPr>
            <a:r>
              <a:rPr sz="1350" b="0">
                <a:solidFill>
                  <a:srgbClr val="56636C"/>
                </a:solidFill>
              </a:rPr>
              <a:t>Audit the Auditor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7402C9C-1696-4F0F-BC55-43CEC06CC944}"/>
              </a:ext>
            </a:extLst>
          </p:cNvPr>
          <p:cNvSpPr>
            <a:spLocks noGrp="1"/>
          </p:cNvSpPr>
          <p:nvPr/>
        </p:nvSpPr>
        <p:spPr>
          <a:xfrm>
            <a:off x="4572000" y="2952750"/>
            <a:ext cx="1123950" cy="428625"/>
          </a:xfrm>
          <a:prstGeom prst="rect">
            <a:avLst/>
          </a:prstGeom>
          <a:solidFill>
            <a:srgbClr val="FFFFFF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3523A45-57D6-4B45-BF31-E3818CA8401B}"/>
              </a:ext>
            </a:extLst>
          </p:cNvPr>
          <p:cNvSpPr>
            <a:spLocks noGrp="1"/>
          </p:cNvSpPr>
          <p:nvPr/>
        </p:nvSpPr>
        <p:spPr>
          <a:xfrm>
            <a:off x="4981575" y="3057525"/>
            <a:ext cx="6953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479754"/>
                </a:solidFill>
              </a:defRPr>
            </a:pPr>
            <a:r>
              <a:rPr sz="1650" b="0">
                <a:solidFill>
                  <a:srgbClr val="479754"/>
                </a:solidFill>
              </a:rPr>
              <a:t>●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1F589CD-7F20-45F5-946E-6BF6466B9E19}"/>
              </a:ext>
            </a:extLst>
          </p:cNvPr>
          <p:cNvSpPr>
            <a:spLocks noGrp="1"/>
          </p:cNvSpPr>
          <p:nvPr/>
        </p:nvSpPr>
        <p:spPr>
          <a:xfrm>
            <a:off x="5695950" y="2952750"/>
            <a:ext cx="1123950" cy="428625"/>
          </a:xfrm>
          <a:prstGeom prst="rect">
            <a:avLst/>
          </a:prstGeom>
          <a:solidFill>
            <a:srgbClr val="FFFFFF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80D5560-1399-4AAB-BDC3-3134512C3E18}"/>
              </a:ext>
            </a:extLst>
          </p:cNvPr>
          <p:cNvSpPr>
            <a:spLocks noGrp="1"/>
          </p:cNvSpPr>
          <p:nvPr/>
        </p:nvSpPr>
        <p:spPr>
          <a:xfrm>
            <a:off x="6105525" y="3057525"/>
            <a:ext cx="6953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479754"/>
                </a:solidFill>
              </a:defRPr>
            </a:pPr>
            <a:r>
              <a:rPr sz="1650" b="0">
                <a:solidFill>
                  <a:srgbClr val="479754"/>
                </a:solidFill>
              </a:rPr>
              <a:t>●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19BFACA-ADEB-41CE-98EA-86521E2DCD10}"/>
              </a:ext>
            </a:extLst>
          </p:cNvPr>
          <p:cNvSpPr>
            <a:spLocks noGrp="1"/>
          </p:cNvSpPr>
          <p:nvPr/>
        </p:nvSpPr>
        <p:spPr>
          <a:xfrm>
            <a:off x="6819900" y="2952750"/>
            <a:ext cx="1428750" cy="428625"/>
          </a:xfrm>
          <a:prstGeom prst="rect">
            <a:avLst/>
          </a:prstGeom>
          <a:solidFill>
            <a:srgbClr val="FFFFFF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9A2D87A-606E-4542-A00D-EB47048F5BAF}"/>
              </a:ext>
            </a:extLst>
          </p:cNvPr>
          <p:cNvSpPr>
            <a:spLocks noGrp="1"/>
          </p:cNvSpPr>
          <p:nvPr/>
        </p:nvSpPr>
        <p:spPr>
          <a:xfrm>
            <a:off x="7229475" y="3057525"/>
            <a:ext cx="10001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479754"/>
                </a:solidFill>
              </a:defRPr>
            </a:pPr>
            <a:r>
              <a:rPr sz="1650" b="0">
                <a:solidFill>
                  <a:srgbClr val="479754"/>
                </a:solidFill>
              </a:rPr>
              <a:t>●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8A5AF07-27EA-42C9-BFE5-98BD46C2E484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1143000" cy="428625"/>
          </a:xfrm>
          <a:prstGeom prst="rect">
            <a:avLst/>
          </a:prstGeom>
          <a:solidFill>
            <a:srgbClr val="FFFFFF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84DD97E-EDDB-448E-970B-E0EC9637DACF}"/>
              </a:ext>
            </a:extLst>
          </p:cNvPr>
          <p:cNvSpPr>
            <a:spLocks noGrp="1"/>
          </p:cNvSpPr>
          <p:nvPr/>
        </p:nvSpPr>
        <p:spPr>
          <a:xfrm>
            <a:off x="8658225" y="30575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479754"/>
                </a:solidFill>
              </a:defRPr>
            </a:pPr>
            <a:r>
              <a:rPr sz="1650" b="0">
                <a:solidFill>
                  <a:srgbClr val="479754"/>
                </a:solidFill>
              </a:rPr>
              <a:t>●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852583E-6A00-4363-B0E1-781CFC078E6F}"/>
              </a:ext>
            </a:extLst>
          </p:cNvPr>
          <p:cNvSpPr>
            <a:spLocks noGrp="1"/>
          </p:cNvSpPr>
          <p:nvPr/>
        </p:nvSpPr>
        <p:spPr>
          <a:xfrm>
            <a:off x="9391650" y="2952750"/>
            <a:ext cx="942975" cy="428625"/>
          </a:xfrm>
          <a:prstGeom prst="rect">
            <a:avLst/>
          </a:prstGeom>
          <a:solidFill>
            <a:srgbClr val="FFFFFF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6410C16-CFB2-4EDF-B991-EC05F43AA7E9}"/>
              </a:ext>
            </a:extLst>
          </p:cNvPr>
          <p:cNvSpPr>
            <a:spLocks noGrp="1"/>
          </p:cNvSpPr>
          <p:nvPr/>
        </p:nvSpPr>
        <p:spPr>
          <a:xfrm>
            <a:off x="9801225" y="3057525"/>
            <a:ext cx="5143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56636C"/>
                </a:solidFill>
              </a:defRPr>
            </a:pPr>
            <a:r>
              <a:rPr sz="1650" b="0">
                <a:solidFill>
                  <a:srgbClr val="56636C"/>
                </a:solidFill>
              </a:rPr>
              <a:t>○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9EC8DEA-3616-489E-B5D2-87725A9E0229}"/>
              </a:ext>
            </a:extLst>
          </p:cNvPr>
          <p:cNvSpPr>
            <a:spLocks noGrp="1"/>
          </p:cNvSpPr>
          <p:nvPr/>
        </p:nvSpPr>
        <p:spPr>
          <a:xfrm>
            <a:off x="10334625" y="2952750"/>
            <a:ext cx="1438275" cy="428625"/>
          </a:xfrm>
          <a:prstGeom prst="rect">
            <a:avLst/>
          </a:prstGeom>
          <a:solidFill>
            <a:srgbClr val="FFFFFF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1444CE4-5205-4829-8584-555CED4CD216}"/>
              </a:ext>
            </a:extLst>
          </p:cNvPr>
          <p:cNvSpPr>
            <a:spLocks noGrp="1"/>
          </p:cNvSpPr>
          <p:nvPr/>
        </p:nvSpPr>
        <p:spPr>
          <a:xfrm>
            <a:off x="10744200" y="3057525"/>
            <a:ext cx="10096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56636C"/>
                </a:solidFill>
              </a:defRPr>
            </a:pPr>
            <a:r>
              <a:rPr sz="1650" b="0">
                <a:solidFill>
                  <a:srgbClr val="56636C"/>
                </a:solidFill>
              </a:rPr>
              <a:t>○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0779203-86C9-4217-B46C-744901114CAC}"/>
              </a:ext>
            </a:extLst>
          </p:cNvPr>
          <p:cNvSpPr>
            <a:spLocks noGrp="1"/>
          </p:cNvSpPr>
          <p:nvPr/>
        </p:nvSpPr>
        <p:spPr>
          <a:xfrm>
            <a:off x="419100" y="3381375"/>
            <a:ext cx="4152900" cy="428625"/>
          </a:xfrm>
          <a:prstGeom prst="rect">
            <a:avLst/>
          </a:prstGeom>
          <a:solidFill>
            <a:srgbClr val="F1F5F5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2C00CF0-910B-489A-AFF7-0BBBA8FC6583}"/>
              </a:ext>
            </a:extLst>
          </p:cNvPr>
          <p:cNvSpPr>
            <a:spLocks noGrp="1"/>
          </p:cNvSpPr>
          <p:nvPr/>
        </p:nvSpPr>
        <p:spPr>
          <a:xfrm>
            <a:off x="514350" y="3486150"/>
            <a:ext cx="40100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56636C"/>
                </a:solidFill>
              </a:defRPr>
            </a:pPr>
            <a:r>
              <a:rPr sz="1350" b="0">
                <a:solidFill>
                  <a:srgbClr val="56636C"/>
                </a:solidFill>
              </a:rPr>
              <a:t>Automated Risk Score Investigator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D24363A-467B-4E68-BDF0-F26C7F5B8028}"/>
              </a:ext>
            </a:extLst>
          </p:cNvPr>
          <p:cNvSpPr>
            <a:spLocks noGrp="1"/>
          </p:cNvSpPr>
          <p:nvPr/>
        </p:nvSpPr>
        <p:spPr>
          <a:xfrm>
            <a:off x="4572000" y="3381375"/>
            <a:ext cx="1123950" cy="428625"/>
          </a:xfrm>
          <a:prstGeom prst="rect">
            <a:avLst/>
          </a:prstGeom>
          <a:solidFill>
            <a:srgbClr val="F1F5F5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6E7A3CD-C74E-4803-AD69-4C3082AD042B}"/>
              </a:ext>
            </a:extLst>
          </p:cNvPr>
          <p:cNvSpPr>
            <a:spLocks noGrp="1"/>
          </p:cNvSpPr>
          <p:nvPr/>
        </p:nvSpPr>
        <p:spPr>
          <a:xfrm>
            <a:off x="4981575" y="3486150"/>
            <a:ext cx="6953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56636C"/>
                </a:solidFill>
              </a:defRPr>
            </a:pPr>
            <a:r>
              <a:rPr sz="1650" b="0">
                <a:solidFill>
                  <a:srgbClr val="56636C"/>
                </a:solidFill>
              </a:rPr>
              <a:t>○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BD740C9-EB02-4DF7-9032-77B502700775}"/>
              </a:ext>
            </a:extLst>
          </p:cNvPr>
          <p:cNvSpPr>
            <a:spLocks noGrp="1"/>
          </p:cNvSpPr>
          <p:nvPr/>
        </p:nvSpPr>
        <p:spPr>
          <a:xfrm>
            <a:off x="5695950" y="3381375"/>
            <a:ext cx="1123950" cy="428625"/>
          </a:xfrm>
          <a:prstGeom prst="rect">
            <a:avLst/>
          </a:prstGeom>
          <a:solidFill>
            <a:srgbClr val="F1F5F5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F56E825-6512-44DE-8992-6A9F4A1A90D8}"/>
              </a:ext>
            </a:extLst>
          </p:cNvPr>
          <p:cNvSpPr>
            <a:spLocks noGrp="1"/>
          </p:cNvSpPr>
          <p:nvPr/>
        </p:nvSpPr>
        <p:spPr>
          <a:xfrm>
            <a:off x="6105525" y="3486150"/>
            <a:ext cx="6953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56636C"/>
                </a:solidFill>
              </a:defRPr>
            </a:pPr>
            <a:r>
              <a:rPr sz="1650" b="0">
                <a:solidFill>
                  <a:srgbClr val="56636C"/>
                </a:solidFill>
              </a:rPr>
              <a:t>○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5ABB6DE-244A-41E4-BD0D-91603B51FD31}"/>
              </a:ext>
            </a:extLst>
          </p:cNvPr>
          <p:cNvSpPr>
            <a:spLocks noGrp="1"/>
          </p:cNvSpPr>
          <p:nvPr/>
        </p:nvSpPr>
        <p:spPr>
          <a:xfrm>
            <a:off x="6819900" y="3381375"/>
            <a:ext cx="1428750" cy="428625"/>
          </a:xfrm>
          <a:prstGeom prst="rect">
            <a:avLst/>
          </a:prstGeom>
          <a:solidFill>
            <a:srgbClr val="F1F5F5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62C5968-D9C1-4A32-A70F-B5550452BEA1}"/>
              </a:ext>
            </a:extLst>
          </p:cNvPr>
          <p:cNvSpPr>
            <a:spLocks noGrp="1"/>
          </p:cNvSpPr>
          <p:nvPr/>
        </p:nvSpPr>
        <p:spPr>
          <a:xfrm>
            <a:off x="7229475" y="3486150"/>
            <a:ext cx="10001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479754"/>
                </a:solidFill>
              </a:defRPr>
            </a:pPr>
            <a:r>
              <a:rPr sz="1650" b="0">
                <a:solidFill>
                  <a:srgbClr val="479754"/>
                </a:solidFill>
              </a:rPr>
              <a:t>●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5438348-E4AA-4A82-9A99-16F2A4EE7577}"/>
              </a:ext>
            </a:extLst>
          </p:cNvPr>
          <p:cNvSpPr>
            <a:spLocks noGrp="1"/>
          </p:cNvSpPr>
          <p:nvPr/>
        </p:nvSpPr>
        <p:spPr>
          <a:xfrm>
            <a:off x="8248650" y="3381375"/>
            <a:ext cx="1143000" cy="428625"/>
          </a:xfrm>
          <a:prstGeom prst="rect">
            <a:avLst/>
          </a:prstGeom>
          <a:solidFill>
            <a:srgbClr val="F1F5F5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76062A3-71D0-4D91-976C-3485CC1E82FF}"/>
              </a:ext>
            </a:extLst>
          </p:cNvPr>
          <p:cNvSpPr>
            <a:spLocks noGrp="1"/>
          </p:cNvSpPr>
          <p:nvPr/>
        </p:nvSpPr>
        <p:spPr>
          <a:xfrm>
            <a:off x="8658225" y="3486150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479754"/>
                </a:solidFill>
              </a:defRPr>
            </a:pPr>
            <a:r>
              <a:rPr sz="1650" b="0">
                <a:solidFill>
                  <a:srgbClr val="479754"/>
                </a:solidFill>
              </a:rPr>
              <a:t>●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60C89FC-8E25-4AB4-8E2A-B406344F36E0}"/>
              </a:ext>
            </a:extLst>
          </p:cNvPr>
          <p:cNvSpPr>
            <a:spLocks noGrp="1"/>
          </p:cNvSpPr>
          <p:nvPr/>
        </p:nvSpPr>
        <p:spPr>
          <a:xfrm>
            <a:off x="9391650" y="3381375"/>
            <a:ext cx="942975" cy="428625"/>
          </a:xfrm>
          <a:prstGeom prst="rect">
            <a:avLst/>
          </a:prstGeom>
          <a:solidFill>
            <a:srgbClr val="F1F5F5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096366A-DEF6-4D8B-BC90-CE202A40BD97}"/>
              </a:ext>
            </a:extLst>
          </p:cNvPr>
          <p:cNvSpPr>
            <a:spLocks noGrp="1"/>
          </p:cNvSpPr>
          <p:nvPr/>
        </p:nvSpPr>
        <p:spPr>
          <a:xfrm>
            <a:off x="9801225" y="3486150"/>
            <a:ext cx="5143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56636C"/>
                </a:solidFill>
              </a:defRPr>
            </a:pPr>
            <a:r>
              <a:rPr sz="1650" b="0">
                <a:solidFill>
                  <a:srgbClr val="56636C"/>
                </a:solidFill>
              </a:rPr>
              <a:t>○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C8A3A0B-AD35-4520-A852-0583B9D16E28}"/>
              </a:ext>
            </a:extLst>
          </p:cNvPr>
          <p:cNvSpPr>
            <a:spLocks noGrp="1"/>
          </p:cNvSpPr>
          <p:nvPr/>
        </p:nvSpPr>
        <p:spPr>
          <a:xfrm>
            <a:off x="10334625" y="3381375"/>
            <a:ext cx="1438275" cy="428625"/>
          </a:xfrm>
          <a:prstGeom prst="rect">
            <a:avLst/>
          </a:prstGeom>
          <a:solidFill>
            <a:srgbClr val="F1F5F5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134916B-9A08-4805-9FC3-19156D3F42D9}"/>
              </a:ext>
            </a:extLst>
          </p:cNvPr>
          <p:cNvSpPr>
            <a:spLocks noGrp="1"/>
          </p:cNvSpPr>
          <p:nvPr/>
        </p:nvSpPr>
        <p:spPr>
          <a:xfrm>
            <a:off x="10744200" y="3486150"/>
            <a:ext cx="10096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56636C"/>
                </a:solidFill>
              </a:defRPr>
            </a:pPr>
            <a:r>
              <a:rPr sz="1650" b="0">
                <a:solidFill>
                  <a:srgbClr val="56636C"/>
                </a:solidFill>
              </a:rPr>
              <a:t>○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E2B6018-585B-4B6E-88FB-4D296D248E05}"/>
              </a:ext>
            </a:extLst>
          </p:cNvPr>
          <p:cNvSpPr>
            <a:spLocks noGrp="1"/>
          </p:cNvSpPr>
          <p:nvPr/>
        </p:nvSpPr>
        <p:spPr>
          <a:xfrm>
            <a:off x="419100" y="3810000"/>
            <a:ext cx="4152900" cy="428625"/>
          </a:xfrm>
          <a:prstGeom prst="rect">
            <a:avLst/>
          </a:prstGeom>
          <a:solidFill>
            <a:srgbClr val="FFFFFF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6F096FB-A121-4C4E-9B61-116C745548E7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40100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56636C"/>
                </a:solidFill>
              </a:defRPr>
            </a:pPr>
            <a:r>
              <a:rPr sz="1350" b="0">
                <a:solidFill>
                  <a:srgbClr val="56636C"/>
                </a:solidFill>
              </a:rPr>
              <a:t>Stars: performance investigation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CE5DFED-98A8-46DD-8CF3-45D3BD6FED47}"/>
              </a:ext>
            </a:extLst>
          </p:cNvPr>
          <p:cNvSpPr>
            <a:spLocks noGrp="1"/>
          </p:cNvSpPr>
          <p:nvPr/>
        </p:nvSpPr>
        <p:spPr>
          <a:xfrm>
            <a:off x="4572000" y="3810000"/>
            <a:ext cx="1123950" cy="428625"/>
          </a:xfrm>
          <a:prstGeom prst="rect">
            <a:avLst/>
          </a:prstGeom>
          <a:solidFill>
            <a:srgbClr val="FFFFFF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9B99E18-4DF8-4094-B159-969B6F558097}"/>
              </a:ext>
            </a:extLst>
          </p:cNvPr>
          <p:cNvSpPr>
            <a:spLocks noGrp="1"/>
          </p:cNvSpPr>
          <p:nvPr/>
        </p:nvSpPr>
        <p:spPr>
          <a:xfrm>
            <a:off x="4981575" y="3914775"/>
            <a:ext cx="6953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56636C"/>
                </a:solidFill>
              </a:defRPr>
            </a:pPr>
            <a:r>
              <a:rPr sz="1650" b="0">
                <a:solidFill>
                  <a:srgbClr val="56636C"/>
                </a:solidFill>
              </a:rPr>
              <a:t>○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D3DD62E-084E-498D-96EE-274F2FD57763}"/>
              </a:ext>
            </a:extLst>
          </p:cNvPr>
          <p:cNvSpPr>
            <a:spLocks noGrp="1"/>
          </p:cNvSpPr>
          <p:nvPr/>
        </p:nvSpPr>
        <p:spPr>
          <a:xfrm>
            <a:off x="5695950" y="3810000"/>
            <a:ext cx="1123950" cy="428625"/>
          </a:xfrm>
          <a:prstGeom prst="rect">
            <a:avLst/>
          </a:prstGeom>
          <a:solidFill>
            <a:srgbClr val="FFFFFF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34E46BE-EFD7-468D-A966-9283EC60C158}"/>
              </a:ext>
            </a:extLst>
          </p:cNvPr>
          <p:cNvSpPr>
            <a:spLocks noGrp="1"/>
          </p:cNvSpPr>
          <p:nvPr/>
        </p:nvSpPr>
        <p:spPr>
          <a:xfrm>
            <a:off x="6105525" y="3914775"/>
            <a:ext cx="6953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56636C"/>
                </a:solidFill>
              </a:defRPr>
            </a:pPr>
            <a:r>
              <a:rPr sz="1650" b="0">
                <a:solidFill>
                  <a:srgbClr val="56636C"/>
                </a:solidFill>
              </a:rPr>
              <a:t>○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71B44AA-33FE-4ADE-A96F-4A575C29A759}"/>
              </a:ext>
            </a:extLst>
          </p:cNvPr>
          <p:cNvSpPr>
            <a:spLocks noGrp="1"/>
          </p:cNvSpPr>
          <p:nvPr/>
        </p:nvSpPr>
        <p:spPr>
          <a:xfrm>
            <a:off x="6819900" y="3810000"/>
            <a:ext cx="1428750" cy="428625"/>
          </a:xfrm>
          <a:prstGeom prst="rect">
            <a:avLst/>
          </a:prstGeom>
          <a:solidFill>
            <a:srgbClr val="FFFFFF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92EF445-15E7-46CA-A6B8-CE6D27262E3B}"/>
              </a:ext>
            </a:extLst>
          </p:cNvPr>
          <p:cNvSpPr>
            <a:spLocks noGrp="1"/>
          </p:cNvSpPr>
          <p:nvPr/>
        </p:nvSpPr>
        <p:spPr>
          <a:xfrm>
            <a:off x="7229475" y="3914775"/>
            <a:ext cx="10001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479754"/>
                </a:solidFill>
              </a:defRPr>
            </a:pPr>
            <a:r>
              <a:rPr sz="1650" b="0">
                <a:solidFill>
                  <a:srgbClr val="479754"/>
                </a:solidFill>
              </a:rPr>
              <a:t>●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376710C-FE46-4CE2-91B6-5BD548B53575}"/>
              </a:ext>
            </a:extLst>
          </p:cNvPr>
          <p:cNvSpPr>
            <a:spLocks noGrp="1"/>
          </p:cNvSpPr>
          <p:nvPr/>
        </p:nvSpPr>
        <p:spPr>
          <a:xfrm>
            <a:off x="8248650" y="3810000"/>
            <a:ext cx="1143000" cy="428625"/>
          </a:xfrm>
          <a:prstGeom prst="rect">
            <a:avLst/>
          </a:prstGeom>
          <a:solidFill>
            <a:srgbClr val="FFFFFF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DF4C226-268C-4DF7-A0E9-C8CB340DC4D7}"/>
              </a:ext>
            </a:extLst>
          </p:cNvPr>
          <p:cNvSpPr>
            <a:spLocks noGrp="1"/>
          </p:cNvSpPr>
          <p:nvPr/>
        </p:nvSpPr>
        <p:spPr>
          <a:xfrm>
            <a:off x="8658225" y="391477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479754"/>
                </a:solidFill>
              </a:defRPr>
            </a:pPr>
            <a:r>
              <a:rPr sz="1650" b="0">
                <a:solidFill>
                  <a:srgbClr val="479754"/>
                </a:solidFill>
              </a:rPr>
              <a:t>●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926625D-55EA-406C-A45A-751F7B49DA44}"/>
              </a:ext>
            </a:extLst>
          </p:cNvPr>
          <p:cNvSpPr>
            <a:spLocks noGrp="1"/>
          </p:cNvSpPr>
          <p:nvPr/>
        </p:nvSpPr>
        <p:spPr>
          <a:xfrm>
            <a:off x="9391650" y="3810000"/>
            <a:ext cx="942975" cy="428625"/>
          </a:xfrm>
          <a:prstGeom prst="rect">
            <a:avLst/>
          </a:prstGeom>
          <a:solidFill>
            <a:srgbClr val="FFFFFF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19F6E50-4D82-4C34-8E4C-76114C73C698}"/>
              </a:ext>
            </a:extLst>
          </p:cNvPr>
          <p:cNvSpPr>
            <a:spLocks noGrp="1"/>
          </p:cNvSpPr>
          <p:nvPr/>
        </p:nvSpPr>
        <p:spPr>
          <a:xfrm>
            <a:off x="9801225" y="3914775"/>
            <a:ext cx="5143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56636C"/>
                </a:solidFill>
              </a:defRPr>
            </a:pPr>
            <a:r>
              <a:rPr sz="1650" b="0">
                <a:solidFill>
                  <a:srgbClr val="56636C"/>
                </a:solidFill>
              </a:rPr>
              <a:t>○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DCDEDB9-1F0D-4930-9445-C06E196D1C85}"/>
              </a:ext>
            </a:extLst>
          </p:cNvPr>
          <p:cNvSpPr>
            <a:spLocks noGrp="1"/>
          </p:cNvSpPr>
          <p:nvPr/>
        </p:nvSpPr>
        <p:spPr>
          <a:xfrm>
            <a:off x="10334625" y="3810000"/>
            <a:ext cx="1438275" cy="428625"/>
          </a:xfrm>
          <a:prstGeom prst="rect">
            <a:avLst/>
          </a:prstGeom>
          <a:solidFill>
            <a:srgbClr val="FFFFFF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0D6CAD3-D96F-47A5-963C-D5696BF726A0}"/>
              </a:ext>
            </a:extLst>
          </p:cNvPr>
          <p:cNvSpPr>
            <a:spLocks noGrp="1"/>
          </p:cNvSpPr>
          <p:nvPr/>
        </p:nvSpPr>
        <p:spPr>
          <a:xfrm>
            <a:off x="10744200" y="3914775"/>
            <a:ext cx="10096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56636C"/>
                </a:solidFill>
              </a:defRPr>
            </a:pPr>
            <a:r>
              <a:rPr sz="1650" b="0">
                <a:solidFill>
                  <a:srgbClr val="56636C"/>
                </a:solidFill>
              </a:rPr>
              <a:t>○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646F6F3-A2DD-4E50-A47B-CBFDCE774001}"/>
              </a:ext>
            </a:extLst>
          </p:cNvPr>
          <p:cNvSpPr>
            <a:spLocks noGrp="1"/>
          </p:cNvSpPr>
          <p:nvPr/>
        </p:nvSpPr>
        <p:spPr>
          <a:xfrm>
            <a:off x="419100" y="4238625"/>
            <a:ext cx="4152900" cy="428625"/>
          </a:xfrm>
          <a:prstGeom prst="rect">
            <a:avLst/>
          </a:prstGeom>
          <a:solidFill>
            <a:srgbClr val="F1F5F5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B55032A-4911-4CFB-9254-87ECA13B8014}"/>
              </a:ext>
            </a:extLst>
          </p:cNvPr>
          <p:cNvSpPr>
            <a:spLocks noGrp="1"/>
          </p:cNvSpPr>
          <p:nvPr/>
        </p:nvSpPr>
        <p:spPr>
          <a:xfrm>
            <a:off x="514350" y="4343400"/>
            <a:ext cx="40100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56636C"/>
                </a:solidFill>
              </a:defRPr>
            </a:pPr>
            <a:r>
              <a:rPr sz="1350" b="0">
                <a:solidFill>
                  <a:srgbClr val="56636C"/>
                </a:solidFill>
              </a:rPr>
              <a:t>Stars: clinical evidence detection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75D7FD7-20FF-469D-8F67-E132459FF977}"/>
              </a:ext>
            </a:extLst>
          </p:cNvPr>
          <p:cNvSpPr>
            <a:spLocks noGrp="1"/>
          </p:cNvSpPr>
          <p:nvPr/>
        </p:nvSpPr>
        <p:spPr>
          <a:xfrm>
            <a:off x="4572000" y="4238625"/>
            <a:ext cx="1123950" cy="428625"/>
          </a:xfrm>
          <a:prstGeom prst="rect">
            <a:avLst/>
          </a:prstGeom>
          <a:solidFill>
            <a:srgbClr val="F1F5F5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42D3A73-262A-4C88-B483-D0A71ADD3867}"/>
              </a:ext>
            </a:extLst>
          </p:cNvPr>
          <p:cNvSpPr>
            <a:spLocks noGrp="1"/>
          </p:cNvSpPr>
          <p:nvPr/>
        </p:nvSpPr>
        <p:spPr>
          <a:xfrm>
            <a:off x="4981575" y="4343400"/>
            <a:ext cx="6953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479754"/>
                </a:solidFill>
              </a:defRPr>
            </a:pPr>
            <a:r>
              <a:rPr sz="1650" b="0">
                <a:solidFill>
                  <a:srgbClr val="479754"/>
                </a:solidFill>
              </a:rPr>
              <a:t>●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797F54EC-64DC-437B-98B7-7FCAAF3A051B}"/>
              </a:ext>
            </a:extLst>
          </p:cNvPr>
          <p:cNvSpPr>
            <a:spLocks noGrp="1"/>
          </p:cNvSpPr>
          <p:nvPr/>
        </p:nvSpPr>
        <p:spPr>
          <a:xfrm>
            <a:off x="5695950" y="4238625"/>
            <a:ext cx="1123950" cy="428625"/>
          </a:xfrm>
          <a:prstGeom prst="rect">
            <a:avLst/>
          </a:prstGeom>
          <a:solidFill>
            <a:srgbClr val="F1F5F5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FB03D49-64E6-4186-A74C-DD979E8809F0}"/>
              </a:ext>
            </a:extLst>
          </p:cNvPr>
          <p:cNvSpPr>
            <a:spLocks noGrp="1"/>
          </p:cNvSpPr>
          <p:nvPr/>
        </p:nvSpPr>
        <p:spPr>
          <a:xfrm>
            <a:off x="6105525" y="4343400"/>
            <a:ext cx="6953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479754"/>
                </a:solidFill>
              </a:defRPr>
            </a:pPr>
            <a:r>
              <a:rPr sz="1650" b="0">
                <a:solidFill>
                  <a:srgbClr val="479754"/>
                </a:solidFill>
              </a:rPr>
              <a:t>●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025570C-09E1-4D56-A6D7-A1DD981D5029}"/>
              </a:ext>
            </a:extLst>
          </p:cNvPr>
          <p:cNvSpPr>
            <a:spLocks noGrp="1"/>
          </p:cNvSpPr>
          <p:nvPr/>
        </p:nvSpPr>
        <p:spPr>
          <a:xfrm>
            <a:off x="6819900" y="4238625"/>
            <a:ext cx="1428750" cy="428625"/>
          </a:xfrm>
          <a:prstGeom prst="rect">
            <a:avLst/>
          </a:prstGeom>
          <a:solidFill>
            <a:srgbClr val="F1F5F5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72BCAD2-A66B-4067-A70B-A802C1FBA7EF}"/>
              </a:ext>
            </a:extLst>
          </p:cNvPr>
          <p:cNvSpPr>
            <a:spLocks noGrp="1"/>
          </p:cNvSpPr>
          <p:nvPr/>
        </p:nvSpPr>
        <p:spPr>
          <a:xfrm>
            <a:off x="7229475" y="4343400"/>
            <a:ext cx="10001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479754"/>
                </a:solidFill>
              </a:defRPr>
            </a:pPr>
            <a:r>
              <a:rPr sz="1650" b="0">
                <a:solidFill>
                  <a:srgbClr val="479754"/>
                </a:solidFill>
              </a:rPr>
              <a:t>●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2478A47-C2A3-4137-BE0F-624D67268B3F}"/>
              </a:ext>
            </a:extLst>
          </p:cNvPr>
          <p:cNvSpPr>
            <a:spLocks noGrp="1"/>
          </p:cNvSpPr>
          <p:nvPr/>
        </p:nvSpPr>
        <p:spPr>
          <a:xfrm>
            <a:off x="8248650" y="4238625"/>
            <a:ext cx="1143000" cy="428625"/>
          </a:xfrm>
          <a:prstGeom prst="rect">
            <a:avLst/>
          </a:prstGeom>
          <a:solidFill>
            <a:srgbClr val="F1F5F5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073F5D0-0F57-4CE8-8164-CCC2F13E7ED9}"/>
              </a:ext>
            </a:extLst>
          </p:cNvPr>
          <p:cNvSpPr>
            <a:spLocks noGrp="1"/>
          </p:cNvSpPr>
          <p:nvPr/>
        </p:nvSpPr>
        <p:spPr>
          <a:xfrm>
            <a:off x="8658225" y="4343400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479754"/>
                </a:solidFill>
              </a:defRPr>
            </a:pPr>
            <a:r>
              <a:rPr sz="1650" b="0">
                <a:solidFill>
                  <a:srgbClr val="479754"/>
                </a:solidFill>
              </a:rPr>
              <a:t>●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CA748E1-EF62-4B98-8FA0-63BC2E01D90A}"/>
              </a:ext>
            </a:extLst>
          </p:cNvPr>
          <p:cNvSpPr>
            <a:spLocks noGrp="1"/>
          </p:cNvSpPr>
          <p:nvPr/>
        </p:nvSpPr>
        <p:spPr>
          <a:xfrm>
            <a:off x="9391650" y="4238625"/>
            <a:ext cx="942975" cy="428625"/>
          </a:xfrm>
          <a:prstGeom prst="rect">
            <a:avLst/>
          </a:prstGeom>
          <a:solidFill>
            <a:srgbClr val="F1F5F5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CF4AA4B-D791-4FC6-8A8F-68565C13A72E}"/>
              </a:ext>
            </a:extLst>
          </p:cNvPr>
          <p:cNvSpPr>
            <a:spLocks noGrp="1"/>
          </p:cNvSpPr>
          <p:nvPr/>
        </p:nvSpPr>
        <p:spPr>
          <a:xfrm>
            <a:off x="9801225" y="4343400"/>
            <a:ext cx="5143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56636C"/>
                </a:solidFill>
              </a:defRPr>
            </a:pPr>
            <a:r>
              <a:rPr sz="1650" b="0">
                <a:solidFill>
                  <a:srgbClr val="56636C"/>
                </a:solidFill>
              </a:rPr>
              <a:t>○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A05D7BA-AF70-42F9-B74C-F12B0BDD853F}"/>
              </a:ext>
            </a:extLst>
          </p:cNvPr>
          <p:cNvSpPr>
            <a:spLocks noGrp="1"/>
          </p:cNvSpPr>
          <p:nvPr/>
        </p:nvSpPr>
        <p:spPr>
          <a:xfrm>
            <a:off x="10334625" y="4238625"/>
            <a:ext cx="1438275" cy="428625"/>
          </a:xfrm>
          <a:prstGeom prst="rect">
            <a:avLst/>
          </a:prstGeom>
          <a:solidFill>
            <a:srgbClr val="F1F5F5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BD52B88-90C8-45F9-922F-7EE0D6D8DB7F}"/>
              </a:ext>
            </a:extLst>
          </p:cNvPr>
          <p:cNvSpPr>
            <a:spLocks noGrp="1"/>
          </p:cNvSpPr>
          <p:nvPr/>
        </p:nvSpPr>
        <p:spPr>
          <a:xfrm>
            <a:off x="10744200" y="4343400"/>
            <a:ext cx="10096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56636C"/>
                </a:solidFill>
              </a:defRPr>
            </a:pPr>
            <a:r>
              <a:rPr sz="1650" b="0">
                <a:solidFill>
                  <a:srgbClr val="56636C"/>
                </a:solidFill>
              </a:rPr>
              <a:t>○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DDB5F26-D389-4BDF-83DC-B9D81D912366}"/>
              </a:ext>
            </a:extLst>
          </p:cNvPr>
          <p:cNvSpPr>
            <a:spLocks noGrp="1"/>
          </p:cNvSpPr>
          <p:nvPr/>
        </p:nvSpPr>
        <p:spPr>
          <a:xfrm>
            <a:off x="419100" y="4667250"/>
            <a:ext cx="4152900" cy="428625"/>
          </a:xfrm>
          <a:prstGeom prst="rect">
            <a:avLst/>
          </a:prstGeom>
          <a:solidFill>
            <a:srgbClr val="FFFFFF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0CC8A1AA-AC41-4D8E-9D1E-6DD6952F2684}"/>
              </a:ext>
            </a:extLst>
          </p:cNvPr>
          <p:cNvSpPr>
            <a:spLocks noGrp="1"/>
          </p:cNvSpPr>
          <p:nvPr/>
        </p:nvSpPr>
        <p:spPr>
          <a:xfrm>
            <a:off x="514350" y="4772025"/>
            <a:ext cx="40100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56636C"/>
                </a:solidFill>
              </a:defRPr>
            </a:pPr>
            <a:r>
              <a:rPr sz="1350" b="0">
                <a:solidFill>
                  <a:srgbClr val="56636C"/>
                </a:solidFill>
              </a:rPr>
              <a:t>Provider Behavior Profiling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78B370E-3E71-4BB7-9A43-11931075F7CC}"/>
              </a:ext>
            </a:extLst>
          </p:cNvPr>
          <p:cNvSpPr>
            <a:spLocks noGrp="1"/>
          </p:cNvSpPr>
          <p:nvPr/>
        </p:nvSpPr>
        <p:spPr>
          <a:xfrm>
            <a:off x="4572000" y="4667250"/>
            <a:ext cx="1123950" cy="428625"/>
          </a:xfrm>
          <a:prstGeom prst="rect">
            <a:avLst/>
          </a:prstGeom>
          <a:solidFill>
            <a:srgbClr val="FFFFFF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6DBA550-904C-4ADD-9F4D-5AFD66F90878}"/>
              </a:ext>
            </a:extLst>
          </p:cNvPr>
          <p:cNvSpPr>
            <a:spLocks noGrp="1"/>
          </p:cNvSpPr>
          <p:nvPr/>
        </p:nvSpPr>
        <p:spPr>
          <a:xfrm>
            <a:off x="4981575" y="4772025"/>
            <a:ext cx="6953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56636C"/>
                </a:solidFill>
              </a:defRPr>
            </a:pPr>
            <a:r>
              <a:rPr sz="1650" b="0">
                <a:solidFill>
                  <a:srgbClr val="56636C"/>
                </a:solidFill>
              </a:rPr>
              <a:t>○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A41EE10-4CA5-42F5-8CFF-A5EA3995E511}"/>
              </a:ext>
            </a:extLst>
          </p:cNvPr>
          <p:cNvSpPr>
            <a:spLocks noGrp="1"/>
          </p:cNvSpPr>
          <p:nvPr/>
        </p:nvSpPr>
        <p:spPr>
          <a:xfrm>
            <a:off x="5695950" y="4667250"/>
            <a:ext cx="1123950" cy="428625"/>
          </a:xfrm>
          <a:prstGeom prst="rect">
            <a:avLst/>
          </a:prstGeom>
          <a:solidFill>
            <a:srgbClr val="FFFFFF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45EF5A4-DDA0-4E62-AF76-0ECEA5C1C312}"/>
              </a:ext>
            </a:extLst>
          </p:cNvPr>
          <p:cNvSpPr>
            <a:spLocks noGrp="1"/>
          </p:cNvSpPr>
          <p:nvPr/>
        </p:nvSpPr>
        <p:spPr>
          <a:xfrm>
            <a:off x="6105525" y="4772025"/>
            <a:ext cx="6953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56636C"/>
                </a:solidFill>
              </a:defRPr>
            </a:pPr>
            <a:r>
              <a:rPr sz="1650" b="0">
                <a:solidFill>
                  <a:srgbClr val="56636C"/>
                </a:solidFill>
              </a:rPr>
              <a:t>○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6325291-6E40-49F6-A3B3-664F30F99D1D}"/>
              </a:ext>
            </a:extLst>
          </p:cNvPr>
          <p:cNvSpPr>
            <a:spLocks noGrp="1"/>
          </p:cNvSpPr>
          <p:nvPr/>
        </p:nvSpPr>
        <p:spPr>
          <a:xfrm>
            <a:off x="6819900" y="4667250"/>
            <a:ext cx="1428750" cy="428625"/>
          </a:xfrm>
          <a:prstGeom prst="rect">
            <a:avLst/>
          </a:prstGeom>
          <a:solidFill>
            <a:srgbClr val="FFFFFF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002601C-2C06-4FE8-84F3-5D34357AD433}"/>
              </a:ext>
            </a:extLst>
          </p:cNvPr>
          <p:cNvSpPr>
            <a:spLocks noGrp="1"/>
          </p:cNvSpPr>
          <p:nvPr/>
        </p:nvSpPr>
        <p:spPr>
          <a:xfrm>
            <a:off x="7229475" y="4772025"/>
            <a:ext cx="10001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479754"/>
                </a:solidFill>
              </a:defRPr>
            </a:pPr>
            <a:r>
              <a:rPr sz="1650" b="0">
                <a:solidFill>
                  <a:srgbClr val="479754"/>
                </a:solidFill>
              </a:rPr>
              <a:t>●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A996F375-0E34-4EB7-A170-C381D3F1C67F}"/>
              </a:ext>
            </a:extLst>
          </p:cNvPr>
          <p:cNvSpPr>
            <a:spLocks noGrp="1"/>
          </p:cNvSpPr>
          <p:nvPr/>
        </p:nvSpPr>
        <p:spPr>
          <a:xfrm>
            <a:off x="8248650" y="4667250"/>
            <a:ext cx="1143000" cy="428625"/>
          </a:xfrm>
          <a:prstGeom prst="rect">
            <a:avLst/>
          </a:prstGeom>
          <a:solidFill>
            <a:srgbClr val="FFFFFF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91D1C03F-0F38-4A49-8D57-D5EBE9D62289}"/>
              </a:ext>
            </a:extLst>
          </p:cNvPr>
          <p:cNvSpPr>
            <a:spLocks noGrp="1"/>
          </p:cNvSpPr>
          <p:nvPr/>
        </p:nvSpPr>
        <p:spPr>
          <a:xfrm>
            <a:off x="8658225" y="47720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479754"/>
                </a:solidFill>
              </a:defRPr>
            </a:pPr>
            <a:r>
              <a:rPr sz="1650" b="0">
                <a:solidFill>
                  <a:srgbClr val="479754"/>
                </a:solidFill>
              </a:rPr>
              <a:t>●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14EFB49-683B-4BA3-9081-E843BDD489C3}"/>
              </a:ext>
            </a:extLst>
          </p:cNvPr>
          <p:cNvSpPr>
            <a:spLocks noGrp="1"/>
          </p:cNvSpPr>
          <p:nvPr/>
        </p:nvSpPr>
        <p:spPr>
          <a:xfrm>
            <a:off x="9391650" y="4667250"/>
            <a:ext cx="942975" cy="428625"/>
          </a:xfrm>
          <a:prstGeom prst="rect">
            <a:avLst/>
          </a:prstGeom>
          <a:solidFill>
            <a:srgbClr val="FFFFFF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787EE01C-38EE-418F-8113-DD65D4EA2A8B}"/>
              </a:ext>
            </a:extLst>
          </p:cNvPr>
          <p:cNvSpPr>
            <a:spLocks noGrp="1"/>
          </p:cNvSpPr>
          <p:nvPr/>
        </p:nvSpPr>
        <p:spPr>
          <a:xfrm>
            <a:off x="9801225" y="4772025"/>
            <a:ext cx="5143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479754"/>
                </a:solidFill>
              </a:defRPr>
            </a:pPr>
            <a:r>
              <a:rPr sz="1650" b="0">
                <a:solidFill>
                  <a:srgbClr val="479754"/>
                </a:solidFill>
              </a:rPr>
              <a:t>●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B784F1B1-B5FF-404C-8F59-EE90930F10BF}"/>
              </a:ext>
            </a:extLst>
          </p:cNvPr>
          <p:cNvSpPr>
            <a:spLocks noGrp="1"/>
          </p:cNvSpPr>
          <p:nvPr/>
        </p:nvSpPr>
        <p:spPr>
          <a:xfrm>
            <a:off x="10334625" y="4667250"/>
            <a:ext cx="1438275" cy="428625"/>
          </a:xfrm>
          <a:prstGeom prst="rect">
            <a:avLst/>
          </a:prstGeom>
          <a:solidFill>
            <a:srgbClr val="FFFFFF"/>
          </a:solidFill>
          <a:ln w="4763">
            <a:solidFill>
              <a:srgbClr val="E2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778CE575-FEE1-4F20-9CC3-B84C7A525CCB}"/>
              </a:ext>
            </a:extLst>
          </p:cNvPr>
          <p:cNvSpPr>
            <a:spLocks noGrp="1"/>
          </p:cNvSpPr>
          <p:nvPr/>
        </p:nvSpPr>
        <p:spPr>
          <a:xfrm>
            <a:off x="10744200" y="4772025"/>
            <a:ext cx="10096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56636C"/>
                </a:solidFill>
              </a:defRPr>
            </a:pPr>
            <a:r>
              <a:rPr sz="1650" b="0">
                <a:solidFill>
                  <a:srgbClr val="56636C"/>
                </a:solidFill>
              </a:rPr>
              <a:t>○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5932FB06-D43B-41D0-AE2A-B27E1BD7D581}"/>
              </a:ext>
            </a:extLst>
          </p:cNvPr>
          <p:cNvSpPr>
            <a:spLocks noGrp="1"/>
          </p:cNvSpPr>
          <p:nvPr/>
        </p:nvSpPr>
        <p:spPr>
          <a:xfrm>
            <a:off x="457200" y="5286375"/>
            <a:ext cx="1128712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6636C"/>
                </a:solidFill>
              </a:defRPr>
            </a:pPr>
            <a:r>
              <a:rPr sz="1275" b="0">
                <a:solidFill>
                  <a:srgbClr val="56636C"/>
                </a:solidFill>
              </a:rPr>
              <a:t>Docs = extraction / evidence. Rules = deterministic checks. ML = predictive / clustering models.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832F780E-9617-48CA-9695-929334FB9A67}"/>
              </a:ext>
            </a:extLst>
          </p:cNvPr>
          <p:cNvSpPr>
            <a:spLocks noGrp="1"/>
          </p:cNvSpPr>
          <p:nvPr/>
        </p:nvSpPr>
        <p:spPr>
          <a:xfrm>
            <a:off x="457200" y="5562600"/>
            <a:ext cx="1128712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6636C"/>
                </a:solidFill>
              </a:defRPr>
            </a:pPr>
            <a:r>
              <a:rPr sz="1275" b="0">
                <a:solidFill>
                  <a:srgbClr val="56636C"/>
                </a:solidFill>
              </a:rPr>
              <a:t>Embeddings are an implementation option for RAG and similarity, not an additional universal dependency.</a:t>
            </a:r>
          </a:p>
        </p:txBody>
      </p:sp>
    </p:spTree>
    <p:extLst>
      <p:ext uri="{BB962C8B-B14F-4D97-AF65-F5344CB8AC3E}">
        <p14:creationId xmlns:p14="http://schemas.microsoft.com/office/powerpoint/2010/main" val="1534620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A3702F3-F964-4247-B9FB-8C1CEBA7402B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113538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000" b="0">
                <a:solidFill>
                  <a:srgbClr val="172B3A"/>
                </a:solidFill>
              </a:defRPr>
            </a:pPr>
            <a:r>
              <a:rPr sz="3000" b="0">
                <a:solidFill>
                  <a:srgbClr val="172B3A"/>
                </a:solidFill>
              </a:rPr>
              <a:t>Clinical Documentation Intelligence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B8E1FB-C9BF-4D38-BA54-BC94BB09ADD8}"/>
              </a:ext>
            </a:extLst>
          </p:cNvPr>
          <p:cNvSpPr>
            <a:spLocks noGrp="1"/>
          </p:cNvSpPr>
          <p:nvPr/>
        </p:nvSpPr>
        <p:spPr>
          <a:xfrm>
            <a:off x="438150" y="971550"/>
            <a:ext cx="113157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0">
                <a:solidFill>
                  <a:srgbClr val="56636C"/>
                </a:solidFill>
              </a:defRPr>
            </a:pPr>
            <a:r>
              <a:rPr sz="1425" b="0">
                <a:solidFill>
                  <a:srgbClr val="56636C"/>
                </a:solidFill>
              </a:rPr>
              <a:t>Convert scanned, handwritten, and digital records into structured, traceable clinical evidence.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78A773-B872-4DAC-92CB-1CE83A730B62}"/>
              </a:ext>
            </a:extLst>
          </p:cNvPr>
          <p:cNvSpPr>
            <a:spLocks noGrp="1"/>
          </p:cNvSpPr>
          <p:nvPr/>
        </p:nvSpPr>
        <p:spPr>
          <a:xfrm>
            <a:off x="0" y="5934075"/>
            <a:ext cx="12192000" cy="438150"/>
          </a:xfrm>
          <a:prstGeom prst="rect">
            <a:avLst/>
          </a:prstGeom>
          <a:solidFill>
            <a:srgbClr val="E8EAE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ED5F1F-43A4-45E9-A42E-1AC9B75D9BF6}"/>
              </a:ext>
            </a:extLst>
          </p:cNvPr>
          <p:cNvSpPr>
            <a:spLocks noGrp="1"/>
          </p:cNvSpPr>
          <p:nvPr/>
        </p:nvSpPr>
        <p:spPr>
          <a:xfrm>
            <a:off x="381000" y="6029325"/>
            <a:ext cx="11430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Enabled applications: Audit the Auditor | Stars clinical evidence detection | Future clinical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41BA30-E3B8-4F89-877E-5DD0F124784E}"/>
              </a:ext>
            </a:extLst>
          </p:cNvPr>
          <p:cNvSpPr>
            <a:spLocks noGrp="1"/>
          </p:cNvSpPr>
          <p:nvPr/>
        </p:nvSpPr>
        <p:spPr>
          <a:xfrm>
            <a:off x="457200" y="6524625"/>
            <a:ext cx="6286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353991-562D-47C4-B066-2BC54C82B2AA}"/>
              </a:ext>
            </a:extLst>
          </p:cNvPr>
          <p:cNvSpPr>
            <a:spLocks noGrp="1"/>
          </p:cNvSpPr>
          <p:nvPr/>
        </p:nvSpPr>
        <p:spPr>
          <a:xfrm>
            <a:off x="7620000" y="65151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F0AF91-18AA-43CC-AB85-24CCD9A9D059}"/>
              </a:ext>
            </a:extLst>
          </p:cNvPr>
          <p:cNvSpPr>
            <a:spLocks noGrp="1"/>
          </p:cNvSpPr>
          <p:nvPr/>
        </p:nvSpPr>
        <p:spPr>
          <a:xfrm>
            <a:off x="10334625" y="646747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45302D-8351-4885-89FE-D43BE7D15243}"/>
              </a:ext>
            </a:extLst>
          </p:cNvPr>
          <p:cNvSpPr>
            <a:spLocks noGrp="1"/>
          </p:cNvSpPr>
          <p:nvPr/>
        </p:nvSpPr>
        <p:spPr>
          <a:xfrm>
            <a:off x="419100" y="1714500"/>
            <a:ext cx="3657600" cy="3895725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D18A39"/>
                </a:gs>
                <a:gs pos="50000">
                  <a:srgbClr val="E8EDF0"/>
                </a:gs>
                <a:gs pos="100000">
                  <a:srgbClr val="D18A39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3F38A8-86D8-49E8-BBFE-46C694E2AA67}"/>
              </a:ext>
            </a:extLst>
          </p:cNvPr>
          <p:cNvSpPr>
            <a:spLocks noGrp="1"/>
          </p:cNvSpPr>
          <p:nvPr/>
        </p:nvSpPr>
        <p:spPr>
          <a:xfrm>
            <a:off x="628650" y="1952625"/>
            <a:ext cx="3238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0">
                <a:solidFill>
                  <a:srgbClr val="D18A39"/>
                </a:solidFill>
              </a:defRPr>
            </a:pPr>
            <a:r>
              <a:rPr sz="2100" b="0">
                <a:solidFill>
                  <a:srgbClr val="D18A39"/>
                </a:solidFill>
              </a:rPr>
              <a:t>Problem Statement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545076-6F47-4CD0-8250-1FD60FC15E05}"/>
              </a:ext>
            </a:extLst>
          </p:cNvPr>
          <p:cNvSpPr>
            <a:spLocks noGrp="1"/>
          </p:cNvSpPr>
          <p:nvPr/>
        </p:nvSpPr>
        <p:spPr>
          <a:xfrm>
            <a:off x="638175" y="2628900"/>
            <a:ext cx="3209925" cy="695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Manual abstraction consumes time.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B14724-1B51-4853-8C66-12E0508F8294}"/>
              </a:ext>
            </a:extLst>
          </p:cNvPr>
          <p:cNvSpPr>
            <a:spLocks noGrp="1"/>
          </p:cNvSpPr>
          <p:nvPr/>
        </p:nvSpPr>
        <p:spPr>
          <a:xfrm>
            <a:off x="638175" y="3448050"/>
            <a:ext cx="3209925" cy="695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Document quality and formats vary.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4FD5F1-7546-4E00-9D6C-87320DA18311}"/>
              </a:ext>
            </a:extLst>
          </p:cNvPr>
          <p:cNvSpPr>
            <a:spLocks noGrp="1"/>
          </p:cNvSpPr>
          <p:nvPr/>
        </p:nvSpPr>
        <p:spPr>
          <a:xfrm>
            <a:off x="638175" y="4267200"/>
            <a:ext cx="3209925" cy="695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Evidence needs dates, context, and source location.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756C44-D559-45C8-8FB3-C748F4B02018}"/>
              </a:ext>
            </a:extLst>
          </p:cNvPr>
          <p:cNvSpPr>
            <a:spLocks noGrp="1"/>
          </p:cNvSpPr>
          <p:nvPr/>
        </p:nvSpPr>
        <p:spPr>
          <a:xfrm>
            <a:off x="4267200" y="1714500"/>
            <a:ext cx="3657600" cy="3895725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479754"/>
                </a:gs>
                <a:gs pos="50000">
                  <a:srgbClr val="E8EDF0"/>
                </a:gs>
                <a:gs pos="100000">
                  <a:srgbClr val="479754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B30A54-195E-42F4-88E5-4F9C325CFE28}"/>
              </a:ext>
            </a:extLst>
          </p:cNvPr>
          <p:cNvSpPr>
            <a:spLocks noGrp="1"/>
          </p:cNvSpPr>
          <p:nvPr/>
        </p:nvSpPr>
        <p:spPr>
          <a:xfrm>
            <a:off x="4476750" y="1952625"/>
            <a:ext cx="3238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0">
                <a:solidFill>
                  <a:srgbClr val="479754"/>
                </a:solidFill>
              </a:defRPr>
            </a:pPr>
            <a:r>
              <a:rPr sz="2100" b="0">
                <a:solidFill>
                  <a:srgbClr val="479754"/>
                </a:solidFill>
              </a:rPr>
              <a:t>Solution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6A3C73-16D9-48C0-921F-AA51822C183B}"/>
              </a:ext>
            </a:extLst>
          </p:cNvPr>
          <p:cNvSpPr>
            <a:spLocks noGrp="1"/>
          </p:cNvSpPr>
          <p:nvPr/>
        </p:nvSpPr>
        <p:spPr>
          <a:xfrm>
            <a:off x="4486275" y="2628900"/>
            <a:ext cx="3209925" cy="695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Secure ingestion and document classification.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630952-36B3-4FD0-BDF0-B4018261B14C}"/>
              </a:ext>
            </a:extLst>
          </p:cNvPr>
          <p:cNvSpPr>
            <a:spLocks noGrp="1"/>
          </p:cNvSpPr>
          <p:nvPr/>
        </p:nvSpPr>
        <p:spPr>
          <a:xfrm>
            <a:off x="4486275" y="3448050"/>
            <a:ext cx="3209925" cy="695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OCR or multimodal extraction into a governed schema.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F3B00F-B122-4E8D-8CAE-E8A734F61E76}"/>
              </a:ext>
            </a:extLst>
          </p:cNvPr>
          <p:cNvSpPr>
            <a:spLocks noGrp="1"/>
          </p:cNvSpPr>
          <p:nvPr/>
        </p:nvSpPr>
        <p:spPr>
          <a:xfrm>
            <a:off x="4486275" y="4267200"/>
            <a:ext cx="3209925" cy="695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Page citations and quality checks route uncertain items to review.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12B438-D3CD-461F-A096-32A593010AEC}"/>
              </a:ext>
            </a:extLst>
          </p:cNvPr>
          <p:cNvSpPr>
            <a:spLocks noGrp="1"/>
          </p:cNvSpPr>
          <p:nvPr/>
        </p:nvSpPr>
        <p:spPr>
          <a:xfrm>
            <a:off x="8115300" y="1714500"/>
            <a:ext cx="3657600" cy="3895725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287BA8"/>
                </a:gs>
                <a:gs pos="50000">
                  <a:srgbClr val="E8EDF0"/>
                </a:gs>
                <a:gs pos="100000">
                  <a:srgbClr val="287BA8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A1D82C-A872-4E2E-A694-DE13F59FDC5F}"/>
              </a:ext>
            </a:extLst>
          </p:cNvPr>
          <p:cNvSpPr>
            <a:spLocks noGrp="1"/>
          </p:cNvSpPr>
          <p:nvPr/>
        </p:nvSpPr>
        <p:spPr>
          <a:xfrm>
            <a:off x="8324850" y="1952625"/>
            <a:ext cx="3238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0">
                <a:solidFill>
                  <a:srgbClr val="287BA8"/>
                </a:solidFill>
              </a:defRPr>
            </a:pPr>
            <a:r>
              <a:rPr sz="2100" b="0">
                <a:solidFill>
                  <a:srgbClr val="287BA8"/>
                </a:solidFill>
              </a:rPr>
              <a:t>ROI / Advantages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28F97FF-4567-4556-80E5-87D4F3791179}"/>
              </a:ext>
            </a:extLst>
          </p:cNvPr>
          <p:cNvSpPr>
            <a:spLocks noGrp="1"/>
          </p:cNvSpPr>
          <p:nvPr/>
        </p:nvSpPr>
        <p:spPr>
          <a:xfrm>
            <a:off x="8334375" y="2628900"/>
            <a:ext cx="3209925" cy="695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Reuse evidence across Risk Adjustment and Stars.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4F5310-12FD-48EC-B258-46DD183B3522}"/>
              </a:ext>
            </a:extLst>
          </p:cNvPr>
          <p:cNvSpPr>
            <a:spLocks noGrp="1"/>
          </p:cNvSpPr>
          <p:nvPr/>
        </p:nvSpPr>
        <p:spPr>
          <a:xfrm>
            <a:off x="8334375" y="3448050"/>
            <a:ext cx="3209925" cy="695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Reduce repeated extraction effort.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CAA1B2D-CEF2-42CD-9A71-5321EC49C725}"/>
              </a:ext>
            </a:extLst>
          </p:cNvPr>
          <p:cNvSpPr>
            <a:spLocks noGrp="1"/>
          </p:cNvSpPr>
          <p:nvPr/>
        </p:nvSpPr>
        <p:spPr>
          <a:xfrm>
            <a:off x="8334375" y="4267200"/>
            <a:ext cx="3209925" cy="695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Create a reusable clinical evidence layer for downstream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105052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6DDA5B2-AD4F-4360-858E-FC89B989D643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113538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000" b="0">
                <a:solidFill>
                  <a:srgbClr val="172B3A"/>
                </a:solidFill>
              </a:defRPr>
            </a:pPr>
            <a:r>
              <a:rPr sz="3000" b="0">
                <a:solidFill>
                  <a:srgbClr val="172B3A"/>
                </a:solidFill>
              </a:rPr>
              <a:t>CareAllies AI Intelligence Layer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1CD10B-8D74-4AE1-B023-401B3B732B89}"/>
              </a:ext>
            </a:extLst>
          </p:cNvPr>
          <p:cNvSpPr>
            <a:spLocks noGrp="1"/>
          </p:cNvSpPr>
          <p:nvPr/>
        </p:nvSpPr>
        <p:spPr>
          <a:xfrm>
            <a:off x="438150" y="971550"/>
            <a:ext cx="113157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0">
                <a:solidFill>
                  <a:srgbClr val="56636C"/>
                </a:solidFill>
              </a:defRPr>
            </a:pPr>
            <a:r>
              <a:rPr sz="1425" b="0">
                <a:solidFill>
                  <a:srgbClr val="56636C"/>
                </a:solidFill>
              </a:rPr>
              <a:t>Create a governed connection between CareAllies data, business knowledge, and reusable AI services.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B3D62A-A1ED-4858-9E12-0F1CF908D09F}"/>
              </a:ext>
            </a:extLst>
          </p:cNvPr>
          <p:cNvSpPr>
            <a:spLocks noGrp="1"/>
          </p:cNvSpPr>
          <p:nvPr/>
        </p:nvSpPr>
        <p:spPr>
          <a:xfrm>
            <a:off x="0" y="5934075"/>
            <a:ext cx="12192000" cy="438150"/>
          </a:xfrm>
          <a:prstGeom prst="rect">
            <a:avLst/>
          </a:prstGeom>
          <a:solidFill>
            <a:srgbClr val="E8EAE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2F329B-E1D5-46B2-A376-5F4DAAAD1D6C}"/>
              </a:ext>
            </a:extLst>
          </p:cNvPr>
          <p:cNvSpPr>
            <a:spLocks noGrp="1"/>
          </p:cNvSpPr>
          <p:nvPr/>
        </p:nvSpPr>
        <p:spPr>
          <a:xfrm>
            <a:off x="381000" y="6029325"/>
            <a:ext cx="11430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Retrieve knowledge. Calculate with governed tools. Explain with the LLM.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748159-3D4C-4724-A85C-FBF9B76EEC52}"/>
              </a:ext>
            </a:extLst>
          </p:cNvPr>
          <p:cNvSpPr>
            <a:spLocks noGrp="1"/>
          </p:cNvSpPr>
          <p:nvPr/>
        </p:nvSpPr>
        <p:spPr>
          <a:xfrm>
            <a:off x="457200" y="6524625"/>
            <a:ext cx="6286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76E93B-FF5A-41C7-9E97-ED85E12F6821}"/>
              </a:ext>
            </a:extLst>
          </p:cNvPr>
          <p:cNvSpPr>
            <a:spLocks noGrp="1"/>
          </p:cNvSpPr>
          <p:nvPr/>
        </p:nvSpPr>
        <p:spPr>
          <a:xfrm>
            <a:off x="7620000" y="65151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0CA752-5F5E-4056-83F7-22AA4C1004CD}"/>
              </a:ext>
            </a:extLst>
          </p:cNvPr>
          <p:cNvSpPr>
            <a:spLocks noGrp="1"/>
          </p:cNvSpPr>
          <p:nvPr/>
        </p:nvSpPr>
        <p:spPr>
          <a:xfrm>
            <a:off x="10334625" y="646747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B5F6B6-C6B4-45CB-AA5A-05D8669535F1}"/>
              </a:ext>
            </a:extLst>
          </p:cNvPr>
          <p:cNvSpPr>
            <a:spLocks noGrp="1"/>
          </p:cNvSpPr>
          <p:nvPr/>
        </p:nvSpPr>
        <p:spPr>
          <a:xfrm>
            <a:off x="419100" y="1714500"/>
            <a:ext cx="3657600" cy="3895725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D18A39"/>
                </a:gs>
                <a:gs pos="50000">
                  <a:srgbClr val="E8EDF0"/>
                </a:gs>
                <a:gs pos="100000">
                  <a:srgbClr val="D18A39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371A8A-2086-43EB-B9A9-C420C27B8B05}"/>
              </a:ext>
            </a:extLst>
          </p:cNvPr>
          <p:cNvSpPr>
            <a:spLocks noGrp="1"/>
          </p:cNvSpPr>
          <p:nvPr/>
        </p:nvSpPr>
        <p:spPr>
          <a:xfrm>
            <a:off x="628650" y="1952625"/>
            <a:ext cx="3238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0">
                <a:solidFill>
                  <a:srgbClr val="D18A39"/>
                </a:solidFill>
              </a:defRPr>
            </a:pPr>
            <a:r>
              <a:rPr sz="2100" b="0">
                <a:solidFill>
                  <a:srgbClr val="D18A39"/>
                </a:solidFill>
              </a:rPr>
              <a:t>Problem Statement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582934-6899-44DC-977E-89CB24FB323A}"/>
              </a:ext>
            </a:extLst>
          </p:cNvPr>
          <p:cNvSpPr>
            <a:spLocks noGrp="1"/>
          </p:cNvSpPr>
          <p:nvPr/>
        </p:nvSpPr>
        <p:spPr>
          <a:xfrm>
            <a:off x="638175" y="2628900"/>
            <a:ext cx="3209925" cy="695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Knowledge is fragmented across reports, databases, and documentation.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5F3806-8794-46D8-9A24-5DC2BE46AFC7}"/>
              </a:ext>
            </a:extLst>
          </p:cNvPr>
          <p:cNvSpPr>
            <a:spLocks noGrp="1"/>
          </p:cNvSpPr>
          <p:nvPr/>
        </p:nvSpPr>
        <p:spPr>
          <a:xfrm>
            <a:off x="638175" y="3448050"/>
            <a:ext cx="3209925" cy="695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Investigations require manual joins and SME interpretation.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A72E25-3E57-4375-B831-E34F015BF5A5}"/>
              </a:ext>
            </a:extLst>
          </p:cNvPr>
          <p:cNvSpPr>
            <a:spLocks noGrp="1"/>
          </p:cNvSpPr>
          <p:nvPr/>
        </p:nvSpPr>
        <p:spPr>
          <a:xfrm>
            <a:off x="638175" y="4267200"/>
            <a:ext cx="3209925" cy="695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Definitions and methodologies change over time.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13D12E-7082-4380-80EF-C2F23D92095A}"/>
              </a:ext>
            </a:extLst>
          </p:cNvPr>
          <p:cNvSpPr>
            <a:spLocks noGrp="1"/>
          </p:cNvSpPr>
          <p:nvPr/>
        </p:nvSpPr>
        <p:spPr>
          <a:xfrm>
            <a:off x="4267200" y="1714500"/>
            <a:ext cx="3657600" cy="3895725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479754"/>
                </a:gs>
                <a:gs pos="50000">
                  <a:srgbClr val="E8EDF0"/>
                </a:gs>
                <a:gs pos="100000">
                  <a:srgbClr val="479754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7ED113-E163-4BF3-98B4-4514E248B953}"/>
              </a:ext>
            </a:extLst>
          </p:cNvPr>
          <p:cNvSpPr>
            <a:spLocks noGrp="1"/>
          </p:cNvSpPr>
          <p:nvPr/>
        </p:nvSpPr>
        <p:spPr>
          <a:xfrm>
            <a:off x="4476750" y="1952625"/>
            <a:ext cx="3238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0">
                <a:solidFill>
                  <a:srgbClr val="479754"/>
                </a:solidFill>
              </a:defRPr>
            </a:pPr>
            <a:r>
              <a:rPr sz="2100" b="0">
                <a:solidFill>
                  <a:srgbClr val="479754"/>
                </a:solidFill>
              </a:rPr>
              <a:t>Solution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E71EAC-1EEC-4B16-B91A-EEF5D67D4D9C}"/>
              </a:ext>
            </a:extLst>
          </p:cNvPr>
          <p:cNvSpPr>
            <a:spLocks noGrp="1"/>
          </p:cNvSpPr>
          <p:nvPr/>
        </p:nvSpPr>
        <p:spPr>
          <a:xfrm>
            <a:off x="4486275" y="2628900"/>
            <a:ext cx="3209925" cy="695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Retrieve approved guidance with effective dates and citations.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DCB246-5E5E-4062-B264-F0C3AC14B01D}"/>
              </a:ext>
            </a:extLst>
          </p:cNvPr>
          <p:cNvSpPr>
            <a:spLocks noGrp="1"/>
          </p:cNvSpPr>
          <p:nvPr/>
        </p:nvSpPr>
        <p:spPr>
          <a:xfrm>
            <a:off x="4486275" y="3448050"/>
            <a:ext cx="3209925" cy="695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Use controlled SQL and deterministic analytical tools.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6C119F-707B-4E23-8D0A-B810CDC41372}"/>
              </a:ext>
            </a:extLst>
          </p:cNvPr>
          <p:cNvSpPr>
            <a:spLocks noGrp="1"/>
          </p:cNvSpPr>
          <p:nvPr/>
        </p:nvSpPr>
        <p:spPr>
          <a:xfrm>
            <a:off x="4486275" y="4267200"/>
            <a:ext cx="3209925" cy="695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Connect an approved LLM through governed APIs, permissions, and audit logs.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E5D38D-4B40-4919-9428-6065165DCD39}"/>
              </a:ext>
            </a:extLst>
          </p:cNvPr>
          <p:cNvSpPr>
            <a:spLocks noGrp="1"/>
          </p:cNvSpPr>
          <p:nvPr/>
        </p:nvSpPr>
        <p:spPr>
          <a:xfrm>
            <a:off x="8115300" y="1714500"/>
            <a:ext cx="3657600" cy="3895725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287BA8"/>
                </a:gs>
                <a:gs pos="50000">
                  <a:srgbClr val="E8EDF0"/>
                </a:gs>
                <a:gs pos="100000">
                  <a:srgbClr val="287BA8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DD6B94-1727-4FF0-AA66-5870CF3D2319}"/>
              </a:ext>
            </a:extLst>
          </p:cNvPr>
          <p:cNvSpPr>
            <a:spLocks noGrp="1"/>
          </p:cNvSpPr>
          <p:nvPr/>
        </p:nvSpPr>
        <p:spPr>
          <a:xfrm>
            <a:off x="8324850" y="1952625"/>
            <a:ext cx="3238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0">
                <a:solidFill>
                  <a:srgbClr val="287BA8"/>
                </a:solidFill>
              </a:defRPr>
            </a:pPr>
            <a:r>
              <a:rPr sz="2100" b="0">
                <a:solidFill>
                  <a:srgbClr val="287BA8"/>
                </a:solidFill>
              </a:rPr>
              <a:t>ROI / Advantages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4B6179-BB6D-4CB7-93DB-72B32A2FEECD}"/>
              </a:ext>
            </a:extLst>
          </p:cNvPr>
          <p:cNvSpPr>
            <a:spLocks noGrp="1"/>
          </p:cNvSpPr>
          <p:nvPr/>
        </p:nvSpPr>
        <p:spPr>
          <a:xfrm>
            <a:off x="8334375" y="2628900"/>
            <a:ext cx="3209925" cy="695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Accelerate analytical investigation.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95B875-D2D1-4832-9138-FA7A6EF03498}"/>
              </a:ext>
            </a:extLst>
          </p:cNvPr>
          <p:cNvSpPr>
            <a:spLocks noGrp="1"/>
          </p:cNvSpPr>
          <p:nvPr/>
        </p:nvSpPr>
        <p:spPr>
          <a:xfrm>
            <a:off x="8334375" y="3448050"/>
            <a:ext cx="3209925" cy="695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Reuse data and knowledge services across applications.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F39F4C-E642-4406-85B9-BC1A0519BF6E}"/>
              </a:ext>
            </a:extLst>
          </p:cNvPr>
          <p:cNvSpPr>
            <a:spLocks noGrp="1"/>
          </p:cNvSpPr>
          <p:nvPr/>
        </p:nvSpPr>
        <p:spPr>
          <a:xfrm>
            <a:off x="8334375" y="4267200"/>
            <a:ext cx="3209925" cy="695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Preserve institutional knowledge and scale self-service analytics.</a:t>
            </a:r>
          </a:p>
        </p:txBody>
      </p:sp>
    </p:spTree>
    <p:extLst>
      <p:ext uri="{BB962C8B-B14F-4D97-AF65-F5344CB8AC3E}">
        <p14:creationId xmlns:p14="http://schemas.microsoft.com/office/powerpoint/2010/main" val="1907197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CD0C930-5FF8-43B5-86C2-D9B9ADC13956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113538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000" b="0">
                <a:solidFill>
                  <a:srgbClr val="172B3A"/>
                </a:solidFill>
              </a:defRPr>
            </a:pPr>
            <a:r>
              <a:rPr sz="3000" b="0">
                <a:solidFill>
                  <a:srgbClr val="172B3A"/>
                </a:solidFill>
              </a:rPr>
              <a:t>Shared Investment, Independent Proof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BD4511-8650-491F-B500-0143F62567A9}"/>
              </a:ext>
            </a:extLst>
          </p:cNvPr>
          <p:cNvSpPr>
            <a:spLocks noGrp="1"/>
          </p:cNvSpPr>
          <p:nvPr/>
        </p:nvSpPr>
        <p:spPr>
          <a:xfrm>
            <a:off x="438150" y="971550"/>
            <a:ext cx="113157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0">
                <a:solidFill>
                  <a:srgbClr val="56636C"/>
                </a:solidFill>
              </a:defRPr>
            </a:pPr>
            <a:r>
              <a:rPr sz="1425" b="0">
                <a:solidFill>
                  <a:srgbClr val="56636C"/>
                </a:solidFill>
              </a:rPr>
              <a:t>Each pilot can validate a business outcome while contributing reusable components.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8F33C7-E455-4912-B1D7-E11BFB1369C1}"/>
              </a:ext>
            </a:extLst>
          </p:cNvPr>
          <p:cNvSpPr>
            <a:spLocks noGrp="1"/>
          </p:cNvSpPr>
          <p:nvPr/>
        </p:nvSpPr>
        <p:spPr>
          <a:xfrm>
            <a:off x="0" y="5934075"/>
            <a:ext cx="12192000" cy="438150"/>
          </a:xfrm>
          <a:prstGeom prst="rect">
            <a:avLst/>
          </a:prstGeom>
          <a:solidFill>
            <a:srgbClr val="E8EAE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F77A0A-C8BB-4426-A20C-9DA3081E9739}"/>
              </a:ext>
            </a:extLst>
          </p:cNvPr>
          <p:cNvSpPr>
            <a:spLocks noGrp="1"/>
          </p:cNvSpPr>
          <p:nvPr/>
        </p:nvSpPr>
        <p:spPr>
          <a:xfrm>
            <a:off x="381000" y="6029325"/>
            <a:ext cx="11430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Select bounded pilots based on data access, ground truth, measurable value, and approval readiness.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7A8D87-17AD-4D17-AA00-270E3CE09F08}"/>
              </a:ext>
            </a:extLst>
          </p:cNvPr>
          <p:cNvSpPr>
            <a:spLocks noGrp="1"/>
          </p:cNvSpPr>
          <p:nvPr/>
        </p:nvSpPr>
        <p:spPr>
          <a:xfrm>
            <a:off x="457200" y="6524625"/>
            <a:ext cx="6286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425CEC-5354-4007-B014-3ABE94605239}"/>
              </a:ext>
            </a:extLst>
          </p:cNvPr>
          <p:cNvSpPr>
            <a:spLocks noGrp="1"/>
          </p:cNvSpPr>
          <p:nvPr/>
        </p:nvSpPr>
        <p:spPr>
          <a:xfrm>
            <a:off x="7620000" y="65151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2C2405-233A-4AC7-9B25-E55022CDBD09}"/>
              </a:ext>
            </a:extLst>
          </p:cNvPr>
          <p:cNvSpPr>
            <a:spLocks noGrp="1"/>
          </p:cNvSpPr>
          <p:nvPr/>
        </p:nvSpPr>
        <p:spPr>
          <a:xfrm>
            <a:off x="10334625" y="646747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EE2208-A342-44C7-8042-2077CFF68EC0}"/>
              </a:ext>
            </a:extLst>
          </p:cNvPr>
          <p:cNvSpPr>
            <a:spLocks noGrp="1"/>
          </p:cNvSpPr>
          <p:nvPr/>
        </p:nvSpPr>
        <p:spPr>
          <a:xfrm>
            <a:off x="419100" y="1724025"/>
            <a:ext cx="3657600" cy="3590925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479754"/>
                </a:gs>
                <a:gs pos="50000">
                  <a:srgbClr val="E8EDF0"/>
                </a:gs>
                <a:gs pos="100000">
                  <a:srgbClr val="479754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040DC2-46A7-412A-94E9-7561140F89EA}"/>
              </a:ext>
            </a:extLst>
          </p:cNvPr>
          <p:cNvSpPr>
            <a:spLocks noGrp="1"/>
          </p:cNvSpPr>
          <p:nvPr/>
        </p:nvSpPr>
        <p:spPr>
          <a:xfrm>
            <a:off x="609600" y="1895475"/>
            <a:ext cx="32766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>
                <a:solidFill>
                  <a:srgbClr val="479754"/>
                </a:solidFill>
              </a:defRPr>
            </a:pPr>
            <a:r>
              <a:rPr sz="1875" b="0">
                <a:solidFill>
                  <a:srgbClr val="479754"/>
                </a:solidFill>
              </a:rPr>
              <a:t>Clinical evidence track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475741-9A03-4392-A79A-1C8012D14BE0}"/>
              </a:ext>
            </a:extLst>
          </p:cNvPr>
          <p:cNvSpPr>
            <a:spLocks noGrp="1"/>
          </p:cNvSpPr>
          <p:nvPr/>
        </p:nvSpPr>
        <p:spPr>
          <a:xfrm>
            <a:off x="609600" y="2619375"/>
            <a:ext cx="3276600" cy="2495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Start: clinical extraction</a:t>
            </a:r>
          </a:p>
          <a:p>
            <a:endParaRPr sz="1500" b="0">
              <a:solidFill>
                <a:srgbClr val="172B3A"/>
              </a:solidFill>
            </a:endParaRPr>
          </a:p>
          <a:p>
            <a:pPr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Reuse: traceable evidence</a:t>
            </a:r>
          </a:p>
          <a:p>
            <a:endParaRPr sz="1500" b="0">
              <a:solidFill>
                <a:srgbClr val="172B3A"/>
              </a:solidFill>
            </a:endParaRPr>
          </a:p>
          <a:p>
            <a:pPr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Prove: audit secondary review or selected Stars measures</a:t>
            </a:r>
          </a:p>
          <a:p>
            <a:endParaRPr sz="1500" b="0">
              <a:solidFill>
                <a:srgbClr val="172B3A"/>
              </a:solidFill>
            </a:endParaRPr>
          </a:p>
          <a:p>
            <a:pPr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Measure: evidence accuracy and reviewer time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E2F067-FE34-47A0-B1DE-5993537DD036}"/>
              </a:ext>
            </a:extLst>
          </p:cNvPr>
          <p:cNvSpPr>
            <a:spLocks noGrp="1"/>
          </p:cNvSpPr>
          <p:nvPr/>
        </p:nvSpPr>
        <p:spPr>
          <a:xfrm>
            <a:off x="4267200" y="1724025"/>
            <a:ext cx="3657600" cy="3590925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287BA8"/>
                </a:gs>
                <a:gs pos="50000">
                  <a:srgbClr val="E8EDF0"/>
                </a:gs>
                <a:gs pos="100000">
                  <a:srgbClr val="287BA8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EE99AE-0AF6-4148-A5F2-26412FA113DE}"/>
              </a:ext>
            </a:extLst>
          </p:cNvPr>
          <p:cNvSpPr>
            <a:spLocks noGrp="1"/>
          </p:cNvSpPr>
          <p:nvPr/>
        </p:nvSpPr>
        <p:spPr>
          <a:xfrm>
            <a:off x="4457700" y="1895475"/>
            <a:ext cx="32766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>
                <a:solidFill>
                  <a:srgbClr val="287BA8"/>
                </a:solidFill>
              </a:defRPr>
            </a:pPr>
            <a:r>
              <a:rPr sz="1875" b="0">
                <a:solidFill>
                  <a:srgbClr val="287BA8"/>
                </a:solidFill>
              </a:rPr>
              <a:t>Analytics track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02E9E5-5F50-47AD-8E9C-93CE0BC6D221}"/>
              </a:ext>
            </a:extLst>
          </p:cNvPr>
          <p:cNvSpPr>
            <a:spLocks noGrp="1"/>
          </p:cNvSpPr>
          <p:nvPr/>
        </p:nvSpPr>
        <p:spPr>
          <a:xfrm>
            <a:off x="4457700" y="2619375"/>
            <a:ext cx="3276600" cy="2495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Start: governed SQL + rules</a:t>
            </a:r>
          </a:p>
          <a:p>
            <a:endParaRPr sz="1500" b="0">
              <a:solidFill>
                <a:srgbClr val="172B3A"/>
              </a:solidFill>
            </a:endParaRPr>
          </a:p>
          <a:p>
            <a:pPr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Reuse: metric definitions and investigation logic</a:t>
            </a:r>
          </a:p>
          <a:p>
            <a:endParaRPr sz="1500" b="0">
              <a:solidFill>
                <a:srgbClr val="172B3A"/>
              </a:solidFill>
            </a:endParaRPr>
          </a:p>
          <a:p>
            <a:pPr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Prove: risk-score driver analysis</a:t>
            </a:r>
          </a:p>
          <a:p>
            <a:endParaRPr sz="1500" b="0">
              <a:solidFill>
                <a:srgbClr val="172B3A"/>
              </a:solidFill>
            </a:endParaRPr>
          </a:p>
          <a:p>
            <a:pPr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Measure: reconciliation accuracy and analyst time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742CCF-B18C-42E2-8F77-3F3B43C5948F}"/>
              </a:ext>
            </a:extLst>
          </p:cNvPr>
          <p:cNvSpPr>
            <a:spLocks noGrp="1"/>
          </p:cNvSpPr>
          <p:nvPr/>
        </p:nvSpPr>
        <p:spPr>
          <a:xfrm>
            <a:off x="8115300" y="1724025"/>
            <a:ext cx="3657600" cy="3590925"/>
          </a:xfrm>
          <a:prstGeom prst="rect">
            <a:avLst/>
          </a:prstGeom>
          <a:solidFill>
            <a:srgbClr val="FFFFFF"/>
          </a:solidFill>
          <a:ln w="14288">
            <a:gradFill>
              <a:gsLst>
                <a:gs pos="0">
                  <a:srgbClr val="479754"/>
                </a:gs>
                <a:gs pos="50000">
                  <a:srgbClr val="E8EDF0"/>
                </a:gs>
                <a:gs pos="100000">
                  <a:srgbClr val="479754"/>
                </a:gs>
              </a:gsLst>
              <a:lin ang="1800000"/>
            </a:gra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A8497A-3BA9-4A4D-8925-A63F176FDAC7}"/>
              </a:ext>
            </a:extLst>
          </p:cNvPr>
          <p:cNvSpPr>
            <a:spLocks noGrp="1"/>
          </p:cNvSpPr>
          <p:nvPr/>
        </p:nvSpPr>
        <p:spPr>
          <a:xfrm>
            <a:off x="8305800" y="1895475"/>
            <a:ext cx="32766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>
                <a:solidFill>
                  <a:srgbClr val="479754"/>
                </a:solidFill>
              </a:defRPr>
            </a:pPr>
            <a:r>
              <a:rPr sz="1875" b="0">
                <a:solidFill>
                  <a:srgbClr val="479754"/>
                </a:solidFill>
              </a:rPr>
              <a:t>Provider intelligence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10047A-A988-4B22-9D73-C06618FFF673}"/>
              </a:ext>
            </a:extLst>
          </p:cNvPr>
          <p:cNvSpPr>
            <a:spLocks noGrp="1"/>
          </p:cNvSpPr>
          <p:nvPr/>
        </p:nvSpPr>
        <p:spPr>
          <a:xfrm>
            <a:off x="8305800" y="2619375"/>
            <a:ext cx="3276600" cy="2495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Start: historical features</a:t>
            </a:r>
          </a:p>
          <a:p>
            <a:endParaRPr sz="1500" b="0">
              <a:solidFill>
                <a:srgbClr val="172B3A"/>
              </a:solidFill>
            </a:endParaRPr>
          </a:p>
          <a:p>
            <a:pPr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Reuse: provider feature pipeline</a:t>
            </a:r>
          </a:p>
          <a:p>
            <a:endParaRPr sz="1500" b="0">
              <a:solidFill>
                <a:srgbClr val="172B3A"/>
              </a:solidFill>
            </a:endParaRPr>
          </a:p>
          <a:p>
            <a:pPr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Prove: stable segments linked to engagement outcomes</a:t>
            </a:r>
          </a:p>
          <a:p>
            <a:endParaRPr sz="1500" b="0">
              <a:solidFill>
                <a:srgbClr val="172B3A"/>
              </a:solidFill>
            </a:endParaRPr>
          </a:p>
          <a:p>
            <a:pPr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Measure: segment stability and out-of-time performance</a:t>
            </a:r>
          </a:p>
        </p:txBody>
      </p:sp>
    </p:spTree>
    <p:extLst>
      <p:ext uri="{BB962C8B-B14F-4D97-AF65-F5344CB8AC3E}">
        <p14:creationId xmlns:p14="http://schemas.microsoft.com/office/powerpoint/2010/main" val="13029352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1158</Words>
  <Application>Microsoft Macintosh PowerPoint</Application>
  <DocSecurity>0</DocSecurity>
  <PresentationFormat>Widescreen</PresentationFormat>
  <Paragraphs>227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Bassel Dakhlallah</cp:lastModifiedBy>
  <cp:revision>1</cp:revision>
  <dcterms:created xsi:type="dcterms:W3CDTF">2026-09-06T20:23:30Z</dcterms:created>
  <dcterms:modified xsi:type="dcterms:W3CDTF">2026-09-07T12:10:30Z</dcterms:modified>
</cp:coreProperties>
</file>