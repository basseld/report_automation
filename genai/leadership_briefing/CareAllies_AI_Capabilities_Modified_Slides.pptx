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a46d7e0454275" /><Relationship Type="http://schemas.openxmlformats.org/officeDocument/2006/relationships/extended-properties" Target="/docProps/app.xml" Id="Rf2b1dcc92d784f58" /><Relationship Type="http://schemas.openxmlformats.org/officeDocument/2006/relationships/officeDocument" Target="/ppt/presentation.xml" Id="R63c4e4cbb21148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2adfd4ce34203"/>
  </p:sldMasterIdLst>
  <p:notesMasterIdLst>
    <p:notesMasterId xmlns:r="http://schemas.openxmlformats.org/officeDocument/2006/relationships" r:id="R07b5d6bb82644f4e"/>
  </p:notesMasterIdLst>
  <p:sldIdLst>
    <p:sldId xmlns:r="http://schemas.openxmlformats.org/officeDocument/2006/relationships" id="256" r:id="R970dd3c705644b31"/>
    <p:sldId xmlns:r="http://schemas.openxmlformats.org/officeDocument/2006/relationships" id="257" r:id="R9c1e8f23efb24b46"/>
    <p:sldId xmlns:r="http://schemas.openxmlformats.org/officeDocument/2006/relationships" id="258" r:id="R9dc0671944a540ae"/>
    <p:sldId xmlns:r="http://schemas.openxmlformats.org/officeDocument/2006/relationships" id="259" r:id="R4697b28068ff488c"/>
    <p:sldId xmlns:r="http://schemas.openxmlformats.org/officeDocument/2006/relationships" id="260" r:id="R49d8a807f97648da"/>
    <p:sldId xmlns:r="http://schemas.openxmlformats.org/officeDocument/2006/relationships" id="261" r:id="Rc73d70d5b4d04e6b"/>
    <p:sldId xmlns:r="http://schemas.openxmlformats.org/officeDocument/2006/relationships" id="262" r:id="R5655b877503e4d29"/>
    <p:sldId xmlns:r="http://schemas.openxmlformats.org/officeDocument/2006/relationships" id="263" r:id="R486074f38d1043b1"/>
    <p:sldId xmlns:r="http://schemas.openxmlformats.org/officeDocument/2006/relationships" id="264" r:id="R0b95b97e8c474b97"/>
    <p:sldId xmlns:r="http://schemas.openxmlformats.org/officeDocument/2006/relationships" id="265" r:id="R314101d3fac142db"/>
    <p:sldId xmlns:r="http://schemas.openxmlformats.org/officeDocument/2006/relationships" id="266" r:id="R6eb58c075c964d0b"/>
    <p:sldId xmlns:r="http://schemas.openxmlformats.org/officeDocument/2006/relationships" id="267" r:id="R7bf377b160134e3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a720c3b0b42d3" /><Relationship Type="http://schemas.openxmlformats.org/officeDocument/2006/relationships/slideMaster" Target="/ppt/slideMasters/slideMaster1.xml" Id="R4be2adfd4ce34203" /><Relationship Type="http://schemas.openxmlformats.org/officeDocument/2006/relationships/notesMaster" Target="/ppt/notesMasters/notesMaster1.xml" Id="R07b5d6bb82644f4e" /><Relationship Type="http://schemas.openxmlformats.org/officeDocument/2006/relationships/presProps" Target="/ppt/presProps.xml" Id="Rda41cba9e5224f62" /><Relationship Type="http://schemas.openxmlformats.org/officeDocument/2006/relationships/viewProps" Target="/ppt/viewProps.xml" Id="R524a504947ee46e6" /><Relationship Type="http://schemas.openxmlformats.org/officeDocument/2006/relationships/tableStyles" Target="/ppt/tableStyles.xml" Id="Re1468bfd6ed04187" /><Relationship Type="http://schemas.openxmlformats.org/officeDocument/2006/relationships/slide" Target="/ppt/slides/slide1.xml" Id="R970dd3c705644b31" /><Relationship Type="http://schemas.openxmlformats.org/officeDocument/2006/relationships/slide" Target="/ppt/slides/slide2.xml" Id="R9c1e8f23efb24b46" /><Relationship Type="http://schemas.openxmlformats.org/officeDocument/2006/relationships/slide" Target="/ppt/slides/slide3.xml" Id="R9dc0671944a540ae" /><Relationship Type="http://schemas.openxmlformats.org/officeDocument/2006/relationships/slide" Target="/ppt/slides/slide4.xml" Id="R4697b28068ff488c" /><Relationship Type="http://schemas.openxmlformats.org/officeDocument/2006/relationships/slide" Target="/ppt/slides/slide5.xml" Id="R49d8a807f97648da" /><Relationship Type="http://schemas.openxmlformats.org/officeDocument/2006/relationships/slide" Target="/ppt/slides/slide6.xml" Id="Rc73d70d5b4d04e6b" /><Relationship Type="http://schemas.openxmlformats.org/officeDocument/2006/relationships/slide" Target="/ppt/slides/slide7.xml" Id="R5655b877503e4d29" /><Relationship Type="http://schemas.openxmlformats.org/officeDocument/2006/relationships/slide" Target="/ppt/slides/slide8.xml" Id="R486074f38d1043b1" /><Relationship Type="http://schemas.openxmlformats.org/officeDocument/2006/relationships/slide" Target="/ppt/slides/slide9.xml" Id="R0b95b97e8c474b97" /><Relationship Type="http://schemas.openxmlformats.org/officeDocument/2006/relationships/slide" Target="/ppt/slides/slide10.xml" Id="R314101d3fac142db" /><Relationship Type="http://schemas.openxmlformats.org/officeDocument/2006/relationships/slide" Target="/ppt/slides/slide11.xml" Id="R6eb58c075c964d0b" /><Relationship Type="http://schemas.openxmlformats.org/officeDocument/2006/relationships/slide" Target="/ppt/slides/slide12.xml" Id="R7bf377b16013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3682a7dce549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3b2c1c51dd49c1" /><Relationship Type="http://schemas.openxmlformats.org/officeDocument/2006/relationships/notesMaster" Target="/ppt/notesMasters/notesMaster1.xml" Id="R84834d1466e044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28424209d451b" /><Relationship Type="http://schemas.openxmlformats.org/officeDocument/2006/relationships/notesMaster" Target="/ppt/notesMasters/notesMaster1.xml" Id="R4f21c493841043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da7a6cae0b47c1" /><Relationship Type="http://schemas.openxmlformats.org/officeDocument/2006/relationships/notesMaster" Target="/ppt/notesMasters/notesMaster1.xml" Id="R9da32dee0697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ba05bc64534bdd" /><Relationship Type="http://schemas.openxmlformats.org/officeDocument/2006/relationships/notesMaster" Target="/ppt/notesMasters/notesMaster1.xml" Id="R364f3205f6b341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801d88bdc24da6" /><Relationship Type="http://schemas.openxmlformats.org/officeDocument/2006/relationships/notesMaster" Target="/ppt/notesMasters/notesMaster1.xml" Id="Rec4c33ee4f064c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d51e561bf448c6" /><Relationship Type="http://schemas.openxmlformats.org/officeDocument/2006/relationships/notesMaster" Target="/ppt/notesMasters/notesMaster1.xml" Id="Rcaa9fa9490df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a0b0b4c5c74175" /><Relationship Type="http://schemas.openxmlformats.org/officeDocument/2006/relationships/notesMaster" Target="/ppt/notesMasters/notesMaster1.xml" Id="R1f03384f263e44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db45ccb5a24742" /><Relationship Type="http://schemas.openxmlformats.org/officeDocument/2006/relationships/notesMaster" Target="/ppt/notesMasters/notesMaster1.xml" Id="R90b5edaa99d744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41dba782db4538" /><Relationship Type="http://schemas.openxmlformats.org/officeDocument/2006/relationships/notesMaster" Target="/ppt/notesMasters/notesMaster1.xml" Id="R1b93cb3d89b945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67c19b8a95465f" /><Relationship Type="http://schemas.openxmlformats.org/officeDocument/2006/relationships/notesMaster" Target="/ppt/notesMasters/notesMaster1.xml" Id="R984c5c2b433e41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fbe515c8b64ed2" /><Relationship Type="http://schemas.openxmlformats.org/officeDocument/2006/relationships/notesMaster" Target="/ppt/notesMasters/notesMaster1.xml" Id="Rcce61721b3f04f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ce3a73b0864330" /><Relationship Type="http://schemas.openxmlformats.org/officeDocument/2006/relationships/notesMaster" Target="/ppt/notesMasters/notesMaster1.xml" Id="Ra099e5b6dfcf4d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1 directly enables Audit the Auditor and Stars chart evidence. Projects 3 and 4 can start with structured data and optionally consume extracted evidence. Project 6 targets revenue PMPM, MLR and outreach productivity through tested interventions, not segmentation alone. All financial benefits are hypotheses pending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Alternative candidates, not a cumulative purchase list. TD means Teradata. Use PDF native text extraction when available; OCR/vision for images. LLM examples: approved Azure OpenAI through Microsoft Foundry or an approved Amazon Bedrock model. Embeddings: approved embedding endpoint paired with vector search. Sources: https://learn.microsoft.com/en-us/azure/search/vector-search-overview ; https://docs.aws.amazon.com/bedrock/latest/userguide/models-supported.html ; https://learn.microsoft.com/en-us/azure/ai-services/document-intelligence/prebuilt/read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 required, O optional. Candidate components are subject to enterprise approval. Provider prediction adds supervised learning, time/market holdouts and calibration. Traditional ML does not require an LLM. MLflow model registry documentation: https://mlflow.org/docs/latest/ml/model-registry/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must validate the period, applicable CMS model, incremental coefficient, hierarchy, member eligibility, payment factors and contractual capture. The user supplied $3,000, which is not a published universal HCC value. No current analyst-hour baseline was supplied. Model effects: https://www.cms.gov/medicare/payment/medicare-advantage-rates-statistics/risk-adjustment ; https://www.cms.gov/newsroom/fact-sheets/2026-medicare-advantage-and-part-d-rate-announcement . Avoid counting increased revenue and the associated MLR denominator effect as separate medical-cost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discussion and four slide screenshots (IMG_4085–4088).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Proposed architecture and capability mappings are design recommendations, not claims of deployed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e3ccd5fa04f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9b0b56bcce4798" /><Relationship Type="http://schemas.openxmlformats.org/officeDocument/2006/relationships/slideLayout" Target="/ppt/slideLayouts/slideLayout1.xml" Id="R3445809411e4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5809411e4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6f875e99a43d1" /><Relationship Type="http://schemas.openxmlformats.org/officeDocument/2006/relationships/notesSlide" Target="/ppt/notesSlides/notesSlide1.xml" Id="R97c223843fb64a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1ff3d4b4f47b4" /><Relationship Type="http://schemas.openxmlformats.org/officeDocument/2006/relationships/notesSlide" Target="/ppt/notesSlides/notesSlide2.xml" Id="R1e434bb707fa4d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e1e34eacf43c8" /><Relationship Type="http://schemas.openxmlformats.org/officeDocument/2006/relationships/notesSlide" Target="/ppt/notesSlides/notesSlide3.xml" Id="Re5d3e05c856b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50fed565b4631" /><Relationship Type="http://schemas.openxmlformats.org/officeDocument/2006/relationships/notesSlide" Target="/ppt/notesSlides/notesSlide4.xml" Id="Re49b30efd73847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f6efb8db349ef" /><Relationship Type="http://schemas.openxmlformats.org/officeDocument/2006/relationships/notesSlide" Target="/ppt/notesSlides/notesSlide5.xml" Id="R68b8b6f0faf546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10c70b83b46ab" /><Relationship Type="http://schemas.openxmlformats.org/officeDocument/2006/relationships/notesSlide" Target="/ppt/notesSlides/notesSlide6.xml" Id="R6eb834b3be884f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35b409b374274" /><Relationship Type="http://schemas.openxmlformats.org/officeDocument/2006/relationships/notesSlide" Target="/ppt/notesSlides/notesSlide7.xml" Id="R977e91c96b4d42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b6dfbe8434ee0" /><Relationship Type="http://schemas.openxmlformats.org/officeDocument/2006/relationships/notesSlide" Target="/ppt/notesSlides/notesSlide8.xml" Id="R0a33778a00964b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4fa58a77f4f80" /><Relationship Type="http://schemas.openxmlformats.org/officeDocument/2006/relationships/notesSlide" Target="/ppt/notesSlides/notesSlide9.xml" Id="Rfa4f95e84bcd4b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a5603adc6416c" /><Relationship Type="http://schemas.openxmlformats.org/officeDocument/2006/relationships/notesSlide" Target="/ppt/notesSlides/notesSlide10.xml" Id="R14c1f0987cc146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0f85ff21a4e9b" /><Relationship Type="http://schemas.openxmlformats.org/officeDocument/2006/relationships/notesSlide" Target="/ppt/notesSlides/notesSlide11.xml" Id="R6fead067cc0f48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ceff725074da2" /><Relationship Type="http://schemas.openxmlformats.org/officeDocument/2006/relationships/notesSlide" Target="/ppt/notesSlides/notesSlide12.xml" Id="R075cb32a35c7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9D9FCAA-0EE0-4824-8B52-8A1CB3E6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Projects Portfolio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DBBFC66-FC96-4779-A6D0-604082FA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Six initiatives with a clear business purpose and a shared technology foundation.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EB14CC-B74B-4206-8195-A187223C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1027D1-6D46-4038-A485-08F3E8C9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Potential value requires validation. Project 4 is part of Project 3; count shared benefits once.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F1C5705-2CF1-4C4F-A48B-6E902B2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3F88AB-EA26-4624-BB31-C99F6584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74B05B-10DE-49AD-8C47-E1EEC1C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2593797-94C3-42BE-A53B-500C1A95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3657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26144E2-3EA2-4120-971A-53033C6A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Clinical Documentation</a:t>
            </a:r>
          </a:p>
          <a:p xmlns:a="http://schemas.openxmlformats.org/drawingml/2006/main">
            <a:pPr>
              <a:buNone/>
              <a:defRPr sz="187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Intelligence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C4DAF70-96E6-4482-97C6-070A2C2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Turn charts into traceable evidence tables.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DA0317B-9D20-4F53-AD0E-A444479B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1  FOUNDATION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6CE09AC-1284-4AA1-8BF4-CC3D6A29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8300"/>
            <a:ext cx="3657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172B3A"/>
                </a:gs>
                <a:gs pos="50000">
                  <a:srgbClr val="E8EDF0"/>
                </a:gs>
                <a:gs pos="100000">
                  <a:srgbClr val="172B3A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E35412-49A4-4C9F-898D-C65E7CC6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Audit the Auditor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4025CD-A7A6-432C-9169-3C7990F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Identify audit decisions needing review.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30269AD-26E1-46DC-832F-EDBBF301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051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2  AUDIT APPLICATION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095A8B3-4DA2-4D8E-8352-D015068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657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EF54B75-A7DE-4E71-9B56-B29C3380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CareAllies Analytics &amp;</a:t>
            </a:r>
          </a:p>
          <a:p xmlns:a="http://schemas.openxmlformats.org/drawingml/2006/main">
            <a:pPr>
              <a:buNone/>
              <a:defRPr sz="187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Knowledge Assistant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9D56CFB-1C47-4850-BFB7-6359D4BE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Answer business questions using governed data.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C79225B-9DF1-4CDC-AA66-2B50895D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3  SHARED ANALYTICS APPLICATION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7B04C92-C803-4889-A4B7-C7BAB877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86175"/>
            <a:ext cx="3657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D738B4A-E055-4932-B598-4EC22AE8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Automated Risk Score</a:t>
            </a:r>
          </a:p>
          <a:p xmlns:a="http://schemas.openxmlformats.org/drawingml/2006/main">
            <a:pPr>
              <a:buNone/>
              <a:defRPr sz="187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Investigator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5A3D396-3444-42DB-BAA9-4FBD4B2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Explain risk-score changes within Project 3.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37C402C-AB6E-4CEF-B42D-36BA13AC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4  MODULE WITHIN PROJECT 3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834FC8F-DFD4-433A-A42A-97F43E6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86175"/>
            <a:ext cx="3657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172B3A"/>
                </a:gs>
                <a:gs pos="50000">
                  <a:srgbClr val="E8EDF0"/>
                </a:gs>
                <a:gs pos="100000">
                  <a:srgbClr val="172B3A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67BD5D5-6A67-4BC2-A680-6CAE4F5E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Stars Performance</a:t>
            </a:r>
          </a:p>
          <a:p xmlns:a="http://schemas.openxmlformats.org/drawingml/2006/main">
            <a:pPr>
              <a:buNone/>
              <a:defRPr sz="187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Investigator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F75DEDC-ABE5-4F6E-8A39-B622B87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958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Investigate trends and find eligible chart evidence.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6587191-A657-406F-8DF8-3062E8CE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5305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5  QUALITY APPLICATION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3DF9AFF-95FB-48A1-A912-AA6A7D30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86175"/>
            <a:ext cx="36576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5623FA6-3FED-48DC-88B8-9041C38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Provider Behavior</a:t>
            </a:r>
          </a:p>
          <a:p xmlns:a="http://schemas.openxmlformats.org/drawingml/2006/main">
            <a:pPr>
              <a:buNone/>
              <a:defRPr sz="187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Profiling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6051D5A-5A02-4D49-88EE-0B0F9BD5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958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Target engagement using provider patterns.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AD174B1-6D5F-43E9-A19E-AE75EFAB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5305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6  PROVIDER INTELLIGENCE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F1C5DC-C4E5-4867-BD78-73ACC9CD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Value: less chart review; evidence for 2 and 5.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653E3-A71A-4B43-A11A-7F7084D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67025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Value: potential fee/surplus gains; audit time saved.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5AECCB-E790-44C8-9552-EC69253B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67025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Value: faster answers; analyst capacity at scale.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812B6-7EF5-40BF-AC62-B90C012C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Value: faster risk investigations and follow-up.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5CED00-C037-4A67-9FA7-1337A1CB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14900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Value: validated gap closure; less duplicate outreach.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5457F1-F285-40E8-9602-1A05B70F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27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Value: potential PMPM uplift, lower MLR and outreach effort.</a:t>
            </a:r>
          </a:p>
        </p:txBody>
      </p:sp>
    </p:spTree>
    <p:extLst>
      <p:ext uri="{BB962C8B-B14F-4D97-AF65-F5344CB8AC3E}">
        <p14:creationId xmlns:p14="http://schemas.microsoft.com/office/powerpoint/2010/main" val="2058126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59A9A05-2C78-4782-AA85-375DAD72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How the projects fit together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C29D89-C311-4D34-8A41-D84ADAE1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Project 3 becomes the common analytics experience. Project 4 is its first focused module.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BAE4474-5BCE-44F1-A7AF-BD6FBF6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F6A84D-F992-495D-99A6-E2DA802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Shared capabilities support several applications. Each application has its own outcome measures.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ED3DB3-6C2C-49A0-813C-E478776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6126184-453F-40C4-BC93-754CAD1A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A4F4F06-2D04-49BC-82A3-437F7946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1D33B-5A57-48FB-A40F-7EC8A018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467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B491A-59CC-46C5-9B56-51742AA1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08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3  Analytics &amp; Knowledge Assistant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B4ED2-8F1E-43E2-B67B-A8017133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86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Business and leadership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4  Risk Score Investigator sits inside this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Stars and provider insights can use the same services.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53552-D7AE-4FE3-B912-846A189B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56578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3034B-41E4-40E8-A4DF-36529B5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527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Reusable capabilities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F4372-C22F-4D71-891F-71102EF3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52768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1  Clinical evidence supports 2 and chart-based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Governed data serves 3, 4, 5 and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6  Provider ML can start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243996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F8B229D-A31B-434E-AE54-2539425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Business value and proof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65CC6E-4060-4512-BBE3-B3C0C564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Revenue and quality gains require validated actions. Time savings require a measured baseline.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3A9BE3-3DD8-4721-A4B4-638692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867F42-113A-4919-A8F3-F6F4FBB0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Measure net benefit after review effort, operating cost and implementation cost.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A9894A-30E7-436E-841F-08B9E0C5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DCCAD9-77EF-475D-8D1A-2F60CAA3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1982A9B-8B38-406C-9CF1-479D2F70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A2D64-02A2-4BE0-9209-1D460E3E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CDC8E3-922E-49FC-9F0F-47B4FD5E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Revenue and margin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E0E03-8C86-46CA-8F65-8D1EE3B5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2766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2  Valid audit corrections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6  Targeted interventions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Measure attributable fee/surplus benefit, revenue PMPM and MLR.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A2FDC3-8006-4625-BE42-435D40E9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4523B1-8E8C-412E-B45B-9B1E65A3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859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Analyst capacity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3047CE-D28A-478A-94C4-CFBDAC26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67000"/>
            <a:ext cx="32766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3 and 4  Faster answers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Measure analyst hours per request, turnaround time and answer accuracy.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F5784-1E4D-46A8-AE81-DC91BB26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6576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781CB3-32B0-48B9-AA38-7BAF99A1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8595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Quality and outreach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D386EC-0AAE-410C-8CA5-59A55739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32766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1 and 5  Reusable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6  Better engagement targeting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Measure review time, validated gaps and outreach effort.</a:t>
            </a:r>
          </a:p>
        </p:txBody>
      </p:sp>
    </p:spTree>
    <p:extLst>
      <p:ext uri="{BB962C8B-B14F-4D97-AF65-F5344CB8AC3E}">
        <p14:creationId xmlns:p14="http://schemas.microsoft.com/office/powerpoint/2010/main" val="1672175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Rectangle 121">
            <a:extLst xmlns:a="http://schemas.openxmlformats.org/drawingml/2006/main">
              <a:ext uri="{FF2B5EF4-FFF2-40B4-BE49-F238E27FC236}">
                <a16:creationId xmlns:a16="http://schemas.microsoft.com/office/drawing/2014/main" id="{14504043-EE8E-4C46-BA0D-EB756C3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Leadership decisions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C91172-AD68-4FD9-A137-6DB4F552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A bounded pilot can establish value while the team confirms the shared technology needs.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DD299A-0B1C-473D-9395-39AF498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BB8D2B3-8D88-47F5-8B05-1F362166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Proposed starting point: Project 4 within Project 3, plus a small clinical evidence benchmark.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F478F69-D8EA-43CC-BDA9-963DD8E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8CAD3C7-24C6-4A61-B3F2-EA3C1A5C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AC47C91-15BD-418E-83ED-6E2484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A956124-F623-42F7-9372-3706B535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4673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9084113-91A6-46D4-8E6E-1ED4277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086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7975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479754"/>
                </a:solidFill>
                <a:latin typeface="Calibri"/>
                <a:ea typeface="Calibri"/>
                <a:cs typeface="Calibri"/>
              </a:rPr>
              <a:t>Pilot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8EC2BAA-3B80-4508-946F-15C40F2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0863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Select one risk-score question with a known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Test a small chart sample for extraction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Assign business owners and success criteria.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849A4E5-C523-4AFF-AFEA-81A3D27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56578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100000">
                  <a:srgbClr val="E5E9EB"/>
                </a:gs>
              </a:gsLst>
              <a:lin ang="0"/>
            </a:gra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5D88466-E7EF-4644-8E55-AB0D0A5D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85950"/>
            <a:ext cx="5276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87BA8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87BA8"/>
                </a:solidFill>
                <a:latin typeface="Calibri"/>
                <a:ea typeface="Calibri"/>
                <a:cs typeface="Calibri"/>
              </a:rPr>
              <a:t>Access and ownership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11228C4-5263-42CA-B228-DF9BC24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52768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Confirm an approved model endpoint and allowed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Validate connectivity and the application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Assign Finance and SMEs to validate ROI and accuracy.</a:t>
            </a:r>
          </a:p>
        </p:txBody>
      </p:sp>
    </p:spTree>
    <p:extLst>
      <p:ext uri="{BB962C8B-B14F-4D97-AF65-F5344CB8AC3E}">
        <p14:creationId xmlns:p14="http://schemas.microsoft.com/office/powerpoint/2010/main" val="1534620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Project × Technology: data and AI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R = required for proposed baseline. O = optional. Reuse = consumes an existing service.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Tools are candidates. Selection depends on approved deployment, access and evaluation.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333625"/>
                <a:gridCol w="2286000"/>
                <a:gridCol w="2286000"/>
                <a:gridCol w="2352675"/>
              </a:tblGrid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Data / SQL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TD, Redshift, Python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Documents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parser, OCR, vision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LLM API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approved endpoint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Knowledge search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AI Search / pgvector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1  Clinical documents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evidence tables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extraction pipeline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evidence extraction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terminology lookup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2  Audit the Auditor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audit + code tables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Reuse: Project 1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evidence assessment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applicable guidance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3  Analytics Assistant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governed queries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extracted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questions + answers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definitions and SOPs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4  Risk Investigator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decomposition tools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clinical detail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Reuse: Project 3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Reuse: Project 3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5  Stars Investigator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measures + gaps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 for chart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explanation / extraction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 for chart guidance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6  Provider Profiling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provider features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engagement notes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profile narratives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narrative retrieval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52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Project × Technology: application and control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Each project reuses platform services while retaining its own business logic and evaluation.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Identity, permissions, protected logs and version tracking apply to every project.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333625"/>
                <a:gridCol w="2286000"/>
                <a:gridCol w="2286000"/>
                <a:gridCol w="2352675"/>
              </a:tblGrid>
              <a:tr h="55789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Project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Rules / validation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SQL, Python, Pydantic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ML / lifecycle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scikit-learn, MLflow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Pipeline / API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Airflow, FastAPI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UI / evaluation</a:t>
                      </a:r>
                    </a:p>
                    <a:p>
                      <a:r>
                        <a:rPr sz="1350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Streamlit or web app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1  Clinical documents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schema + 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tuned extraction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jobs + evidence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source-page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2  Audit the Auditor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ICD/HCC + audit rules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triage model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review queue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adjudicated cases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3  Analytics Assistant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metric/query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model routing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controlled tool calls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cited answer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4  Risk Investigator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cohort + RAF bridge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anomaly detection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Reuse: Project 3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reconciled drivers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5  Stars Investigator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measure-year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O: forecasts / ranking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evidence + metrics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false-closure tests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6  Provider Profiling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feature validation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clustering + registry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batch scoring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R: segment stability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52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Technology availability: data and AI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Reported use does not establish approval for this AI workload. Validate with the named owner role.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Status reflects the discussion, not a verified enterprise inventory. No service is assumed PHI-approved.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857375"/>
                <a:gridCol w="3476625"/>
                <a:gridCol w="4067175"/>
              </a:tblGrid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Reported position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Candidate / reuse option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Confirmation needed / owner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Structured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In 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Teradata: claims/membership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Redshift: clinical notes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Read-only views, joins, freshness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Data engineering + DBA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Pipelines / files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In use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Python, Airflow on OpenShift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S3 and Parquet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Service identity, retention, routing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Platform + data engineering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LLM / vision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Not confirmed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Approved Azure OpenAI or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Amazon Bedrock endpoint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Model, region, quota, data approval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HCSC AI + security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Document extraction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Demo only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PDF parser + Azure Document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Intelligence or approved vision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Handwriting benchmark and cost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AI engineer + clinical SME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RAG / embeddings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POC experience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Azure AI Search or pgvector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Approved embedding 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Hosting, ACLs, effective dates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Platform + knowledge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52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Technology availability: delivery and QA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An operational application needs deployment and review capabilities in addition to model access.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Choose one approved service per need. Keep local LLM hosting and fine-tuning outside the initial scope.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857375"/>
                <a:gridCol w="3476625"/>
                <a:gridCol w="4067175"/>
              </a:tblGrid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Reported position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Candidate / reuse option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Confirmation needed / owner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Rules and 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Python stack reported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SQL, scikit-learn, XGBoost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Pydantic for output schemas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Versioned rules and feature labels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Analytics + domain SMEs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Application host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OpenShift reported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FastAPI, Streamlit pilot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Supported production web UI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Runtime, support and deployment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Platform + app engineering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Identity / secrets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AI integration unverified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Enterprise SSO / Entra ID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Approved secrets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Row/document access enforcement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Security + IAM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Evaluation / registry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Shared service unconfirmed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MLflow + reviewed test cases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Git-based code/prompt versions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Ground truth, gates, monitoring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ML lead + QA + business SME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Review / operations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Workflow to build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Reviewer queue + audit trail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Protected logs and alerts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Decision rights, escalation, cost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Operations + compliance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525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ROI assumptions and measurement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The $3,000 HCC figure is an illustrative planning assumption, pending Finance validation.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HCC payment impact varies. CareAllies value depends on contract terms and realized outcomes.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19100" y="1619250"/>
          <a:ext xmlns:a="http://schemas.openxmlformats.org/drawingml/2006/main" cx="11353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762500"/>
                <a:gridCol w="4257675"/>
              </a:tblGrid>
              <a:tr h="781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Value stream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Calculation / measurement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87BA8"/>
                          </a:solidFill>
                          <a:latin typeface="Calibri"/>
                          <a:ea typeface="Calibri"/>
                          <a:cs typeface="Calibri"/>
                        </a:rPr>
                        <a:t>Important qualification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2  Audit financial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Validated incremental payment effect × contractual share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+ attributable fee change, if separately applicable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Do not assume every HCC adds $3,000.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Account for hierarchy, eligibility and member months.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Illustrative HCC scenario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100 validated incremental member-HCC opportunities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× $3,000 assumed annual gross impact = $300,000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Illustration only. Assumes a full year and additive impact.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Gross payer impact is not CareAllies revenue.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1–5  Review / analyst capacity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Requests or charts × net hours saved × loaded hourly 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Baseline hours are TBD. Include human review.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Capacity value becomes cash savings only if realized.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6  Provider interventions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Compare revenue PMPM, claims PMPM, MLR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and outreach effort against a credible comparator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PMPM and MLR changes are targets, not model outputs.</a:t>
                      </a:r>
                    </a:p>
                    <a:p>
                      <a:r>
                        <a:rPr sz="1350" b="0">
                          <a:solidFill>
                            <a:srgbClr val="172B3A"/>
                          </a:solidFill>
                          <a:latin typeface="Calibri"/>
                          <a:ea typeface="Calibri"/>
                          <a:cs typeface="Calibri"/>
                        </a:rPr>
                        <a:t>Adjust for mix and avoid double-counting benefits.</a:t>
                      </a:r>
                    </a:p>
                  </a:txBody>
                  <a:tcPr marL="91440" marR="91440" marT="45720" marB="4572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0525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A3702F3-F964-4247-B9FB-8C1CEBA7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Clinical Documentation Intelligence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B8E1FB-C9BF-4D38-BA54-BC94BB0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Convert scanned, handwritten, and digital records into structured, traceable clinical evidence.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78A773-B872-4DAC-92CB-1CE83A73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BED5F1F-43A4-45E9-A42E-1AC9B75D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Enabled applications: Audit the Auditor | Stars clinical evidence detection | Future clinical analytics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41BA30-E3B8-4F89-877E-5DD0F12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353991-562D-47C4-B066-2BC54C8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F0AF91-18AA-43CC-AB85-24CCD9A9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245302D-8351-4885-89FE-D43BE7D1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3657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D18A39"/>
                </a:gs>
                <a:gs pos="50000">
                  <a:srgbClr val="E8EDF0"/>
                </a:gs>
                <a:gs pos="100000">
                  <a:srgbClr val="D18A39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D3F38A8-86D8-49E8-BBFE-46C694E2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18A39"/>
                </a:solidFill>
              </a:defRPr>
            </a:pPr>
            <a:r>
              <a:rPr sz="2100" b="0">
                <a:solidFill>
                  <a:srgbClr val="D18A39"/>
                </a:solidFill>
              </a:rPr>
              <a:t>Problem Statement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545076-6F47-4CD0-8250-1FD60FC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289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Manual abstraction consumes time.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6B14724-1B51-4853-8C66-12E0508F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Document quality and formats vary.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F4FD5F1-7546-4E00-9D6C-87320DA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672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Evidence needs dates, context, and source location.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756C44-D559-45C8-8FB3-C748F4B0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657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8B30A54-195E-42F4-88E5-4F9C325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79754"/>
                </a:solidFill>
              </a:defRPr>
            </a:pPr>
            <a:r>
              <a:rPr sz="2100" b="0">
                <a:solidFill>
                  <a:srgbClr val="479754"/>
                </a:solidFill>
              </a:rPr>
              <a:t>Solution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6A3C73-16D9-48C0-921F-AA51822C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289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Secure ingestion and document classification.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630952-36B3-4FD0-BDF0-B401826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4805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OCR or multimodal extraction into a governed schema.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BF3B00F-B122-4E8D-8CAE-E8A734F6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672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Page citations and quality checks route uncertain items to review.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12B438-D3CD-461F-A096-32A5930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657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2A1D82C-A872-4E2E-A694-DE13F59F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87BA8"/>
                </a:solidFill>
              </a:defRPr>
            </a:pPr>
            <a:r>
              <a:rPr sz="2100" b="0">
                <a:solidFill>
                  <a:srgbClr val="287BA8"/>
                </a:solidFill>
              </a:rPr>
              <a:t>ROI / Advantages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8F97FF-4567-4556-80E5-87D4F379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289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Reuse evidence across Risk Adjustment and Stars.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14F5310-12FD-48EC-B258-46DD183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Reduce repeated extraction effort.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CAA1B2D-CEF2-42CD-9A71-5321EC49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672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Create a reusable clinical evidence layer for downstream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105052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6DDA5B2-AD4F-4360-858E-FC89B989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172B3A"/>
                </a:solidFill>
                <a:latin typeface="Calibri"/>
                <a:ea typeface="Calibri"/>
                <a:cs typeface="Calibri"/>
              </a:defRPr>
            </a:pPr>
            <a:r>
              <a:rPr sz="2700" b="0">
                <a:solidFill>
                  <a:srgbClr val="172B3A"/>
                </a:solidFill>
                <a:latin typeface="Calibri"/>
                <a:ea typeface="Calibri"/>
                <a:cs typeface="Calibri"/>
              </a:rPr>
              <a:t>CareAllies Analytics &amp; Knowledge Assistant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1CD10B-8D74-4AE1-B023-401B3B73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Create a governed connection between CareAllies data, business knowledge, and reusable AI services.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FB3D62A-A1ED-4858-9E12-0F1CF908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2F329B-E1D5-46B2-A376-5F4DAAAD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Retrieve knowledge. Calculate with governed tools. Explain with the LLM.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E748159-3D4C-4724-A85C-FBF9B76E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076E93B-FF5A-41C7-9E97-ED85E12F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70CA752-5F5E-4056-83F7-22AA4C10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B5F6B6-C6B4-45CB-AA5A-05D8669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3657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D18A39"/>
                </a:gs>
                <a:gs pos="50000">
                  <a:srgbClr val="E8EDF0"/>
                </a:gs>
                <a:gs pos="100000">
                  <a:srgbClr val="D18A39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371A8A-2086-43EB-B9A9-C420C27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18A39"/>
                </a:solidFill>
              </a:defRPr>
            </a:pPr>
            <a:r>
              <a:rPr sz="2100" b="0">
                <a:solidFill>
                  <a:srgbClr val="D18A39"/>
                </a:solidFill>
              </a:rPr>
              <a:t>Problem Statement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0582934-6899-44DC-977E-89CB24FB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289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Knowledge is fragmented across reports, databases, and documentation.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85F3806-8794-46D8-9A24-5DC2BE4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4805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Investigations require manual joins and SME interpretation.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6A72E25-3E57-4375-B831-E34F015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672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Definitions and methodologies change over time.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13D12E-7082-4380-80EF-C2F23D92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657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F7ED113-E163-4BF3-98B4-4514E24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79754"/>
                </a:solidFill>
              </a:defRPr>
            </a:pPr>
            <a:r>
              <a:rPr sz="2100" b="0">
                <a:solidFill>
                  <a:srgbClr val="479754"/>
                </a:solidFill>
              </a:rPr>
              <a:t>Solution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8E71EAC-1EEC-4B16-B91A-EEF5D67D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289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Retrieve approved guidance with effective dates and citations.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7DCB246-5E5E-4062-B264-F0C3AC14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4805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Use controlled SQL and deterministic analytical tools.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86C119F-707B-4E23-8D0A-B810CDC4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672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Connect an approved LLM through governed APIs, permissions, and audit logs.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BE5D38D-4B40-4919-9428-6065165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657600" cy="389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4DD6B94-1727-4FF0-AA66-5870CF3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526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87BA8"/>
                </a:solidFill>
              </a:defRPr>
            </a:pPr>
            <a:r>
              <a:rPr sz="2100" b="0">
                <a:solidFill>
                  <a:srgbClr val="287BA8"/>
                </a:solidFill>
              </a:rPr>
              <a:t>ROI / Advantages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94B6179-BB6D-4CB7-93DB-72B32A2F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289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Accelerate analytical investigation.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095B875-D2D1-4832-9138-FA7A6EF0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Reuse data and knowledge services across applications.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7F39F4C-E642-4406-85B9-BC1A0519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67200"/>
            <a:ext cx="32099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• Preserve institutional knowledge and scale self-service analytics.</a:t>
            </a:r>
          </a:p>
        </p:txBody>
      </p:sp>
    </p:spTree>
    <p:extLst>
      <p:ext uri="{BB962C8B-B14F-4D97-AF65-F5344CB8AC3E}">
        <p14:creationId xmlns:p14="http://schemas.microsoft.com/office/powerpoint/2010/main" val="1907197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CD0C930-5FF8-43B5-86C2-D9B9ADC1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"/>
            <a:ext cx="11353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72B3A"/>
                </a:solidFill>
              </a:defRPr>
            </a:pPr>
            <a:r>
              <a:rPr sz="3000" b="0">
                <a:solidFill>
                  <a:srgbClr val="172B3A"/>
                </a:solidFill>
              </a:rPr>
              <a:t>Shared Investment, Independent Proof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BD4511-8650-491F-B500-0143F625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1550"/>
            <a:ext cx="1131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6636C"/>
                </a:solidFill>
              </a:defRPr>
            </a:pPr>
            <a:r>
              <a:rPr sz="1425" b="0">
                <a:solidFill>
                  <a:srgbClr val="56636C"/>
                </a:solidFill>
              </a:rPr>
              <a:t>Each pilot can validate a business outcome while contributing reusable components.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E8F33C7-E455-4912-B1D7-E11BFB13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4075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F77A0A-C8BB-4426-A20C-9DA3081E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293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B3A"/>
                </a:solidFill>
              </a:defRPr>
            </a:pPr>
            <a:r>
              <a:rPr sz="1350" b="0">
                <a:solidFill>
                  <a:srgbClr val="172B3A"/>
                </a:solidFill>
              </a:rPr>
              <a:t>Select bounded pilots based on data access, ground truth, measurable value, and approval readiness.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C7A8D87-17AD-4D17-AA00-270E3CE0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24625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56636C"/>
                </a:solidFill>
              </a:defRPr>
            </a:pPr>
            <a:r>
              <a:rPr sz="825" b="0">
                <a:solidFill>
                  <a:srgbClr val="56636C"/>
                </a:solidFill>
              </a:rPr>
              <a:t>Confidential. Property of CareAllies. © 2026 CareAllies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425CEC-5354-4007-B014-3ABE9460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151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6636C"/>
                </a:solidFill>
              </a:defRPr>
            </a:pPr>
            <a:r>
              <a:rPr sz="975" b="0">
                <a:solidFill>
                  <a:srgbClr val="56636C"/>
                </a:solidFill>
              </a:rPr>
              <a:t>BIDE | HEALTHCARE AI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2C2405-233A-4AC7-9B25-E55022CD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CareAllies.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1EE2208-A342-44C7-8042-2077CFF6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24025"/>
            <a:ext cx="365760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1040DC2-46A7-412A-94E9-7561140F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Clinical evidence track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0475741-9A03-4392-A79A-1C8012D1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2766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Start: clinical extraction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Reuse: traceable evidence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Prove: audit secondary review or selected Stars measures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Measure: evidence accuracy and reviewer time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E2F067-FE34-47A0-B1DE-5993537D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24025"/>
            <a:ext cx="365760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287BA8"/>
                </a:gs>
                <a:gs pos="50000">
                  <a:srgbClr val="E8EDF0"/>
                </a:gs>
                <a:gs pos="100000">
                  <a:srgbClr val="287BA8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EE99AE-0AF6-4148-A5F2-26412FA1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9547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87BA8"/>
                </a:solidFill>
              </a:defRPr>
            </a:pPr>
            <a:r>
              <a:rPr sz="1875" b="0">
                <a:solidFill>
                  <a:srgbClr val="287BA8"/>
                </a:solidFill>
              </a:rPr>
              <a:t>Analytics track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702E9E5-5F50-47AD-8E9C-93CE0BC6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19375"/>
            <a:ext cx="32766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Start: governed SQL + rules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Reuse: metric definitions and investigation logic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Prove: risk-score driver analysis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Measure: reconciliation accuracy and analyst time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3742CCF-B18C-42E2-8F77-3F3B43C5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24025"/>
            <a:ext cx="3657600" cy="3590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gradFill>
              <a:gsLst>
                <a:gs pos="0">
                  <a:srgbClr val="479754"/>
                </a:gs>
                <a:gs pos="50000">
                  <a:srgbClr val="E8EDF0"/>
                </a:gs>
                <a:gs pos="100000">
                  <a:srgbClr val="479754"/>
                </a:gs>
              </a:gsLst>
              <a:lin ang="1800000"/>
            </a:gra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9A8497A-3BA9-4A4D-8925-A63F176F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9547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79754"/>
                </a:solidFill>
              </a:defRPr>
            </a:pPr>
            <a:r>
              <a:rPr sz="1875" b="0">
                <a:solidFill>
                  <a:srgbClr val="479754"/>
                </a:solidFill>
              </a:rPr>
              <a:t>Provider intelligence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B10047A-A988-4B22-9D73-C06618FF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32766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Start: historical features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Reuse: provider feature pipeline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Prove: stable segments linked to engagement outcomes</a:t>
            </a:r>
          </a:p>
          <a:p xmlns:a="http://schemas.openxmlformats.org/drawingml/2006/main">
            <a:endParaRPr sz="1500" b="0">
              <a:solidFill>
                <a:srgbClr val="172B3A"/>
              </a:solidFill>
            </a:endParaRPr>
          </a:p>
          <a:p xmlns:a="http://schemas.openxmlformats.org/drawingml/2006/main">
            <a:pPr>
              <a:buNone/>
              <a:defRPr sz="1500" b="0">
                <a:solidFill>
                  <a:srgbClr val="172B3A"/>
                </a:solidFill>
              </a:defRPr>
            </a:pPr>
            <a:r>
              <a:rPr sz="1500" b="0">
                <a:solidFill>
                  <a:srgbClr val="172B3A"/>
                </a:solidFill>
              </a:rPr>
              <a:t>Measure: segment stability and out-of-time performance</a:t>
            </a:r>
          </a:p>
        </p:txBody>
      </p:sp>
    </p:spTree>
    <p:extLst>
      <p:ext uri="{BB962C8B-B14F-4D97-AF65-F5344CB8AC3E}">
        <p14:creationId xmlns:p14="http://schemas.microsoft.com/office/powerpoint/2010/main" val="130293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2026-09-28T13:20:58.8790000Z</dcterms:created>
  <dcterms:modified xsi:type="dcterms:W3CDTF">2026-09-28T13:20:58.8790000Z</dcterms:modified>
</coreProperties>
</file>