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60350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5C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ICON SYSTEM  /  VOL. 01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4944" y="114300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/ DATA / DEVOPS</a:t>
            </a:r>
            <a:endParaRPr lang="en-US" sz="4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ICON LIBRARY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31520" y="3099816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C4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consistent visual language for technical presentations,</a:t>
            </a:r>
            <a:endParaRPr lang="en-US" sz="1820" dirty="0"/>
          </a:p>
          <a:p>
            <a:pPr indent="0" marL="0">
              <a:buNone/>
            </a:pPr>
            <a:r>
              <a:rPr lang="en-US" sz="1820" dirty="0">
                <a:solidFill>
                  <a:srgbClr val="C4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diagrams, workshops and executive storytelling.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731520" y="49011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spc="100" kern="0" dirty="0">
                <a:solidFill>
                  <a:srgbClr val="A9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ICONS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24912" y="49011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2724912" y="54864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spc="100" kern="0" dirty="0">
                <a:solidFill>
                  <a:srgbClr val="A9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DISCIPLINES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718304" y="49011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718304" y="54864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spc="100" kern="0" dirty="0">
                <a:solidFill>
                  <a:srgbClr val="A9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THEMES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498080" y="960120"/>
            <a:ext cx="1673352" cy="1508760"/>
          </a:xfrm>
          <a:prstGeom prst="roundRect">
            <a:avLst/>
          </a:prstGeom>
          <a:solidFill>
            <a:srgbClr val="103A5C"/>
          </a:solidFill>
          <a:ln w="12700">
            <a:solidFill>
              <a:srgbClr val="103A5C"/>
            </a:solidFill>
            <a:prstDash val="solid"/>
          </a:ln>
        </p:spPr>
      </p:sp>
      <p:pic>
        <p:nvPicPr>
          <p:cNvPr id="13" name="Image 0" descr="rag-pipeli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0416" y="1115568"/>
            <a:ext cx="868680" cy="868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71232" y="212140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CE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PIPELINE</a:t>
            </a:r>
            <a:endParaRPr lang="en-US" sz="910" dirty="0"/>
          </a:p>
        </p:txBody>
      </p:sp>
      <p:sp>
        <p:nvSpPr>
          <p:cNvPr id="15" name="Shape 12"/>
          <p:cNvSpPr/>
          <p:nvPr/>
        </p:nvSpPr>
        <p:spPr>
          <a:xfrm>
            <a:off x="9445752" y="960120"/>
            <a:ext cx="1673352" cy="1508760"/>
          </a:xfrm>
          <a:prstGeom prst="roundRect">
            <a:avLst/>
          </a:prstGeom>
          <a:solidFill>
            <a:srgbClr val="103A5C"/>
          </a:solidFill>
          <a:ln w="12700">
            <a:solidFill>
              <a:srgbClr val="103A5C"/>
            </a:solidFill>
            <a:prstDash val="solid"/>
          </a:ln>
        </p:spPr>
      </p:sp>
      <p:pic>
        <p:nvPicPr>
          <p:cNvPr id="16" name="Image 1" descr="data-pipelin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8088" y="1115568"/>
            <a:ext cx="868680" cy="8686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518904" y="212140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CE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PIPELINE</a:t>
            </a:r>
            <a:endParaRPr lang="en-US" sz="910" dirty="0"/>
          </a:p>
        </p:txBody>
      </p:sp>
      <p:sp>
        <p:nvSpPr>
          <p:cNvPr id="18" name="Shape 14"/>
          <p:cNvSpPr/>
          <p:nvPr/>
        </p:nvSpPr>
        <p:spPr>
          <a:xfrm>
            <a:off x="7498080" y="2688336"/>
            <a:ext cx="1673352" cy="1508760"/>
          </a:xfrm>
          <a:prstGeom prst="roundRect">
            <a:avLst/>
          </a:prstGeom>
          <a:solidFill>
            <a:srgbClr val="103A5C"/>
          </a:solidFill>
          <a:ln w="12700">
            <a:solidFill>
              <a:srgbClr val="103A5C"/>
            </a:solidFill>
            <a:prstDash val="solid"/>
          </a:ln>
        </p:spPr>
      </p:sp>
      <p:pic>
        <p:nvPicPr>
          <p:cNvPr id="19" name="Image 2" descr="neural-network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0416" y="2843784"/>
            <a:ext cx="868680" cy="8686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71232" y="38496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CE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910" dirty="0"/>
          </a:p>
        </p:txBody>
      </p:sp>
      <p:sp>
        <p:nvSpPr>
          <p:cNvPr id="21" name="Shape 16"/>
          <p:cNvSpPr/>
          <p:nvPr/>
        </p:nvSpPr>
        <p:spPr>
          <a:xfrm>
            <a:off x="9445752" y="2688336"/>
            <a:ext cx="1673352" cy="1508760"/>
          </a:xfrm>
          <a:prstGeom prst="roundRect">
            <a:avLst/>
          </a:prstGeom>
          <a:solidFill>
            <a:srgbClr val="103A5C"/>
          </a:solidFill>
          <a:ln w="12700">
            <a:solidFill>
              <a:srgbClr val="103A5C"/>
            </a:solidFill>
            <a:prstDash val="solid"/>
          </a:ln>
        </p:spPr>
      </p:sp>
      <p:pic>
        <p:nvPicPr>
          <p:cNvPr id="22" name="Image 3" descr="analytics-dashboard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48088" y="2843784"/>
            <a:ext cx="868680" cy="8686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18904" y="38496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CE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DASHBOARD</a:t>
            </a:r>
            <a:endParaRPr lang="en-US" sz="910" dirty="0"/>
          </a:p>
        </p:txBody>
      </p:sp>
      <p:sp>
        <p:nvSpPr>
          <p:cNvPr id="24" name="Shape 18"/>
          <p:cNvSpPr/>
          <p:nvPr/>
        </p:nvSpPr>
        <p:spPr>
          <a:xfrm>
            <a:off x="7498080" y="4416552"/>
            <a:ext cx="1673352" cy="1508760"/>
          </a:xfrm>
          <a:prstGeom prst="roundRect">
            <a:avLst/>
          </a:prstGeom>
          <a:solidFill>
            <a:srgbClr val="103A5C"/>
          </a:solidFill>
          <a:ln w="12700">
            <a:solidFill>
              <a:srgbClr val="103A5C"/>
            </a:solidFill>
            <a:prstDash val="solid"/>
          </a:ln>
        </p:spPr>
      </p:sp>
      <p:pic>
        <p:nvPicPr>
          <p:cNvPr id="25" name="Image 4" descr="ci-cd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00416" y="4572000"/>
            <a:ext cx="868680" cy="8686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71232" y="5577840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CE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CD</a:t>
            </a:r>
            <a:endParaRPr lang="en-US" sz="910" dirty="0"/>
          </a:p>
        </p:txBody>
      </p:sp>
      <p:sp>
        <p:nvSpPr>
          <p:cNvPr id="27" name="Shape 20"/>
          <p:cNvSpPr/>
          <p:nvPr/>
        </p:nvSpPr>
        <p:spPr>
          <a:xfrm>
            <a:off x="9445752" y="4416552"/>
            <a:ext cx="1673352" cy="1508760"/>
          </a:xfrm>
          <a:prstGeom prst="roundRect">
            <a:avLst/>
          </a:prstGeom>
          <a:solidFill>
            <a:srgbClr val="103A5C"/>
          </a:solidFill>
          <a:ln w="12700">
            <a:solidFill>
              <a:srgbClr val="103A5C"/>
            </a:solidFill>
            <a:prstDash val="solid"/>
          </a:ln>
        </p:spPr>
      </p:sp>
      <p:pic>
        <p:nvPicPr>
          <p:cNvPr id="28" name="Image 5" descr="privacy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48088" y="4572000"/>
            <a:ext cx="868680" cy="8686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518904" y="5577840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CE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910" dirty="0"/>
          </a:p>
        </p:txBody>
      </p:sp>
      <p:sp>
        <p:nvSpPr>
          <p:cNvPr id="30" name="Text 22"/>
          <p:cNvSpPr/>
          <p:nvPr/>
        </p:nvSpPr>
        <p:spPr>
          <a:xfrm>
            <a:off x="731520" y="630021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FC4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Vector-first  /  PowerPoint-ready  /  Searchable offline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139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START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style for your slide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SVG icon, four color treatments. All variants have transparent backgrounds and editable vector geometry.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26609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A"/>
            </a:solidFill>
            <a:prstDash val="solid"/>
          </a:ln>
        </p:spPr>
      </p:sp>
      <p:pic>
        <p:nvPicPr>
          <p:cNvPr id="9" name="Image 0" descr="rag-pipeli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3896" y="2432304"/>
            <a:ext cx="1133856" cy="11338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38862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NAVY MONO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859536" y="437083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light, minimal slides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3538728" y="2011680"/>
            <a:ext cx="26609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A"/>
            </a:solidFill>
            <a:prstDash val="solid"/>
          </a:ln>
        </p:spPr>
      </p:sp>
      <p:pic>
        <p:nvPicPr>
          <p:cNvPr id="13" name="Image 1" descr="rag-pipelin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6824" y="2432304"/>
            <a:ext cx="1133856" cy="11338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9896" y="38862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ACCENT</a:t>
            </a:r>
            <a:endParaRPr lang="en-US" sz="1330" dirty="0"/>
          </a:p>
        </p:txBody>
      </p:sp>
      <p:sp>
        <p:nvSpPr>
          <p:cNvPr id="15" name="Text 11"/>
          <p:cNvSpPr/>
          <p:nvPr/>
        </p:nvSpPr>
        <p:spPr>
          <a:xfrm>
            <a:off x="3712464" y="437083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technical diagrams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6391656" y="2011680"/>
            <a:ext cx="2660904" cy="324612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2850"/>
            </a:solidFill>
            <a:prstDash val="solid"/>
          </a:ln>
        </p:spPr>
      </p:sp>
      <p:pic>
        <p:nvPicPr>
          <p:cNvPr id="17" name="Image 2" descr="rag-pipelin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9752" y="2432304"/>
            <a:ext cx="1133856" cy="11338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92824" y="38862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MONO</a:t>
            </a:r>
            <a:endParaRPr lang="en-US" sz="1330" dirty="0"/>
          </a:p>
        </p:txBody>
      </p:sp>
      <p:sp>
        <p:nvSpPr>
          <p:cNvPr id="19" name="Text 14"/>
          <p:cNvSpPr/>
          <p:nvPr/>
        </p:nvSpPr>
        <p:spPr>
          <a:xfrm>
            <a:off x="6565392" y="437083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B8C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dark slides</a:t>
            </a:r>
            <a:endParaRPr lang="en-US" sz="1090" dirty="0"/>
          </a:p>
        </p:txBody>
      </p:sp>
      <p:sp>
        <p:nvSpPr>
          <p:cNvPr id="20" name="Shape 15"/>
          <p:cNvSpPr/>
          <p:nvPr/>
        </p:nvSpPr>
        <p:spPr>
          <a:xfrm>
            <a:off x="9244584" y="2011680"/>
            <a:ext cx="2660904" cy="3246120"/>
          </a:xfrm>
          <a:prstGeom prst="roundRect">
            <a:avLst/>
          </a:prstGeom>
          <a:solidFill>
            <a:srgbClr val="002850"/>
          </a:solidFill>
          <a:ln w="12700">
            <a:solidFill>
              <a:srgbClr val="002850"/>
            </a:solidFill>
            <a:prstDash val="solid"/>
          </a:ln>
        </p:spPr>
      </p:sp>
      <p:pic>
        <p:nvPicPr>
          <p:cNvPr id="21" name="Image 3" descr="rag-pipelin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2680" y="2432304"/>
            <a:ext cx="1133856" cy="11338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45752" y="38862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 NEON</a:t>
            </a:r>
            <a:endParaRPr lang="en-US" sz="1330" dirty="0"/>
          </a:p>
        </p:txBody>
      </p:sp>
      <p:sp>
        <p:nvSpPr>
          <p:cNvPr id="23" name="Text 17"/>
          <p:cNvSpPr/>
          <p:nvPr/>
        </p:nvSpPr>
        <p:spPr>
          <a:xfrm>
            <a:off x="9418320" y="437083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B8C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bold technical decks</a:t>
            </a:r>
            <a:endParaRPr lang="en-US" sz="1090" dirty="0"/>
          </a:p>
        </p:txBody>
      </p:sp>
      <p:sp>
        <p:nvSpPr>
          <p:cNvPr id="24" name="Text 18"/>
          <p:cNvSpPr/>
          <p:nvPr/>
        </p:nvSpPr>
        <p:spPr>
          <a:xfrm>
            <a:off x="713232" y="57424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  •  In PowerPoint, insert SVGs as pictures; compatible desktop editions can convert them to editable shapes.</a:t>
            </a:r>
            <a:endParaRPr lang="en-US" sz="12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139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01 / 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&amp; Machine Learning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Models, learning methods, prediction, vision and explainability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74520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10" name="Image 0" descr="neural-networ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2130552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66420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neural-network.svg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355701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874520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15" name="Image 1" descr="machine-learni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608" y="2130552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454456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machine-learning.svg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43737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7376" y="1874520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20" name="Image 2" descr="deep-learni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1968" y="2130552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2492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380" dirty="0"/>
          </a:p>
        </p:txBody>
      </p:sp>
      <p:sp>
        <p:nvSpPr>
          <p:cNvPr id="22" name="Text 17"/>
          <p:cNvSpPr/>
          <p:nvPr/>
        </p:nvSpPr>
        <p:spPr>
          <a:xfrm>
            <a:off x="742492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deep-learning.svg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931773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7736" y="1874520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25" name="Image 3" descr="computer-vision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82328" y="2130552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0528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</a:t>
            </a:r>
            <a:endParaRPr lang="en-US" sz="1380" dirty="0"/>
          </a:p>
        </p:txBody>
      </p:sp>
      <p:sp>
        <p:nvSpPr>
          <p:cNvPr id="27" name="Text 21"/>
          <p:cNvSpPr/>
          <p:nvPr/>
        </p:nvSpPr>
        <p:spPr>
          <a:xfrm>
            <a:off x="1030528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computer-vision.svg</a:t>
            </a:r>
            <a:endParaRPr lang="en-US" sz="940" dirty="0"/>
          </a:p>
        </p:txBody>
      </p:sp>
      <p:sp>
        <p:nvSpPr>
          <p:cNvPr id="28" name="Shape 22"/>
          <p:cNvSpPr/>
          <p:nvPr/>
        </p:nvSpPr>
        <p:spPr>
          <a:xfrm>
            <a:off x="67665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6656" y="3319272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30" name="Image 4" descr="image-recognition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3575304"/>
            <a:ext cx="731520" cy="7315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6420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Recognition</a:t>
            </a:r>
            <a:endParaRPr lang="en-US" sz="1380" dirty="0"/>
          </a:p>
        </p:txBody>
      </p:sp>
      <p:sp>
        <p:nvSpPr>
          <p:cNvPr id="32" name="Text 25"/>
          <p:cNvSpPr/>
          <p:nvPr/>
        </p:nvSpPr>
        <p:spPr>
          <a:xfrm>
            <a:off x="166420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image-recognition.svg</a:t>
            </a:r>
            <a:endParaRPr lang="en-US" sz="940" dirty="0"/>
          </a:p>
        </p:txBody>
      </p:sp>
      <p:sp>
        <p:nvSpPr>
          <p:cNvPr id="33" name="Shape 26"/>
          <p:cNvSpPr/>
          <p:nvPr/>
        </p:nvSpPr>
        <p:spPr>
          <a:xfrm>
            <a:off x="355701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557016" y="3319272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35" name="Image 5" descr="forecast-model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21608" y="3575304"/>
            <a:ext cx="731520" cy="7315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4456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Model</a:t>
            </a:r>
            <a:endParaRPr lang="en-US" sz="1380" dirty="0"/>
          </a:p>
        </p:txBody>
      </p:sp>
      <p:sp>
        <p:nvSpPr>
          <p:cNvPr id="37" name="Text 29"/>
          <p:cNvSpPr/>
          <p:nvPr/>
        </p:nvSpPr>
        <p:spPr>
          <a:xfrm>
            <a:off x="454456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forecast-model.svg</a:t>
            </a:r>
            <a:endParaRPr lang="en-US" sz="940" dirty="0"/>
          </a:p>
        </p:txBody>
      </p:sp>
      <p:sp>
        <p:nvSpPr>
          <p:cNvPr id="38" name="Shape 30"/>
          <p:cNvSpPr/>
          <p:nvPr/>
        </p:nvSpPr>
        <p:spPr>
          <a:xfrm>
            <a:off x="643737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37376" y="3319272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40" name="Image 6" descr="classificatio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1968" y="3575304"/>
            <a:ext cx="731520" cy="7315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42492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380" dirty="0"/>
          </a:p>
        </p:txBody>
      </p:sp>
      <p:sp>
        <p:nvSpPr>
          <p:cNvPr id="42" name="Text 33"/>
          <p:cNvSpPr/>
          <p:nvPr/>
        </p:nvSpPr>
        <p:spPr>
          <a:xfrm>
            <a:off x="742492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classification.svg</a:t>
            </a:r>
            <a:endParaRPr lang="en-US" sz="940" dirty="0"/>
          </a:p>
        </p:txBody>
      </p:sp>
      <p:sp>
        <p:nvSpPr>
          <p:cNvPr id="43" name="Shape 34"/>
          <p:cNvSpPr/>
          <p:nvPr/>
        </p:nvSpPr>
        <p:spPr>
          <a:xfrm>
            <a:off x="931773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17736" y="3319272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45" name="Image 7" descr="clusteri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82328" y="3575304"/>
            <a:ext cx="731520" cy="7315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30528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</a:t>
            </a:r>
            <a:endParaRPr lang="en-US" sz="1380" dirty="0"/>
          </a:p>
        </p:txBody>
      </p:sp>
      <p:sp>
        <p:nvSpPr>
          <p:cNvPr id="47" name="Text 37"/>
          <p:cNvSpPr/>
          <p:nvPr/>
        </p:nvSpPr>
        <p:spPr>
          <a:xfrm>
            <a:off x="1030528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clustering.svg</a:t>
            </a:r>
            <a:endParaRPr lang="en-US" sz="940" dirty="0"/>
          </a:p>
        </p:txBody>
      </p:sp>
      <p:sp>
        <p:nvSpPr>
          <p:cNvPr id="48" name="Shape 38"/>
          <p:cNvSpPr/>
          <p:nvPr/>
        </p:nvSpPr>
        <p:spPr>
          <a:xfrm>
            <a:off x="67665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76656" y="4764024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50" name="Image 8" descr="feature-engineeri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020056"/>
            <a:ext cx="731520" cy="7315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66420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1380" dirty="0"/>
          </a:p>
        </p:txBody>
      </p:sp>
      <p:sp>
        <p:nvSpPr>
          <p:cNvPr id="52" name="Text 41"/>
          <p:cNvSpPr/>
          <p:nvPr/>
        </p:nvSpPr>
        <p:spPr>
          <a:xfrm>
            <a:off x="166420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feature-engineering.svg</a:t>
            </a:r>
            <a:endParaRPr lang="en-US" sz="940" dirty="0"/>
          </a:p>
        </p:txBody>
      </p:sp>
      <p:sp>
        <p:nvSpPr>
          <p:cNvPr id="53" name="Shape 42"/>
          <p:cNvSpPr/>
          <p:nvPr/>
        </p:nvSpPr>
        <p:spPr>
          <a:xfrm>
            <a:off x="355701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557016" y="4764024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55" name="Image 9" descr="model-traini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21608" y="5020056"/>
            <a:ext cx="731520" cy="7315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54456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Training</a:t>
            </a:r>
            <a:endParaRPr lang="en-US" sz="1380" dirty="0"/>
          </a:p>
        </p:txBody>
      </p:sp>
      <p:sp>
        <p:nvSpPr>
          <p:cNvPr id="57" name="Text 45"/>
          <p:cNvSpPr/>
          <p:nvPr/>
        </p:nvSpPr>
        <p:spPr>
          <a:xfrm>
            <a:off x="454456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model-training.svg</a:t>
            </a:r>
            <a:endParaRPr lang="en-US" sz="940" dirty="0"/>
          </a:p>
        </p:txBody>
      </p:sp>
      <p:sp>
        <p:nvSpPr>
          <p:cNvPr id="58" name="Shape 46"/>
          <p:cNvSpPr/>
          <p:nvPr/>
        </p:nvSpPr>
        <p:spPr>
          <a:xfrm>
            <a:off x="643737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437376" y="4764024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60" name="Image 10" descr="model-evaluation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1968" y="5020056"/>
            <a:ext cx="731520" cy="73152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42492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Evaluation</a:t>
            </a:r>
            <a:endParaRPr lang="en-US" sz="1380" dirty="0"/>
          </a:p>
        </p:txBody>
      </p:sp>
      <p:sp>
        <p:nvSpPr>
          <p:cNvPr id="62" name="Text 49"/>
          <p:cNvSpPr/>
          <p:nvPr/>
        </p:nvSpPr>
        <p:spPr>
          <a:xfrm>
            <a:off x="742492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model-evaluation.svg</a:t>
            </a:r>
            <a:endParaRPr lang="en-US" sz="940" dirty="0"/>
          </a:p>
        </p:txBody>
      </p:sp>
      <p:sp>
        <p:nvSpPr>
          <p:cNvPr id="63" name="Shape 50"/>
          <p:cNvSpPr/>
          <p:nvPr/>
        </p:nvSpPr>
        <p:spPr>
          <a:xfrm>
            <a:off x="931773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9317736" y="4764024"/>
            <a:ext cx="51206" cy="1261872"/>
          </a:xfrm>
          <a:prstGeom prst="rect">
            <a:avLst/>
          </a:prstGeom>
          <a:solidFill>
            <a:srgbClr val="A09BE7"/>
          </a:solidFill>
          <a:ln w="12700">
            <a:solidFill>
              <a:srgbClr val="A09BE7"/>
            </a:solidFill>
            <a:prstDash val="solid"/>
          </a:ln>
        </p:spPr>
      </p:sp>
      <p:pic>
        <p:nvPicPr>
          <p:cNvPr id="65" name="Image 11" descr="explainable-ai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482328" y="5020056"/>
            <a:ext cx="731520" cy="731520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030528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AI</a:t>
            </a:r>
            <a:endParaRPr lang="en-US" sz="1380" dirty="0"/>
          </a:p>
        </p:txBody>
      </p:sp>
      <p:sp>
        <p:nvSpPr>
          <p:cNvPr id="67" name="Text 53"/>
          <p:cNvSpPr/>
          <p:nvPr/>
        </p:nvSpPr>
        <p:spPr>
          <a:xfrm>
            <a:off x="1030528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explainable-ai.svg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139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02 / 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&amp; Generative AI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Transformers, embeddings, retrieval, agents and generative workflows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74520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10" name="Image 0" descr="large-language-mode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2130552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Language Model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66420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large-language-model.svg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355701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874520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15" name="Image 1" descr="transformer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608" y="2130552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454456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transformer.svg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43737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7376" y="1874520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20" name="Image 2" descr="tokenizatio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1968" y="2130552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2492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Tokenization</a:t>
            </a:r>
            <a:endParaRPr lang="en-US" sz="1380" dirty="0"/>
          </a:p>
        </p:txBody>
      </p:sp>
      <p:sp>
        <p:nvSpPr>
          <p:cNvPr id="22" name="Text 17"/>
          <p:cNvSpPr/>
          <p:nvPr/>
        </p:nvSpPr>
        <p:spPr>
          <a:xfrm>
            <a:off x="742492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tokenization.svg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931773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7736" y="1874520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25" name="Image 3" descr="text-embeddi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82328" y="2130552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0528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Embedding</a:t>
            </a:r>
            <a:endParaRPr lang="en-US" sz="1380" dirty="0"/>
          </a:p>
        </p:txBody>
      </p:sp>
      <p:sp>
        <p:nvSpPr>
          <p:cNvPr id="27" name="Text 21"/>
          <p:cNvSpPr/>
          <p:nvPr/>
        </p:nvSpPr>
        <p:spPr>
          <a:xfrm>
            <a:off x="1030528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text-embedding.svg</a:t>
            </a:r>
            <a:endParaRPr lang="en-US" sz="940" dirty="0"/>
          </a:p>
        </p:txBody>
      </p:sp>
      <p:sp>
        <p:nvSpPr>
          <p:cNvPr id="28" name="Shape 22"/>
          <p:cNvSpPr/>
          <p:nvPr/>
        </p:nvSpPr>
        <p:spPr>
          <a:xfrm>
            <a:off x="67665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6656" y="3319272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30" name="Image 4" descr="vector-search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3575304"/>
            <a:ext cx="731520" cy="7315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6420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Search</a:t>
            </a:r>
            <a:endParaRPr lang="en-US" sz="1380" dirty="0"/>
          </a:p>
        </p:txBody>
      </p:sp>
      <p:sp>
        <p:nvSpPr>
          <p:cNvPr id="32" name="Text 25"/>
          <p:cNvSpPr/>
          <p:nvPr/>
        </p:nvSpPr>
        <p:spPr>
          <a:xfrm>
            <a:off x="166420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vector-search.svg</a:t>
            </a:r>
            <a:endParaRPr lang="en-US" sz="940" dirty="0"/>
          </a:p>
        </p:txBody>
      </p:sp>
      <p:sp>
        <p:nvSpPr>
          <p:cNvPr id="33" name="Shape 26"/>
          <p:cNvSpPr/>
          <p:nvPr/>
        </p:nvSpPr>
        <p:spPr>
          <a:xfrm>
            <a:off x="355701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557016" y="3319272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35" name="Image 5" descr="rag-pipelin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21608" y="3575304"/>
            <a:ext cx="731520" cy="7315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4456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Pipeline</a:t>
            </a:r>
            <a:endParaRPr lang="en-US" sz="1380" dirty="0"/>
          </a:p>
        </p:txBody>
      </p:sp>
      <p:sp>
        <p:nvSpPr>
          <p:cNvPr id="37" name="Text 29"/>
          <p:cNvSpPr/>
          <p:nvPr/>
        </p:nvSpPr>
        <p:spPr>
          <a:xfrm>
            <a:off x="454456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rag-pipeline.svg</a:t>
            </a:r>
            <a:endParaRPr lang="en-US" sz="940" dirty="0"/>
          </a:p>
        </p:txBody>
      </p:sp>
      <p:sp>
        <p:nvSpPr>
          <p:cNvPr id="38" name="Shape 30"/>
          <p:cNvSpPr/>
          <p:nvPr/>
        </p:nvSpPr>
        <p:spPr>
          <a:xfrm>
            <a:off x="643737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37376" y="3319272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40" name="Image 6" descr="prompt-engineeri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1968" y="3575304"/>
            <a:ext cx="731520" cy="7315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42492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Engineering</a:t>
            </a:r>
            <a:endParaRPr lang="en-US" sz="1380" dirty="0"/>
          </a:p>
        </p:txBody>
      </p:sp>
      <p:sp>
        <p:nvSpPr>
          <p:cNvPr id="42" name="Text 33"/>
          <p:cNvSpPr/>
          <p:nvPr/>
        </p:nvSpPr>
        <p:spPr>
          <a:xfrm>
            <a:off x="742492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prompt-engineering.svg</a:t>
            </a:r>
            <a:endParaRPr lang="en-US" sz="940" dirty="0"/>
          </a:p>
        </p:txBody>
      </p:sp>
      <p:sp>
        <p:nvSpPr>
          <p:cNvPr id="43" name="Shape 34"/>
          <p:cNvSpPr/>
          <p:nvPr/>
        </p:nvSpPr>
        <p:spPr>
          <a:xfrm>
            <a:off x="931773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17736" y="3319272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45" name="Image 7" descr="agentic-ai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82328" y="3575304"/>
            <a:ext cx="731520" cy="7315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30528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1380" dirty="0"/>
          </a:p>
        </p:txBody>
      </p:sp>
      <p:sp>
        <p:nvSpPr>
          <p:cNvPr id="47" name="Text 37"/>
          <p:cNvSpPr/>
          <p:nvPr/>
        </p:nvSpPr>
        <p:spPr>
          <a:xfrm>
            <a:off x="1030528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agentic-ai.svg</a:t>
            </a:r>
            <a:endParaRPr lang="en-US" sz="940" dirty="0"/>
          </a:p>
        </p:txBody>
      </p:sp>
      <p:sp>
        <p:nvSpPr>
          <p:cNvPr id="48" name="Shape 38"/>
          <p:cNvSpPr/>
          <p:nvPr/>
        </p:nvSpPr>
        <p:spPr>
          <a:xfrm>
            <a:off x="67665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76656" y="4764024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50" name="Image 8" descr="tool-calli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020056"/>
            <a:ext cx="731520" cy="7315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66420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Calling</a:t>
            </a:r>
            <a:endParaRPr lang="en-US" sz="1380" dirty="0"/>
          </a:p>
        </p:txBody>
      </p:sp>
      <p:sp>
        <p:nvSpPr>
          <p:cNvPr id="52" name="Text 41"/>
          <p:cNvSpPr/>
          <p:nvPr/>
        </p:nvSpPr>
        <p:spPr>
          <a:xfrm>
            <a:off x="166420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tool-calling.svg</a:t>
            </a:r>
            <a:endParaRPr lang="en-US" sz="940" dirty="0"/>
          </a:p>
        </p:txBody>
      </p:sp>
      <p:sp>
        <p:nvSpPr>
          <p:cNvPr id="53" name="Shape 42"/>
          <p:cNvSpPr/>
          <p:nvPr/>
        </p:nvSpPr>
        <p:spPr>
          <a:xfrm>
            <a:off x="355701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557016" y="4764024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55" name="Image 9" descr="fine-tuni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21608" y="5020056"/>
            <a:ext cx="731520" cy="7315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54456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Fine-Tuning</a:t>
            </a:r>
            <a:endParaRPr lang="en-US" sz="1380" dirty="0"/>
          </a:p>
        </p:txBody>
      </p:sp>
      <p:sp>
        <p:nvSpPr>
          <p:cNvPr id="57" name="Text 45"/>
          <p:cNvSpPr/>
          <p:nvPr/>
        </p:nvSpPr>
        <p:spPr>
          <a:xfrm>
            <a:off x="454456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fine-tuning.svg</a:t>
            </a:r>
            <a:endParaRPr lang="en-US" sz="940" dirty="0"/>
          </a:p>
        </p:txBody>
      </p:sp>
      <p:sp>
        <p:nvSpPr>
          <p:cNvPr id="58" name="Shape 46"/>
          <p:cNvSpPr/>
          <p:nvPr/>
        </p:nvSpPr>
        <p:spPr>
          <a:xfrm>
            <a:off x="643737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437376" y="4764024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60" name="Image 10" descr="guardrails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1968" y="5020056"/>
            <a:ext cx="731520" cy="73152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42492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Guardrails</a:t>
            </a:r>
            <a:endParaRPr lang="en-US" sz="1380" dirty="0"/>
          </a:p>
        </p:txBody>
      </p:sp>
      <p:sp>
        <p:nvSpPr>
          <p:cNvPr id="62" name="Text 49"/>
          <p:cNvSpPr/>
          <p:nvPr/>
        </p:nvSpPr>
        <p:spPr>
          <a:xfrm>
            <a:off x="742492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guardrails.svg</a:t>
            </a:r>
            <a:endParaRPr lang="en-US" sz="940" dirty="0"/>
          </a:p>
        </p:txBody>
      </p:sp>
      <p:sp>
        <p:nvSpPr>
          <p:cNvPr id="63" name="Shape 50"/>
          <p:cNvSpPr/>
          <p:nvPr/>
        </p:nvSpPr>
        <p:spPr>
          <a:xfrm>
            <a:off x="931773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9317736" y="4764024"/>
            <a:ext cx="51206" cy="1261872"/>
          </a:xfrm>
          <a:prstGeom prst="rect">
            <a:avLst/>
          </a:prstGeom>
          <a:solidFill>
            <a:srgbClr val="1395D1"/>
          </a:solidFill>
          <a:ln w="12700">
            <a:solidFill>
              <a:srgbClr val="1395D1"/>
            </a:solidFill>
            <a:prstDash val="solid"/>
          </a:ln>
        </p:spPr>
      </p:sp>
      <p:pic>
        <p:nvPicPr>
          <p:cNvPr id="65" name="Image 11" descr="multimodal-ai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482328" y="5020056"/>
            <a:ext cx="731520" cy="731520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030528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AI</a:t>
            </a:r>
            <a:endParaRPr lang="en-US" sz="1380" dirty="0"/>
          </a:p>
        </p:txBody>
      </p:sp>
      <p:sp>
        <p:nvSpPr>
          <p:cNvPr id="67" name="Text 53"/>
          <p:cNvSpPr/>
          <p:nvPr/>
        </p:nvSpPr>
        <p:spPr>
          <a:xfrm>
            <a:off x="1030528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multimodal-ai.svg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139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03 / 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Engineering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Pipelines, storage, transformations and data architecture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74520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10" name="Image 0" descr="data-pipeli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2130552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Pipeline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66420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data-pipeline.svg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355701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874520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15" name="Image 1" descr="etl-proces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608" y="2130552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ETL Process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454456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etl-process.svg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43737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7376" y="1874520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20" name="Image 2" descr="stream-processi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1968" y="2130552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2492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Processing</a:t>
            </a:r>
            <a:endParaRPr lang="en-US" sz="1380" dirty="0"/>
          </a:p>
        </p:txBody>
      </p:sp>
      <p:sp>
        <p:nvSpPr>
          <p:cNvPr id="22" name="Text 17"/>
          <p:cNvSpPr/>
          <p:nvPr/>
        </p:nvSpPr>
        <p:spPr>
          <a:xfrm>
            <a:off x="742492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stream-processing.svg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931773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7736" y="1874520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25" name="Image 3" descr="batch-processi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82328" y="2130552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0528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Processing</a:t>
            </a:r>
            <a:endParaRPr lang="en-US" sz="1380" dirty="0"/>
          </a:p>
        </p:txBody>
      </p:sp>
      <p:sp>
        <p:nvSpPr>
          <p:cNvPr id="27" name="Text 21"/>
          <p:cNvSpPr/>
          <p:nvPr/>
        </p:nvSpPr>
        <p:spPr>
          <a:xfrm>
            <a:off x="1030528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batch-processing.svg</a:t>
            </a:r>
            <a:endParaRPr lang="en-US" sz="940" dirty="0"/>
          </a:p>
        </p:txBody>
      </p:sp>
      <p:sp>
        <p:nvSpPr>
          <p:cNvPr id="28" name="Shape 22"/>
          <p:cNvSpPr/>
          <p:nvPr/>
        </p:nvSpPr>
        <p:spPr>
          <a:xfrm>
            <a:off x="67665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6656" y="3319272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30" name="Image 4" descr="data-lak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3575304"/>
            <a:ext cx="731520" cy="7315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6420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Lake</a:t>
            </a:r>
            <a:endParaRPr lang="en-US" sz="1380" dirty="0"/>
          </a:p>
        </p:txBody>
      </p:sp>
      <p:sp>
        <p:nvSpPr>
          <p:cNvPr id="32" name="Text 25"/>
          <p:cNvSpPr/>
          <p:nvPr/>
        </p:nvSpPr>
        <p:spPr>
          <a:xfrm>
            <a:off x="166420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data-lake.svg</a:t>
            </a:r>
            <a:endParaRPr lang="en-US" sz="940" dirty="0"/>
          </a:p>
        </p:txBody>
      </p:sp>
      <p:sp>
        <p:nvSpPr>
          <p:cNvPr id="33" name="Shape 26"/>
          <p:cNvSpPr/>
          <p:nvPr/>
        </p:nvSpPr>
        <p:spPr>
          <a:xfrm>
            <a:off x="355701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557016" y="3319272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35" name="Image 5" descr="data-warehous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21608" y="3575304"/>
            <a:ext cx="731520" cy="7315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4456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Warehouse</a:t>
            </a:r>
            <a:endParaRPr lang="en-US" sz="1380" dirty="0"/>
          </a:p>
        </p:txBody>
      </p:sp>
      <p:sp>
        <p:nvSpPr>
          <p:cNvPr id="37" name="Text 29"/>
          <p:cNvSpPr/>
          <p:nvPr/>
        </p:nvSpPr>
        <p:spPr>
          <a:xfrm>
            <a:off x="454456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data-warehouse.svg</a:t>
            </a:r>
            <a:endParaRPr lang="en-US" sz="940" dirty="0"/>
          </a:p>
        </p:txBody>
      </p:sp>
      <p:sp>
        <p:nvSpPr>
          <p:cNvPr id="38" name="Shape 30"/>
          <p:cNvSpPr/>
          <p:nvPr/>
        </p:nvSpPr>
        <p:spPr>
          <a:xfrm>
            <a:off x="643737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37376" y="3319272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40" name="Image 6" descr="lakehous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1968" y="3575304"/>
            <a:ext cx="731520" cy="7315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42492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</a:t>
            </a:r>
            <a:endParaRPr lang="en-US" sz="1380" dirty="0"/>
          </a:p>
        </p:txBody>
      </p:sp>
      <p:sp>
        <p:nvSpPr>
          <p:cNvPr id="42" name="Text 33"/>
          <p:cNvSpPr/>
          <p:nvPr/>
        </p:nvSpPr>
        <p:spPr>
          <a:xfrm>
            <a:off x="742492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lakehouse.svg</a:t>
            </a:r>
            <a:endParaRPr lang="en-US" sz="940" dirty="0"/>
          </a:p>
        </p:txBody>
      </p:sp>
      <p:sp>
        <p:nvSpPr>
          <p:cNvPr id="43" name="Shape 34"/>
          <p:cNvSpPr/>
          <p:nvPr/>
        </p:nvSpPr>
        <p:spPr>
          <a:xfrm>
            <a:off x="931773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17736" y="3319272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45" name="Image 7" descr="databas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82328" y="3575304"/>
            <a:ext cx="731520" cy="7315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30528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380" dirty="0"/>
          </a:p>
        </p:txBody>
      </p:sp>
      <p:sp>
        <p:nvSpPr>
          <p:cNvPr id="47" name="Text 37"/>
          <p:cNvSpPr/>
          <p:nvPr/>
        </p:nvSpPr>
        <p:spPr>
          <a:xfrm>
            <a:off x="1030528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database.svg</a:t>
            </a:r>
            <a:endParaRPr lang="en-US" sz="940" dirty="0"/>
          </a:p>
        </p:txBody>
      </p:sp>
      <p:sp>
        <p:nvSpPr>
          <p:cNvPr id="48" name="Shape 38"/>
          <p:cNvSpPr/>
          <p:nvPr/>
        </p:nvSpPr>
        <p:spPr>
          <a:xfrm>
            <a:off x="67665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76656" y="4764024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50" name="Image 8" descr="data-ingestion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020056"/>
            <a:ext cx="731520" cy="7315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66420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Ingestion</a:t>
            </a:r>
            <a:endParaRPr lang="en-US" sz="1380" dirty="0"/>
          </a:p>
        </p:txBody>
      </p:sp>
      <p:sp>
        <p:nvSpPr>
          <p:cNvPr id="52" name="Text 41"/>
          <p:cNvSpPr/>
          <p:nvPr/>
        </p:nvSpPr>
        <p:spPr>
          <a:xfrm>
            <a:off x="166420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data-ingestion.svg</a:t>
            </a:r>
            <a:endParaRPr lang="en-US" sz="940" dirty="0"/>
          </a:p>
        </p:txBody>
      </p:sp>
      <p:sp>
        <p:nvSpPr>
          <p:cNvPr id="53" name="Shape 42"/>
          <p:cNvSpPr/>
          <p:nvPr/>
        </p:nvSpPr>
        <p:spPr>
          <a:xfrm>
            <a:off x="355701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557016" y="4764024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55" name="Image 9" descr="data-quality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21608" y="5020056"/>
            <a:ext cx="731520" cy="7315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54456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380" dirty="0"/>
          </a:p>
        </p:txBody>
      </p:sp>
      <p:sp>
        <p:nvSpPr>
          <p:cNvPr id="57" name="Text 45"/>
          <p:cNvSpPr/>
          <p:nvPr/>
        </p:nvSpPr>
        <p:spPr>
          <a:xfrm>
            <a:off x="454456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data-quality.svg</a:t>
            </a:r>
            <a:endParaRPr lang="en-US" sz="940" dirty="0"/>
          </a:p>
        </p:txBody>
      </p:sp>
      <p:sp>
        <p:nvSpPr>
          <p:cNvPr id="58" name="Shape 46"/>
          <p:cNvSpPr/>
          <p:nvPr/>
        </p:nvSpPr>
        <p:spPr>
          <a:xfrm>
            <a:off x="643737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437376" y="4764024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60" name="Image 10" descr="semantic-layer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1968" y="5020056"/>
            <a:ext cx="731520" cy="73152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42492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Layer</a:t>
            </a:r>
            <a:endParaRPr lang="en-US" sz="1380" dirty="0"/>
          </a:p>
        </p:txBody>
      </p:sp>
      <p:sp>
        <p:nvSpPr>
          <p:cNvPr id="62" name="Text 49"/>
          <p:cNvSpPr/>
          <p:nvPr/>
        </p:nvSpPr>
        <p:spPr>
          <a:xfrm>
            <a:off x="742492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semantic-layer.svg</a:t>
            </a:r>
            <a:endParaRPr lang="en-US" sz="940" dirty="0"/>
          </a:p>
        </p:txBody>
      </p:sp>
      <p:sp>
        <p:nvSpPr>
          <p:cNvPr id="63" name="Shape 50"/>
          <p:cNvSpPr/>
          <p:nvPr/>
        </p:nvSpPr>
        <p:spPr>
          <a:xfrm>
            <a:off x="931773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9317736" y="4764024"/>
            <a:ext cx="51206" cy="1261872"/>
          </a:xfrm>
          <a:prstGeom prst="rect">
            <a:avLst/>
          </a:prstGeom>
          <a:solidFill>
            <a:srgbClr val="39B44A"/>
          </a:solidFill>
          <a:ln w="12700">
            <a:solidFill>
              <a:srgbClr val="39B44A"/>
            </a:solidFill>
            <a:prstDash val="solid"/>
          </a:ln>
        </p:spPr>
      </p:sp>
      <p:pic>
        <p:nvPicPr>
          <p:cNvPr id="65" name="Image 11" descr="data-lineage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482328" y="5020056"/>
            <a:ext cx="731520" cy="731520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030528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Lineage</a:t>
            </a:r>
            <a:endParaRPr lang="en-US" sz="1380" dirty="0"/>
          </a:p>
        </p:txBody>
      </p:sp>
      <p:sp>
        <p:nvSpPr>
          <p:cNvPr id="67" name="Text 53"/>
          <p:cNvSpPr/>
          <p:nvPr/>
        </p:nvSpPr>
        <p:spPr>
          <a:xfrm>
            <a:off x="1030528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data-lineage.svg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139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04 / 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 &amp; BI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Dashboards, metrics, forecasting, testing and business intelligence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74520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10" name="Image 0" descr="analytics-dashboar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2130552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Dashboard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66420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analytics-dashboard.svg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355701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874520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15" name="Image 1" descr="kpi-scorecard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608" y="2130552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Scorecard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454456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kpi-scorecard.svg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43737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7376" y="1874520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20" name="Image 2" descr="bar-chart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1968" y="2130552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2492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</a:t>
            </a:r>
            <a:endParaRPr lang="en-US" sz="1380" dirty="0"/>
          </a:p>
        </p:txBody>
      </p:sp>
      <p:sp>
        <p:nvSpPr>
          <p:cNvPr id="22" name="Text 17"/>
          <p:cNvSpPr/>
          <p:nvPr/>
        </p:nvSpPr>
        <p:spPr>
          <a:xfrm>
            <a:off x="742492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bar-chart.svg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931773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7736" y="1874520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25" name="Image 3" descr="time-series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82328" y="2130552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0528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Series</a:t>
            </a:r>
            <a:endParaRPr lang="en-US" sz="1380" dirty="0"/>
          </a:p>
        </p:txBody>
      </p:sp>
      <p:sp>
        <p:nvSpPr>
          <p:cNvPr id="27" name="Text 21"/>
          <p:cNvSpPr/>
          <p:nvPr/>
        </p:nvSpPr>
        <p:spPr>
          <a:xfrm>
            <a:off x="1030528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time-series.svg</a:t>
            </a:r>
            <a:endParaRPr lang="en-US" sz="940" dirty="0"/>
          </a:p>
        </p:txBody>
      </p:sp>
      <p:sp>
        <p:nvSpPr>
          <p:cNvPr id="28" name="Shape 22"/>
          <p:cNvSpPr/>
          <p:nvPr/>
        </p:nvSpPr>
        <p:spPr>
          <a:xfrm>
            <a:off x="67665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6656" y="3319272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30" name="Image 4" descr="cohort-analysis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3575304"/>
            <a:ext cx="731520" cy="7315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6420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Analysis</a:t>
            </a:r>
            <a:endParaRPr lang="en-US" sz="1380" dirty="0"/>
          </a:p>
        </p:txBody>
      </p:sp>
      <p:sp>
        <p:nvSpPr>
          <p:cNvPr id="32" name="Text 25"/>
          <p:cNvSpPr/>
          <p:nvPr/>
        </p:nvSpPr>
        <p:spPr>
          <a:xfrm>
            <a:off x="166420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cohort-analysis.svg</a:t>
            </a:r>
            <a:endParaRPr lang="en-US" sz="940" dirty="0"/>
          </a:p>
        </p:txBody>
      </p:sp>
      <p:sp>
        <p:nvSpPr>
          <p:cNvPr id="33" name="Shape 26"/>
          <p:cNvSpPr/>
          <p:nvPr/>
        </p:nvSpPr>
        <p:spPr>
          <a:xfrm>
            <a:off x="355701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557016" y="3319272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35" name="Image 5" descr="segmentatio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21608" y="3575304"/>
            <a:ext cx="731520" cy="7315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4456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</a:t>
            </a:r>
            <a:endParaRPr lang="en-US" sz="1380" dirty="0"/>
          </a:p>
        </p:txBody>
      </p:sp>
      <p:sp>
        <p:nvSpPr>
          <p:cNvPr id="37" name="Text 29"/>
          <p:cNvSpPr/>
          <p:nvPr/>
        </p:nvSpPr>
        <p:spPr>
          <a:xfrm>
            <a:off x="454456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segmentation.svg</a:t>
            </a:r>
            <a:endParaRPr lang="en-US" sz="940" dirty="0"/>
          </a:p>
        </p:txBody>
      </p:sp>
      <p:sp>
        <p:nvSpPr>
          <p:cNvPr id="38" name="Shape 30"/>
          <p:cNvSpPr/>
          <p:nvPr/>
        </p:nvSpPr>
        <p:spPr>
          <a:xfrm>
            <a:off x="643737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37376" y="3319272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40" name="Image 6" descr="predictive-analytics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1968" y="3575304"/>
            <a:ext cx="731520" cy="7315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42492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</a:t>
            </a:r>
            <a:endParaRPr lang="en-US" sz="1380" dirty="0"/>
          </a:p>
        </p:txBody>
      </p:sp>
      <p:sp>
        <p:nvSpPr>
          <p:cNvPr id="42" name="Text 33"/>
          <p:cNvSpPr/>
          <p:nvPr/>
        </p:nvSpPr>
        <p:spPr>
          <a:xfrm>
            <a:off x="742492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predictive-analytics.svg</a:t>
            </a:r>
            <a:endParaRPr lang="en-US" sz="940" dirty="0"/>
          </a:p>
        </p:txBody>
      </p:sp>
      <p:sp>
        <p:nvSpPr>
          <p:cNvPr id="43" name="Shape 34"/>
          <p:cNvSpPr/>
          <p:nvPr/>
        </p:nvSpPr>
        <p:spPr>
          <a:xfrm>
            <a:off x="931773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17736" y="3319272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45" name="Image 7" descr="ab-testi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82328" y="3575304"/>
            <a:ext cx="731520" cy="7315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30528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Testing</a:t>
            </a:r>
            <a:endParaRPr lang="en-US" sz="1380" dirty="0"/>
          </a:p>
        </p:txBody>
      </p:sp>
      <p:sp>
        <p:nvSpPr>
          <p:cNvPr id="47" name="Text 37"/>
          <p:cNvSpPr/>
          <p:nvPr/>
        </p:nvSpPr>
        <p:spPr>
          <a:xfrm>
            <a:off x="1030528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ab-testing.svg</a:t>
            </a:r>
            <a:endParaRPr lang="en-US" sz="940" dirty="0"/>
          </a:p>
        </p:txBody>
      </p:sp>
      <p:sp>
        <p:nvSpPr>
          <p:cNvPr id="48" name="Shape 38"/>
          <p:cNvSpPr/>
          <p:nvPr/>
        </p:nvSpPr>
        <p:spPr>
          <a:xfrm>
            <a:off x="67665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76656" y="4764024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50" name="Image 8" descr="funnel-analysis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020056"/>
            <a:ext cx="731520" cy="7315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66420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Funnel Analysis</a:t>
            </a:r>
            <a:endParaRPr lang="en-US" sz="1380" dirty="0"/>
          </a:p>
        </p:txBody>
      </p:sp>
      <p:sp>
        <p:nvSpPr>
          <p:cNvPr id="52" name="Text 41"/>
          <p:cNvSpPr/>
          <p:nvPr/>
        </p:nvSpPr>
        <p:spPr>
          <a:xfrm>
            <a:off x="166420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funnel-analysis.svg</a:t>
            </a:r>
            <a:endParaRPr lang="en-US" sz="940" dirty="0"/>
          </a:p>
        </p:txBody>
      </p:sp>
      <p:sp>
        <p:nvSpPr>
          <p:cNvPr id="53" name="Shape 42"/>
          <p:cNvSpPr/>
          <p:nvPr/>
        </p:nvSpPr>
        <p:spPr>
          <a:xfrm>
            <a:off x="355701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557016" y="4764024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55" name="Image 9" descr="geospatial-analytics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21608" y="5020056"/>
            <a:ext cx="731520" cy="7315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54456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 Analytics</a:t>
            </a:r>
            <a:endParaRPr lang="en-US" sz="1380" dirty="0"/>
          </a:p>
        </p:txBody>
      </p:sp>
      <p:sp>
        <p:nvSpPr>
          <p:cNvPr id="57" name="Text 45"/>
          <p:cNvSpPr/>
          <p:nvPr/>
        </p:nvSpPr>
        <p:spPr>
          <a:xfrm>
            <a:off x="454456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geospatial-analytics.svg</a:t>
            </a:r>
            <a:endParaRPr lang="en-US" sz="940" dirty="0"/>
          </a:p>
        </p:txBody>
      </p:sp>
      <p:sp>
        <p:nvSpPr>
          <p:cNvPr id="58" name="Shape 46"/>
          <p:cNvSpPr/>
          <p:nvPr/>
        </p:nvSpPr>
        <p:spPr>
          <a:xfrm>
            <a:off x="643737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437376" y="4764024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60" name="Image 10" descr="anomaly-detection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1968" y="5020056"/>
            <a:ext cx="731520" cy="73152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42492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US" sz="1380" dirty="0"/>
          </a:p>
        </p:txBody>
      </p:sp>
      <p:sp>
        <p:nvSpPr>
          <p:cNvPr id="62" name="Text 49"/>
          <p:cNvSpPr/>
          <p:nvPr/>
        </p:nvSpPr>
        <p:spPr>
          <a:xfrm>
            <a:off x="742492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anomaly-detection.svg</a:t>
            </a:r>
            <a:endParaRPr lang="en-US" sz="940" dirty="0"/>
          </a:p>
        </p:txBody>
      </p:sp>
      <p:sp>
        <p:nvSpPr>
          <p:cNvPr id="63" name="Shape 50"/>
          <p:cNvSpPr/>
          <p:nvPr/>
        </p:nvSpPr>
        <p:spPr>
          <a:xfrm>
            <a:off x="931773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9317736" y="4764024"/>
            <a:ext cx="51206" cy="1261872"/>
          </a:xfrm>
          <a:prstGeom prst="rect">
            <a:avLst/>
          </a:prstGeom>
          <a:solidFill>
            <a:srgbClr val="EBAC00"/>
          </a:solidFill>
          <a:ln w="12700">
            <a:solidFill>
              <a:srgbClr val="EBAC00"/>
            </a:solidFill>
            <a:prstDash val="solid"/>
          </a:ln>
        </p:spPr>
      </p:sp>
      <p:pic>
        <p:nvPicPr>
          <p:cNvPr id="65" name="Image 11" descr="financial-metrics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482328" y="5020056"/>
            <a:ext cx="731520" cy="731520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030528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Metrics</a:t>
            </a:r>
            <a:endParaRPr lang="en-US" sz="1380" dirty="0"/>
          </a:p>
        </p:txBody>
      </p:sp>
      <p:sp>
        <p:nvSpPr>
          <p:cNvPr id="67" name="Text 53"/>
          <p:cNvSpPr/>
          <p:nvPr/>
        </p:nvSpPr>
        <p:spPr>
          <a:xfrm>
            <a:off x="1030528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financial-metrics.svg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139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05 / 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DevOps &amp; Cloud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Automation, deployment, infrastructure and operations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74520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10" name="Image 0" descr="ci-c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2130552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66420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ci-cd.svg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355701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874520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15" name="Image 1" descr="source-contro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608" y="2130552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Control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454456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source-control.svg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43737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7376" y="1874520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20" name="Image 2" descr="containerizatio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1968" y="2130552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2492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</a:t>
            </a:r>
            <a:endParaRPr lang="en-US" sz="1380" dirty="0"/>
          </a:p>
        </p:txBody>
      </p:sp>
      <p:sp>
        <p:nvSpPr>
          <p:cNvPr id="22" name="Text 17"/>
          <p:cNvSpPr/>
          <p:nvPr/>
        </p:nvSpPr>
        <p:spPr>
          <a:xfrm>
            <a:off x="742492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containerization.svg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931773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7736" y="1874520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25" name="Image 3" descr="kubernetes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82328" y="2130552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0528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1380" dirty="0"/>
          </a:p>
        </p:txBody>
      </p:sp>
      <p:sp>
        <p:nvSpPr>
          <p:cNvPr id="27" name="Text 21"/>
          <p:cNvSpPr/>
          <p:nvPr/>
        </p:nvSpPr>
        <p:spPr>
          <a:xfrm>
            <a:off x="1030528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kubernetes.svg</a:t>
            </a:r>
            <a:endParaRPr lang="en-US" sz="940" dirty="0"/>
          </a:p>
        </p:txBody>
      </p:sp>
      <p:sp>
        <p:nvSpPr>
          <p:cNvPr id="28" name="Shape 22"/>
          <p:cNvSpPr/>
          <p:nvPr/>
        </p:nvSpPr>
        <p:spPr>
          <a:xfrm>
            <a:off x="67665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6656" y="3319272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30" name="Image 4" descr="cloud-platform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3575304"/>
            <a:ext cx="731520" cy="7315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6420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Platform</a:t>
            </a:r>
            <a:endParaRPr lang="en-US" sz="1380" dirty="0"/>
          </a:p>
        </p:txBody>
      </p:sp>
      <p:sp>
        <p:nvSpPr>
          <p:cNvPr id="32" name="Text 25"/>
          <p:cNvSpPr/>
          <p:nvPr/>
        </p:nvSpPr>
        <p:spPr>
          <a:xfrm>
            <a:off x="166420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cloud-platform.svg</a:t>
            </a:r>
            <a:endParaRPr lang="en-US" sz="940" dirty="0"/>
          </a:p>
        </p:txBody>
      </p:sp>
      <p:sp>
        <p:nvSpPr>
          <p:cNvPr id="33" name="Shape 26"/>
          <p:cNvSpPr/>
          <p:nvPr/>
        </p:nvSpPr>
        <p:spPr>
          <a:xfrm>
            <a:off x="355701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557016" y="3319272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35" name="Image 5" descr="api-integratio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21608" y="3575304"/>
            <a:ext cx="731520" cy="7315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4456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Integration</a:t>
            </a:r>
            <a:endParaRPr lang="en-US" sz="1380" dirty="0"/>
          </a:p>
        </p:txBody>
      </p:sp>
      <p:sp>
        <p:nvSpPr>
          <p:cNvPr id="37" name="Text 29"/>
          <p:cNvSpPr/>
          <p:nvPr/>
        </p:nvSpPr>
        <p:spPr>
          <a:xfrm>
            <a:off x="454456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api-integration.svg</a:t>
            </a:r>
            <a:endParaRPr lang="en-US" sz="940" dirty="0"/>
          </a:p>
        </p:txBody>
      </p:sp>
      <p:sp>
        <p:nvSpPr>
          <p:cNvPr id="38" name="Shape 30"/>
          <p:cNvSpPr/>
          <p:nvPr/>
        </p:nvSpPr>
        <p:spPr>
          <a:xfrm>
            <a:off x="643737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37376" y="3319272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40" name="Image 6" descr="microservices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1968" y="3575304"/>
            <a:ext cx="731520" cy="7315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42492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Microservices</a:t>
            </a:r>
            <a:endParaRPr lang="en-US" sz="1380" dirty="0"/>
          </a:p>
        </p:txBody>
      </p:sp>
      <p:sp>
        <p:nvSpPr>
          <p:cNvPr id="42" name="Text 33"/>
          <p:cNvSpPr/>
          <p:nvPr/>
        </p:nvSpPr>
        <p:spPr>
          <a:xfrm>
            <a:off x="742492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microservices.svg</a:t>
            </a:r>
            <a:endParaRPr lang="en-US" sz="940" dirty="0"/>
          </a:p>
        </p:txBody>
      </p:sp>
      <p:sp>
        <p:nvSpPr>
          <p:cNvPr id="43" name="Shape 34"/>
          <p:cNvSpPr/>
          <p:nvPr/>
        </p:nvSpPr>
        <p:spPr>
          <a:xfrm>
            <a:off x="931773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17736" y="3319272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45" name="Image 7" descr="infrastructure-as-cod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82328" y="3575304"/>
            <a:ext cx="731520" cy="7315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30528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as Code</a:t>
            </a:r>
            <a:endParaRPr lang="en-US" sz="1380" dirty="0"/>
          </a:p>
        </p:txBody>
      </p:sp>
      <p:sp>
        <p:nvSpPr>
          <p:cNvPr id="47" name="Text 37"/>
          <p:cNvSpPr/>
          <p:nvPr/>
        </p:nvSpPr>
        <p:spPr>
          <a:xfrm>
            <a:off x="1030528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infrastructure-as-code.svg</a:t>
            </a:r>
            <a:endParaRPr lang="en-US" sz="940" dirty="0"/>
          </a:p>
        </p:txBody>
      </p:sp>
      <p:sp>
        <p:nvSpPr>
          <p:cNvPr id="48" name="Shape 38"/>
          <p:cNvSpPr/>
          <p:nvPr/>
        </p:nvSpPr>
        <p:spPr>
          <a:xfrm>
            <a:off x="67665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76656" y="4764024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50" name="Image 8" descr="monitori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020056"/>
            <a:ext cx="731520" cy="7315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66420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380" dirty="0"/>
          </a:p>
        </p:txBody>
      </p:sp>
      <p:sp>
        <p:nvSpPr>
          <p:cNvPr id="52" name="Text 41"/>
          <p:cNvSpPr/>
          <p:nvPr/>
        </p:nvSpPr>
        <p:spPr>
          <a:xfrm>
            <a:off x="166420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monitoring.svg</a:t>
            </a:r>
            <a:endParaRPr lang="en-US" sz="940" dirty="0"/>
          </a:p>
        </p:txBody>
      </p:sp>
      <p:sp>
        <p:nvSpPr>
          <p:cNvPr id="53" name="Shape 42"/>
          <p:cNvSpPr/>
          <p:nvPr/>
        </p:nvSpPr>
        <p:spPr>
          <a:xfrm>
            <a:off x="355701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557016" y="4764024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55" name="Image 9" descr="automated-testi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21608" y="5020056"/>
            <a:ext cx="731520" cy="7315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54456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Testing</a:t>
            </a:r>
            <a:endParaRPr lang="en-US" sz="1380" dirty="0"/>
          </a:p>
        </p:txBody>
      </p:sp>
      <p:sp>
        <p:nvSpPr>
          <p:cNvPr id="57" name="Text 45"/>
          <p:cNvSpPr/>
          <p:nvPr/>
        </p:nvSpPr>
        <p:spPr>
          <a:xfrm>
            <a:off x="454456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automated-testing.svg</a:t>
            </a:r>
            <a:endParaRPr lang="en-US" sz="940" dirty="0"/>
          </a:p>
        </p:txBody>
      </p:sp>
      <p:sp>
        <p:nvSpPr>
          <p:cNvPr id="58" name="Shape 46"/>
          <p:cNvSpPr/>
          <p:nvPr/>
        </p:nvSpPr>
        <p:spPr>
          <a:xfrm>
            <a:off x="643737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437376" y="4764024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60" name="Image 10" descr="deployment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1968" y="5020056"/>
            <a:ext cx="731520" cy="73152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42492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380" dirty="0"/>
          </a:p>
        </p:txBody>
      </p:sp>
      <p:sp>
        <p:nvSpPr>
          <p:cNvPr id="62" name="Text 49"/>
          <p:cNvSpPr/>
          <p:nvPr/>
        </p:nvSpPr>
        <p:spPr>
          <a:xfrm>
            <a:off x="742492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deployment.svg</a:t>
            </a:r>
            <a:endParaRPr lang="en-US" sz="940" dirty="0"/>
          </a:p>
        </p:txBody>
      </p:sp>
      <p:sp>
        <p:nvSpPr>
          <p:cNvPr id="63" name="Shape 50"/>
          <p:cNvSpPr/>
          <p:nvPr/>
        </p:nvSpPr>
        <p:spPr>
          <a:xfrm>
            <a:off x="931773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9317736" y="4764024"/>
            <a:ext cx="51206" cy="1261872"/>
          </a:xfrm>
          <a:prstGeom prst="rect">
            <a:avLst/>
          </a:prstGeom>
          <a:solidFill>
            <a:srgbClr val="E35205"/>
          </a:solidFill>
          <a:ln w="12700">
            <a:solidFill>
              <a:srgbClr val="E35205"/>
            </a:solidFill>
            <a:prstDash val="solid"/>
          </a:ln>
        </p:spPr>
      </p:sp>
      <p:pic>
        <p:nvPicPr>
          <p:cNvPr id="65" name="Image 11" descr="orchestration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482328" y="5020056"/>
            <a:ext cx="731520" cy="731520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030528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1380" dirty="0"/>
          </a:p>
        </p:txBody>
      </p:sp>
      <p:sp>
        <p:nvSpPr>
          <p:cNvPr id="67" name="Text 53"/>
          <p:cNvSpPr/>
          <p:nvPr/>
        </p:nvSpPr>
        <p:spPr>
          <a:xfrm>
            <a:off x="1030528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orchestration.svg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139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06 / 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&amp; Security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Trust, privacy, auditability, access controls and AI assurance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74520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10" name="Image 0" descr="data-governanc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2130552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Governance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66420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data-governance.svg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355701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874520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15" name="Image 1" descr="access-contro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608" y="2130552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454456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access-control.svg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43737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7376" y="1874520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20" name="Image 2" descr="encryptio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1968" y="2130552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2492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1380" dirty="0"/>
          </a:p>
        </p:txBody>
      </p:sp>
      <p:sp>
        <p:nvSpPr>
          <p:cNvPr id="22" name="Text 17"/>
          <p:cNvSpPr/>
          <p:nvPr/>
        </p:nvSpPr>
        <p:spPr>
          <a:xfrm>
            <a:off x="742492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encryption.svg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9317736" y="1874520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7736" y="1874520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25" name="Image 3" descr="audit-trail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82328" y="2130552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05288" y="20848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1380" dirty="0"/>
          </a:p>
        </p:txBody>
      </p:sp>
      <p:sp>
        <p:nvSpPr>
          <p:cNvPr id="27" name="Text 21"/>
          <p:cNvSpPr/>
          <p:nvPr/>
        </p:nvSpPr>
        <p:spPr>
          <a:xfrm>
            <a:off x="10305288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audit-trail.svg</a:t>
            </a:r>
            <a:endParaRPr lang="en-US" sz="940" dirty="0"/>
          </a:p>
        </p:txBody>
      </p:sp>
      <p:sp>
        <p:nvSpPr>
          <p:cNvPr id="28" name="Shape 22"/>
          <p:cNvSpPr/>
          <p:nvPr/>
        </p:nvSpPr>
        <p:spPr>
          <a:xfrm>
            <a:off x="67665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6656" y="3319272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30" name="Image 4" descr="privacy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3575304"/>
            <a:ext cx="731520" cy="7315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6420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380" dirty="0"/>
          </a:p>
        </p:txBody>
      </p:sp>
      <p:sp>
        <p:nvSpPr>
          <p:cNvPr id="32" name="Text 25"/>
          <p:cNvSpPr/>
          <p:nvPr/>
        </p:nvSpPr>
        <p:spPr>
          <a:xfrm>
            <a:off x="166420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privacy.svg</a:t>
            </a:r>
            <a:endParaRPr lang="en-US" sz="940" dirty="0"/>
          </a:p>
        </p:txBody>
      </p:sp>
      <p:sp>
        <p:nvSpPr>
          <p:cNvPr id="33" name="Shape 26"/>
          <p:cNvSpPr/>
          <p:nvPr/>
        </p:nvSpPr>
        <p:spPr>
          <a:xfrm>
            <a:off x="355701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557016" y="3319272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35" name="Image 5" descr="complianc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21608" y="3575304"/>
            <a:ext cx="731520" cy="7315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4456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380" dirty="0"/>
          </a:p>
        </p:txBody>
      </p:sp>
      <p:sp>
        <p:nvSpPr>
          <p:cNvPr id="37" name="Text 29"/>
          <p:cNvSpPr/>
          <p:nvPr/>
        </p:nvSpPr>
        <p:spPr>
          <a:xfrm>
            <a:off x="454456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compliance.svg</a:t>
            </a:r>
            <a:endParaRPr lang="en-US" sz="940" dirty="0"/>
          </a:p>
        </p:txBody>
      </p:sp>
      <p:sp>
        <p:nvSpPr>
          <p:cNvPr id="38" name="Shape 30"/>
          <p:cNvSpPr/>
          <p:nvPr/>
        </p:nvSpPr>
        <p:spPr>
          <a:xfrm>
            <a:off x="643737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37376" y="3319272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40" name="Image 6" descr="human-in-the-loop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1968" y="3575304"/>
            <a:ext cx="731520" cy="7315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42492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 the Loop</a:t>
            </a:r>
            <a:endParaRPr lang="en-US" sz="1380" dirty="0"/>
          </a:p>
        </p:txBody>
      </p:sp>
      <p:sp>
        <p:nvSpPr>
          <p:cNvPr id="42" name="Text 33"/>
          <p:cNvSpPr/>
          <p:nvPr/>
        </p:nvSpPr>
        <p:spPr>
          <a:xfrm>
            <a:off x="742492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human-in-the-loop.svg</a:t>
            </a:r>
            <a:endParaRPr lang="en-US" sz="940" dirty="0"/>
          </a:p>
        </p:txBody>
      </p:sp>
      <p:sp>
        <p:nvSpPr>
          <p:cNvPr id="43" name="Shape 34"/>
          <p:cNvSpPr/>
          <p:nvPr/>
        </p:nvSpPr>
        <p:spPr>
          <a:xfrm>
            <a:off x="9317736" y="3319272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17736" y="3319272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45" name="Image 7" descr="model-drift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82328" y="3575304"/>
            <a:ext cx="731520" cy="7315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305288" y="3529584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Drift</a:t>
            </a:r>
            <a:endParaRPr lang="en-US" sz="1380" dirty="0"/>
          </a:p>
        </p:txBody>
      </p:sp>
      <p:sp>
        <p:nvSpPr>
          <p:cNvPr id="47" name="Text 37"/>
          <p:cNvSpPr/>
          <p:nvPr/>
        </p:nvSpPr>
        <p:spPr>
          <a:xfrm>
            <a:off x="1030528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model-drift.svg</a:t>
            </a:r>
            <a:endParaRPr lang="en-US" sz="940" dirty="0"/>
          </a:p>
        </p:txBody>
      </p:sp>
      <p:sp>
        <p:nvSpPr>
          <p:cNvPr id="48" name="Shape 38"/>
          <p:cNvSpPr/>
          <p:nvPr/>
        </p:nvSpPr>
        <p:spPr>
          <a:xfrm>
            <a:off x="67665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76656" y="4764024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50" name="Image 8" descr="risk-management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020056"/>
            <a:ext cx="731520" cy="7315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66420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Management</a:t>
            </a:r>
            <a:endParaRPr lang="en-US" sz="1380" dirty="0"/>
          </a:p>
        </p:txBody>
      </p:sp>
      <p:sp>
        <p:nvSpPr>
          <p:cNvPr id="52" name="Text 41"/>
          <p:cNvSpPr/>
          <p:nvPr/>
        </p:nvSpPr>
        <p:spPr>
          <a:xfrm>
            <a:off x="166420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risk-management.svg</a:t>
            </a:r>
            <a:endParaRPr lang="en-US" sz="940" dirty="0"/>
          </a:p>
        </p:txBody>
      </p:sp>
      <p:sp>
        <p:nvSpPr>
          <p:cNvPr id="53" name="Shape 42"/>
          <p:cNvSpPr/>
          <p:nvPr/>
        </p:nvSpPr>
        <p:spPr>
          <a:xfrm>
            <a:off x="355701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557016" y="4764024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55" name="Image 9" descr="observability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21608" y="5020056"/>
            <a:ext cx="731520" cy="7315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54456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380" dirty="0"/>
          </a:p>
        </p:txBody>
      </p:sp>
      <p:sp>
        <p:nvSpPr>
          <p:cNvPr id="57" name="Text 45"/>
          <p:cNvSpPr/>
          <p:nvPr/>
        </p:nvSpPr>
        <p:spPr>
          <a:xfrm>
            <a:off x="454456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observability.svg</a:t>
            </a:r>
            <a:endParaRPr lang="en-US" sz="940" dirty="0"/>
          </a:p>
        </p:txBody>
      </p:sp>
      <p:sp>
        <p:nvSpPr>
          <p:cNvPr id="58" name="Shape 46"/>
          <p:cNvSpPr/>
          <p:nvPr/>
        </p:nvSpPr>
        <p:spPr>
          <a:xfrm>
            <a:off x="643737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437376" y="4764024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60" name="Image 10" descr="approval-workflow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1968" y="5020056"/>
            <a:ext cx="731520" cy="73152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42492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Workflow</a:t>
            </a:r>
            <a:endParaRPr lang="en-US" sz="1380" dirty="0"/>
          </a:p>
        </p:txBody>
      </p:sp>
      <p:sp>
        <p:nvSpPr>
          <p:cNvPr id="62" name="Text 49"/>
          <p:cNvSpPr/>
          <p:nvPr/>
        </p:nvSpPr>
        <p:spPr>
          <a:xfrm>
            <a:off x="742492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approval-workflow.svg</a:t>
            </a:r>
            <a:endParaRPr lang="en-US" sz="940" dirty="0"/>
          </a:p>
        </p:txBody>
      </p:sp>
      <p:sp>
        <p:nvSpPr>
          <p:cNvPr id="63" name="Shape 50"/>
          <p:cNvSpPr/>
          <p:nvPr/>
        </p:nvSpPr>
        <p:spPr>
          <a:xfrm>
            <a:off x="9317736" y="4764024"/>
            <a:ext cx="272491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3ECF0"/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9317736" y="4764024"/>
            <a:ext cx="51206" cy="1261872"/>
          </a:xfrm>
          <a:prstGeom prst="rect">
            <a:avLst/>
          </a:prstGeom>
          <a:solidFill>
            <a:srgbClr val="248C9D"/>
          </a:solidFill>
          <a:ln w="12700">
            <a:solidFill>
              <a:srgbClr val="248C9D"/>
            </a:solidFill>
            <a:prstDash val="solid"/>
          </a:ln>
        </p:spPr>
      </p:sp>
      <p:pic>
        <p:nvPicPr>
          <p:cNvPr id="65" name="Image 11" descr="responsible-ai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482328" y="5020056"/>
            <a:ext cx="731520" cy="731520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0305288" y="4974336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</a:t>
            </a:r>
            <a:endParaRPr lang="en-US" sz="1380" dirty="0"/>
          </a:p>
        </p:txBody>
      </p:sp>
      <p:sp>
        <p:nvSpPr>
          <p:cNvPr id="67" name="Text 53"/>
          <p:cNvSpPr/>
          <p:nvPr/>
        </p:nvSpPr>
        <p:spPr>
          <a:xfrm>
            <a:off x="10305288" y="5495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responsible-ai.svg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7ECA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TEMPLATE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enterprise AI workflow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C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slide-ready example combining assets from multiple collections.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496B87"/>
          </a:solidFill>
          <a:ln w="12700">
            <a:solidFill>
              <a:srgbClr val="496B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94B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4B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2331720"/>
            <a:ext cx="1636776" cy="1709928"/>
          </a:xfrm>
          <a:prstGeom prst="roundRect">
            <a:avLst/>
          </a:prstGeom>
          <a:solidFill>
            <a:srgbClr val="0E3A5D"/>
          </a:solidFill>
          <a:ln w="12700">
            <a:solidFill>
              <a:srgbClr val="0E3A5D"/>
            </a:solidFill>
            <a:prstDash val="solid"/>
          </a:ln>
        </p:spPr>
      </p:sp>
      <p:pic>
        <p:nvPicPr>
          <p:cNvPr id="9" name="Image 0" descr="data-ingesti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112" y="2560320"/>
            <a:ext cx="896112" cy="896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57984" y="3136392"/>
            <a:ext cx="274320" cy="0"/>
          </a:xfrm>
          <a:prstGeom prst="line">
            <a:avLst/>
          </a:prstGeom>
          <a:solidFill>
            <a:srgbClr val="65C5ED"/>
          </a:solidFill>
          <a:ln w="12700">
            <a:solidFill>
              <a:srgbClr val="65C5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59736" y="2331720"/>
            <a:ext cx="1636776" cy="1709928"/>
          </a:xfrm>
          <a:prstGeom prst="roundRect">
            <a:avLst/>
          </a:prstGeom>
          <a:solidFill>
            <a:srgbClr val="0E3A5D"/>
          </a:solidFill>
          <a:ln w="12700">
            <a:solidFill>
              <a:srgbClr val="0E3A5D"/>
            </a:solidFill>
            <a:prstDash val="solid"/>
          </a:ln>
        </p:spPr>
      </p:sp>
      <p:pic>
        <p:nvPicPr>
          <p:cNvPr id="13" name="Image 1" descr="data-pipelin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2560320"/>
            <a:ext cx="896112" cy="8961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78608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096512" y="3136392"/>
            <a:ext cx="274320" cy="0"/>
          </a:xfrm>
          <a:prstGeom prst="line">
            <a:avLst/>
          </a:prstGeom>
          <a:solidFill>
            <a:srgbClr val="65C5ED"/>
          </a:solidFill>
          <a:ln w="12700">
            <a:solidFill>
              <a:srgbClr val="65C5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98264" y="2331720"/>
            <a:ext cx="1636776" cy="1709928"/>
          </a:xfrm>
          <a:prstGeom prst="roundRect">
            <a:avLst/>
          </a:prstGeom>
          <a:solidFill>
            <a:srgbClr val="0E3A5D"/>
          </a:solidFill>
          <a:ln w="12700">
            <a:solidFill>
              <a:srgbClr val="0E3A5D"/>
            </a:solidFill>
            <a:prstDash val="solid"/>
          </a:ln>
        </p:spPr>
      </p:sp>
      <p:pic>
        <p:nvPicPr>
          <p:cNvPr id="17" name="Image 2" descr="semantic-laye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3168" y="2560320"/>
            <a:ext cx="896112" cy="8961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17136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35040" y="3136392"/>
            <a:ext cx="274320" cy="0"/>
          </a:xfrm>
          <a:prstGeom prst="line">
            <a:avLst/>
          </a:prstGeom>
          <a:solidFill>
            <a:srgbClr val="65C5ED"/>
          </a:solidFill>
          <a:ln w="12700">
            <a:solidFill>
              <a:srgbClr val="65C5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36792" y="2331720"/>
            <a:ext cx="1636776" cy="1709928"/>
          </a:xfrm>
          <a:prstGeom prst="roundRect">
            <a:avLst/>
          </a:prstGeom>
          <a:solidFill>
            <a:srgbClr val="0E3A5D"/>
          </a:solidFill>
          <a:ln w="12700">
            <a:solidFill>
              <a:srgbClr val="0E3A5D"/>
            </a:solidFill>
            <a:prstDash val="solid"/>
          </a:ln>
        </p:spPr>
      </p:sp>
      <p:pic>
        <p:nvPicPr>
          <p:cNvPr id="21" name="Image 3" descr="rag-pipelin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1696" y="2560320"/>
            <a:ext cx="896112" cy="8961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55664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973568" y="3136392"/>
            <a:ext cx="274320" cy="0"/>
          </a:xfrm>
          <a:prstGeom prst="line">
            <a:avLst/>
          </a:prstGeom>
          <a:solidFill>
            <a:srgbClr val="65C5ED"/>
          </a:solidFill>
          <a:ln w="12700">
            <a:solidFill>
              <a:srgbClr val="65C5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275320" y="2331720"/>
            <a:ext cx="1636776" cy="1709928"/>
          </a:xfrm>
          <a:prstGeom prst="roundRect">
            <a:avLst/>
          </a:prstGeom>
          <a:solidFill>
            <a:srgbClr val="0E3A5D"/>
          </a:solidFill>
          <a:ln w="12700">
            <a:solidFill>
              <a:srgbClr val="0E3A5D"/>
            </a:solidFill>
            <a:prstDash val="solid"/>
          </a:ln>
        </p:spPr>
      </p:sp>
      <p:pic>
        <p:nvPicPr>
          <p:cNvPr id="25" name="Image 4" descr="agentic-ai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50224" y="2560320"/>
            <a:ext cx="896112" cy="8961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94192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9912096" y="3136392"/>
            <a:ext cx="274320" cy="0"/>
          </a:xfrm>
          <a:prstGeom prst="line">
            <a:avLst/>
          </a:prstGeom>
          <a:solidFill>
            <a:srgbClr val="65C5ED"/>
          </a:solidFill>
          <a:ln w="12700">
            <a:solidFill>
              <a:srgbClr val="65C5ED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0213848" y="2331720"/>
            <a:ext cx="1636776" cy="1709928"/>
          </a:xfrm>
          <a:prstGeom prst="roundRect">
            <a:avLst/>
          </a:prstGeom>
          <a:solidFill>
            <a:srgbClr val="0E3A5D"/>
          </a:solidFill>
          <a:ln w="12700">
            <a:solidFill>
              <a:srgbClr val="0E3A5D"/>
            </a:solidFill>
            <a:prstDash val="solid"/>
          </a:ln>
        </p:spPr>
      </p:sp>
      <p:pic>
        <p:nvPicPr>
          <p:cNvPr id="29" name="Image 5" descr="observability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88752" y="2560320"/>
            <a:ext cx="896112" cy="8961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332720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969264" y="4846320"/>
            <a:ext cx="10332720" cy="795528"/>
          </a:xfrm>
          <a:prstGeom prst="roundRect">
            <a:avLst/>
          </a:prstGeom>
          <a:solidFill>
            <a:srgbClr val="0D3655"/>
          </a:solidFill>
          <a:ln w="12700">
            <a:solidFill>
              <a:srgbClr val="0D3655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271016" y="505663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72C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PATTERN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154680" y="50200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→ governed context → AI reasoning → monitored outcomes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66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70" kern="0" dirty="0">
                <a:solidFill>
                  <a:srgbClr val="139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STRUCTURE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everyday slide production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the included folders directly, or open INDEX.html to search by concept and download a specific SVG.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6528816"/>
            <a:ext cx="10835640" cy="0"/>
          </a:xfrm>
          <a:prstGeom prst="line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5928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spc="100" kern="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DATA / DEVOPS  •  ORIGINAL VECTOR ICONS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064240" y="65836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1993392"/>
            <a:ext cx="3639312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EF"/>
            </a:solidFill>
            <a:prstDash val="solid"/>
          </a:ln>
        </p:spPr>
      </p:sp>
      <p:pic>
        <p:nvPicPr>
          <p:cNvPr id="9" name="Image 0" descr="vector-search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2249424"/>
            <a:ext cx="786384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38528" y="224942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FIND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78408" y="3346704"/>
            <a:ext cx="3035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INDEX.html or look up a name in ICON_INDEX.csv.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4507992" y="1993392"/>
            <a:ext cx="3639312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EF"/>
            </a:solidFill>
            <a:prstDash val="solid"/>
          </a:ln>
        </p:spPr>
      </p:sp>
      <p:pic>
        <p:nvPicPr>
          <p:cNvPr id="13" name="Image 1" descr="deploymen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2249424"/>
            <a:ext cx="786384" cy="7863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79008" y="224942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INSERT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18888" y="3346704"/>
            <a:ext cx="3035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SVG/accent for bright slides; SVG/dark-neon for dark ones.</a:t>
            </a:r>
            <a:endParaRPr lang="en-US" sz="1420" dirty="0"/>
          </a:p>
        </p:txBody>
      </p:sp>
      <p:sp>
        <p:nvSpPr>
          <p:cNvPr id="16" name="Shape 12"/>
          <p:cNvSpPr/>
          <p:nvPr/>
        </p:nvSpPr>
        <p:spPr>
          <a:xfrm>
            <a:off x="8348472" y="1993392"/>
            <a:ext cx="3639312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EF"/>
            </a:solidFill>
            <a:prstDash val="solid"/>
          </a:ln>
        </p:spPr>
      </p:sp>
      <p:pic>
        <p:nvPicPr>
          <p:cNvPr id="17" name="Image 2" descr="feature-engineeri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1080" y="2249424"/>
            <a:ext cx="786384" cy="7863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19488" y="224942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RECOLOR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659368" y="3346704"/>
            <a:ext cx="3035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desktop: right click an SVG → Convert to Shape.</a:t>
            </a:r>
            <a:endParaRPr lang="en-US" sz="1420" dirty="0"/>
          </a:p>
        </p:txBody>
      </p:sp>
      <p:sp>
        <p:nvSpPr>
          <p:cNvPr id="20" name="Text 15"/>
          <p:cNvSpPr/>
          <p:nvPr/>
        </p:nvSpPr>
        <p:spPr>
          <a:xfrm>
            <a:off x="676656" y="5102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types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685800" y="5541264"/>
            <a:ext cx="1084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A8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 /  scalable editable vectors     •     PNG  /  transparent 512px     •     PPTX  /  copy-ready visual index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Custom presentation assets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/ Data / DevOps Icon Library</dc:title>
  <dc:subject>Presentation icon assets for AI/LLM, data engineering, analytics, DevOps and security</dc:subject>
  <dc:creator>OpenAI</dc:creator>
  <cp:lastModifiedBy>OpenAI</cp:lastModifiedBy>
  <cp:revision>1</cp:revision>
  <dcterms:created xsi:type="dcterms:W3CDTF">2026-10-28T02:53:03Z</dcterms:created>
  <dcterms:modified xsi:type="dcterms:W3CDTF">2026-10-28T02:53:03Z</dcterms:modified>
</cp:coreProperties>
</file>