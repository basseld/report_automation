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4ff4b1bd2a4f2e" /><Relationship Type="http://schemas.openxmlformats.org/officeDocument/2006/relationships/extended-properties" Target="/docProps/app.xml" Id="Rfdbabec3bd6644c5" /><Relationship Type="http://schemas.openxmlformats.org/officeDocument/2006/relationships/officeDocument" Target="/ppt/presentation.xml" Id="R5e47ece52df04552" /></Relationships>
</file>

<file path=ppt/presentation.xml><?xml version="1.0" encoding="utf-8"?>
<p:presentation xmlns:p="http://schemas.openxmlformats.org/presentationml/2006/main">
  <p:sldMasterIdLst>
    <p:sldMasterId xmlns:r="http://schemas.openxmlformats.org/officeDocument/2006/relationships" id="2147483648" r:id="Rf6499b5150684067"/>
  </p:sldMasterIdLst>
  <p:notesMasterIdLst>
    <p:notesMasterId xmlns:r="http://schemas.openxmlformats.org/officeDocument/2006/relationships" r:id="Ra3f2f033968b49df"/>
  </p:notesMasterIdLst>
  <p:sldIdLst>
    <p:sldId xmlns:r="http://schemas.openxmlformats.org/officeDocument/2006/relationships" id="256" r:id="Rf74c143b1da14f10"/>
    <p:sldId xmlns:r="http://schemas.openxmlformats.org/officeDocument/2006/relationships" id="257" r:id="R15837a708da54761"/>
    <p:sldId xmlns:r="http://schemas.openxmlformats.org/officeDocument/2006/relationships" id="258" r:id="R4352d147896c4ab1"/>
    <p:sldId xmlns:r="http://schemas.openxmlformats.org/officeDocument/2006/relationships" id="259" r:id="R0cc99a184dcf4346"/>
    <p:sldId xmlns:r="http://schemas.openxmlformats.org/officeDocument/2006/relationships" id="260" r:id="R6b0e5d99ad9a4fb8"/>
    <p:sldId xmlns:r="http://schemas.openxmlformats.org/officeDocument/2006/relationships" id="261" r:id="R66852b61ad414867"/>
    <p:sldId xmlns:r="http://schemas.openxmlformats.org/officeDocument/2006/relationships" id="262" r:id="Rfafa835141324680"/>
    <p:sldId xmlns:r="http://schemas.openxmlformats.org/officeDocument/2006/relationships" id="263" r:id="Rf6c07cf466544ac2"/>
    <p:sldId xmlns:r="http://schemas.openxmlformats.org/officeDocument/2006/relationships" id="264" r:id="R6701ba44d88140ae"/>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3f4a1c8f93d4b95" /><Relationship Type="http://schemas.openxmlformats.org/officeDocument/2006/relationships/slideMaster" Target="/ppt/slideMasters/slideMaster1.xml" Id="Rf6499b5150684067" /><Relationship Type="http://schemas.openxmlformats.org/officeDocument/2006/relationships/notesMaster" Target="/ppt/notesMasters/notesMaster1.xml" Id="Ra3f2f033968b49df" /><Relationship Type="http://schemas.openxmlformats.org/officeDocument/2006/relationships/presProps" Target="/ppt/presProps.xml" Id="R99e96d8c516844a2" /><Relationship Type="http://schemas.openxmlformats.org/officeDocument/2006/relationships/viewProps" Target="/ppt/viewProps.xml" Id="Rfc8761fdb5654439" /><Relationship Type="http://schemas.openxmlformats.org/officeDocument/2006/relationships/tableStyles" Target="/ppt/tableStyles.xml" Id="R8261068b3d8943a1" /><Relationship Type="http://schemas.openxmlformats.org/officeDocument/2006/relationships/slide" Target="/ppt/slides/slide1.xml" Id="Rf74c143b1da14f10" /><Relationship Type="http://schemas.openxmlformats.org/officeDocument/2006/relationships/slide" Target="/ppt/slides/slide2.xml" Id="R15837a708da54761" /><Relationship Type="http://schemas.openxmlformats.org/officeDocument/2006/relationships/slide" Target="/ppt/slides/slide3.xml" Id="R4352d147896c4ab1" /><Relationship Type="http://schemas.openxmlformats.org/officeDocument/2006/relationships/slide" Target="/ppt/slides/slide4.xml" Id="R0cc99a184dcf4346" /><Relationship Type="http://schemas.openxmlformats.org/officeDocument/2006/relationships/slide" Target="/ppt/slides/slide5.xml" Id="R6b0e5d99ad9a4fb8" /><Relationship Type="http://schemas.openxmlformats.org/officeDocument/2006/relationships/slide" Target="/ppt/slides/slide6.xml" Id="R66852b61ad414867" /><Relationship Type="http://schemas.openxmlformats.org/officeDocument/2006/relationships/slide" Target="/ppt/slides/slide7.xml" Id="Rfafa835141324680" /><Relationship Type="http://schemas.openxmlformats.org/officeDocument/2006/relationships/slide" Target="/ppt/slides/slide8.xml" Id="Rf6c07cf466544ac2" /><Relationship Type="http://schemas.openxmlformats.org/officeDocument/2006/relationships/slide" Target="/ppt/slides/slide9.xml" Id="R6701ba44d88140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48b11217d84d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58c6ecdfc7445d" /><Relationship Type="http://schemas.openxmlformats.org/officeDocument/2006/relationships/notesMaster" Target="/ppt/notesMasters/notesMaster1.xml" Id="R3b692db8119a46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514a04581b4777" /><Relationship Type="http://schemas.openxmlformats.org/officeDocument/2006/relationships/notesMaster" Target="/ppt/notesMasters/notesMaster1.xml" Id="R1539a131bea941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e2f8512af3483e" /><Relationship Type="http://schemas.openxmlformats.org/officeDocument/2006/relationships/notesMaster" Target="/ppt/notesMasters/notesMaster1.xml" Id="R4d92fac0e37844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b3f6897a6d4c86" /><Relationship Type="http://schemas.openxmlformats.org/officeDocument/2006/relationships/notesMaster" Target="/ppt/notesMasters/notesMaster1.xml" Id="Rd7d891162e764d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4a7dc2107047ff" /><Relationship Type="http://schemas.openxmlformats.org/officeDocument/2006/relationships/notesMaster" Target="/ppt/notesMasters/notesMaster1.xml" Id="Rbec5e8b28bc544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f3bc28d16a48a0" /><Relationship Type="http://schemas.openxmlformats.org/officeDocument/2006/relationships/notesMaster" Target="/ppt/notesMasters/notesMaster1.xml" Id="R1a6ca829e0ec4d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239d01d096463b" /><Relationship Type="http://schemas.openxmlformats.org/officeDocument/2006/relationships/notesMaster" Target="/ppt/notesMasters/notesMaster1.xml" Id="R1fa029fd418147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3c5cae250848f3" /><Relationship Type="http://schemas.openxmlformats.org/officeDocument/2006/relationships/notesMaster" Target="/ppt/notesMasters/notesMaster1.xml" Id="Rcdf591bf4d814d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69ccf5342d4e1f" /><Relationship Type="http://schemas.openxmlformats.org/officeDocument/2006/relationships/notesMaster" Target="/ppt/notesMasters/notesMaster1.xml" Id="Rfb2db2dca38040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Open with the problem and the decision. “We have already tested pieces of this alongside our regular work. Today I want your feedback on the priorities and approval for a bounded evaluation.” Set a 30–35 minute pace and reserve the remaining meeting for questions. Do not ask leadership to approve six production applications. Ask which outcomes they would prioritize and what evidence would change their confidence.</a:t>
            </a:r>
          </a:p>
          <a:p xmlns:a="http://schemas.openxmlformats.org/drawingml/2006/main">
            <a:r>
              <a:t/>
            </a:r>
          </a:p>
          <a:p xmlns:a="http://schemas.openxmlformats.org/drawingml/2006/main">
            <a:r>
              <a:t>TECHNICAL DETAIL AND QUALIFICATIONS</a:t>
            </a:r>
          </a:p>
          <a:p xmlns:a="http://schemas.openxmlformats.org/drawingml/2006/main">
            <a:r>
              <a:t>Brad recommends a concise agenda and a 30–35 minute presentation that leaves substantial time for leadership questions. The team built working components alongside regular responsibilities. The demos use synthetic data and illustrate feasibility, not validated production results. Ask which use cases leadership values most and whether the proposed order matches their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Acknowledge Alex early. “Alex has been advancing developer enablement, and we need that. His point about trustworthy data and a semantic layer is part of our plan.” Then distinguish coding assistance from the business application without portraying the tracks as competitors. Invite Alex to shape the approved environment, data access and the semantic layer. The shared objective is an application the business can trust and IT can support.</a:t>
            </a:r>
          </a:p>
          <a:p xmlns:a="http://schemas.openxmlformats.org/drawingml/2006/main">
            <a:r>
              <a:t/>
            </a:r>
          </a:p>
          <a:p xmlns:a="http://schemas.openxmlformats.org/drawingml/2006/main">
            <a:r>
              <a:t>TECHNICAL DETAIL AND QUALIFICATIONS</a:t>
            </a:r>
          </a:p>
          <a:p xmlns:a="http://schemas.openxmlformats.org/drawingml/2006/main">
            <a:r>
              <a:t>Avoid framing the discussion as disagreement with Alex. He is an important partner for current data access, the Nova migration, approved tooling, security and operations. CareAllies leads product priorities and business logic while IT owns the platform boundary. Vendor components can be used where they pass a specific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Introduce this as a portfolio of options, not six simultaneous funding requests. Point to the clinical lane and analytics lane. “The team’s knowledge of risk, Stars, provider workflows and our measures is what we can put into reusable applications.” Ask leadership where the greatest pain is now. Avoid unsupported dollar claims and do not promise that each project must use an LLM.</a:t>
            </a:r>
          </a:p>
          <a:p xmlns:a="http://schemas.openxmlformats.org/drawingml/2006/main">
            <a:r>
              <a:t/>
            </a:r>
          </a:p>
          <a:p xmlns:a="http://schemas.openxmlformats.org/drawingml/2006/main">
            <a:r>
              <a:t>TECHNICAL DETAIL AND QUALIFICATIONS</a:t>
            </a:r>
          </a:p>
          <a:p xmlns:a="http://schemas.openxmlformats.org/drawingml/2006/main">
            <a:r>
              <a:t>This is a concise map of the six initiatives shown in the user’s screenshots. Clinical Documentation Intelligence supplies evidence to Audit the Auditor and chart-based Stars review. The risk investigator is a focused workflow within the analytics assistant, not a separate platform. Provider profiling can use conventional ML. Avoid implying all six are funded or must run in a fixed sequence. The project knowledge base previously labels the assistant as project 3 and risk as project 4; this slide groups by clinical and analytics lanes rather than renumbering the authoritative project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Tell the anecdote briefly: a colleague screened approximately 79,000 LOINC terms down to 41 candidates in about a minute. “That is a promising speed signal, not a certified code set.” The leadership opportunity is recurring batch classification, description cleanup and reviewed outreach language. Explain that we will evaluate completeness, reviewer effort and cost before publishing results. This example shows value for the analytics team even before an end-user assistant is deployed.</a:t>
            </a:r>
          </a:p>
          <a:p xmlns:a="http://schemas.openxmlformats.org/drawingml/2006/main">
            <a:r>
              <a:t/>
            </a:r>
          </a:p>
          <a:p xmlns:a="http://schemas.openxmlformats.org/drawingml/2006/main">
            <a:r>
              <a:t>TECHNICAL DETAIL AND QUALIFICATIONS</a:t>
            </a:r>
          </a:p>
          <a:p xmlns:a="http://schemas.openxmlformats.org/drawingml/2006/main">
            <a:r>
              <a:t>The 79,000-to-41 result and elapsed time are a reported internal anecdote, not a validated benchmark. Clarify the exact V28 ACC selection criteria, input file version, prompt, completeness and false negatives with the analyst. LOINC identifies observations and tests, while CMS-HCC V28 diagnosis groupings derive from ICD-10-CM. Thus the 41 LOINC terms are candidate tests or evidence signals relevant to a condition workflow, not direct HCC code assignments. Source: https://loinc.org/start and https://www.cms.gov/medicare/payment/medicare-advantage-rates-statistics/risk-adjustment/2026-model-software-icd-10-mappings . For a batch pilot, define a labeled reference set and measure precision, recall, omitted high-value terms, reviewer minutes, cost per thousand records and stability by code release. Require approved data flow and human review for patient-facing outreach and recommended actions. Prompt templates, deterministic validation, standardized schemas and version history should precede any fine 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Use a concrete chart scenario. “A handwritten note contains a possible condition that may have been missed, or an auditor may have accepted a condition without sufficient support. We extract the exact evidence and page, apply the applicable rule, and send discrepancies to a human reviewer.” Explain both directions of the comparison. If Alex raises scale or data access, agree that chart rights, approved storage and operations are gates. The goal is fewer unnecessary reviews and more accurate outcomes, not automated claims submission.</a:t>
            </a:r>
          </a:p>
          <a:p xmlns:a="http://schemas.openxmlformats.org/drawingml/2006/main">
            <a:r>
              <a:t/>
            </a:r>
          </a:p>
          <a:p xmlns:a="http://schemas.openxmlformats.org/drawingml/2006/main">
            <a:r>
              <a:t>TECHNICAL DETAIL AND QUALIFICATIONS</a:t>
            </a:r>
          </a:p>
          <a:p xmlns:a="http://schemas.openxmlformats.org/drawingml/2006/main">
            <a:r>
              <a:t>Detail behind integration: Chart intake requires legal/contract rights and an approved PHI flow. Use native PDF text where available and OCR/vision for scans; benchmark handwriting separately. Store evidence rows with member/chart ID, encounter date, clinician, suggested code, verbatim span, page/bounding box, model version and uncertainty. A clinical reviewer validates disputed extraction. Join the evidence to the auditor case using stable member, date and chart identifiers. Apply a versioned CMS-HCC rules engine for model year, code validity, hierarchy, eligibility, documentation and payment relevance. Retrieval can supply cited guidance but must not replace deterministic rules. Compare both directions: potentially missed supported conditions and unsupported auditor findings. A human adjudicator makes the final determination. Measure precision, recall, false-positive burden, review time, correction yield and cost per chart. Stars may reuse the evidence with separate measure-year specifications. No autonomous submission or gap closure is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This is the point to credit Alex directly. “Alex challenged us to establish a semantic layer so the organization has one definition of each number. We have included that in the first pilot: a small jointly certified set of measures, with population, grain, calculation, source, freshness and owner.” Point to the middle box. We can show an El Paso-style risk score question using governed queries and cited evidence. Ask Alex to help select the implementation compatible with Nova and Power BI. Avoid promising that all historical sources have already been reconciled.</a:t>
            </a:r>
          </a:p>
          <a:p xmlns:a="http://schemas.openxmlformats.org/drawingml/2006/main">
            <a:r>
              <a:t/>
            </a:r>
          </a:p>
          <a:p xmlns:a="http://schemas.openxmlformats.org/drawingml/2006/main">
            <a:r>
              <a:t>TECHNICAL DETAIL AND QUALIFICATIONS</a:t>
            </a:r>
          </a:p>
          <a:p xmlns:a="http://schemas.openxmlformats.org/drawingml/2006/main">
            <a:r>
              <a:t>Use a known analyst investigation as ground truth. Specify attribution, member-month grain, risk model year, baseline and comparison cohort. A read-only query service calculates membership mix, coding recapture, timing and other candidate drivers using parameterized SQL. Document search retrieves methodology, SOPs and any validated chart evidence. The LLM routes the question, explains returned facts and abstains when evidence is insufficient. It does not generate unrestricted SQL or reconcile finance using vector search. The assistant can operate with structured data before chart extraction is integrated. Governance needs effective dates, row-level access and a certified source for each measure. Fine tuning may improve formatting or task patterns later, but metric selection and rule changes belong in versioned tools and a semantic layer, not hidden model weights.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Describe the roadmap as evidence gates rather than calendar promises. Stage one establishes known answers and the first pilot semantic measures. Stage two tests approved data paths, rights and security. Stage three puts support and certification around internal use. Later stages can add alerts and provider workflows. “Each stage gives us something useful and a reasoned decision on the next investment.” Invite leadership to challenge the ordering. If a vendor solves a component better, compare it against the same acceptance criteria.</a:t>
            </a:r>
          </a:p>
          <a:p xmlns:a="http://schemas.openxmlformats.org/drawingml/2006/main">
            <a:r>
              <a:t/>
            </a:r>
          </a:p>
          <a:p xmlns:a="http://schemas.openxmlformats.org/drawingml/2006/main">
            <a:r>
              <a:t>TECHNICAL DETAIL AND QUALIFICATIONS</a:t>
            </a:r>
          </a:p>
          <a:p xmlns:a="http://schemas.openxmlformats.org/drawingml/2006/main">
            <a:r>
              <a:t>This is an order of gates rather than a promised schedule. Chart extraction and risk analysis may proceed in parallel in stage 1. The terminology screening example needs a labeled reference set, batch design and sensitivity checks. A pilot chart sample requires access rights even for a benchmark; use synthetic documents if rights are not resolved. Stage 2 depends on the exact model, region, storage, search, logging and IAM approval for PHI. OSS/Nova destination, history, refresh cadence and Arcadia chart export are open architecture questions. Stage 3 requires certified definitions, evaluation thresholds, incident response, operations and an explicit promotion process. Stage 4 adds automation only after evidence quality and accountability are established. Compare Arcadia or other vendor capabilities against identical use cases and unit economics at each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Frame Microsoft services as an accelerator and IT as a design partner. “We want to own the VBC application logic and quality; we are asking IT to provide an approved foundation that can be monitored and supported.” Explain that CareAllies and IT jointly own the pilot semantic definitions, while data owners certify sources. Avoid the absolute claim that Microsoft never processes data. Security approves every PHI-bearing component and the exact model deployment, including logs and search.</a:t>
            </a:r>
          </a:p>
          <a:p xmlns:a="http://schemas.openxmlformats.org/drawingml/2006/main">
            <a:r>
              <a:t/>
            </a:r>
          </a:p>
          <a:p xmlns:a="http://schemas.openxmlformats.org/drawingml/2006/main">
            <a:r>
              <a:t>TECHNICAL DETAIL AND QUALIFICATIONS</a:t>
            </a:r>
          </a:p>
          <a:p xmlns:a="http://schemas.openxmlformats.org/drawingml/2006/main">
            <a:r>
              <a:t>Foundry and connected services are separate security and cost surfaces. Agent Service is optional for initial controlled tool calls; Fabric/Power BI semantics are conditional on the future Nova architecture. Model sold by Azure does not mean Microsoft is absent from processing; verify exact terms, deployment geography, retention and logs. Do not assert that fine tuning is a baseline requirement or reduces hallucination by itself. Approval scope covers chart upload, OCR, model, search index, output, telemetry and access entitlements. Sources: https://learn.microsoft.com/en-us/azure/foundry/concepts/architecture ; https://learn.microsoft.com/en-us/azure/ai-services/document-intelligence/prebuilt/read ; https://learn.microsoft.com/en-us/azure/search/search-what-is-azure-search ; https://learn.microsoft.com/en-us/azure/foundry/responsible-ai/openai/data-privacy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Make the ask crisp. “Will you sponsor a bounded evaluation, assign limited dedicated capacity, and support Alex and Paul in defining the approved data and security path? We will return with accuracy, time, cost and a vendor comparison before requesting production funding.” Then pause. Ask which use case leadership wants first and who should own the Nova data-location decision. If a concern arises, convert it into a pilot gate and owner rather than debating whether the full vision is possible today.</a:t>
            </a:r>
          </a:p>
          <a:p xmlns:a="http://schemas.openxmlformats.org/drawingml/2006/main">
            <a:r>
              <a:t/>
            </a:r>
          </a:p>
          <a:p xmlns:a="http://schemas.openxmlformats.org/drawingml/2006/main">
            <a:r>
              <a:t>TECHNICAL DETAIL AND QUALIFICATIONS</a:t>
            </a:r>
          </a:p>
          <a:p xmlns:a="http://schemas.openxmlformats.org/drawingml/2006/main">
            <a:r>
              <a:t>The semantic layer is explicitly within pilot scope: CareAllies and IT jointly select a small set of high-value measures, each with population, grain, numerator, denominator, period, source, refresh cadence and accountable owner. The direct ask is a named joint team and a capped pilot budget, including engineering and SME time as well as model, OCR, search, storage and monitoring usage. Azure budget alerts do not hard stop spending; IT should configure quotas or other controls if needed. Record a baseline for investigation preparation and chart review. Do not claim a fixed financial return per HCC. Finance must validate incremental payment, hierarchy and contractual capture. Internal users do not remove PHI obligations. HCSC oversight and the future data destination require an explicit owner and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774f5e985a43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24a696a91242b1" /><Relationship Type="http://schemas.openxmlformats.org/officeDocument/2006/relationships/slideLayout" Target="/ppt/slideLayouts/slideLayout1.xml" Id="Rd6feaf9a347e40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feaf9a347e40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91b6c67f6f4c02" /><Relationship Type="http://schemas.openxmlformats.org/officeDocument/2006/relationships/notesSlide" Target="/ppt/notesSlides/notesSlide1.xml" Id="R415d5beb43f84c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e8b1a48d064412" /><Relationship Type="http://schemas.openxmlformats.org/officeDocument/2006/relationships/notesSlide" Target="/ppt/notesSlides/notesSlide2.xml" Id="R12713858f4b946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99c91be197432c" /><Relationship Type="http://schemas.openxmlformats.org/officeDocument/2006/relationships/notesSlide" Target="/ppt/notesSlides/notesSlide3.xml" Id="Rc529c2b2b0124a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2ef6457f974acd" /><Relationship Type="http://schemas.openxmlformats.org/officeDocument/2006/relationships/notesSlide" Target="/ppt/notesSlides/notesSlide4.xml" Id="Re800ae78bfa245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435f68038c4044" /><Relationship Type="http://schemas.openxmlformats.org/officeDocument/2006/relationships/notesSlide" Target="/ppt/notesSlides/notesSlide5.xml" Id="Rf6bc692c9ca943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23e08347424cd9" /><Relationship Type="http://schemas.openxmlformats.org/officeDocument/2006/relationships/notesSlide" Target="/ppt/notesSlides/notesSlide6.xml" Id="R88b1c408097f4a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3de9cf11974db7" /><Relationship Type="http://schemas.openxmlformats.org/officeDocument/2006/relationships/notesSlide" Target="/ppt/notesSlides/notesSlide7.xml" Id="Rcbac2bf8f11341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f8495a206e44c8" /><Relationship Type="http://schemas.openxmlformats.org/officeDocument/2006/relationships/notesSlide" Target="/ppt/notesSlides/notesSlide8.xml" Id="R38bb913d583749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938f87730d4038" /><Relationship Type="http://schemas.openxmlformats.org/officeDocument/2006/relationships/notesSlide" Target="/ppt/notesSlides/notesSlide9.xml" Id="R0542d35c47144c2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CareAllies AI: leadership discussion</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A proposed path from working prototypes to governed VBC applications.</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Decision today: agree on priorities, a bounded pilot and a joint CareAllies–IT team.</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3D97C92D-82E0-4676-9CCE-FC4BF3B9559A}"/>
              </a:ext>
            </a:extLst>
          </p:cNvPr>
          <p:cNvSpPr>
            <a:spLocks xmlns:a="http://schemas.openxmlformats.org/drawingml/2006/main" noGrp="1"/>
          </p:cNvSpPr>
          <p:nvPr/>
        </p:nvSpPr>
        <p:spPr>
          <a:xfrm xmlns:a="http://schemas.openxmlformats.org/drawingml/2006/main">
            <a:off x="476250" y="1762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479754"/>
                </a:solidFill>
                <a:latin typeface="Calibri"/>
                <a:ea typeface="Calibri"/>
                <a:cs typeface="Calibri"/>
              </a:defRPr>
            </a:defPPr>
            <a:lvl1pPr>
              <a:defRPr sz="2250" b="1">
                <a:solidFill>
                  <a:srgbClr val="479754"/>
                </a:solidFill>
                <a:latin typeface="Calibri"/>
                <a:ea typeface="Calibri"/>
                <a:cs typeface="Calibri"/>
              </a:defRPr>
            </a:lvl1pPr>
            <a:lvl2pPr>
              <a:defRPr sz="2250" b="1">
                <a:solidFill>
                  <a:srgbClr val="479754"/>
                </a:solidFill>
                <a:latin typeface="Calibri"/>
                <a:ea typeface="Calibri"/>
                <a:cs typeface="Calibri"/>
              </a:defRPr>
            </a:lvl2pPr>
            <a:lvl3pPr>
              <a:defRPr sz="2250" b="1">
                <a:solidFill>
                  <a:srgbClr val="479754"/>
                </a:solidFill>
                <a:latin typeface="Calibri"/>
                <a:ea typeface="Calibri"/>
                <a:cs typeface="Calibri"/>
              </a:defRPr>
            </a:lvl3pPr>
            <a:lvl4pPr>
              <a:defRPr sz="2250" b="1">
                <a:solidFill>
                  <a:srgbClr val="479754"/>
                </a:solidFill>
                <a:latin typeface="Calibri"/>
                <a:ea typeface="Calibri"/>
                <a:cs typeface="Calibri"/>
              </a:defRPr>
            </a:lvl4pPr>
            <a:lvl5pPr>
              <a:defRPr sz="2250" b="1">
                <a:solidFill>
                  <a:srgbClr val="479754"/>
                </a:solidFill>
                <a:latin typeface="Calibri"/>
                <a:ea typeface="Calibri"/>
                <a:cs typeface="Calibri"/>
              </a:defRPr>
            </a:lvl5pPr>
            <a:lvl6pPr>
              <a:defRPr sz="2250" b="1">
                <a:solidFill>
                  <a:srgbClr val="479754"/>
                </a:solidFill>
                <a:latin typeface="Calibri"/>
                <a:ea typeface="Calibri"/>
                <a:cs typeface="Calibri"/>
              </a:defRPr>
            </a:lvl6pPr>
            <a:lvl7pPr>
              <a:defRPr sz="2250" b="1">
                <a:solidFill>
                  <a:srgbClr val="479754"/>
                </a:solidFill>
                <a:latin typeface="Calibri"/>
                <a:ea typeface="Calibri"/>
                <a:cs typeface="Calibri"/>
              </a:defRPr>
            </a:lvl7pPr>
            <a:lvl8pPr>
              <a:defRPr sz="2250" b="1">
                <a:solidFill>
                  <a:srgbClr val="479754"/>
                </a:solidFill>
                <a:latin typeface="Calibri"/>
                <a:ea typeface="Calibri"/>
                <a:cs typeface="Calibri"/>
              </a:defRPr>
            </a:lvl8pPr>
            <a:lvl9pPr>
              <a:defRPr sz="2250" b="1">
                <a:solidFill>
                  <a:srgbClr val="479754"/>
                </a:solidFill>
                <a:latin typeface="Calibri"/>
                <a:ea typeface="Calibri"/>
                <a:cs typeface="Calibri"/>
              </a:defRPr>
            </a:lvl9pPr>
          </a:lstStyle>
          <a:p xmlns:a="http://schemas.openxmlformats.org/drawingml/2006/main">
            <a:pPr>
              <a:defRPr sz="2250" b="1">
                <a:solidFill>
                  <a:srgbClr val="479754"/>
                </a:solidFill>
                <a:latin typeface="Calibri"/>
                <a:ea typeface="Calibri"/>
                <a:cs typeface="Calibri"/>
              </a:defRPr>
            </a:pPr>
            <a:r>
              <a:rPr sz="2250" b="1">
                <a:solidFill>
                  <a:srgbClr val="479754"/>
                </a:solidFill>
                <a:latin typeface="Calibri"/>
                <a:ea typeface="Calibri"/>
                <a:cs typeface="Calibri"/>
              </a:rPr>
              <a:t>Goals</a:t>
            </a:r>
          </a:p>
        </p:txBody>
      </p:sp>
      <p:sp>
        <p:nvSpPr>
          <p:cNvPr id="29" name="">
            <a:extLst xmlns:a="http://schemas.openxmlformats.org/drawingml/2006/main">
              <a:ext uri="{FF2B5EF4-FFF2-40B4-BE49-F238E27FC236}">
                <a16:creationId xmlns:a16="http://schemas.microsoft.com/office/drawing/2014/main" id="{6AEC7680-9DF0-482D-BDD2-2F47D6B6C06A}"/>
              </a:ext>
            </a:extLst>
          </p:cNvPr>
          <p:cNvSpPr>
            <a:spLocks xmlns:a="http://schemas.openxmlformats.org/drawingml/2006/main" noGrp="1"/>
          </p:cNvSpPr>
          <p:nvPr/>
        </p:nvSpPr>
        <p:spPr>
          <a:xfrm xmlns:a="http://schemas.openxmlformats.org/drawingml/2006/main">
            <a:off x="476250" y="2352675"/>
            <a:ext cx="4953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2B3A"/>
                </a:solidFill>
                <a:latin typeface="Calibri"/>
                <a:ea typeface="Calibri"/>
                <a:cs typeface="Calibri"/>
              </a:defRPr>
            </a:defPPr>
            <a:lvl1pPr>
              <a:defRPr sz="1950" b="0">
                <a:solidFill>
                  <a:srgbClr val="172B3A"/>
                </a:solidFill>
                <a:latin typeface="Calibri"/>
                <a:ea typeface="Calibri"/>
                <a:cs typeface="Calibri"/>
              </a:defRPr>
            </a:lvl1pPr>
            <a:lvl2pPr>
              <a:defRPr sz="1950" b="0">
                <a:solidFill>
                  <a:srgbClr val="172B3A"/>
                </a:solidFill>
                <a:latin typeface="Calibri"/>
                <a:ea typeface="Calibri"/>
                <a:cs typeface="Calibri"/>
              </a:defRPr>
            </a:lvl2pPr>
            <a:lvl3pPr>
              <a:defRPr sz="1950" b="0">
                <a:solidFill>
                  <a:srgbClr val="172B3A"/>
                </a:solidFill>
                <a:latin typeface="Calibri"/>
                <a:ea typeface="Calibri"/>
                <a:cs typeface="Calibri"/>
              </a:defRPr>
            </a:lvl3pPr>
            <a:lvl4pPr>
              <a:defRPr sz="1950" b="0">
                <a:solidFill>
                  <a:srgbClr val="172B3A"/>
                </a:solidFill>
                <a:latin typeface="Calibri"/>
                <a:ea typeface="Calibri"/>
                <a:cs typeface="Calibri"/>
              </a:defRPr>
            </a:lvl4pPr>
            <a:lvl5pPr>
              <a:defRPr sz="1950" b="0">
                <a:solidFill>
                  <a:srgbClr val="172B3A"/>
                </a:solidFill>
                <a:latin typeface="Calibri"/>
                <a:ea typeface="Calibri"/>
                <a:cs typeface="Calibri"/>
              </a:defRPr>
            </a:lvl5pPr>
            <a:lvl6pPr>
              <a:defRPr sz="1950" b="0">
                <a:solidFill>
                  <a:srgbClr val="172B3A"/>
                </a:solidFill>
                <a:latin typeface="Calibri"/>
                <a:ea typeface="Calibri"/>
                <a:cs typeface="Calibri"/>
              </a:defRPr>
            </a:lvl6pPr>
            <a:lvl7pPr>
              <a:defRPr sz="1950" b="0">
                <a:solidFill>
                  <a:srgbClr val="172B3A"/>
                </a:solidFill>
                <a:latin typeface="Calibri"/>
                <a:ea typeface="Calibri"/>
                <a:cs typeface="Calibri"/>
              </a:defRPr>
            </a:lvl7pPr>
            <a:lvl8pPr>
              <a:defRPr sz="1950" b="0">
                <a:solidFill>
                  <a:srgbClr val="172B3A"/>
                </a:solidFill>
                <a:latin typeface="Calibri"/>
                <a:ea typeface="Calibri"/>
                <a:cs typeface="Calibri"/>
              </a:defRPr>
            </a:lvl8pPr>
            <a:lvl9pPr>
              <a:defRPr sz="1950" b="0">
                <a:solidFill>
                  <a:srgbClr val="172B3A"/>
                </a:solidFill>
                <a:latin typeface="Calibri"/>
                <a:ea typeface="Calibri"/>
                <a:cs typeface="Calibri"/>
              </a:defRPr>
            </a:lvl9pPr>
          </a:lstStyle>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Scale investigations without proportional staffing growth</a:t>
            </a:r>
          </a:p>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Improve risk and Stars accuracy</a:t>
            </a:r>
          </a:p>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Reduce manual effort for field and provider teams</a:t>
            </a:r>
          </a:p>
        </p:txBody>
      </p:sp>
      <p:sp>
        <p:nvSpPr>
          <p:cNvPr id="30" name="">
            <a:extLst xmlns:a="http://schemas.openxmlformats.org/drawingml/2006/main">
              <a:ext uri="{FF2B5EF4-FFF2-40B4-BE49-F238E27FC236}">
                <a16:creationId xmlns:a16="http://schemas.microsoft.com/office/drawing/2014/main" id="{4C497F79-E055-47B0-9EC4-046E2A981ABD}"/>
              </a:ext>
            </a:extLst>
          </p:cNvPr>
          <p:cNvSpPr>
            <a:spLocks xmlns:a="http://schemas.openxmlformats.org/drawingml/2006/main" noGrp="1"/>
          </p:cNvSpPr>
          <p:nvPr/>
        </p:nvSpPr>
        <p:spPr>
          <a:xfrm xmlns:a="http://schemas.openxmlformats.org/drawingml/2006/main">
            <a:off x="6334125" y="17621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7BA8"/>
                </a:solidFill>
                <a:latin typeface="Calibri"/>
                <a:ea typeface="Calibri"/>
                <a:cs typeface="Calibri"/>
              </a:defRPr>
            </a:defPPr>
            <a:lvl1pPr>
              <a:defRPr sz="2250" b="1">
                <a:solidFill>
                  <a:srgbClr val="287BA8"/>
                </a:solidFill>
                <a:latin typeface="Calibri"/>
                <a:ea typeface="Calibri"/>
                <a:cs typeface="Calibri"/>
              </a:defRPr>
            </a:lvl1pPr>
            <a:lvl2pPr>
              <a:defRPr sz="2250" b="1">
                <a:solidFill>
                  <a:srgbClr val="287BA8"/>
                </a:solidFill>
                <a:latin typeface="Calibri"/>
                <a:ea typeface="Calibri"/>
                <a:cs typeface="Calibri"/>
              </a:defRPr>
            </a:lvl2pPr>
            <a:lvl3pPr>
              <a:defRPr sz="2250" b="1">
                <a:solidFill>
                  <a:srgbClr val="287BA8"/>
                </a:solidFill>
                <a:latin typeface="Calibri"/>
                <a:ea typeface="Calibri"/>
                <a:cs typeface="Calibri"/>
              </a:defRPr>
            </a:lvl3pPr>
            <a:lvl4pPr>
              <a:defRPr sz="2250" b="1">
                <a:solidFill>
                  <a:srgbClr val="287BA8"/>
                </a:solidFill>
                <a:latin typeface="Calibri"/>
                <a:ea typeface="Calibri"/>
                <a:cs typeface="Calibri"/>
              </a:defRPr>
            </a:lvl4pPr>
            <a:lvl5pPr>
              <a:defRPr sz="2250" b="1">
                <a:solidFill>
                  <a:srgbClr val="287BA8"/>
                </a:solidFill>
                <a:latin typeface="Calibri"/>
                <a:ea typeface="Calibri"/>
                <a:cs typeface="Calibri"/>
              </a:defRPr>
            </a:lvl5pPr>
            <a:lvl6pPr>
              <a:defRPr sz="2250" b="1">
                <a:solidFill>
                  <a:srgbClr val="287BA8"/>
                </a:solidFill>
                <a:latin typeface="Calibri"/>
                <a:ea typeface="Calibri"/>
                <a:cs typeface="Calibri"/>
              </a:defRPr>
            </a:lvl6pPr>
            <a:lvl7pPr>
              <a:defRPr sz="2250" b="1">
                <a:solidFill>
                  <a:srgbClr val="287BA8"/>
                </a:solidFill>
                <a:latin typeface="Calibri"/>
                <a:ea typeface="Calibri"/>
                <a:cs typeface="Calibri"/>
              </a:defRPr>
            </a:lvl7pPr>
            <a:lvl8pPr>
              <a:defRPr sz="2250" b="1">
                <a:solidFill>
                  <a:srgbClr val="287BA8"/>
                </a:solidFill>
                <a:latin typeface="Calibri"/>
                <a:ea typeface="Calibri"/>
                <a:cs typeface="Calibri"/>
              </a:defRPr>
            </a:lvl8pPr>
            <a:lvl9pPr>
              <a:defRPr sz="2250" b="1">
                <a:solidFill>
                  <a:srgbClr val="287BA8"/>
                </a:solidFill>
                <a:latin typeface="Calibri"/>
                <a:ea typeface="Calibri"/>
                <a:cs typeface="Calibri"/>
              </a:defRPr>
            </a:lvl9pPr>
          </a:lstStyle>
          <a:p xmlns:a="http://schemas.openxmlformats.org/drawingml/2006/main">
            <a:pPr>
              <a:defRPr sz="2250" b="1">
                <a:solidFill>
                  <a:srgbClr val="287BA8"/>
                </a:solidFill>
                <a:latin typeface="Calibri"/>
                <a:ea typeface="Calibri"/>
                <a:cs typeface="Calibri"/>
              </a:defRPr>
            </a:pPr>
            <a:r>
              <a:rPr sz="2250" b="1">
                <a:solidFill>
                  <a:srgbClr val="287BA8"/>
                </a:solidFill>
                <a:latin typeface="Calibri"/>
                <a:ea typeface="Calibri"/>
                <a:cs typeface="Calibri"/>
              </a:rPr>
              <a:t>Conversation</a:t>
            </a:r>
          </a:p>
        </p:txBody>
      </p:sp>
      <p:sp>
        <p:nvSpPr>
          <p:cNvPr id="31" name="">
            <a:extLst xmlns:a="http://schemas.openxmlformats.org/drawingml/2006/main">
              <a:ext uri="{FF2B5EF4-FFF2-40B4-BE49-F238E27FC236}">
                <a16:creationId xmlns:a16="http://schemas.microsoft.com/office/drawing/2014/main" id="{BEFCFD93-C33C-4C6C-93D7-A71D06785DE6}"/>
              </a:ext>
            </a:extLst>
          </p:cNvPr>
          <p:cNvSpPr>
            <a:spLocks xmlns:a="http://schemas.openxmlformats.org/drawingml/2006/main" noGrp="1"/>
          </p:cNvSpPr>
          <p:nvPr/>
        </p:nvSpPr>
        <p:spPr>
          <a:xfrm xmlns:a="http://schemas.openxmlformats.org/drawingml/2006/main">
            <a:off x="6334125" y="2352675"/>
            <a:ext cx="5000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2B3A"/>
                </a:solidFill>
                <a:latin typeface="Calibri"/>
                <a:ea typeface="Calibri"/>
                <a:cs typeface="Calibri"/>
              </a:defRPr>
            </a:defPPr>
            <a:lvl1pPr>
              <a:defRPr sz="1950" b="0">
                <a:solidFill>
                  <a:srgbClr val="172B3A"/>
                </a:solidFill>
                <a:latin typeface="Calibri"/>
                <a:ea typeface="Calibri"/>
                <a:cs typeface="Calibri"/>
              </a:defRPr>
            </a:lvl1pPr>
            <a:lvl2pPr>
              <a:defRPr sz="1950" b="0">
                <a:solidFill>
                  <a:srgbClr val="172B3A"/>
                </a:solidFill>
                <a:latin typeface="Calibri"/>
                <a:ea typeface="Calibri"/>
                <a:cs typeface="Calibri"/>
              </a:defRPr>
            </a:lvl2pPr>
            <a:lvl3pPr>
              <a:defRPr sz="1950" b="0">
                <a:solidFill>
                  <a:srgbClr val="172B3A"/>
                </a:solidFill>
                <a:latin typeface="Calibri"/>
                <a:ea typeface="Calibri"/>
                <a:cs typeface="Calibri"/>
              </a:defRPr>
            </a:lvl3pPr>
            <a:lvl4pPr>
              <a:defRPr sz="1950" b="0">
                <a:solidFill>
                  <a:srgbClr val="172B3A"/>
                </a:solidFill>
                <a:latin typeface="Calibri"/>
                <a:ea typeface="Calibri"/>
                <a:cs typeface="Calibri"/>
              </a:defRPr>
            </a:lvl4pPr>
            <a:lvl5pPr>
              <a:defRPr sz="1950" b="0">
                <a:solidFill>
                  <a:srgbClr val="172B3A"/>
                </a:solidFill>
                <a:latin typeface="Calibri"/>
                <a:ea typeface="Calibri"/>
                <a:cs typeface="Calibri"/>
              </a:defRPr>
            </a:lvl5pPr>
            <a:lvl6pPr>
              <a:defRPr sz="1950" b="0">
                <a:solidFill>
                  <a:srgbClr val="172B3A"/>
                </a:solidFill>
                <a:latin typeface="Calibri"/>
                <a:ea typeface="Calibri"/>
                <a:cs typeface="Calibri"/>
              </a:defRPr>
            </a:lvl6pPr>
            <a:lvl7pPr>
              <a:defRPr sz="1950" b="0">
                <a:solidFill>
                  <a:srgbClr val="172B3A"/>
                </a:solidFill>
                <a:latin typeface="Calibri"/>
                <a:ea typeface="Calibri"/>
                <a:cs typeface="Calibri"/>
              </a:defRPr>
            </a:lvl7pPr>
            <a:lvl8pPr>
              <a:defRPr sz="1950" b="0">
                <a:solidFill>
                  <a:srgbClr val="172B3A"/>
                </a:solidFill>
                <a:latin typeface="Calibri"/>
                <a:ea typeface="Calibri"/>
                <a:cs typeface="Calibri"/>
              </a:defRPr>
            </a:lvl8pPr>
            <a:lvl9pPr>
              <a:defRPr sz="1950" b="0">
                <a:solidFill>
                  <a:srgbClr val="172B3A"/>
                </a:solidFill>
                <a:latin typeface="Calibri"/>
                <a:ea typeface="Calibri"/>
                <a:cs typeface="Calibri"/>
              </a:defRPr>
            </a:lvl9pPr>
          </a:lstStyle>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Use cases and integration</a:t>
            </a:r>
          </a:p>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Two synthetic-data demonstrations</a:t>
            </a:r>
          </a:p>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Roadmap, approvals and funding</a:t>
            </a:r>
          </a:p>
        </p:txBody>
      </p:sp>
    </p:spTree>
    <p:extLst>
      <p:ext uri="{BB962C8B-B14F-4D97-AF65-F5344CB8AC3E}">
        <p14:creationId xmlns:p14="http://schemas.microsoft.com/office/powerpoint/2010/main" val="16721755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Two AI investments</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Developer productivity and CareAllies business applications serve different needs.</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Our differentiation lies in the definitions, workflows and validated actions.</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36245F35-06F2-4524-8A1E-9667FDFE3FE1}"/>
              </a:ext>
            </a:extLst>
          </p:cNvPr>
          <p:cNvSpPr>
            <a:spLocks xmlns:a="http://schemas.openxmlformats.org/drawingml/2006/main" noGrp="1"/>
          </p:cNvSpPr>
          <p:nvPr/>
        </p:nvSpPr>
        <p:spPr>
          <a:xfrm xmlns:a="http://schemas.openxmlformats.org/drawingml/2006/main">
            <a:off x="419100" y="1724025"/>
            <a:ext cx="54673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6D57D74E-853A-4067-A893-C149D6265B9C}"/>
              </a:ext>
            </a:extLst>
          </p:cNvPr>
          <p:cNvSpPr>
            <a:spLocks xmlns:a="http://schemas.openxmlformats.org/drawingml/2006/main" noGrp="1"/>
          </p:cNvSpPr>
          <p:nvPr/>
        </p:nvSpPr>
        <p:spPr>
          <a:xfrm xmlns:a="http://schemas.openxmlformats.org/drawingml/2006/main">
            <a:off x="6115050" y="1724025"/>
            <a:ext cx="56578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0" name="">
            <a:extLst xmlns:a="http://schemas.openxmlformats.org/drawingml/2006/main">
              <a:ext uri="{FF2B5EF4-FFF2-40B4-BE49-F238E27FC236}">
                <a16:creationId xmlns:a16="http://schemas.microsoft.com/office/drawing/2014/main" id="{423BCF05-9BB6-4436-B436-101B34A3F642}"/>
              </a:ext>
            </a:extLst>
          </p:cNvPr>
          <p:cNvSpPr>
            <a:spLocks xmlns:a="http://schemas.openxmlformats.org/drawingml/2006/main" noGrp="1"/>
          </p:cNvSpPr>
          <p:nvPr/>
        </p:nvSpPr>
        <p:spPr>
          <a:xfrm xmlns:a="http://schemas.openxmlformats.org/drawingml/2006/main">
            <a:off x="647700" y="1971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79754"/>
                </a:solidFill>
                <a:latin typeface="Calibri"/>
                <a:ea typeface="Calibri"/>
                <a:cs typeface="Calibri"/>
              </a:defRPr>
            </a:defPPr>
            <a:lvl1pPr>
              <a:defRPr sz="2175" b="1">
                <a:solidFill>
                  <a:srgbClr val="479754"/>
                </a:solidFill>
                <a:latin typeface="Calibri"/>
                <a:ea typeface="Calibri"/>
                <a:cs typeface="Calibri"/>
              </a:defRPr>
            </a:lvl1pPr>
            <a:lvl2pPr>
              <a:defRPr sz="2175" b="1">
                <a:solidFill>
                  <a:srgbClr val="479754"/>
                </a:solidFill>
                <a:latin typeface="Calibri"/>
                <a:ea typeface="Calibri"/>
                <a:cs typeface="Calibri"/>
              </a:defRPr>
            </a:lvl2pPr>
            <a:lvl3pPr>
              <a:defRPr sz="2175" b="1">
                <a:solidFill>
                  <a:srgbClr val="479754"/>
                </a:solidFill>
                <a:latin typeface="Calibri"/>
                <a:ea typeface="Calibri"/>
                <a:cs typeface="Calibri"/>
              </a:defRPr>
            </a:lvl3pPr>
            <a:lvl4pPr>
              <a:defRPr sz="2175" b="1">
                <a:solidFill>
                  <a:srgbClr val="479754"/>
                </a:solidFill>
                <a:latin typeface="Calibri"/>
                <a:ea typeface="Calibri"/>
                <a:cs typeface="Calibri"/>
              </a:defRPr>
            </a:lvl4pPr>
            <a:lvl5pPr>
              <a:defRPr sz="2175" b="1">
                <a:solidFill>
                  <a:srgbClr val="479754"/>
                </a:solidFill>
                <a:latin typeface="Calibri"/>
                <a:ea typeface="Calibri"/>
                <a:cs typeface="Calibri"/>
              </a:defRPr>
            </a:lvl5pPr>
            <a:lvl6pPr>
              <a:defRPr sz="2175" b="1">
                <a:solidFill>
                  <a:srgbClr val="479754"/>
                </a:solidFill>
                <a:latin typeface="Calibri"/>
                <a:ea typeface="Calibri"/>
                <a:cs typeface="Calibri"/>
              </a:defRPr>
            </a:lvl6pPr>
            <a:lvl7pPr>
              <a:defRPr sz="2175" b="1">
                <a:solidFill>
                  <a:srgbClr val="479754"/>
                </a:solidFill>
                <a:latin typeface="Calibri"/>
                <a:ea typeface="Calibri"/>
                <a:cs typeface="Calibri"/>
              </a:defRPr>
            </a:lvl7pPr>
            <a:lvl8pPr>
              <a:defRPr sz="2175" b="1">
                <a:solidFill>
                  <a:srgbClr val="479754"/>
                </a:solidFill>
                <a:latin typeface="Calibri"/>
                <a:ea typeface="Calibri"/>
                <a:cs typeface="Calibri"/>
              </a:defRPr>
            </a:lvl8pPr>
            <a:lvl9pPr>
              <a:defRPr sz="2175" b="1">
                <a:solidFill>
                  <a:srgbClr val="479754"/>
                </a:solidFill>
                <a:latin typeface="Calibri"/>
                <a:ea typeface="Calibri"/>
                <a:cs typeface="Calibri"/>
              </a:defRPr>
            </a:lvl9pPr>
          </a:lstStyle>
          <a:p xmlns:a="http://schemas.openxmlformats.org/drawingml/2006/main">
            <a:pPr>
              <a:defRPr sz="2175" b="1">
                <a:solidFill>
                  <a:srgbClr val="479754"/>
                </a:solidFill>
                <a:latin typeface="Calibri"/>
                <a:ea typeface="Calibri"/>
                <a:cs typeface="Calibri"/>
              </a:defRPr>
            </a:pPr>
            <a:r>
              <a:rPr sz="2175" b="1">
                <a:solidFill>
                  <a:srgbClr val="479754"/>
                </a:solidFill>
                <a:latin typeface="Calibri"/>
                <a:ea typeface="Calibri"/>
                <a:cs typeface="Calibri"/>
              </a:rPr>
              <a:t>Developer enablement</a:t>
            </a:r>
          </a:p>
        </p:txBody>
      </p:sp>
      <p:sp>
        <p:nvSpPr>
          <p:cNvPr id="31" name="">
            <a:extLst xmlns:a="http://schemas.openxmlformats.org/drawingml/2006/main">
              <a:ext uri="{FF2B5EF4-FFF2-40B4-BE49-F238E27FC236}">
                <a16:creationId xmlns:a16="http://schemas.microsoft.com/office/drawing/2014/main" id="{238AF3C5-BAC3-422A-A8DC-828509B24584}"/>
              </a:ext>
            </a:extLst>
          </p:cNvPr>
          <p:cNvSpPr>
            <a:spLocks xmlns:a="http://schemas.openxmlformats.org/drawingml/2006/main" noGrp="1"/>
          </p:cNvSpPr>
          <p:nvPr/>
        </p:nvSpPr>
        <p:spPr>
          <a:xfrm xmlns:a="http://schemas.openxmlformats.org/drawingml/2006/main">
            <a:off x="647700" y="2619375"/>
            <a:ext cx="49530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Approved coding assistance helps analysts and engineers write code, documentation and prototypes faster.</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is already pursuing this track.</a:t>
            </a:r>
          </a:p>
        </p:txBody>
      </p:sp>
      <p:sp>
        <p:nvSpPr>
          <p:cNvPr id="32" name="">
            <a:extLst xmlns:a="http://schemas.openxmlformats.org/drawingml/2006/main">
              <a:ext uri="{FF2B5EF4-FFF2-40B4-BE49-F238E27FC236}">
                <a16:creationId xmlns:a16="http://schemas.microsoft.com/office/drawing/2014/main" id="{1344A544-4CC4-4A00-8D7B-4BE6B78B6F76}"/>
              </a:ext>
            </a:extLst>
          </p:cNvPr>
          <p:cNvSpPr>
            <a:spLocks xmlns:a="http://schemas.openxmlformats.org/drawingml/2006/main" noGrp="1"/>
          </p:cNvSpPr>
          <p:nvPr/>
        </p:nvSpPr>
        <p:spPr>
          <a:xfrm xmlns:a="http://schemas.openxmlformats.org/drawingml/2006/main">
            <a:off x="6343650" y="1971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7BA8"/>
                </a:solidFill>
                <a:latin typeface="Calibri"/>
                <a:ea typeface="Calibri"/>
                <a:cs typeface="Calibri"/>
              </a:defRPr>
            </a:defPPr>
            <a:lvl1pPr>
              <a:defRPr sz="2175" b="1">
                <a:solidFill>
                  <a:srgbClr val="287BA8"/>
                </a:solidFill>
                <a:latin typeface="Calibri"/>
                <a:ea typeface="Calibri"/>
                <a:cs typeface="Calibri"/>
              </a:defRPr>
            </a:lvl1pPr>
            <a:lvl2pPr>
              <a:defRPr sz="2175" b="1">
                <a:solidFill>
                  <a:srgbClr val="287BA8"/>
                </a:solidFill>
                <a:latin typeface="Calibri"/>
                <a:ea typeface="Calibri"/>
                <a:cs typeface="Calibri"/>
              </a:defRPr>
            </a:lvl2pPr>
            <a:lvl3pPr>
              <a:defRPr sz="2175" b="1">
                <a:solidFill>
                  <a:srgbClr val="287BA8"/>
                </a:solidFill>
                <a:latin typeface="Calibri"/>
                <a:ea typeface="Calibri"/>
                <a:cs typeface="Calibri"/>
              </a:defRPr>
            </a:lvl3pPr>
            <a:lvl4pPr>
              <a:defRPr sz="2175" b="1">
                <a:solidFill>
                  <a:srgbClr val="287BA8"/>
                </a:solidFill>
                <a:latin typeface="Calibri"/>
                <a:ea typeface="Calibri"/>
                <a:cs typeface="Calibri"/>
              </a:defRPr>
            </a:lvl4pPr>
            <a:lvl5pPr>
              <a:defRPr sz="2175" b="1">
                <a:solidFill>
                  <a:srgbClr val="287BA8"/>
                </a:solidFill>
                <a:latin typeface="Calibri"/>
                <a:ea typeface="Calibri"/>
                <a:cs typeface="Calibri"/>
              </a:defRPr>
            </a:lvl5pPr>
            <a:lvl6pPr>
              <a:defRPr sz="2175" b="1">
                <a:solidFill>
                  <a:srgbClr val="287BA8"/>
                </a:solidFill>
                <a:latin typeface="Calibri"/>
                <a:ea typeface="Calibri"/>
                <a:cs typeface="Calibri"/>
              </a:defRPr>
            </a:lvl6pPr>
            <a:lvl7pPr>
              <a:defRPr sz="2175" b="1">
                <a:solidFill>
                  <a:srgbClr val="287BA8"/>
                </a:solidFill>
                <a:latin typeface="Calibri"/>
                <a:ea typeface="Calibri"/>
                <a:cs typeface="Calibri"/>
              </a:defRPr>
            </a:lvl7pPr>
            <a:lvl8pPr>
              <a:defRPr sz="2175" b="1">
                <a:solidFill>
                  <a:srgbClr val="287BA8"/>
                </a:solidFill>
                <a:latin typeface="Calibri"/>
                <a:ea typeface="Calibri"/>
                <a:cs typeface="Calibri"/>
              </a:defRPr>
            </a:lvl8pPr>
            <a:lvl9pPr>
              <a:defRPr sz="2175" b="1">
                <a:solidFill>
                  <a:srgbClr val="287BA8"/>
                </a:solidFill>
                <a:latin typeface="Calibri"/>
                <a:ea typeface="Calibri"/>
                <a:cs typeface="Calibri"/>
              </a:defRPr>
            </a:lvl9pPr>
          </a:lstStyle>
          <a:p xmlns:a="http://schemas.openxmlformats.org/drawingml/2006/main">
            <a:pPr>
              <a:defRPr sz="2175" b="1">
                <a:solidFill>
                  <a:srgbClr val="287BA8"/>
                </a:solidFill>
                <a:latin typeface="Calibri"/>
                <a:ea typeface="Calibri"/>
                <a:cs typeface="Calibri"/>
              </a:defRPr>
            </a:pPr>
            <a:r>
              <a:rPr sz="2175" b="1">
                <a:solidFill>
                  <a:srgbClr val="287BA8"/>
                </a:solidFill>
                <a:latin typeface="Calibri"/>
                <a:ea typeface="Calibri"/>
                <a:cs typeface="Calibri"/>
              </a:rPr>
              <a:t>CareAllies intelligence</a:t>
            </a:r>
          </a:p>
        </p:txBody>
      </p:sp>
      <p:sp>
        <p:nvSpPr>
          <p:cNvPr id="33" name="">
            <a:extLst xmlns:a="http://schemas.openxmlformats.org/drawingml/2006/main">
              <a:ext uri="{FF2B5EF4-FFF2-40B4-BE49-F238E27FC236}">
                <a16:creationId xmlns:a16="http://schemas.microsoft.com/office/drawing/2014/main" id="{BD3951BE-B3F1-428E-B437-D4716A78AF9D}"/>
              </a:ext>
            </a:extLst>
          </p:cNvPr>
          <p:cNvSpPr>
            <a:spLocks xmlns:a="http://schemas.openxmlformats.org/drawingml/2006/main" noGrp="1"/>
          </p:cNvSpPr>
          <p:nvPr/>
        </p:nvSpPr>
        <p:spPr>
          <a:xfrm xmlns:a="http://schemas.openxmlformats.org/drawingml/2006/main">
            <a:off x="6343650" y="2619375"/>
            <a:ext cx="51435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Our team builds the VBC logic, governed questions and evidence workflows that connect to approved data.</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supplies the secure cloud foundation.</a:t>
            </a:r>
          </a:p>
        </p:txBody>
      </p:sp>
    </p:spTree>
    <p:extLst>
      <p:ext uri="{BB962C8B-B14F-4D97-AF65-F5344CB8AC3E}">
        <p14:creationId xmlns:p14="http://schemas.microsoft.com/office/powerpoint/2010/main" val="16721755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Six initiatives, shared capabilities</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Proposed applications reuse clinical evidence, governed metrics and approved model services.</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Prioritize two pilot workflows. The full portfolio remains directional.</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40D19771-9338-4E8E-BFF7-D66C6D2B4938}"/>
              </a:ext>
            </a:extLst>
          </p:cNvPr>
          <p:cNvSpPr>
            <a:spLocks xmlns:a="http://schemas.openxmlformats.org/drawingml/2006/main" noGrp="1"/>
          </p:cNvSpPr>
          <p:nvPr/>
        </p:nvSpPr>
        <p:spPr>
          <a:xfrm xmlns:a="http://schemas.openxmlformats.org/drawingml/2006/main">
            <a:off x="419100" y="173355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6BDD824D-70BC-4D76-A6EC-7550BCEB3A1D}"/>
              </a:ext>
            </a:extLst>
          </p:cNvPr>
          <p:cNvSpPr>
            <a:spLocks xmlns:a="http://schemas.openxmlformats.org/drawingml/2006/main" noGrp="1"/>
          </p:cNvSpPr>
          <p:nvPr/>
        </p:nvSpPr>
        <p:spPr>
          <a:xfrm xmlns:a="http://schemas.openxmlformats.org/drawingml/2006/main">
            <a:off x="581025" y="192405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479754"/>
                </a:solidFill>
                <a:latin typeface="Calibri"/>
                <a:ea typeface="Calibri"/>
                <a:cs typeface="Calibri"/>
              </a:defRPr>
            </a:defPPr>
            <a:lvl1pPr>
              <a:defRPr sz="1800" b="1">
                <a:solidFill>
                  <a:srgbClr val="479754"/>
                </a:solidFill>
                <a:latin typeface="Calibri"/>
                <a:ea typeface="Calibri"/>
                <a:cs typeface="Calibri"/>
              </a:defRPr>
            </a:lvl1pPr>
            <a:lvl2pPr>
              <a:defRPr sz="1800" b="1">
                <a:solidFill>
                  <a:srgbClr val="479754"/>
                </a:solidFill>
                <a:latin typeface="Calibri"/>
                <a:ea typeface="Calibri"/>
                <a:cs typeface="Calibri"/>
              </a:defRPr>
            </a:lvl2pPr>
            <a:lvl3pPr>
              <a:defRPr sz="1800" b="1">
                <a:solidFill>
                  <a:srgbClr val="479754"/>
                </a:solidFill>
                <a:latin typeface="Calibri"/>
                <a:ea typeface="Calibri"/>
                <a:cs typeface="Calibri"/>
              </a:defRPr>
            </a:lvl3pPr>
            <a:lvl4pPr>
              <a:defRPr sz="1800" b="1">
                <a:solidFill>
                  <a:srgbClr val="479754"/>
                </a:solidFill>
                <a:latin typeface="Calibri"/>
                <a:ea typeface="Calibri"/>
                <a:cs typeface="Calibri"/>
              </a:defRPr>
            </a:lvl4pPr>
            <a:lvl5pPr>
              <a:defRPr sz="1800" b="1">
                <a:solidFill>
                  <a:srgbClr val="479754"/>
                </a:solidFill>
                <a:latin typeface="Calibri"/>
                <a:ea typeface="Calibri"/>
                <a:cs typeface="Calibri"/>
              </a:defRPr>
            </a:lvl5pPr>
            <a:lvl6pPr>
              <a:defRPr sz="1800" b="1">
                <a:solidFill>
                  <a:srgbClr val="479754"/>
                </a:solidFill>
                <a:latin typeface="Calibri"/>
                <a:ea typeface="Calibri"/>
                <a:cs typeface="Calibri"/>
              </a:defRPr>
            </a:lvl6pPr>
            <a:lvl7pPr>
              <a:defRPr sz="1800" b="1">
                <a:solidFill>
                  <a:srgbClr val="479754"/>
                </a:solidFill>
                <a:latin typeface="Calibri"/>
                <a:ea typeface="Calibri"/>
                <a:cs typeface="Calibri"/>
              </a:defRPr>
            </a:lvl7pPr>
            <a:lvl8pPr>
              <a:defRPr sz="1800" b="1">
                <a:solidFill>
                  <a:srgbClr val="479754"/>
                </a:solidFill>
                <a:latin typeface="Calibri"/>
                <a:ea typeface="Calibri"/>
                <a:cs typeface="Calibri"/>
              </a:defRPr>
            </a:lvl8pPr>
            <a:lvl9pPr>
              <a:defRPr sz="1800" b="1">
                <a:solidFill>
                  <a:srgbClr val="479754"/>
                </a:solidFill>
                <a:latin typeface="Calibri"/>
                <a:ea typeface="Calibri"/>
                <a:cs typeface="Calibri"/>
              </a:defRPr>
            </a:lvl9pPr>
          </a:lstStyle>
          <a:p xmlns:a="http://schemas.openxmlformats.org/drawingml/2006/main">
            <a:pPr>
              <a:defRPr sz="1800" b="1">
                <a:solidFill>
                  <a:srgbClr val="479754"/>
                </a:solidFill>
                <a:latin typeface="Calibri"/>
                <a:ea typeface="Calibri"/>
                <a:cs typeface="Calibri"/>
              </a:defRPr>
            </a:pPr>
            <a:r>
              <a:rPr sz="1800" b="1">
                <a:solidFill>
                  <a:srgbClr val="479754"/>
                </a:solidFill>
                <a:latin typeface="Calibri"/>
                <a:ea typeface="Calibri"/>
                <a:cs typeface="Calibri"/>
              </a:rPr>
              <a:t>A1  Clinical documentation</a:t>
            </a:r>
          </a:p>
        </p:txBody>
      </p:sp>
      <p:sp>
        <p:nvSpPr>
          <p:cNvPr id="30" name="">
            <a:extLst xmlns:a="http://schemas.openxmlformats.org/drawingml/2006/main">
              <a:ext uri="{FF2B5EF4-FFF2-40B4-BE49-F238E27FC236}">
                <a16:creationId xmlns:a16="http://schemas.microsoft.com/office/drawing/2014/main" id="{382B67DB-C5D6-4C6C-A10E-26AFE7BB824D}"/>
              </a:ext>
            </a:extLst>
          </p:cNvPr>
          <p:cNvSpPr>
            <a:spLocks xmlns:a="http://schemas.openxmlformats.org/drawingml/2006/main" noGrp="1"/>
          </p:cNvSpPr>
          <p:nvPr/>
        </p:nvSpPr>
        <p:spPr>
          <a:xfrm xmlns:a="http://schemas.openxmlformats.org/drawingml/2006/main">
            <a:off x="581025" y="261937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Chart evidence tables</a:t>
            </a:r>
          </a:p>
        </p:txBody>
      </p:sp>
      <p:sp>
        <p:nvSpPr>
          <p:cNvPr id="31" name="">
            <a:extLst xmlns:a="http://schemas.openxmlformats.org/drawingml/2006/main">
              <a:ext uri="{FF2B5EF4-FFF2-40B4-BE49-F238E27FC236}">
                <a16:creationId xmlns:a16="http://schemas.microsoft.com/office/drawing/2014/main" id="{75508ED2-F68D-48AD-BF15-2217338A9611}"/>
              </a:ext>
            </a:extLst>
          </p:cNvPr>
          <p:cNvSpPr>
            <a:spLocks xmlns:a="http://schemas.openxmlformats.org/drawingml/2006/main" noGrp="1"/>
          </p:cNvSpPr>
          <p:nvPr/>
        </p:nvSpPr>
        <p:spPr>
          <a:xfrm xmlns:a="http://schemas.openxmlformats.org/drawingml/2006/main">
            <a:off x="4267200" y="173355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32" name="">
            <a:extLst xmlns:a="http://schemas.openxmlformats.org/drawingml/2006/main">
              <a:ext uri="{FF2B5EF4-FFF2-40B4-BE49-F238E27FC236}">
                <a16:creationId xmlns:a16="http://schemas.microsoft.com/office/drawing/2014/main" id="{EA1DD85C-8662-4C8B-94DD-4B05F22CF7B7}"/>
              </a:ext>
            </a:extLst>
          </p:cNvPr>
          <p:cNvSpPr>
            <a:spLocks xmlns:a="http://schemas.openxmlformats.org/drawingml/2006/main" noGrp="1"/>
          </p:cNvSpPr>
          <p:nvPr/>
        </p:nvSpPr>
        <p:spPr>
          <a:xfrm xmlns:a="http://schemas.openxmlformats.org/drawingml/2006/main">
            <a:off x="4429125" y="192405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479754"/>
                </a:solidFill>
                <a:latin typeface="Calibri"/>
                <a:ea typeface="Calibri"/>
                <a:cs typeface="Calibri"/>
              </a:defRPr>
            </a:defPPr>
            <a:lvl1pPr>
              <a:defRPr sz="1800" b="1">
                <a:solidFill>
                  <a:srgbClr val="479754"/>
                </a:solidFill>
                <a:latin typeface="Calibri"/>
                <a:ea typeface="Calibri"/>
                <a:cs typeface="Calibri"/>
              </a:defRPr>
            </a:lvl1pPr>
            <a:lvl2pPr>
              <a:defRPr sz="1800" b="1">
                <a:solidFill>
                  <a:srgbClr val="479754"/>
                </a:solidFill>
                <a:latin typeface="Calibri"/>
                <a:ea typeface="Calibri"/>
                <a:cs typeface="Calibri"/>
              </a:defRPr>
            </a:lvl2pPr>
            <a:lvl3pPr>
              <a:defRPr sz="1800" b="1">
                <a:solidFill>
                  <a:srgbClr val="479754"/>
                </a:solidFill>
                <a:latin typeface="Calibri"/>
                <a:ea typeface="Calibri"/>
                <a:cs typeface="Calibri"/>
              </a:defRPr>
            </a:lvl3pPr>
            <a:lvl4pPr>
              <a:defRPr sz="1800" b="1">
                <a:solidFill>
                  <a:srgbClr val="479754"/>
                </a:solidFill>
                <a:latin typeface="Calibri"/>
                <a:ea typeface="Calibri"/>
                <a:cs typeface="Calibri"/>
              </a:defRPr>
            </a:lvl4pPr>
            <a:lvl5pPr>
              <a:defRPr sz="1800" b="1">
                <a:solidFill>
                  <a:srgbClr val="479754"/>
                </a:solidFill>
                <a:latin typeface="Calibri"/>
                <a:ea typeface="Calibri"/>
                <a:cs typeface="Calibri"/>
              </a:defRPr>
            </a:lvl5pPr>
            <a:lvl6pPr>
              <a:defRPr sz="1800" b="1">
                <a:solidFill>
                  <a:srgbClr val="479754"/>
                </a:solidFill>
                <a:latin typeface="Calibri"/>
                <a:ea typeface="Calibri"/>
                <a:cs typeface="Calibri"/>
              </a:defRPr>
            </a:lvl6pPr>
            <a:lvl7pPr>
              <a:defRPr sz="1800" b="1">
                <a:solidFill>
                  <a:srgbClr val="479754"/>
                </a:solidFill>
                <a:latin typeface="Calibri"/>
                <a:ea typeface="Calibri"/>
                <a:cs typeface="Calibri"/>
              </a:defRPr>
            </a:lvl7pPr>
            <a:lvl8pPr>
              <a:defRPr sz="1800" b="1">
                <a:solidFill>
                  <a:srgbClr val="479754"/>
                </a:solidFill>
                <a:latin typeface="Calibri"/>
                <a:ea typeface="Calibri"/>
                <a:cs typeface="Calibri"/>
              </a:defRPr>
            </a:lvl8pPr>
            <a:lvl9pPr>
              <a:defRPr sz="1800" b="1">
                <a:solidFill>
                  <a:srgbClr val="479754"/>
                </a:solidFill>
                <a:latin typeface="Calibri"/>
                <a:ea typeface="Calibri"/>
                <a:cs typeface="Calibri"/>
              </a:defRPr>
            </a:lvl9pPr>
          </a:lstStyle>
          <a:p xmlns:a="http://schemas.openxmlformats.org/drawingml/2006/main">
            <a:pPr>
              <a:defRPr sz="1800" b="1">
                <a:solidFill>
                  <a:srgbClr val="479754"/>
                </a:solidFill>
                <a:latin typeface="Calibri"/>
                <a:ea typeface="Calibri"/>
                <a:cs typeface="Calibri"/>
              </a:defRPr>
            </a:pPr>
            <a:r>
              <a:rPr sz="1800" b="1">
                <a:solidFill>
                  <a:srgbClr val="479754"/>
                </a:solidFill>
                <a:latin typeface="Calibri"/>
                <a:ea typeface="Calibri"/>
                <a:cs typeface="Calibri"/>
              </a:rPr>
              <a:t>A2  Audit the Auditor</a:t>
            </a:r>
          </a:p>
        </p:txBody>
      </p:sp>
      <p:sp>
        <p:nvSpPr>
          <p:cNvPr id="33" name="">
            <a:extLst xmlns:a="http://schemas.openxmlformats.org/drawingml/2006/main">
              <a:ext uri="{FF2B5EF4-FFF2-40B4-BE49-F238E27FC236}">
                <a16:creationId xmlns:a16="http://schemas.microsoft.com/office/drawing/2014/main" id="{297958D0-ABF7-4F70-9C8F-63FB77F00369}"/>
              </a:ext>
            </a:extLst>
          </p:cNvPr>
          <p:cNvSpPr>
            <a:spLocks xmlns:a="http://schemas.openxmlformats.org/drawingml/2006/main" noGrp="1"/>
          </p:cNvSpPr>
          <p:nvPr/>
        </p:nvSpPr>
        <p:spPr>
          <a:xfrm xmlns:a="http://schemas.openxmlformats.org/drawingml/2006/main">
            <a:off x="4429125" y="261937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Targeted second review</a:t>
            </a:r>
          </a:p>
        </p:txBody>
      </p:sp>
      <p:sp>
        <p:nvSpPr>
          <p:cNvPr id="34" name="">
            <a:extLst xmlns:a="http://schemas.openxmlformats.org/drawingml/2006/main">
              <a:ext uri="{FF2B5EF4-FFF2-40B4-BE49-F238E27FC236}">
                <a16:creationId xmlns:a16="http://schemas.microsoft.com/office/drawing/2014/main" id="{112F84FE-1AAB-4C06-A587-E50AE2A422FB}"/>
              </a:ext>
            </a:extLst>
          </p:cNvPr>
          <p:cNvSpPr>
            <a:spLocks xmlns:a="http://schemas.openxmlformats.org/drawingml/2006/main" noGrp="1"/>
          </p:cNvSpPr>
          <p:nvPr/>
        </p:nvSpPr>
        <p:spPr>
          <a:xfrm xmlns:a="http://schemas.openxmlformats.org/drawingml/2006/main">
            <a:off x="8115300" y="173355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35" name="">
            <a:extLst xmlns:a="http://schemas.openxmlformats.org/drawingml/2006/main">
              <a:ext uri="{FF2B5EF4-FFF2-40B4-BE49-F238E27FC236}">
                <a16:creationId xmlns:a16="http://schemas.microsoft.com/office/drawing/2014/main" id="{091A3CF8-10F4-4CE9-9FF1-C39B9B4EDB97}"/>
              </a:ext>
            </a:extLst>
          </p:cNvPr>
          <p:cNvSpPr>
            <a:spLocks xmlns:a="http://schemas.openxmlformats.org/drawingml/2006/main" noGrp="1"/>
          </p:cNvSpPr>
          <p:nvPr/>
        </p:nvSpPr>
        <p:spPr>
          <a:xfrm xmlns:a="http://schemas.openxmlformats.org/drawingml/2006/main">
            <a:off x="8277225" y="192405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479754"/>
                </a:solidFill>
                <a:latin typeface="Calibri"/>
                <a:ea typeface="Calibri"/>
                <a:cs typeface="Calibri"/>
              </a:defRPr>
            </a:defPPr>
            <a:lvl1pPr>
              <a:defRPr sz="1800" b="1">
                <a:solidFill>
                  <a:srgbClr val="479754"/>
                </a:solidFill>
                <a:latin typeface="Calibri"/>
                <a:ea typeface="Calibri"/>
                <a:cs typeface="Calibri"/>
              </a:defRPr>
            </a:lvl1pPr>
            <a:lvl2pPr>
              <a:defRPr sz="1800" b="1">
                <a:solidFill>
                  <a:srgbClr val="479754"/>
                </a:solidFill>
                <a:latin typeface="Calibri"/>
                <a:ea typeface="Calibri"/>
                <a:cs typeface="Calibri"/>
              </a:defRPr>
            </a:lvl2pPr>
            <a:lvl3pPr>
              <a:defRPr sz="1800" b="1">
                <a:solidFill>
                  <a:srgbClr val="479754"/>
                </a:solidFill>
                <a:latin typeface="Calibri"/>
                <a:ea typeface="Calibri"/>
                <a:cs typeface="Calibri"/>
              </a:defRPr>
            </a:lvl3pPr>
            <a:lvl4pPr>
              <a:defRPr sz="1800" b="1">
                <a:solidFill>
                  <a:srgbClr val="479754"/>
                </a:solidFill>
                <a:latin typeface="Calibri"/>
                <a:ea typeface="Calibri"/>
                <a:cs typeface="Calibri"/>
              </a:defRPr>
            </a:lvl4pPr>
            <a:lvl5pPr>
              <a:defRPr sz="1800" b="1">
                <a:solidFill>
                  <a:srgbClr val="479754"/>
                </a:solidFill>
                <a:latin typeface="Calibri"/>
                <a:ea typeface="Calibri"/>
                <a:cs typeface="Calibri"/>
              </a:defRPr>
            </a:lvl5pPr>
            <a:lvl6pPr>
              <a:defRPr sz="1800" b="1">
                <a:solidFill>
                  <a:srgbClr val="479754"/>
                </a:solidFill>
                <a:latin typeface="Calibri"/>
                <a:ea typeface="Calibri"/>
                <a:cs typeface="Calibri"/>
              </a:defRPr>
            </a:lvl6pPr>
            <a:lvl7pPr>
              <a:defRPr sz="1800" b="1">
                <a:solidFill>
                  <a:srgbClr val="479754"/>
                </a:solidFill>
                <a:latin typeface="Calibri"/>
                <a:ea typeface="Calibri"/>
                <a:cs typeface="Calibri"/>
              </a:defRPr>
            </a:lvl7pPr>
            <a:lvl8pPr>
              <a:defRPr sz="1800" b="1">
                <a:solidFill>
                  <a:srgbClr val="479754"/>
                </a:solidFill>
                <a:latin typeface="Calibri"/>
                <a:ea typeface="Calibri"/>
                <a:cs typeface="Calibri"/>
              </a:defRPr>
            </a:lvl8pPr>
            <a:lvl9pPr>
              <a:defRPr sz="1800" b="1">
                <a:solidFill>
                  <a:srgbClr val="479754"/>
                </a:solidFill>
                <a:latin typeface="Calibri"/>
                <a:ea typeface="Calibri"/>
                <a:cs typeface="Calibri"/>
              </a:defRPr>
            </a:lvl9pPr>
          </a:lstStyle>
          <a:p xmlns:a="http://schemas.openxmlformats.org/drawingml/2006/main">
            <a:pPr>
              <a:defRPr sz="1800" b="1">
                <a:solidFill>
                  <a:srgbClr val="479754"/>
                </a:solidFill>
                <a:latin typeface="Calibri"/>
                <a:ea typeface="Calibri"/>
                <a:cs typeface="Calibri"/>
              </a:defRPr>
            </a:pPr>
            <a:r>
              <a:rPr sz="1800" b="1">
                <a:solidFill>
                  <a:srgbClr val="479754"/>
                </a:solidFill>
                <a:latin typeface="Calibri"/>
                <a:ea typeface="Calibri"/>
                <a:cs typeface="Calibri"/>
              </a:rPr>
              <a:t>A3  Stars investigator</a:t>
            </a:r>
          </a:p>
        </p:txBody>
      </p:sp>
      <p:sp>
        <p:nvSpPr>
          <p:cNvPr id="36" name="">
            <a:extLst xmlns:a="http://schemas.openxmlformats.org/drawingml/2006/main">
              <a:ext uri="{FF2B5EF4-FFF2-40B4-BE49-F238E27FC236}">
                <a16:creationId xmlns:a16="http://schemas.microsoft.com/office/drawing/2014/main" id="{D89C9A93-5309-41C3-A2AF-84BE37C79F2E}"/>
              </a:ext>
            </a:extLst>
          </p:cNvPr>
          <p:cNvSpPr>
            <a:spLocks xmlns:a="http://schemas.openxmlformats.org/drawingml/2006/main" noGrp="1"/>
          </p:cNvSpPr>
          <p:nvPr/>
        </p:nvSpPr>
        <p:spPr>
          <a:xfrm xmlns:a="http://schemas.openxmlformats.org/drawingml/2006/main">
            <a:off x="8277225" y="261937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Measures and chart gaps</a:t>
            </a:r>
          </a:p>
        </p:txBody>
      </p:sp>
      <p:sp>
        <p:nvSpPr>
          <p:cNvPr id="37" name="">
            <a:extLst xmlns:a="http://schemas.openxmlformats.org/drawingml/2006/main">
              <a:ext uri="{FF2B5EF4-FFF2-40B4-BE49-F238E27FC236}">
                <a16:creationId xmlns:a16="http://schemas.microsoft.com/office/drawing/2014/main" id="{85B5F401-9171-4EDB-91DA-67DEC32E5698}"/>
              </a:ext>
            </a:extLst>
          </p:cNvPr>
          <p:cNvSpPr>
            <a:spLocks xmlns:a="http://schemas.openxmlformats.org/drawingml/2006/main" noGrp="1"/>
          </p:cNvSpPr>
          <p:nvPr/>
        </p:nvSpPr>
        <p:spPr>
          <a:xfrm xmlns:a="http://schemas.openxmlformats.org/drawingml/2006/main">
            <a:off x="419100" y="361950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8" name="">
            <a:extLst xmlns:a="http://schemas.openxmlformats.org/drawingml/2006/main">
              <a:ext uri="{FF2B5EF4-FFF2-40B4-BE49-F238E27FC236}">
                <a16:creationId xmlns:a16="http://schemas.microsoft.com/office/drawing/2014/main" id="{192B4E99-E45C-479E-AA30-93A6E3436010}"/>
              </a:ext>
            </a:extLst>
          </p:cNvPr>
          <p:cNvSpPr>
            <a:spLocks xmlns:a="http://schemas.openxmlformats.org/drawingml/2006/main" noGrp="1"/>
          </p:cNvSpPr>
          <p:nvPr/>
        </p:nvSpPr>
        <p:spPr>
          <a:xfrm xmlns:a="http://schemas.openxmlformats.org/drawingml/2006/main">
            <a:off x="581025" y="381000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87BA8"/>
                </a:solidFill>
                <a:latin typeface="Calibri"/>
                <a:ea typeface="Calibri"/>
                <a:cs typeface="Calibri"/>
              </a:defRPr>
            </a:defPPr>
            <a:lvl1pPr>
              <a:defRPr sz="1800" b="1">
                <a:solidFill>
                  <a:srgbClr val="287BA8"/>
                </a:solidFill>
                <a:latin typeface="Calibri"/>
                <a:ea typeface="Calibri"/>
                <a:cs typeface="Calibri"/>
              </a:defRPr>
            </a:lvl1pPr>
            <a:lvl2pPr>
              <a:defRPr sz="1800" b="1">
                <a:solidFill>
                  <a:srgbClr val="287BA8"/>
                </a:solidFill>
                <a:latin typeface="Calibri"/>
                <a:ea typeface="Calibri"/>
                <a:cs typeface="Calibri"/>
              </a:defRPr>
            </a:lvl2pPr>
            <a:lvl3pPr>
              <a:defRPr sz="1800" b="1">
                <a:solidFill>
                  <a:srgbClr val="287BA8"/>
                </a:solidFill>
                <a:latin typeface="Calibri"/>
                <a:ea typeface="Calibri"/>
                <a:cs typeface="Calibri"/>
              </a:defRPr>
            </a:lvl3pPr>
            <a:lvl4pPr>
              <a:defRPr sz="1800" b="1">
                <a:solidFill>
                  <a:srgbClr val="287BA8"/>
                </a:solidFill>
                <a:latin typeface="Calibri"/>
                <a:ea typeface="Calibri"/>
                <a:cs typeface="Calibri"/>
              </a:defRPr>
            </a:lvl4pPr>
            <a:lvl5pPr>
              <a:defRPr sz="1800" b="1">
                <a:solidFill>
                  <a:srgbClr val="287BA8"/>
                </a:solidFill>
                <a:latin typeface="Calibri"/>
                <a:ea typeface="Calibri"/>
                <a:cs typeface="Calibri"/>
              </a:defRPr>
            </a:lvl5pPr>
            <a:lvl6pPr>
              <a:defRPr sz="1800" b="1">
                <a:solidFill>
                  <a:srgbClr val="287BA8"/>
                </a:solidFill>
                <a:latin typeface="Calibri"/>
                <a:ea typeface="Calibri"/>
                <a:cs typeface="Calibri"/>
              </a:defRPr>
            </a:lvl6pPr>
            <a:lvl7pPr>
              <a:defRPr sz="1800" b="1">
                <a:solidFill>
                  <a:srgbClr val="287BA8"/>
                </a:solidFill>
                <a:latin typeface="Calibri"/>
                <a:ea typeface="Calibri"/>
                <a:cs typeface="Calibri"/>
              </a:defRPr>
            </a:lvl7pPr>
            <a:lvl8pPr>
              <a:defRPr sz="1800" b="1">
                <a:solidFill>
                  <a:srgbClr val="287BA8"/>
                </a:solidFill>
                <a:latin typeface="Calibri"/>
                <a:ea typeface="Calibri"/>
                <a:cs typeface="Calibri"/>
              </a:defRPr>
            </a:lvl8pPr>
            <a:lvl9pPr>
              <a:defRPr sz="1800" b="1">
                <a:solidFill>
                  <a:srgbClr val="287BA8"/>
                </a:solidFill>
                <a:latin typeface="Calibri"/>
                <a:ea typeface="Calibri"/>
                <a:cs typeface="Calibri"/>
              </a:defRPr>
            </a:lvl9pPr>
          </a:lstStyle>
          <a:p xmlns:a="http://schemas.openxmlformats.org/drawingml/2006/main">
            <a:pPr>
              <a:defRPr sz="1800" b="1">
                <a:solidFill>
                  <a:srgbClr val="287BA8"/>
                </a:solidFill>
                <a:latin typeface="Calibri"/>
                <a:ea typeface="Calibri"/>
                <a:cs typeface="Calibri"/>
              </a:defRPr>
            </a:pPr>
            <a:r>
              <a:rPr sz="1800" b="1">
                <a:solidFill>
                  <a:srgbClr val="287BA8"/>
                </a:solidFill>
                <a:latin typeface="Calibri"/>
                <a:ea typeface="Calibri"/>
                <a:cs typeface="Calibri"/>
              </a:rPr>
              <a:t>B1  Risk investigator</a:t>
            </a:r>
          </a:p>
        </p:txBody>
      </p:sp>
      <p:sp>
        <p:nvSpPr>
          <p:cNvPr id="39" name="">
            <a:extLst xmlns:a="http://schemas.openxmlformats.org/drawingml/2006/main">
              <a:ext uri="{FF2B5EF4-FFF2-40B4-BE49-F238E27FC236}">
                <a16:creationId xmlns:a16="http://schemas.microsoft.com/office/drawing/2014/main" id="{BA8B2DFF-D378-43AD-A4E0-47570F2E889D}"/>
              </a:ext>
            </a:extLst>
          </p:cNvPr>
          <p:cNvSpPr>
            <a:spLocks xmlns:a="http://schemas.openxmlformats.org/drawingml/2006/main" noGrp="1"/>
          </p:cNvSpPr>
          <p:nvPr/>
        </p:nvSpPr>
        <p:spPr>
          <a:xfrm xmlns:a="http://schemas.openxmlformats.org/drawingml/2006/main">
            <a:off x="581025" y="450532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Reconciled score drivers</a:t>
            </a:r>
          </a:p>
        </p:txBody>
      </p:sp>
      <p:sp>
        <p:nvSpPr>
          <p:cNvPr id="40" name="">
            <a:extLst xmlns:a="http://schemas.openxmlformats.org/drawingml/2006/main">
              <a:ext uri="{FF2B5EF4-FFF2-40B4-BE49-F238E27FC236}">
                <a16:creationId xmlns:a16="http://schemas.microsoft.com/office/drawing/2014/main" id="{CE6A571F-9E75-4F72-9AC6-9CD6799C4EA4}"/>
              </a:ext>
            </a:extLst>
          </p:cNvPr>
          <p:cNvSpPr>
            <a:spLocks xmlns:a="http://schemas.openxmlformats.org/drawingml/2006/main" noGrp="1"/>
          </p:cNvSpPr>
          <p:nvPr/>
        </p:nvSpPr>
        <p:spPr>
          <a:xfrm xmlns:a="http://schemas.openxmlformats.org/drawingml/2006/main">
            <a:off x="4267200" y="361950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41" name="">
            <a:extLst xmlns:a="http://schemas.openxmlformats.org/drawingml/2006/main">
              <a:ext uri="{FF2B5EF4-FFF2-40B4-BE49-F238E27FC236}">
                <a16:creationId xmlns:a16="http://schemas.microsoft.com/office/drawing/2014/main" id="{C196F9B5-FC29-4D33-9B36-CB2F3FBF820C}"/>
              </a:ext>
            </a:extLst>
          </p:cNvPr>
          <p:cNvSpPr>
            <a:spLocks xmlns:a="http://schemas.openxmlformats.org/drawingml/2006/main" noGrp="1"/>
          </p:cNvSpPr>
          <p:nvPr/>
        </p:nvSpPr>
        <p:spPr>
          <a:xfrm xmlns:a="http://schemas.openxmlformats.org/drawingml/2006/main">
            <a:off x="4429125" y="381000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87BA8"/>
                </a:solidFill>
                <a:latin typeface="Calibri"/>
                <a:ea typeface="Calibri"/>
                <a:cs typeface="Calibri"/>
              </a:defRPr>
            </a:defPPr>
            <a:lvl1pPr>
              <a:defRPr sz="1800" b="1">
                <a:solidFill>
                  <a:srgbClr val="287BA8"/>
                </a:solidFill>
                <a:latin typeface="Calibri"/>
                <a:ea typeface="Calibri"/>
                <a:cs typeface="Calibri"/>
              </a:defRPr>
            </a:lvl1pPr>
            <a:lvl2pPr>
              <a:defRPr sz="1800" b="1">
                <a:solidFill>
                  <a:srgbClr val="287BA8"/>
                </a:solidFill>
                <a:latin typeface="Calibri"/>
                <a:ea typeface="Calibri"/>
                <a:cs typeface="Calibri"/>
              </a:defRPr>
            </a:lvl2pPr>
            <a:lvl3pPr>
              <a:defRPr sz="1800" b="1">
                <a:solidFill>
                  <a:srgbClr val="287BA8"/>
                </a:solidFill>
                <a:latin typeface="Calibri"/>
                <a:ea typeface="Calibri"/>
                <a:cs typeface="Calibri"/>
              </a:defRPr>
            </a:lvl3pPr>
            <a:lvl4pPr>
              <a:defRPr sz="1800" b="1">
                <a:solidFill>
                  <a:srgbClr val="287BA8"/>
                </a:solidFill>
                <a:latin typeface="Calibri"/>
                <a:ea typeface="Calibri"/>
                <a:cs typeface="Calibri"/>
              </a:defRPr>
            </a:lvl4pPr>
            <a:lvl5pPr>
              <a:defRPr sz="1800" b="1">
                <a:solidFill>
                  <a:srgbClr val="287BA8"/>
                </a:solidFill>
                <a:latin typeface="Calibri"/>
                <a:ea typeface="Calibri"/>
                <a:cs typeface="Calibri"/>
              </a:defRPr>
            </a:lvl5pPr>
            <a:lvl6pPr>
              <a:defRPr sz="1800" b="1">
                <a:solidFill>
                  <a:srgbClr val="287BA8"/>
                </a:solidFill>
                <a:latin typeface="Calibri"/>
                <a:ea typeface="Calibri"/>
                <a:cs typeface="Calibri"/>
              </a:defRPr>
            </a:lvl6pPr>
            <a:lvl7pPr>
              <a:defRPr sz="1800" b="1">
                <a:solidFill>
                  <a:srgbClr val="287BA8"/>
                </a:solidFill>
                <a:latin typeface="Calibri"/>
                <a:ea typeface="Calibri"/>
                <a:cs typeface="Calibri"/>
              </a:defRPr>
            </a:lvl7pPr>
            <a:lvl8pPr>
              <a:defRPr sz="1800" b="1">
                <a:solidFill>
                  <a:srgbClr val="287BA8"/>
                </a:solidFill>
                <a:latin typeface="Calibri"/>
                <a:ea typeface="Calibri"/>
                <a:cs typeface="Calibri"/>
              </a:defRPr>
            </a:lvl8pPr>
            <a:lvl9pPr>
              <a:defRPr sz="1800" b="1">
                <a:solidFill>
                  <a:srgbClr val="287BA8"/>
                </a:solidFill>
                <a:latin typeface="Calibri"/>
                <a:ea typeface="Calibri"/>
                <a:cs typeface="Calibri"/>
              </a:defRPr>
            </a:lvl9pPr>
          </a:lstStyle>
          <a:p xmlns:a="http://schemas.openxmlformats.org/drawingml/2006/main">
            <a:pPr>
              <a:defRPr sz="1800" b="1">
                <a:solidFill>
                  <a:srgbClr val="287BA8"/>
                </a:solidFill>
                <a:latin typeface="Calibri"/>
                <a:ea typeface="Calibri"/>
                <a:cs typeface="Calibri"/>
              </a:defRPr>
            </a:pPr>
            <a:r>
              <a:rPr sz="1800" b="1">
                <a:solidFill>
                  <a:srgbClr val="287BA8"/>
                </a:solidFill>
                <a:latin typeface="Calibri"/>
                <a:ea typeface="Calibri"/>
                <a:cs typeface="Calibri"/>
              </a:rPr>
              <a:t>B2  Provider profiling</a:t>
            </a:r>
          </a:p>
        </p:txBody>
      </p:sp>
      <p:sp>
        <p:nvSpPr>
          <p:cNvPr id="42" name="">
            <a:extLst xmlns:a="http://schemas.openxmlformats.org/drawingml/2006/main">
              <a:ext uri="{FF2B5EF4-FFF2-40B4-BE49-F238E27FC236}">
                <a16:creationId xmlns:a16="http://schemas.microsoft.com/office/drawing/2014/main" id="{6C954EE7-A5F0-4C85-AD05-26BA849902A4}"/>
              </a:ext>
            </a:extLst>
          </p:cNvPr>
          <p:cNvSpPr>
            <a:spLocks xmlns:a="http://schemas.openxmlformats.org/drawingml/2006/main" noGrp="1"/>
          </p:cNvSpPr>
          <p:nvPr/>
        </p:nvSpPr>
        <p:spPr>
          <a:xfrm xmlns:a="http://schemas.openxmlformats.org/drawingml/2006/main">
            <a:off x="4429125" y="450532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Evaluated interventions</a:t>
            </a:r>
          </a:p>
        </p:txBody>
      </p:sp>
      <p:sp>
        <p:nvSpPr>
          <p:cNvPr id="43" name="">
            <a:extLst xmlns:a="http://schemas.openxmlformats.org/drawingml/2006/main">
              <a:ext uri="{FF2B5EF4-FFF2-40B4-BE49-F238E27FC236}">
                <a16:creationId xmlns:a16="http://schemas.microsoft.com/office/drawing/2014/main" id="{7FBB6CCF-4CF1-43A9-89C9-6AB04BED98B6}"/>
              </a:ext>
            </a:extLst>
          </p:cNvPr>
          <p:cNvSpPr>
            <a:spLocks xmlns:a="http://schemas.openxmlformats.org/drawingml/2006/main" noGrp="1"/>
          </p:cNvSpPr>
          <p:nvPr/>
        </p:nvSpPr>
        <p:spPr>
          <a:xfrm xmlns:a="http://schemas.openxmlformats.org/drawingml/2006/main">
            <a:off x="8115300" y="361950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44" name="">
            <a:extLst xmlns:a="http://schemas.openxmlformats.org/drawingml/2006/main">
              <a:ext uri="{FF2B5EF4-FFF2-40B4-BE49-F238E27FC236}">
                <a16:creationId xmlns:a16="http://schemas.microsoft.com/office/drawing/2014/main" id="{599CAA0D-0C97-44F5-B7E9-A098ADEE1136}"/>
              </a:ext>
            </a:extLst>
          </p:cNvPr>
          <p:cNvSpPr>
            <a:spLocks xmlns:a="http://schemas.openxmlformats.org/drawingml/2006/main" noGrp="1"/>
          </p:cNvSpPr>
          <p:nvPr/>
        </p:nvSpPr>
        <p:spPr>
          <a:xfrm xmlns:a="http://schemas.openxmlformats.org/drawingml/2006/main">
            <a:off x="8277225" y="381000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87BA8"/>
                </a:solidFill>
                <a:latin typeface="Calibri"/>
                <a:ea typeface="Calibri"/>
                <a:cs typeface="Calibri"/>
              </a:defRPr>
            </a:defPPr>
            <a:lvl1pPr>
              <a:defRPr sz="1800" b="1">
                <a:solidFill>
                  <a:srgbClr val="287BA8"/>
                </a:solidFill>
                <a:latin typeface="Calibri"/>
                <a:ea typeface="Calibri"/>
                <a:cs typeface="Calibri"/>
              </a:defRPr>
            </a:lvl1pPr>
            <a:lvl2pPr>
              <a:defRPr sz="1800" b="1">
                <a:solidFill>
                  <a:srgbClr val="287BA8"/>
                </a:solidFill>
                <a:latin typeface="Calibri"/>
                <a:ea typeface="Calibri"/>
                <a:cs typeface="Calibri"/>
              </a:defRPr>
            </a:lvl2pPr>
            <a:lvl3pPr>
              <a:defRPr sz="1800" b="1">
                <a:solidFill>
                  <a:srgbClr val="287BA8"/>
                </a:solidFill>
                <a:latin typeface="Calibri"/>
                <a:ea typeface="Calibri"/>
                <a:cs typeface="Calibri"/>
              </a:defRPr>
            </a:lvl3pPr>
            <a:lvl4pPr>
              <a:defRPr sz="1800" b="1">
                <a:solidFill>
                  <a:srgbClr val="287BA8"/>
                </a:solidFill>
                <a:latin typeface="Calibri"/>
                <a:ea typeface="Calibri"/>
                <a:cs typeface="Calibri"/>
              </a:defRPr>
            </a:lvl4pPr>
            <a:lvl5pPr>
              <a:defRPr sz="1800" b="1">
                <a:solidFill>
                  <a:srgbClr val="287BA8"/>
                </a:solidFill>
                <a:latin typeface="Calibri"/>
                <a:ea typeface="Calibri"/>
                <a:cs typeface="Calibri"/>
              </a:defRPr>
            </a:lvl5pPr>
            <a:lvl6pPr>
              <a:defRPr sz="1800" b="1">
                <a:solidFill>
                  <a:srgbClr val="287BA8"/>
                </a:solidFill>
                <a:latin typeface="Calibri"/>
                <a:ea typeface="Calibri"/>
                <a:cs typeface="Calibri"/>
              </a:defRPr>
            </a:lvl6pPr>
            <a:lvl7pPr>
              <a:defRPr sz="1800" b="1">
                <a:solidFill>
                  <a:srgbClr val="287BA8"/>
                </a:solidFill>
                <a:latin typeface="Calibri"/>
                <a:ea typeface="Calibri"/>
                <a:cs typeface="Calibri"/>
              </a:defRPr>
            </a:lvl7pPr>
            <a:lvl8pPr>
              <a:defRPr sz="1800" b="1">
                <a:solidFill>
                  <a:srgbClr val="287BA8"/>
                </a:solidFill>
                <a:latin typeface="Calibri"/>
                <a:ea typeface="Calibri"/>
                <a:cs typeface="Calibri"/>
              </a:defRPr>
            </a:lvl8pPr>
            <a:lvl9pPr>
              <a:defRPr sz="1800" b="1">
                <a:solidFill>
                  <a:srgbClr val="287BA8"/>
                </a:solidFill>
                <a:latin typeface="Calibri"/>
                <a:ea typeface="Calibri"/>
                <a:cs typeface="Calibri"/>
              </a:defRPr>
            </a:lvl9pPr>
          </a:lstStyle>
          <a:p xmlns:a="http://schemas.openxmlformats.org/drawingml/2006/main">
            <a:pPr>
              <a:defRPr sz="1800" b="1">
                <a:solidFill>
                  <a:srgbClr val="287BA8"/>
                </a:solidFill>
                <a:latin typeface="Calibri"/>
                <a:ea typeface="Calibri"/>
                <a:cs typeface="Calibri"/>
              </a:defRPr>
            </a:pPr>
            <a:r>
              <a:rPr sz="1800" b="1">
                <a:solidFill>
                  <a:srgbClr val="287BA8"/>
                </a:solidFill>
                <a:latin typeface="Calibri"/>
                <a:ea typeface="Calibri"/>
                <a:cs typeface="Calibri"/>
              </a:rPr>
              <a:t>B3  Analytics assistant</a:t>
            </a:r>
          </a:p>
        </p:txBody>
      </p:sp>
      <p:sp>
        <p:nvSpPr>
          <p:cNvPr id="45" name="">
            <a:extLst xmlns:a="http://schemas.openxmlformats.org/drawingml/2006/main">
              <a:ext uri="{FF2B5EF4-FFF2-40B4-BE49-F238E27FC236}">
                <a16:creationId xmlns:a16="http://schemas.microsoft.com/office/drawing/2014/main" id="{37EBBEC3-BA84-4A0A-9D36-4DB1E9EA3B4B}"/>
              </a:ext>
            </a:extLst>
          </p:cNvPr>
          <p:cNvSpPr>
            <a:spLocks xmlns:a="http://schemas.openxmlformats.org/drawingml/2006/main" noGrp="1"/>
          </p:cNvSpPr>
          <p:nvPr/>
        </p:nvSpPr>
        <p:spPr>
          <a:xfrm xmlns:a="http://schemas.openxmlformats.org/drawingml/2006/main">
            <a:off x="8277225" y="450532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Governed questions</a:t>
            </a:r>
          </a:p>
        </p:txBody>
      </p:sp>
    </p:spTree>
    <p:extLst>
      <p:ext uri="{BB962C8B-B14F-4D97-AF65-F5344CB8AC3E}">
        <p14:creationId xmlns:p14="http://schemas.microsoft.com/office/powerpoint/2010/main" val="16721755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Analytics enablement at scale</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A governed model service can accelerate recurring reporting and data preparation.</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Measure screening accuracy, reviewer time and cost before production use.</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049A07FB-F57E-4CCE-8FB1-31CBE6A32F55}"/>
              </a:ext>
            </a:extLst>
          </p:cNvPr>
          <p:cNvSpPr>
            <a:spLocks xmlns:a="http://schemas.openxmlformats.org/drawingml/2006/main" noGrp="1"/>
          </p:cNvSpPr>
          <p:nvPr/>
        </p:nvSpPr>
        <p:spPr>
          <a:xfrm xmlns:a="http://schemas.openxmlformats.org/drawingml/2006/main">
            <a:off x="419100" y="1724025"/>
            <a:ext cx="54673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69F6FA4D-ECDD-4380-8B07-895ABF921A94}"/>
              </a:ext>
            </a:extLst>
          </p:cNvPr>
          <p:cNvSpPr>
            <a:spLocks xmlns:a="http://schemas.openxmlformats.org/drawingml/2006/main" noGrp="1"/>
          </p:cNvSpPr>
          <p:nvPr/>
        </p:nvSpPr>
        <p:spPr>
          <a:xfrm xmlns:a="http://schemas.openxmlformats.org/drawingml/2006/main">
            <a:off x="6115050" y="1724025"/>
            <a:ext cx="56578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0" name="">
            <a:extLst xmlns:a="http://schemas.openxmlformats.org/drawingml/2006/main">
              <a:ext uri="{FF2B5EF4-FFF2-40B4-BE49-F238E27FC236}">
                <a16:creationId xmlns:a16="http://schemas.microsoft.com/office/drawing/2014/main" id="{396A65FA-150D-4457-B6FF-4AA57A2EE75A}"/>
              </a:ext>
            </a:extLst>
          </p:cNvPr>
          <p:cNvSpPr>
            <a:spLocks xmlns:a="http://schemas.openxmlformats.org/drawingml/2006/main" noGrp="1"/>
          </p:cNvSpPr>
          <p:nvPr/>
        </p:nvSpPr>
        <p:spPr>
          <a:xfrm xmlns:a="http://schemas.openxmlformats.org/drawingml/2006/main">
            <a:off x="647700" y="1971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79754"/>
                </a:solidFill>
                <a:latin typeface="Calibri"/>
                <a:ea typeface="Calibri"/>
                <a:cs typeface="Calibri"/>
              </a:defRPr>
            </a:defPPr>
            <a:lvl1pPr>
              <a:defRPr sz="2175" b="1">
                <a:solidFill>
                  <a:srgbClr val="479754"/>
                </a:solidFill>
                <a:latin typeface="Calibri"/>
                <a:ea typeface="Calibri"/>
                <a:cs typeface="Calibri"/>
              </a:defRPr>
            </a:lvl1pPr>
            <a:lvl2pPr>
              <a:defRPr sz="2175" b="1">
                <a:solidFill>
                  <a:srgbClr val="479754"/>
                </a:solidFill>
                <a:latin typeface="Calibri"/>
                <a:ea typeface="Calibri"/>
                <a:cs typeface="Calibri"/>
              </a:defRPr>
            </a:lvl2pPr>
            <a:lvl3pPr>
              <a:defRPr sz="2175" b="1">
                <a:solidFill>
                  <a:srgbClr val="479754"/>
                </a:solidFill>
                <a:latin typeface="Calibri"/>
                <a:ea typeface="Calibri"/>
                <a:cs typeface="Calibri"/>
              </a:defRPr>
            </a:lvl3pPr>
            <a:lvl4pPr>
              <a:defRPr sz="2175" b="1">
                <a:solidFill>
                  <a:srgbClr val="479754"/>
                </a:solidFill>
                <a:latin typeface="Calibri"/>
                <a:ea typeface="Calibri"/>
                <a:cs typeface="Calibri"/>
              </a:defRPr>
            </a:lvl4pPr>
            <a:lvl5pPr>
              <a:defRPr sz="2175" b="1">
                <a:solidFill>
                  <a:srgbClr val="479754"/>
                </a:solidFill>
                <a:latin typeface="Calibri"/>
                <a:ea typeface="Calibri"/>
                <a:cs typeface="Calibri"/>
              </a:defRPr>
            </a:lvl5pPr>
            <a:lvl6pPr>
              <a:defRPr sz="2175" b="1">
                <a:solidFill>
                  <a:srgbClr val="479754"/>
                </a:solidFill>
                <a:latin typeface="Calibri"/>
                <a:ea typeface="Calibri"/>
                <a:cs typeface="Calibri"/>
              </a:defRPr>
            </a:lvl6pPr>
            <a:lvl7pPr>
              <a:defRPr sz="2175" b="1">
                <a:solidFill>
                  <a:srgbClr val="479754"/>
                </a:solidFill>
                <a:latin typeface="Calibri"/>
                <a:ea typeface="Calibri"/>
                <a:cs typeface="Calibri"/>
              </a:defRPr>
            </a:lvl7pPr>
            <a:lvl8pPr>
              <a:defRPr sz="2175" b="1">
                <a:solidFill>
                  <a:srgbClr val="479754"/>
                </a:solidFill>
                <a:latin typeface="Calibri"/>
                <a:ea typeface="Calibri"/>
                <a:cs typeface="Calibri"/>
              </a:defRPr>
            </a:lvl8pPr>
            <a:lvl9pPr>
              <a:defRPr sz="2175" b="1">
                <a:solidFill>
                  <a:srgbClr val="479754"/>
                </a:solidFill>
                <a:latin typeface="Calibri"/>
                <a:ea typeface="Calibri"/>
                <a:cs typeface="Calibri"/>
              </a:defRPr>
            </a:lvl9pPr>
          </a:lstStyle>
          <a:p xmlns:a="http://schemas.openxmlformats.org/drawingml/2006/main">
            <a:pPr>
              <a:defRPr sz="2175" b="1">
                <a:solidFill>
                  <a:srgbClr val="479754"/>
                </a:solidFill>
                <a:latin typeface="Calibri"/>
                <a:ea typeface="Calibri"/>
                <a:cs typeface="Calibri"/>
              </a:defRPr>
            </a:pPr>
            <a:r>
              <a:rPr sz="2175" b="1">
                <a:solidFill>
                  <a:srgbClr val="479754"/>
                </a:solidFill>
                <a:latin typeface="Calibri"/>
                <a:ea typeface="Calibri"/>
                <a:cs typeface="Calibri"/>
              </a:rPr>
              <a:t>Early example</a:t>
            </a:r>
          </a:p>
        </p:txBody>
      </p:sp>
      <p:sp>
        <p:nvSpPr>
          <p:cNvPr id="31" name="">
            <a:extLst xmlns:a="http://schemas.openxmlformats.org/drawingml/2006/main">
              <a:ext uri="{FF2B5EF4-FFF2-40B4-BE49-F238E27FC236}">
                <a16:creationId xmlns:a16="http://schemas.microsoft.com/office/drawing/2014/main" id="{446FF010-55CA-472D-8230-4C125E8E8993}"/>
              </a:ext>
            </a:extLst>
          </p:cNvPr>
          <p:cNvSpPr>
            <a:spLocks xmlns:a="http://schemas.openxmlformats.org/drawingml/2006/main" noGrp="1"/>
          </p:cNvSpPr>
          <p:nvPr/>
        </p:nvSpPr>
        <p:spPr>
          <a:xfrm xmlns:a="http://schemas.openxmlformats.org/drawingml/2006/main">
            <a:off x="647700" y="2619375"/>
            <a:ext cx="49530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 team member screened about 79,000 LOINC entries with Copilot.</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returned 41 candidate codes for V28-related work in about a minute.</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Clinical and coding review is still needed.</a:t>
            </a:r>
          </a:p>
        </p:txBody>
      </p:sp>
      <p:sp>
        <p:nvSpPr>
          <p:cNvPr id="32" name="">
            <a:extLst xmlns:a="http://schemas.openxmlformats.org/drawingml/2006/main">
              <a:ext uri="{FF2B5EF4-FFF2-40B4-BE49-F238E27FC236}">
                <a16:creationId xmlns:a16="http://schemas.microsoft.com/office/drawing/2014/main" id="{6393729B-DA45-4DD0-85DA-4EA3FCFF6AB6}"/>
              </a:ext>
            </a:extLst>
          </p:cNvPr>
          <p:cNvSpPr>
            <a:spLocks xmlns:a="http://schemas.openxmlformats.org/drawingml/2006/main" noGrp="1"/>
          </p:cNvSpPr>
          <p:nvPr/>
        </p:nvSpPr>
        <p:spPr>
          <a:xfrm xmlns:a="http://schemas.openxmlformats.org/drawingml/2006/main">
            <a:off x="6343650" y="1971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7BA8"/>
                </a:solidFill>
                <a:latin typeface="Calibri"/>
                <a:ea typeface="Calibri"/>
                <a:cs typeface="Calibri"/>
              </a:defRPr>
            </a:defPPr>
            <a:lvl1pPr>
              <a:defRPr sz="2175" b="1">
                <a:solidFill>
                  <a:srgbClr val="287BA8"/>
                </a:solidFill>
                <a:latin typeface="Calibri"/>
                <a:ea typeface="Calibri"/>
                <a:cs typeface="Calibri"/>
              </a:defRPr>
            </a:lvl1pPr>
            <a:lvl2pPr>
              <a:defRPr sz="2175" b="1">
                <a:solidFill>
                  <a:srgbClr val="287BA8"/>
                </a:solidFill>
                <a:latin typeface="Calibri"/>
                <a:ea typeface="Calibri"/>
                <a:cs typeface="Calibri"/>
              </a:defRPr>
            </a:lvl2pPr>
            <a:lvl3pPr>
              <a:defRPr sz="2175" b="1">
                <a:solidFill>
                  <a:srgbClr val="287BA8"/>
                </a:solidFill>
                <a:latin typeface="Calibri"/>
                <a:ea typeface="Calibri"/>
                <a:cs typeface="Calibri"/>
              </a:defRPr>
            </a:lvl3pPr>
            <a:lvl4pPr>
              <a:defRPr sz="2175" b="1">
                <a:solidFill>
                  <a:srgbClr val="287BA8"/>
                </a:solidFill>
                <a:latin typeface="Calibri"/>
                <a:ea typeface="Calibri"/>
                <a:cs typeface="Calibri"/>
              </a:defRPr>
            </a:lvl4pPr>
            <a:lvl5pPr>
              <a:defRPr sz="2175" b="1">
                <a:solidFill>
                  <a:srgbClr val="287BA8"/>
                </a:solidFill>
                <a:latin typeface="Calibri"/>
                <a:ea typeface="Calibri"/>
                <a:cs typeface="Calibri"/>
              </a:defRPr>
            </a:lvl5pPr>
            <a:lvl6pPr>
              <a:defRPr sz="2175" b="1">
                <a:solidFill>
                  <a:srgbClr val="287BA8"/>
                </a:solidFill>
                <a:latin typeface="Calibri"/>
                <a:ea typeface="Calibri"/>
                <a:cs typeface="Calibri"/>
              </a:defRPr>
            </a:lvl6pPr>
            <a:lvl7pPr>
              <a:defRPr sz="2175" b="1">
                <a:solidFill>
                  <a:srgbClr val="287BA8"/>
                </a:solidFill>
                <a:latin typeface="Calibri"/>
                <a:ea typeface="Calibri"/>
                <a:cs typeface="Calibri"/>
              </a:defRPr>
            </a:lvl7pPr>
            <a:lvl8pPr>
              <a:defRPr sz="2175" b="1">
                <a:solidFill>
                  <a:srgbClr val="287BA8"/>
                </a:solidFill>
                <a:latin typeface="Calibri"/>
                <a:ea typeface="Calibri"/>
                <a:cs typeface="Calibri"/>
              </a:defRPr>
            </a:lvl8pPr>
            <a:lvl9pPr>
              <a:defRPr sz="2175" b="1">
                <a:solidFill>
                  <a:srgbClr val="287BA8"/>
                </a:solidFill>
                <a:latin typeface="Calibri"/>
                <a:ea typeface="Calibri"/>
                <a:cs typeface="Calibri"/>
              </a:defRPr>
            </a:lvl9pPr>
          </a:lstStyle>
          <a:p xmlns:a="http://schemas.openxmlformats.org/drawingml/2006/main">
            <a:pPr>
              <a:defRPr sz="2175" b="1">
                <a:solidFill>
                  <a:srgbClr val="287BA8"/>
                </a:solidFill>
                <a:latin typeface="Calibri"/>
                <a:ea typeface="Calibri"/>
                <a:cs typeface="Calibri"/>
              </a:defRPr>
            </a:pPr>
            <a:r>
              <a:rPr sz="2175" b="1">
                <a:solidFill>
                  <a:srgbClr val="287BA8"/>
                </a:solidFill>
                <a:latin typeface="Calibri"/>
                <a:ea typeface="Calibri"/>
                <a:cs typeface="Calibri"/>
              </a:rPr>
              <a:t>Reusable workflows</a:t>
            </a:r>
          </a:p>
        </p:txBody>
      </p:sp>
      <p:sp>
        <p:nvSpPr>
          <p:cNvPr id="33" name="">
            <a:extLst xmlns:a="http://schemas.openxmlformats.org/drawingml/2006/main">
              <a:ext uri="{FF2B5EF4-FFF2-40B4-BE49-F238E27FC236}">
                <a16:creationId xmlns:a16="http://schemas.microsoft.com/office/drawing/2014/main" id="{B73EF196-1A2A-4D51-9754-7733FA08F35C}"/>
              </a:ext>
            </a:extLst>
          </p:cNvPr>
          <p:cNvSpPr>
            <a:spLocks xmlns:a="http://schemas.openxmlformats.org/drawingml/2006/main" noGrp="1"/>
          </p:cNvSpPr>
          <p:nvPr/>
        </p:nvSpPr>
        <p:spPr>
          <a:xfrm xmlns:a="http://schemas.openxmlformats.org/drawingml/2006/main">
            <a:off x="6343650" y="2619375"/>
            <a:ext cx="51435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Classify and normalize diagnosis descriptions.</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Draft outreach text and recommended actions for review.</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Batch processing creates versioned, reviewable outputs.</a:t>
            </a:r>
          </a:p>
        </p:txBody>
      </p:sp>
    </p:spTree>
    <p:extLst>
      <p:ext uri="{BB962C8B-B14F-4D97-AF65-F5344CB8AC3E}">
        <p14:creationId xmlns:p14="http://schemas.microsoft.com/office/powerpoint/2010/main" val="16721755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Integration: chart evidence to audit review</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One extraction pipeline creates reusable evidence; decisions remain governed and human reviewed.</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The pilot tests each handoff against adjudicated charts and audit cases.</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A72A30B1-10D3-4E1F-8C23-B3CB442E718C}"/>
              </a:ext>
            </a:extLst>
          </p:cNvPr>
          <p:cNvSpPr>
            <a:spLocks xmlns:a="http://schemas.openxmlformats.org/drawingml/2006/main" noGrp="1"/>
          </p:cNvSpPr>
          <p:nvPr/>
        </p:nvSpPr>
        <p:spPr>
          <a:xfrm xmlns:a="http://schemas.openxmlformats.org/drawingml/2006/main">
            <a:off x="419100" y="1790700"/>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D5653D"/>
            </a:solidFill>
          </a:ln>
        </p:spPr>
      </p:sp>
      <p:sp>
        <p:nvSpPr>
          <p:cNvPr id="29" name="">
            <a:extLst xmlns:a="http://schemas.openxmlformats.org/drawingml/2006/main">
              <a:ext uri="{FF2B5EF4-FFF2-40B4-BE49-F238E27FC236}">
                <a16:creationId xmlns:a16="http://schemas.microsoft.com/office/drawing/2014/main" id="{389A7452-F1F1-46CC-A072-9F678DC885C5}"/>
              </a:ext>
            </a:extLst>
          </p:cNvPr>
          <p:cNvSpPr>
            <a:spLocks xmlns:a="http://schemas.openxmlformats.org/drawingml/2006/main" noGrp="1"/>
          </p:cNvSpPr>
          <p:nvPr/>
        </p:nvSpPr>
        <p:spPr>
          <a:xfrm xmlns:a="http://schemas.openxmlformats.org/drawingml/2006/main">
            <a:off x="552450" y="19526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D5653D"/>
                </a:solidFill>
                <a:latin typeface="Calibri"/>
                <a:ea typeface="Calibri"/>
                <a:cs typeface="Calibri"/>
              </a:defRPr>
            </a:defPPr>
            <a:lvl1pPr>
              <a:defRPr sz="1725" b="1">
                <a:solidFill>
                  <a:srgbClr val="D5653D"/>
                </a:solidFill>
                <a:latin typeface="Calibri"/>
                <a:ea typeface="Calibri"/>
                <a:cs typeface="Calibri"/>
              </a:defRPr>
            </a:lvl1pPr>
            <a:lvl2pPr>
              <a:defRPr sz="1725" b="1">
                <a:solidFill>
                  <a:srgbClr val="D5653D"/>
                </a:solidFill>
                <a:latin typeface="Calibri"/>
                <a:ea typeface="Calibri"/>
                <a:cs typeface="Calibri"/>
              </a:defRPr>
            </a:lvl2pPr>
            <a:lvl3pPr>
              <a:defRPr sz="1725" b="1">
                <a:solidFill>
                  <a:srgbClr val="D5653D"/>
                </a:solidFill>
                <a:latin typeface="Calibri"/>
                <a:ea typeface="Calibri"/>
                <a:cs typeface="Calibri"/>
              </a:defRPr>
            </a:lvl3pPr>
            <a:lvl4pPr>
              <a:defRPr sz="1725" b="1">
                <a:solidFill>
                  <a:srgbClr val="D5653D"/>
                </a:solidFill>
                <a:latin typeface="Calibri"/>
                <a:ea typeface="Calibri"/>
                <a:cs typeface="Calibri"/>
              </a:defRPr>
            </a:lvl4pPr>
            <a:lvl5pPr>
              <a:defRPr sz="1725" b="1">
                <a:solidFill>
                  <a:srgbClr val="D5653D"/>
                </a:solidFill>
                <a:latin typeface="Calibri"/>
                <a:ea typeface="Calibri"/>
                <a:cs typeface="Calibri"/>
              </a:defRPr>
            </a:lvl5pPr>
            <a:lvl6pPr>
              <a:defRPr sz="1725" b="1">
                <a:solidFill>
                  <a:srgbClr val="D5653D"/>
                </a:solidFill>
                <a:latin typeface="Calibri"/>
                <a:ea typeface="Calibri"/>
                <a:cs typeface="Calibri"/>
              </a:defRPr>
            </a:lvl6pPr>
            <a:lvl7pPr>
              <a:defRPr sz="1725" b="1">
                <a:solidFill>
                  <a:srgbClr val="D5653D"/>
                </a:solidFill>
                <a:latin typeface="Calibri"/>
                <a:ea typeface="Calibri"/>
                <a:cs typeface="Calibri"/>
              </a:defRPr>
            </a:lvl7pPr>
            <a:lvl8pPr>
              <a:defRPr sz="1725" b="1">
                <a:solidFill>
                  <a:srgbClr val="D5653D"/>
                </a:solidFill>
                <a:latin typeface="Calibri"/>
                <a:ea typeface="Calibri"/>
                <a:cs typeface="Calibri"/>
              </a:defRPr>
            </a:lvl8pPr>
            <a:lvl9pPr>
              <a:defRPr sz="1725" b="1">
                <a:solidFill>
                  <a:srgbClr val="D5653D"/>
                </a:solidFill>
                <a:latin typeface="Calibri"/>
                <a:ea typeface="Calibri"/>
                <a:cs typeface="Calibri"/>
              </a:defRPr>
            </a:lvl9pPr>
          </a:lstStyle>
          <a:p xmlns:a="http://schemas.openxmlformats.org/drawingml/2006/main">
            <a:pPr>
              <a:defRPr sz="1725" b="1">
                <a:solidFill>
                  <a:srgbClr val="D5653D"/>
                </a:solidFill>
                <a:latin typeface="Calibri"/>
                <a:ea typeface="Calibri"/>
                <a:cs typeface="Calibri"/>
              </a:defRPr>
            </a:pPr>
            <a:r>
              <a:rPr sz="1725" b="1">
                <a:solidFill>
                  <a:srgbClr val="D5653D"/>
                </a:solidFill>
                <a:latin typeface="Calibri"/>
                <a:ea typeface="Calibri"/>
                <a:cs typeface="Calibri"/>
              </a:rPr>
              <a:t>Chart input</a:t>
            </a:r>
          </a:p>
        </p:txBody>
      </p:sp>
      <p:sp>
        <p:nvSpPr>
          <p:cNvPr id="30" name="">
            <a:extLst xmlns:a="http://schemas.openxmlformats.org/drawingml/2006/main">
              <a:ext uri="{FF2B5EF4-FFF2-40B4-BE49-F238E27FC236}">
                <a16:creationId xmlns:a16="http://schemas.microsoft.com/office/drawing/2014/main" id="{3C438BED-B707-48DA-A8FF-9436D894C316}"/>
              </a:ext>
            </a:extLst>
          </p:cNvPr>
          <p:cNvSpPr>
            <a:spLocks xmlns:a="http://schemas.openxmlformats.org/drawingml/2006/main" noGrp="1"/>
          </p:cNvSpPr>
          <p:nvPr/>
        </p:nvSpPr>
        <p:spPr>
          <a:xfrm xmlns:a="http://schemas.openxmlformats.org/drawingml/2006/main">
            <a:off x="552450" y="2381250"/>
            <a:ext cx="2343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PDF or scan</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chart rights</a:t>
            </a:r>
          </a:p>
        </p:txBody>
      </p:sp>
      <p:sp>
        <p:nvSpPr>
          <p:cNvPr id="31" name="">
            <a:extLst xmlns:a="http://schemas.openxmlformats.org/drawingml/2006/main">
              <a:ext uri="{FF2B5EF4-FFF2-40B4-BE49-F238E27FC236}">
                <a16:creationId xmlns:a16="http://schemas.microsoft.com/office/drawing/2014/main" id="{63E8D43C-B8F7-4CBB-B27B-3E3D4757543F}"/>
              </a:ext>
            </a:extLst>
          </p:cNvPr>
          <p:cNvSpPr>
            <a:spLocks xmlns:a="http://schemas.openxmlformats.org/drawingml/2006/main" noGrp="1"/>
          </p:cNvSpPr>
          <p:nvPr/>
        </p:nvSpPr>
        <p:spPr>
          <a:xfrm xmlns:a="http://schemas.openxmlformats.org/drawingml/2006/main">
            <a:off x="3057525" y="22764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32" name="">
            <a:extLst xmlns:a="http://schemas.openxmlformats.org/drawingml/2006/main">
              <a:ext uri="{FF2B5EF4-FFF2-40B4-BE49-F238E27FC236}">
                <a16:creationId xmlns:a16="http://schemas.microsoft.com/office/drawing/2014/main" id="{830933A9-44ED-40FB-894E-1992A3CA93CF}"/>
              </a:ext>
            </a:extLst>
          </p:cNvPr>
          <p:cNvSpPr>
            <a:spLocks xmlns:a="http://schemas.openxmlformats.org/drawingml/2006/main" noGrp="1"/>
          </p:cNvSpPr>
          <p:nvPr/>
        </p:nvSpPr>
        <p:spPr>
          <a:xfrm xmlns:a="http://schemas.openxmlformats.org/drawingml/2006/main">
            <a:off x="3295650" y="1790700"/>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33" name="">
            <a:extLst xmlns:a="http://schemas.openxmlformats.org/drawingml/2006/main">
              <a:ext uri="{FF2B5EF4-FFF2-40B4-BE49-F238E27FC236}">
                <a16:creationId xmlns:a16="http://schemas.microsoft.com/office/drawing/2014/main" id="{40BCB36E-ACBA-4D21-A9D7-29F896F5E5AA}"/>
              </a:ext>
            </a:extLst>
          </p:cNvPr>
          <p:cNvSpPr>
            <a:spLocks xmlns:a="http://schemas.openxmlformats.org/drawingml/2006/main" noGrp="1"/>
          </p:cNvSpPr>
          <p:nvPr/>
        </p:nvSpPr>
        <p:spPr>
          <a:xfrm xmlns:a="http://schemas.openxmlformats.org/drawingml/2006/main">
            <a:off x="3429000" y="19526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79754"/>
                </a:solidFill>
                <a:latin typeface="Calibri"/>
                <a:ea typeface="Calibri"/>
                <a:cs typeface="Calibri"/>
              </a:defRPr>
            </a:defPPr>
            <a:lvl1pPr>
              <a:defRPr sz="1725" b="1">
                <a:solidFill>
                  <a:srgbClr val="479754"/>
                </a:solidFill>
                <a:latin typeface="Calibri"/>
                <a:ea typeface="Calibri"/>
                <a:cs typeface="Calibri"/>
              </a:defRPr>
            </a:lvl1pPr>
            <a:lvl2pPr>
              <a:defRPr sz="1725" b="1">
                <a:solidFill>
                  <a:srgbClr val="479754"/>
                </a:solidFill>
                <a:latin typeface="Calibri"/>
                <a:ea typeface="Calibri"/>
                <a:cs typeface="Calibri"/>
              </a:defRPr>
            </a:lvl2pPr>
            <a:lvl3pPr>
              <a:defRPr sz="1725" b="1">
                <a:solidFill>
                  <a:srgbClr val="479754"/>
                </a:solidFill>
                <a:latin typeface="Calibri"/>
                <a:ea typeface="Calibri"/>
                <a:cs typeface="Calibri"/>
              </a:defRPr>
            </a:lvl3pPr>
            <a:lvl4pPr>
              <a:defRPr sz="1725" b="1">
                <a:solidFill>
                  <a:srgbClr val="479754"/>
                </a:solidFill>
                <a:latin typeface="Calibri"/>
                <a:ea typeface="Calibri"/>
                <a:cs typeface="Calibri"/>
              </a:defRPr>
            </a:lvl4pPr>
            <a:lvl5pPr>
              <a:defRPr sz="1725" b="1">
                <a:solidFill>
                  <a:srgbClr val="479754"/>
                </a:solidFill>
                <a:latin typeface="Calibri"/>
                <a:ea typeface="Calibri"/>
                <a:cs typeface="Calibri"/>
              </a:defRPr>
            </a:lvl5pPr>
            <a:lvl6pPr>
              <a:defRPr sz="1725" b="1">
                <a:solidFill>
                  <a:srgbClr val="479754"/>
                </a:solidFill>
                <a:latin typeface="Calibri"/>
                <a:ea typeface="Calibri"/>
                <a:cs typeface="Calibri"/>
              </a:defRPr>
            </a:lvl6pPr>
            <a:lvl7pPr>
              <a:defRPr sz="1725" b="1">
                <a:solidFill>
                  <a:srgbClr val="479754"/>
                </a:solidFill>
                <a:latin typeface="Calibri"/>
                <a:ea typeface="Calibri"/>
                <a:cs typeface="Calibri"/>
              </a:defRPr>
            </a:lvl7pPr>
            <a:lvl8pPr>
              <a:defRPr sz="1725" b="1">
                <a:solidFill>
                  <a:srgbClr val="479754"/>
                </a:solidFill>
                <a:latin typeface="Calibri"/>
                <a:ea typeface="Calibri"/>
                <a:cs typeface="Calibri"/>
              </a:defRPr>
            </a:lvl8pPr>
            <a:lvl9pPr>
              <a:defRPr sz="1725" b="1">
                <a:solidFill>
                  <a:srgbClr val="479754"/>
                </a:solidFill>
                <a:latin typeface="Calibri"/>
                <a:ea typeface="Calibri"/>
                <a:cs typeface="Calibri"/>
              </a:defRPr>
            </a:lvl9pPr>
          </a:lstStyle>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Extract evidence</a:t>
            </a:r>
          </a:p>
        </p:txBody>
      </p:sp>
      <p:sp>
        <p:nvSpPr>
          <p:cNvPr id="34" name="">
            <a:extLst xmlns:a="http://schemas.openxmlformats.org/drawingml/2006/main">
              <a:ext uri="{FF2B5EF4-FFF2-40B4-BE49-F238E27FC236}">
                <a16:creationId xmlns:a16="http://schemas.microsoft.com/office/drawing/2014/main" id="{3C80C059-D31D-42F9-B239-3520209F7946}"/>
              </a:ext>
            </a:extLst>
          </p:cNvPr>
          <p:cNvSpPr>
            <a:spLocks xmlns:a="http://schemas.openxmlformats.org/drawingml/2006/main" noGrp="1"/>
          </p:cNvSpPr>
          <p:nvPr/>
        </p:nvSpPr>
        <p:spPr>
          <a:xfrm xmlns:a="http://schemas.openxmlformats.org/drawingml/2006/main">
            <a:off x="3429000" y="2381250"/>
            <a:ext cx="2343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Text, handwriting</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page location</a:t>
            </a:r>
          </a:p>
        </p:txBody>
      </p:sp>
      <p:sp>
        <p:nvSpPr>
          <p:cNvPr id="35" name="">
            <a:extLst xmlns:a="http://schemas.openxmlformats.org/drawingml/2006/main">
              <a:ext uri="{FF2B5EF4-FFF2-40B4-BE49-F238E27FC236}">
                <a16:creationId xmlns:a16="http://schemas.microsoft.com/office/drawing/2014/main" id="{24F43743-7973-4A17-952C-24E6E32B0755}"/>
              </a:ext>
            </a:extLst>
          </p:cNvPr>
          <p:cNvSpPr>
            <a:spLocks xmlns:a="http://schemas.openxmlformats.org/drawingml/2006/main" noGrp="1"/>
          </p:cNvSpPr>
          <p:nvPr/>
        </p:nvSpPr>
        <p:spPr>
          <a:xfrm xmlns:a="http://schemas.openxmlformats.org/drawingml/2006/main">
            <a:off x="5934075" y="22764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36" name="">
            <a:extLst xmlns:a="http://schemas.openxmlformats.org/drawingml/2006/main">
              <a:ext uri="{FF2B5EF4-FFF2-40B4-BE49-F238E27FC236}">
                <a16:creationId xmlns:a16="http://schemas.microsoft.com/office/drawing/2014/main" id="{C544297B-B4EA-4058-9600-F6B1087D0632}"/>
              </a:ext>
            </a:extLst>
          </p:cNvPr>
          <p:cNvSpPr>
            <a:spLocks xmlns:a="http://schemas.openxmlformats.org/drawingml/2006/main" noGrp="1"/>
          </p:cNvSpPr>
          <p:nvPr/>
        </p:nvSpPr>
        <p:spPr>
          <a:xfrm xmlns:a="http://schemas.openxmlformats.org/drawingml/2006/main">
            <a:off x="6172200" y="1790700"/>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7" name="">
            <a:extLst xmlns:a="http://schemas.openxmlformats.org/drawingml/2006/main">
              <a:ext uri="{FF2B5EF4-FFF2-40B4-BE49-F238E27FC236}">
                <a16:creationId xmlns:a16="http://schemas.microsoft.com/office/drawing/2014/main" id="{243A6FF2-1464-4081-A144-DCD4EB6DA772}"/>
              </a:ext>
            </a:extLst>
          </p:cNvPr>
          <p:cNvSpPr>
            <a:spLocks xmlns:a="http://schemas.openxmlformats.org/drawingml/2006/main" noGrp="1"/>
          </p:cNvSpPr>
          <p:nvPr/>
        </p:nvSpPr>
        <p:spPr>
          <a:xfrm xmlns:a="http://schemas.openxmlformats.org/drawingml/2006/main">
            <a:off x="6305550" y="19526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Evidence table</a:t>
            </a:r>
          </a:p>
        </p:txBody>
      </p:sp>
      <p:sp>
        <p:nvSpPr>
          <p:cNvPr id="38" name="">
            <a:extLst xmlns:a="http://schemas.openxmlformats.org/drawingml/2006/main">
              <a:ext uri="{FF2B5EF4-FFF2-40B4-BE49-F238E27FC236}">
                <a16:creationId xmlns:a16="http://schemas.microsoft.com/office/drawing/2014/main" id="{9E7ACC5F-7261-45A9-8C23-1748CBE85CDE}"/>
              </a:ext>
            </a:extLst>
          </p:cNvPr>
          <p:cNvSpPr>
            <a:spLocks xmlns:a="http://schemas.openxmlformats.org/drawingml/2006/main" noGrp="1"/>
          </p:cNvSpPr>
          <p:nvPr/>
        </p:nvSpPr>
        <p:spPr>
          <a:xfrm xmlns:a="http://schemas.openxmlformats.org/drawingml/2006/main">
            <a:off x="6305550" y="2381250"/>
            <a:ext cx="2343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Member, date, code</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source, confidence</a:t>
            </a:r>
          </a:p>
        </p:txBody>
      </p:sp>
      <p:sp>
        <p:nvSpPr>
          <p:cNvPr id="39" name="">
            <a:extLst xmlns:a="http://schemas.openxmlformats.org/drawingml/2006/main">
              <a:ext uri="{FF2B5EF4-FFF2-40B4-BE49-F238E27FC236}">
                <a16:creationId xmlns:a16="http://schemas.microsoft.com/office/drawing/2014/main" id="{A1523DC0-8D71-471F-8F33-910ACFF5309E}"/>
              </a:ext>
            </a:extLst>
          </p:cNvPr>
          <p:cNvSpPr>
            <a:spLocks xmlns:a="http://schemas.openxmlformats.org/drawingml/2006/main" noGrp="1"/>
          </p:cNvSpPr>
          <p:nvPr/>
        </p:nvSpPr>
        <p:spPr>
          <a:xfrm xmlns:a="http://schemas.openxmlformats.org/drawingml/2006/main">
            <a:off x="8810625" y="22764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40" name="">
            <a:extLst xmlns:a="http://schemas.openxmlformats.org/drawingml/2006/main">
              <a:ext uri="{FF2B5EF4-FFF2-40B4-BE49-F238E27FC236}">
                <a16:creationId xmlns:a16="http://schemas.microsoft.com/office/drawing/2014/main" id="{23F98A62-9CAB-4AAA-81D4-77552AA543D3}"/>
              </a:ext>
            </a:extLst>
          </p:cNvPr>
          <p:cNvSpPr>
            <a:spLocks xmlns:a="http://schemas.openxmlformats.org/drawingml/2006/main" noGrp="1"/>
          </p:cNvSpPr>
          <p:nvPr/>
        </p:nvSpPr>
        <p:spPr>
          <a:xfrm xmlns:a="http://schemas.openxmlformats.org/drawingml/2006/main">
            <a:off x="9048750" y="1790700"/>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41" name="">
            <a:extLst xmlns:a="http://schemas.openxmlformats.org/drawingml/2006/main">
              <a:ext uri="{FF2B5EF4-FFF2-40B4-BE49-F238E27FC236}">
                <a16:creationId xmlns:a16="http://schemas.microsoft.com/office/drawing/2014/main" id="{A13D52BA-9E2A-4FF2-8431-C5B9B573C960}"/>
              </a:ext>
            </a:extLst>
          </p:cNvPr>
          <p:cNvSpPr>
            <a:spLocks xmlns:a="http://schemas.openxmlformats.org/drawingml/2006/main" noGrp="1"/>
          </p:cNvSpPr>
          <p:nvPr/>
        </p:nvSpPr>
        <p:spPr>
          <a:xfrm xmlns:a="http://schemas.openxmlformats.org/drawingml/2006/main">
            <a:off x="9182100" y="19526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Use the evidence</a:t>
            </a:r>
          </a:p>
        </p:txBody>
      </p:sp>
      <p:sp>
        <p:nvSpPr>
          <p:cNvPr id="42" name="">
            <a:extLst xmlns:a="http://schemas.openxmlformats.org/drawingml/2006/main">
              <a:ext uri="{FF2B5EF4-FFF2-40B4-BE49-F238E27FC236}">
                <a16:creationId xmlns:a16="http://schemas.microsoft.com/office/drawing/2014/main" id="{96D6AB0E-8D0C-44EF-A60C-C9189ED22F2B}"/>
              </a:ext>
            </a:extLst>
          </p:cNvPr>
          <p:cNvSpPr>
            <a:spLocks xmlns:a="http://schemas.openxmlformats.org/drawingml/2006/main" noGrp="1"/>
          </p:cNvSpPr>
          <p:nvPr/>
        </p:nvSpPr>
        <p:spPr>
          <a:xfrm xmlns:a="http://schemas.openxmlformats.org/drawingml/2006/main">
            <a:off x="9182100" y="2381250"/>
            <a:ext cx="2343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Review queue</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Stars analysis</a:t>
            </a:r>
          </a:p>
        </p:txBody>
      </p:sp>
      <p:sp>
        <p:nvSpPr>
          <p:cNvPr id="43" name="">
            <a:extLst xmlns:a="http://schemas.openxmlformats.org/drawingml/2006/main">
              <a:ext uri="{FF2B5EF4-FFF2-40B4-BE49-F238E27FC236}">
                <a16:creationId xmlns:a16="http://schemas.microsoft.com/office/drawing/2014/main" id="{E845168C-402A-4391-988B-49EA09AD8460}"/>
              </a:ext>
            </a:extLst>
          </p:cNvPr>
          <p:cNvSpPr>
            <a:spLocks xmlns:a="http://schemas.openxmlformats.org/drawingml/2006/main" noGrp="1"/>
          </p:cNvSpPr>
          <p:nvPr/>
        </p:nvSpPr>
        <p:spPr>
          <a:xfrm xmlns:a="http://schemas.openxmlformats.org/drawingml/2006/main">
            <a:off x="419100" y="3667125"/>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D5653D"/>
            </a:solidFill>
          </a:ln>
        </p:spPr>
      </p:sp>
      <p:sp>
        <p:nvSpPr>
          <p:cNvPr id="44" name="">
            <a:extLst xmlns:a="http://schemas.openxmlformats.org/drawingml/2006/main">
              <a:ext uri="{FF2B5EF4-FFF2-40B4-BE49-F238E27FC236}">
                <a16:creationId xmlns:a16="http://schemas.microsoft.com/office/drawing/2014/main" id="{4B87D90A-78F6-49F3-B121-F6E1E5A05F16}"/>
              </a:ext>
            </a:extLst>
          </p:cNvPr>
          <p:cNvSpPr>
            <a:spLocks xmlns:a="http://schemas.openxmlformats.org/drawingml/2006/main" noGrp="1"/>
          </p:cNvSpPr>
          <p:nvPr/>
        </p:nvSpPr>
        <p:spPr>
          <a:xfrm xmlns:a="http://schemas.openxmlformats.org/drawingml/2006/main">
            <a:off x="552450" y="38290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D5653D"/>
                </a:solidFill>
                <a:latin typeface="Calibri"/>
                <a:ea typeface="Calibri"/>
                <a:cs typeface="Calibri"/>
              </a:defRPr>
            </a:defPPr>
            <a:lvl1pPr>
              <a:defRPr sz="1725" b="1">
                <a:solidFill>
                  <a:srgbClr val="D5653D"/>
                </a:solidFill>
                <a:latin typeface="Calibri"/>
                <a:ea typeface="Calibri"/>
                <a:cs typeface="Calibri"/>
              </a:defRPr>
            </a:lvl1pPr>
            <a:lvl2pPr>
              <a:defRPr sz="1725" b="1">
                <a:solidFill>
                  <a:srgbClr val="D5653D"/>
                </a:solidFill>
                <a:latin typeface="Calibri"/>
                <a:ea typeface="Calibri"/>
                <a:cs typeface="Calibri"/>
              </a:defRPr>
            </a:lvl2pPr>
            <a:lvl3pPr>
              <a:defRPr sz="1725" b="1">
                <a:solidFill>
                  <a:srgbClr val="D5653D"/>
                </a:solidFill>
                <a:latin typeface="Calibri"/>
                <a:ea typeface="Calibri"/>
                <a:cs typeface="Calibri"/>
              </a:defRPr>
            </a:lvl3pPr>
            <a:lvl4pPr>
              <a:defRPr sz="1725" b="1">
                <a:solidFill>
                  <a:srgbClr val="D5653D"/>
                </a:solidFill>
                <a:latin typeface="Calibri"/>
                <a:ea typeface="Calibri"/>
                <a:cs typeface="Calibri"/>
              </a:defRPr>
            </a:lvl4pPr>
            <a:lvl5pPr>
              <a:defRPr sz="1725" b="1">
                <a:solidFill>
                  <a:srgbClr val="D5653D"/>
                </a:solidFill>
                <a:latin typeface="Calibri"/>
                <a:ea typeface="Calibri"/>
                <a:cs typeface="Calibri"/>
              </a:defRPr>
            </a:lvl5pPr>
            <a:lvl6pPr>
              <a:defRPr sz="1725" b="1">
                <a:solidFill>
                  <a:srgbClr val="D5653D"/>
                </a:solidFill>
                <a:latin typeface="Calibri"/>
                <a:ea typeface="Calibri"/>
                <a:cs typeface="Calibri"/>
              </a:defRPr>
            </a:lvl6pPr>
            <a:lvl7pPr>
              <a:defRPr sz="1725" b="1">
                <a:solidFill>
                  <a:srgbClr val="D5653D"/>
                </a:solidFill>
                <a:latin typeface="Calibri"/>
                <a:ea typeface="Calibri"/>
                <a:cs typeface="Calibri"/>
              </a:defRPr>
            </a:lvl7pPr>
            <a:lvl8pPr>
              <a:defRPr sz="1725" b="1">
                <a:solidFill>
                  <a:srgbClr val="D5653D"/>
                </a:solidFill>
                <a:latin typeface="Calibri"/>
                <a:ea typeface="Calibri"/>
                <a:cs typeface="Calibri"/>
              </a:defRPr>
            </a:lvl8pPr>
            <a:lvl9pPr>
              <a:defRPr sz="1725" b="1">
                <a:solidFill>
                  <a:srgbClr val="D5653D"/>
                </a:solidFill>
                <a:latin typeface="Calibri"/>
                <a:ea typeface="Calibri"/>
                <a:cs typeface="Calibri"/>
              </a:defRPr>
            </a:lvl9pPr>
          </a:lstStyle>
          <a:p xmlns:a="http://schemas.openxmlformats.org/drawingml/2006/main">
            <a:pPr>
              <a:defRPr sz="1725" b="1">
                <a:solidFill>
                  <a:srgbClr val="D5653D"/>
                </a:solidFill>
                <a:latin typeface="Calibri"/>
                <a:ea typeface="Calibri"/>
                <a:cs typeface="Calibri"/>
              </a:defRPr>
            </a:pPr>
            <a:r>
              <a:rPr sz="1725" b="1">
                <a:solidFill>
                  <a:srgbClr val="D5653D"/>
                </a:solidFill>
                <a:latin typeface="Calibri"/>
                <a:ea typeface="Calibri"/>
                <a:cs typeface="Calibri"/>
              </a:rPr>
              <a:t>Audit case</a:t>
            </a:r>
          </a:p>
        </p:txBody>
      </p:sp>
      <p:sp>
        <p:nvSpPr>
          <p:cNvPr id="45" name="">
            <a:extLst xmlns:a="http://schemas.openxmlformats.org/drawingml/2006/main">
              <a:ext uri="{FF2B5EF4-FFF2-40B4-BE49-F238E27FC236}">
                <a16:creationId xmlns:a16="http://schemas.microsoft.com/office/drawing/2014/main" id="{EC41B4DE-62F8-4E9B-BAA0-296D01B72DAD}"/>
              </a:ext>
            </a:extLst>
          </p:cNvPr>
          <p:cNvSpPr>
            <a:spLocks xmlns:a="http://schemas.openxmlformats.org/drawingml/2006/main" noGrp="1"/>
          </p:cNvSpPr>
          <p:nvPr/>
        </p:nvSpPr>
        <p:spPr>
          <a:xfrm xmlns:a="http://schemas.openxmlformats.org/drawingml/2006/main">
            <a:off x="552450" y="4267200"/>
            <a:ext cx="2343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Auditor result</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linked to chart</a:t>
            </a:r>
          </a:p>
        </p:txBody>
      </p:sp>
      <p:sp>
        <p:nvSpPr>
          <p:cNvPr id="46" name="">
            <a:extLst xmlns:a="http://schemas.openxmlformats.org/drawingml/2006/main">
              <a:ext uri="{FF2B5EF4-FFF2-40B4-BE49-F238E27FC236}">
                <a16:creationId xmlns:a16="http://schemas.microsoft.com/office/drawing/2014/main" id="{EAABB400-93C2-492B-9710-47ED07E9052D}"/>
              </a:ext>
            </a:extLst>
          </p:cNvPr>
          <p:cNvSpPr>
            <a:spLocks xmlns:a="http://schemas.openxmlformats.org/drawingml/2006/main" noGrp="1"/>
          </p:cNvSpPr>
          <p:nvPr/>
        </p:nvSpPr>
        <p:spPr>
          <a:xfrm xmlns:a="http://schemas.openxmlformats.org/drawingml/2006/main">
            <a:off x="3057525" y="41529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47" name="">
            <a:extLst xmlns:a="http://schemas.openxmlformats.org/drawingml/2006/main">
              <a:ext uri="{FF2B5EF4-FFF2-40B4-BE49-F238E27FC236}">
                <a16:creationId xmlns:a16="http://schemas.microsoft.com/office/drawing/2014/main" id="{AC036D31-DB10-4DDA-9D0B-6AABD241F510}"/>
              </a:ext>
            </a:extLst>
          </p:cNvPr>
          <p:cNvSpPr>
            <a:spLocks xmlns:a="http://schemas.openxmlformats.org/drawingml/2006/main" noGrp="1"/>
          </p:cNvSpPr>
          <p:nvPr/>
        </p:nvSpPr>
        <p:spPr>
          <a:xfrm xmlns:a="http://schemas.openxmlformats.org/drawingml/2006/main">
            <a:off x="3295650" y="3667125"/>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48" name="">
            <a:extLst xmlns:a="http://schemas.openxmlformats.org/drawingml/2006/main">
              <a:ext uri="{FF2B5EF4-FFF2-40B4-BE49-F238E27FC236}">
                <a16:creationId xmlns:a16="http://schemas.microsoft.com/office/drawing/2014/main" id="{BDB4A1AC-32FC-4B4B-9933-D8F4F63C3594}"/>
              </a:ext>
            </a:extLst>
          </p:cNvPr>
          <p:cNvSpPr>
            <a:spLocks xmlns:a="http://schemas.openxmlformats.org/drawingml/2006/main" noGrp="1"/>
          </p:cNvSpPr>
          <p:nvPr/>
        </p:nvSpPr>
        <p:spPr>
          <a:xfrm xmlns:a="http://schemas.openxmlformats.org/drawingml/2006/main">
            <a:off x="3429000" y="38290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79754"/>
                </a:solidFill>
                <a:latin typeface="Calibri"/>
                <a:ea typeface="Calibri"/>
                <a:cs typeface="Calibri"/>
              </a:defRPr>
            </a:defPPr>
            <a:lvl1pPr>
              <a:defRPr sz="1725" b="1">
                <a:solidFill>
                  <a:srgbClr val="479754"/>
                </a:solidFill>
                <a:latin typeface="Calibri"/>
                <a:ea typeface="Calibri"/>
                <a:cs typeface="Calibri"/>
              </a:defRPr>
            </a:lvl1pPr>
            <a:lvl2pPr>
              <a:defRPr sz="1725" b="1">
                <a:solidFill>
                  <a:srgbClr val="479754"/>
                </a:solidFill>
                <a:latin typeface="Calibri"/>
                <a:ea typeface="Calibri"/>
                <a:cs typeface="Calibri"/>
              </a:defRPr>
            </a:lvl2pPr>
            <a:lvl3pPr>
              <a:defRPr sz="1725" b="1">
                <a:solidFill>
                  <a:srgbClr val="479754"/>
                </a:solidFill>
                <a:latin typeface="Calibri"/>
                <a:ea typeface="Calibri"/>
                <a:cs typeface="Calibri"/>
              </a:defRPr>
            </a:lvl3pPr>
            <a:lvl4pPr>
              <a:defRPr sz="1725" b="1">
                <a:solidFill>
                  <a:srgbClr val="479754"/>
                </a:solidFill>
                <a:latin typeface="Calibri"/>
                <a:ea typeface="Calibri"/>
                <a:cs typeface="Calibri"/>
              </a:defRPr>
            </a:lvl4pPr>
            <a:lvl5pPr>
              <a:defRPr sz="1725" b="1">
                <a:solidFill>
                  <a:srgbClr val="479754"/>
                </a:solidFill>
                <a:latin typeface="Calibri"/>
                <a:ea typeface="Calibri"/>
                <a:cs typeface="Calibri"/>
              </a:defRPr>
            </a:lvl5pPr>
            <a:lvl6pPr>
              <a:defRPr sz="1725" b="1">
                <a:solidFill>
                  <a:srgbClr val="479754"/>
                </a:solidFill>
                <a:latin typeface="Calibri"/>
                <a:ea typeface="Calibri"/>
                <a:cs typeface="Calibri"/>
              </a:defRPr>
            </a:lvl6pPr>
            <a:lvl7pPr>
              <a:defRPr sz="1725" b="1">
                <a:solidFill>
                  <a:srgbClr val="479754"/>
                </a:solidFill>
                <a:latin typeface="Calibri"/>
                <a:ea typeface="Calibri"/>
                <a:cs typeface="Calibri"/>
              </a:defRPr>
            </a:lvl7pPr>
            <a:lvl8pPr>
              <a:defRPr sz="1725" b="1">
                <a:solidFill>
                  <a:srgbClr val="479754"/>
                </a:solidFill>
                <a:latin typeface="Calibri"/>
                <a:ea typeface="Calibri"/>
                <a:cs typeface="Calibri"/>
              </a:defRPr>
            </a:lvl8pPr>
            <a:lvl9pPr>
              <a:defRPr sz="1725" b="1">
                <a:solidFill>
                  <a:srgbClr val="479754"/>
                </a:solidFill>
                <a:latin typeface="Calibri"/>
                <a:ea typeface="Calibri"/>
                <a:cs typeface="Calibri"/>
              </a:defRPr>
            </a:lvl9pPr>
          </a:lstStyle>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Rule check</a:t>
            </a:r>
          </a:p>
        </p:txBody>
      </p:sp>
      <p:sp>
        <p:nvSpPr>
          <p:cNvPr id="49" name="">
            <a:extLst xmlns:a="http://schemas.openxmlformats.org/drawingml/2006/main">
              <a:ext uri="{FF2B5EF4-FFF2-40B4-BE49-F238E27FC236}">
                <a16:creationId xmlns:a16="http://schemas.microsoft.com/office/drawing/2014/main" id="{EDE86BA4-8C97-4FF0-8D97-BEF5960980A8}"/>
              </a:ext>
            </a:extLst>
          </p:cNvPr>
          <p:cNvSpPr>
            <a:spLocks xmlns:a="http://schemas.openxmlformats.org/drawingml/2006/main" noGrp="1"/>
          </p:cNvSpPr>
          <p:nvPr/>
        </p:nvSpPr>
        <p:spPr>
          <a:xfrm xmlns:a="http://schemas.openxmlformats.org/drawingml/2006/main">
            <a:off x="3429000" y="4267200"/>
            <a:ext cx="2343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Applicable CMS year</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hierarchy, eligibility</a:t>
            </a:r>
          </a:p>
        </p:txBody>
      </p:sp>
      <p:sp>
        <p:nvSpPr>
          <p:cNvPr id="50" name="">
            <a:extLst xmlns:a="http://schemas.openxmlformats.org/drawingml/2006/main">
              <a:ext uri="{FF2B5EF4-FFF2-40B4-BE49-F238E27FC236}">
                <a16:creationId xmlns:a16="http://schemas.microsoft.com/office/drawing/2014/main" id="{81647AE8-C7C3-4AA8-9032-617E9DE4DCF8}"/>
              </a:ext>
            </a:extLst>
          </p:cNvPr>
          <p:cNvSpPr>
            <a:spLocks xmlns:a="http://schemas.openxmlformats.org/drawingml/2006/main" noGrp="1"/>
          </p:cNvSpPr>
          <p:nvPr/>
        </p:nvSpPr>
        <p:spPr>
          <a:xfrm xmlns:a="http://schemas.openxmlformats.org/drawingml/2006/main">
            <a:off x="5934075" y="41529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51" name="">
            <a:extLst xmlns:a="http://schemas.openxmlformats.org/drawingml/2006/main">
              <a:ext uri="{FF2B5EF4-FFF2-40B4-BE49-F238E27FC236}">
                <a16:creationId xmlns:a16="http://schemas.microsoft.com/office/drawing/2014/main" id="{9FC1E08B-0988-404D-9487-821786A437E0}"/>
              </a:ext>
            </a:extLst>
          </p:cNvPr>
          <p:cNvSpPr>
            <a:spLocks xmlns:a="http://schemas.openxmlformats.org/drawingml/2006/main" noGrp="1"/>
          </p:cNvSpPr>
          <p:nvPr/>
        </p:nvSpPr>
        <p:spPr>
          <a:xfrm xmlns:a="http://schemas.openxmlformats.org/drawingml/2006/main">
            <a:off x="6172200" y="3667125"/>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52" name="">
            <a:extLst xmlns:a="http://schemas.openxmlformats.org/drawingml/2006/main">
              <a:ext uri="{FF2B5EF4-FFF2-40B4-BE49-F238E27FC236}">
                <a16:creationId xmlns:a16="http://schemas.microsoft.com/office/drawing/2014/main" id="{6D5DA44E-5A37-4656-ADAC-AB7C352D1C3A}"/>
              </a:ext>
            </a:extLst>
          </p:cNvPr>
          <p:cNvSpPr>
            <a:spLocks xmlns:a="http://schemas.openxmlformats.org/drawingml/2006/main" noGrp="1"/>
          </p:cNvSpPr>
          <p:nvPr/>
        </p:nvSpPr>
        <p:spPr>
          <a:xfrm xmlns:a="http://schemas.openxmlformats.org/drawingml/2006/main">
            <a:off x="6305550" y="38290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Compare</a:t>
            </a:r>
          </a:p>
        </p:txBody>
      </p:sp>
      <p:sp>
        <p:nvSpPr>
          <p:cNvPr id="53" name="">
            <a:extLst xmlns:a="http://schemas.openxmlformats.org/drawingml/2006/main">
              <a:ext uri="{FF2B5EF4-FFF2-40B4-BE49-F238E27FC236}">
                <a16:creationId xmlns:a16="http://schemas.microsoft.com/office/drawing/2014/main" id="{CCBF5BFF-C53D-4A4B-AAF2-94D710F3E883}"/>
              </a:ext>
            </a:extLst>
          </p:cNvPr>
          <p:cNvSpPr>
            <a:spLocks xmlns:a="http://schemas.openxmlformats.org/drawingml/2006/main" noGrp="1"/>
          </p:cNvSpPr>
          <p:nvPr/>
        </p:nvSpPr>
        <p:spPr>
          <a:xfrm xmlns:a="http://schemas.openxmlformats.org/drawingml/2006/main">
            <a:off x="6305550" y="4267200"/>
            <a:ext cx="2343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Supported, missed or</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unsupported evidence</a:t>
            </a:r>
          </a:p>
        </p:txBody>
      </p:sp>
      <p:sp>
        <p:nvSpPr>
          <p:cNvPr id="54" name="">
            <a:extLst xmlns:a="http://schemas.openxmlformats.org/drawingml/2006/main">
              <a:ext uri="{FF2B5EF4-FFF2-40B4-BE49-F238E27FC236}">
                <a16:creationId xmlns:a16="http://schemas.microsoft.com/office/drawing/2014/main" id="{F9AC8F56-B7DB-4A9D-AAE5-2F6AA39B9513}"/>
              </a:ext>
            </a:extLst>
          </p:cNvPr>
          <p:cNvSpPr>
            <a:spLocks xmlns:a="http://schemas.openxmlformats.org/drawingml/2006/main" noGrp="1"/>
          </p:cNvSpPr>
          <p:nvPr/>
        </p:nvSpPr>
        <p:spPr>
          <a:xfrm xmlns:a="http://schemas.openxmlformats.org/drawingml/2006/main">
            <a:off x="8810625" y="41529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55" name="">
            <a:extLst xmlns:a="http://schemas.openxmlformats.org/drawingml/2006/main">
              <a:ext uri="{FF2B5EF4-FFF2-40B4-BE49-F238E27FC236}">
                <a16:creationId xmlns:a16="http://schemas.microsoft.com/office/drawing/2014/main" id="{ED7EA045-DA3D-4F84-91D3-D9616EF4D5C0}"/>
              </a:ext>
            </a:extLst>
          </p:cNvPr>
          <p:cNvSpPr>
            <a:spLocks xmlns:a="http://schemas.openxmlformats.org/drawingml/2006/main" noGrp="1"/>
          </p:cNvSpPr>
          <p:nvPr/>
        </p:nvSpPr>
        <p:spPr>
          <a:xfrm xmlns:a="http://schemas.openxmlformats.org/drawingml/2006/main">
            <a:off x="9048750" y="3667125"/>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56" name="">
            <a:extLst xmlns:a="http://schemas.openxmlformats.org/drawingml/2006/main">
              <a:ext uri="{FF2B5EF4-FFF2-40B4-BE49-F238E27FC236}">
                <a16:creationId xmlns:a16="http://schemas.microsoft.com/office/drawing/2014/main" id="{A868BAC2-764E-4C73-B42B-C1687E7D507D}"/>
              </a:ext>
            </a:extLst>
          </p:cNvPr>
          <p:cNvSpPr>
            <a:spLocks xmlns:a="http://schemas.openxmlformats.org/drawingml/2006/main" noGrp="1"/>
          </p:cNvSpPr>
          <p:nvPr/>
        </p:nvSpPr>
        <p:spPr>
          <a:xfrm xmlns:a="http://schemas.openxmlformats.org/drawingml/2006/main">
            <a:off x="9182100" y="38290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Adjudicate</a:t>
            </a:r>
          </a:p>
        </p:txBody>
      </p:sp>
      <p:sp>
        <p:nvSpPr>
          <p:cNvPr id="57" name="">
            <a:extLst xmlns:a="http://schemas.openxmlformats.org/drawingml/2006/main">
              <a:ext uri="{FF2B5EF4-FFF2-40B4-BE49-F238E27FC236}">
                <a16:creationId xmlns:a16="http://schemas.microsoft.com/office/drawing/2014/main" id="{04D746E5-39C3-4600-AA21-D1D4095CE0C0}"/>
              </a:ext>
            </a:extLst>
          </p:cNvPr>
          <p:cNvSpPr>
            <a:spLocks xmlns:a="http://schemas.openxmlformats.org/drawingml/2006/main" noGrp="1"/>
          </p:cNvSpPr>
          <p:nvPr/>
        </p:nvSpPr>
        <p:spPr>
          <a:xfrm xmlns:a="http://schemas.openxmlformats.org/drawingml/2006/main">
            <a:off x="9182100" y="4267200"/>
            <a:ext cx="2343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SME decides; track</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correction and outcome</a:t>
            </a:r>
          </a:p>
        </p:txBody>
      </p:sp>
      <p:sp>
        <p:nvSpPr>
          <p:cNvPr id="58" name="">
            <a:extLst xmlns:a="http://schemas.openxmlformats.org/drawingml/2006/main">
              <a:ext uri="{FF2B5EF4-FFF2-40B4-BE49-F238E27FC236}">
                <a16:creationId xmlns:a16="http://schemas.microsoft.com/office/drawing/2014/main" id="{C91A33A5-BA01-43B8-A087-28BFDB7BFF91}"/>
              </a:ext>
            </a:extLst>
          </p:cNvPr>
          <p:cNvSpPr>
            <a:spLocks xmlns:a="http://schemas.openxmlformats.org/drawingml/2006/main" noGrp="1"/>
          </p:cNvSpPr>
          <p:nvPr/>
        </p:nvSpPr>
        <p:spPr>
          <a:xfrm xmlns:a="http://schemas.openxmlformats.org/drawingml/2006/main">
            <a:off x="7210425" y="32385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7BA8"/>
                </a:solidFill>
                <a:latin typeface="Calibri"/>
                <a:ea typeface="Calibri"/>
                <a:cs typeface="Calibri"/>
              </a:defRPr>
            </a:defPPr>
            <a:lvl1pPr>
              <a:defRPr sz="1500" b="1">
                <a:solidFill>
                  <a:srgbClr val="287BA8"/>
                </a:solidFill>
                <a:latin typeface="Calibri"/>
                <a:ea typeface="Calibri"/>
                <a:cs typeface="Calibri"/>
              </a:defRPr>
            </a:lvl1pPr>
            <a:lvl2pPr>
              <a:defRPr sz="1500" b="1">
                <a:solidFill>
                  <a:srgbClr val="287BA8"/>
                </a:solidFill>
                <a:latin typeface="Calibri"/>
                <a:ea typeface="Calibri"/>
                <a:cs typeface="Calibri"/>
              </a:defRPr>
            </a:lvl2pPr>
            <a:lvl3pPr>
              <a:defRPr sz="1500" b="1">
                <a:solidFill>
                  <a:srgbClr val="287BA8"/>
                </a:solidFill>
                <a:latin typeface="Calibri"/>
                <a:ea typeface="Calibri"/>
                <a:cs typeface="Calibri"/>
              </a:defRPr>
            </a:lvl3pPr>
            <a:lvl4pPr>
              <a:defRPr sz="1500" b="1">
                <a:solidFill>
                  <a:srgbClr val="287BA8"/>
                </a:solidFill>
                <a:latin typeface="Calibri"/>
                <a:ea typeface="Calibri"/>
                <a:cs typeface="Calibri"/>
              </a:defRPr>
            </a:lvl4pPr>
            <a:lvl5pPr>
              <a:defRPr sz="1500" b="1">
                <a:solidFill>
                  <a:srgbClr val="287BA8"/>
                </a:solidFill>
                <a:latin typeface="Calibri"/>
                <a:ea typeface="Calibri"/>
                <a:cs typeface="Calibri"/>
              </a:defRPr>
            </a:lvl5pPr>
            <a:lvl6pPr>
              <a:defRPr sz="1500" b="1">
                <a:solidFill>
                  <a:srgbClr val="287BA8"/>
                </a:solidFill>
                <a:latin typeface="Calibri"/>
                <a:ea typeface="Calibri"/>
                <a:cs typeface="Calibri"/>
              </a:defRPr>
            </a:lvl6pPr>
            <a:lvl7pPr>
              <a:defRPr sz="1500" b="1">
                <a:solidFill>
                  <a:srgbClr val="287BA8"/>
                </a:solidFill>
                <a:latin typeface="Calibri"/>
                <a:ea typeface="Calibri"/>
                <a:cs typeface="Calibri"/>
              </a:defRPr>
            </a:lvl7pPr>
            <a:lvl8pPr>
              <a:defRPr sz="1500" b="1">
                <a:solidFill>
                  <a:srgbClr val="287BA8"/>
                </a:solidFill>
                <a:latin typeface="Calibri"/>
                <a:ea typeface="Calibri"/>
                <a:cs typeface="Calibri"/>
              </a:defRPr>
            </a:lvl8pPr>
            <a:lvl9pPr>
              <a:defRPr sz="1500" b="1">
                <a:solidFill>
                  <a:srgbClr val="287BA8"/>
                </a:solidFill>
                <a:latin typeface="Calibri"/>
                <a:ea typeface="Calibri"/>
                <a:cs typeface="Calibri"/>
              </a:defRPr>
            </a:lvl9pPr>
          </a:lstStyle>
          <a:p xmlns:a="http://schemas.openxmlformats.org/drawingml/2006/main">
            <a:pPr>
              <a:defRPr sz="1500" b="1">
                <a:solidFill>
                  <a:srgbClr val="287BA8"/>
                </a:solidFill>
                <a:latin typeface="Calibri"/>
                <a:ea typeface="Calibri"/>
                <a:cs typeface="Calibri"/>
              </a:defRPr>
            </a:pPr>
            <a:r>
              <a:rPr sz="1500" b="1">
                <a:solidFill>
                  <a:srgbClr val="287BA8"/>
                </a:solidFill>
                <a:latin typeface="Calibri"/>
                <a:ea typeface="Calibri"/>
                <a:cs typeface="Calibri"/>
              </a:rPr>
              <a:t>Validated evidence ↓</a:t>
            </a:r>
          </a:p>
        </p:txBody>
      </p:sp>
      <p:sp>
        <p:nvSpPr>
          <p:cNvPr id="59" name="">
            <a:extLst xmlns:a="http://schemas.openxmlformats.org/drawingml/2006/main">
              <a:ext uri="{FF2B5EF4-FFF2-40B4-BE49-F238E27FC236}">
                <a16:creationId xmlns:a16="http://schemas.microsoft.com/office/drawing/2014/main" id="{EEA486C7-2562-4805-B63E-AC61CA922B9D}"/>
              </a:ext>
            </a:extLst>
          </p:cNvPr>
          <p:cNvSpPr>
            <a:spLocks xmlns:a="http://schemas.openxmlformats.org/drawingml/2006/main" noGrp="1"/>
          </p:cNvSpPr>
          <p:nvPr/>
        </p:nvSpPr>
        <p:spPr>
          <a:xfrm xmlns:a="http://schemas.openxmlformats.org/drawingml/2006/main">
            <a:off x="476250" y="519112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6636C"/>
                </a:solidFill>
                <a:latin typeface="Calibri"/>
                <a:ea typeface="Calibri"/>
                <a:cs typeface="Calibri"/>
              </a:defRPr>
            </a:defPPr>
            <a:lvl1pPr>
              <a:defRPr sz="1575" b="0">
                <a:solidFill>
                  <a:srgbClr val="56636C"/>
                </a:solidFill>
                <a:latin typeface="Calibri"/>
                <a:ea typeface="Calibri"/>
                <a:cs typeface="Calibri"/>
              </a:defRPr>
            </a:lvl1pPr>
            <a:lvl2pPr>
              <a:defRPr sz="1575" b="0">
                <a:solidFill>
                  <a:srgbClr val="56636C"/>
                </a:solidFill>
                <a:latin typeface="Calibri"/>
                <a:ea typeface="Calibri"/>
                <a:cs typeface="Calibri"/>
              </a:defRPr>
            </a:lvl2pPr>
            <a:lvl3pPr>
              <a:defRPr sz="1575" b="0">
                <a:solidFill>
                  <a:srgbClr val="56636C"/>
                </a:solidFill>
                <a:latin typeface="Calibri"/>
                <a:ea typeface="Calibri"/>
                <a:cs typeface="Calibri"/>
              </a:defRPr>
            </a:lvl3pPr>
            <a:lvl4pPr>
              <a:defRPr sz="1575" b="0">
                <a:solidFill>
                  <a:srgbClr val="56636C"/>
                </a:solidFill>
                <a:latin typeface="Calibri"/>
                <a:ea typeface="Calibri"/>
                <a:cs typeface="Calibri"/>
              </a:defRPr>
            </a:lvl4pPr>
            <a:lvl5pPr>
              <a:defRPr sz="1575" b="0">
                <a:solidFill>
                  <a:srgbClr val="56636C"/>
                </a:solidFill>
                <a:latin typeface="Calibri"/>
                <a:ea typeface="Calibri"/>
                <a:cs typeface="Calibri"/>
              </a:defRPr>
            </a:lvl5pPr>
            <a:lvl6pPr>
              <a:defRPr sz="1575" b="0">
                <a:solidFill>
                  <a:srgbClr val="56636C"/>
                </a:solidFill>
                <a:latin typeface="Calibri"/>
                <a:ea typeface="Calibri"/>
                <a:cs typeface="Calibri"/>
              </a:defRPr>
            </a:lvl6pPr>
            <a:lvl7pPr>
              <a:defRPr sz="1575" b="0">
                <a:solidFill>
                  <a:srgbClr val="56636C"/>
                </a:solidFill>
                <a:latin typeface="Calibri"/>
                <a:ea typeface="Calibri"/>
                <a:cs typeface="Calibri"/>
              </a:defRPr>
            </a:lvl7pPr>
            <a:lvl8pPr>
              <a:defRPr sz="1575" b="0">
                <a:solidFill>
                  <a:srgbClr val="56636C"/>
                </a:solidFill>
                <a:latin typeface="Calibri"/>
                <a:ea typeface="Calibri"/>
                <a:cs typeface="Calibri"/>
              </a:defRPr>
            </a:lvl8pPr>
            <a:lvl9pPr>
              <a:defRPr sz="1575" b="0">
                <a:solidFill>
                  <a:srgbClr val="56636C"/>
                </a:solidFill>
                <a:latin typeface="Calibri"/>
                <a:ea typeface="Calibri"/>
                <a:cs typeface="Calibri"/>
              </a:defRPr>
            </a:lvl9pPr>
          </a:lstStyle>
          <a:p xmlns:a="http://schemas.openxmlformats.org/drawingml/2006/main">
            <a:pPr>
              <a:defRPr sz="1575" b="0">
                <a:solidFill>
                  <a:srgbClr val="56636C"/>
                </a:solidFill>
                <a:latin typeface="Calibri"/>
                <a:ea typeface="Calibri"/>
                <a:cs typeface="Calibri"/>
              </a:defRPr>
            </a:pPr>
            <a:r>
              <a:rPr sz="1575" b="0">
                <a:solidFill>
                  <a:srgbClr val="56636C"/>
                </a:solidFill>
                <a:latin typeface="Calibri"/>
                <a:ea typeface="Calibri"/>
                <a:cs typeface="Calibri"/>
              </a:rPr>
              <a:t>Clinical evidence enters the audit comparison only after traceability and quality checks.</a:t>
            </a:r>
          </a:p>
        </p:txBody>
      </p:sp>
    </p:spTree>
    <p:extLst>
      <p:ext uri="{BB962C8B-B14F-4D97-AF65-F5344CB8AC3E}">
        <p14:creationId xmlns:p14="http://schemas.microsoft.com/office/powerpoint/2010/main" val="16721755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Integration: governed answers</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Structured calculations and document evidence share one internal question experience.</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An LLM explains approved tool results with sources and refresh dates.</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F6EADFA5-0F48-4455-BA89-343D8F7135EB}"/>
              </a:ext>
            </a:extLst>
          </p:cNvPr>
          <p:cNvSpPr>
            <a:spLocks xmlns:a="http://schemas.openxmlformats.org/drawingml/2006/main" noGrp="1"/>
          </p:cNvSpPr>
          <p:nvPr/>
        </p:nvSpPr>
        <p:spPr>
          <a:xfrm xmlns:a="http://schemas.openxmlformats.org/drawingml/2006/main">
            <a:off x="419100" y="2000250"/>
            <a:ext cx="3429000" cy="11239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4B77443C-2142-4F3E-8181-3F0D2F13E186}"/>
              </a:ext>
            </a:extLst>
          </p:cNvPr>
          <p:cNvSpPr>
            <a:spLocks xmlns:a="http://schemas.openxmlformats.org/drawingml/2006/main" noGrp="1"/>
          </p:cNvSpPr>
          <p:nvPr/>
        </p:nvSpPr>
        <p:spPr>
          <a:xfrm xmlns:a="http://schemas.openxmlformats.org/drawingml/2006/main">
            <a:off x="561975" y="21621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79754"/>
                </a:solidFill>
                <a:latin typeface="Calibri"/>
                <a:ea typeface="Calibri"/>
                <a:cs typeface="Calibri"/>
              </a:defRPr>
            </a:defPPr>
            <a:lvl1pPr>
              <a:defRPr sz="1725" b="1">
                <a:solidFill>
                  <a:srgbClr val="479754"/>
                </a:solidFill>
                <a:latin typeface="Calibri"/>
                <a:ea typeface="Calibri"/>
                <a:cs typeface="Calibri"/>
              </a:defRPr>
            </a:lvl1pPr>
            <a:lvl2pPr>
              <a:defRPr sz="1725" b="1">
                <a:solidFill>
                  <a:srgbClr val="479754"/>
                </a:solidFill>
                <a:latin typeface="Calibri"/>
                <a:ea typeface="Calibri"/>
                <a:cs typeface="Calibri"/>
              </a:defRPr>
            </a:lvl2pPr>
            <a:lvl3pPr>
              <a:defRPr sz="1725" b="1">
                <a:solidFill>
                  <a:srgbClr val="479754"/>
                </a:solidFill>
                <a:latin typeface="Calibri"/>
                <a:ea typeface="Calibri"/>
                <a:cs typeface="Calibri"/>
              </a:defRPr>
            </a:lvl3pPr>
            <a:lvl4pPr>
              <a:defRPr sz="1725" b="1">
                <a:solidFill>
                  <a:srgbClr val="479754"/>
                </a:solidFill>
                <a:latin typeface="Calibri"/>
                <a:ea typeface="Calibri"/>
                <a:cs typeface="Calibri"/>
              </a:defRPr>
            </a:lvl4pPr>
            <a:lvl5pPr>
              <a:defRPr sz="1725" b="1">
                <a:solidFill>
                  <a:srgbClr val="479754"/>
                </a:solidFill>
                <a:latin typeface="Calibri"/>
                <a:ea typeface="Calibri"/>
                <a:cs typeface="Calibri"/>
              </a:defRPr>
            </a:lvl5pPr>
            <a:lvl6pPr>
              <a:defRPr sz="1725" b="1">
                <a:solidFill>
                  <a:srgbClr val="479754"/>
                </a:solidFill>
                <a:latin typeface="Calibri"/>
                <a:ea typeface="Calibri"/>
                <a:cs typeface="Calibri"/>
              </a:defRPr>
            </a:lvl6pPr>
            <a:lvl7pPr>
              <a:defRPr sz="1725" b="1">
                <a:solidFill>
                  <a:srgbClr val="479754"/>
                </a:solidFill>
                <a:latin typeface="Calibri"/>
                <a:ea typeface="Calibri"/>
                <a:cs typeface="Calibri"/>
              </a:defRPr>
            </a:lvl7pPr>
            <a:lvl8pPr>
              <a:defRPr sz="1725" b="1">
                <a:solidFill>
                  <a:srgbClr val="479754"/>
                </a:solidFill>
                <a:latin typeface="Calibri"/>
                <a:ea typeface="Calibri"/>
                <a:cs typeface="Calibri"/>
              </a:defRPr>
            </a:lvl8pPr>
            <a:lvl9pPr>
              <a:defRPr sz="1725" b="1">
                <a:solidFill>
                  <a:srgbClr val="479754"/>
                </a:solidFill>
                <a:latin typeface="Calibri"/>
                <a:ea typeface="Calibri"/>
                <a:cs typeface="Calibri"/>
              </a:defRPr>
            </a:lvl9pPr>
          </a:lstStyle>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Sources</a:t>
            </a:r>
          </a:p>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Claims, membership, Stars, finance and charts</a:t>
            </a:r>
          </a:p>
        </p:txBody>
      </p:sp>
      <p:sp>
        <p:nvSpPr>
          <p:cNvPr id="30" name="">
            <a:extLst xmlns:a="http://schemas.openxmlformats.org/drawingml/2006/main">
              <a:ext uri="{FF2B5EF4-FFF2-40B4-BE49-F238E27FC236}">
                <a16:creationId xmlns:a16="http://schemas.microsoft.com/office/drawing/2014/main" id="{A691A7AE-DEE3-4EE0-A0D4-280DF705E862}"/>
              </a:ext>
            </a:extLst>
          </p:cNvPr>
          <p:cNvSpPr>
            <a:spLocks xmlns:a="http://schemas.openxmlformats.org/drawingml/2006/main" noGrp="1"/>
          </p:cNvSpPr>
          <p:nvPr/>
        </p:nvSpPr>
        <p:spPr>
          <a:xfrm xmlns:a="http://schemas.openxmlformats.org/drawingml/2006/main">
            <a:off x="4305300" y="2000250"/>
            <a:ext cx="3429000" cy="11239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1" name="">
            <a:extLst xmlns:a="http://schemas.openxmlformats.org/drawingml/2006/main">
              <a:ext uri="{FF2B5EF4-FFF2-40B4-BE49-F238E27FC236}">
                <a16:creationId xmlns:a16="http://schemas.microsoft.com/office/drawing/2014/main" id="{73922E5F-6020-40FF-9BB9-318942B304C8}"/>
              </a:ext>
            </a:extLst>
          </p:cNvPr>
          <p:cNvSpPr>
            <a:spLocks xmlns:a="http://schemas.openxmlformats.org/drawingml/2006/main" noGrp="1"/>
          </p:cNvSpPr>
          <p:nvPr/>
        </p:nvSpPr>
        <p:spPr>
          <a:xfrm xmlns:a="http://schemas.openxmlformats.org/drawingml/2006/main">
            <a:off x="4448175" y="21621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Governed services</a:t>
            </a:r>
          </a:p>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Certified measures, queries and document search</a:t>
            </a:r>
          </a:p>
        </p:txBody>
      </p:sp>
      <p:sp>
        <p:nvSpPr>
          <p:cNvPr id="32" name="">
            <a:extLst xmlns:a="http://schemas.openxmlformats.org/drawingml/2006/main">
              <a:ext uri="{FF2B5EF4-FFF2-40B4-BE49-F238E27FC236}">
                <a16:creationId xmlns:a16="http://schemas.microsoft.com/office/drawing/2014/main" id="{DEA475B5-222B-41D6-9B61-E33EF527D178}"/>
              </a:ext>
            </a:extLst>
          </p:cNvPr>
          <p:cNvSpPr>
            <a:spLocks xmlns:a="http://schemas.openxmlformats.org/drawingml/2006/main" noGrp="1"/>
          </p:cNvSpPr>
          <p:nvPr/>
        </p:nvSpPr>
        <p:spPr>
          <a:xfrm xmlns:a="http://schemas.openxmlformats.org/drawingml/2006/main">
            <a:off x="8191500" y="2000250"/>
            <a:ext cx="3581400" cy="11239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33" name="">
            <a:extLst xmlns:a="http://schemas.openxmlformats.org/drawingml/2006/main">
              <a:ext uri="{FF2B5EF4-FFF2-40B4-BE49-F238E27FC236}">
                <a16:creationId xmlns:a16="http://schemas.microsoft.com/office/drawing/2014/main" id="{B981C2BC-76CF-436D-A239-82E5A3202146}"/>
              </a:ext>
            </a:extLst>
          </p:cNvPr>
          <p:cNvSpPr>
            <a:spLocks xmlns:a="http://schemas.openxmlformats.org/drawingml/2006/main" noGrp="1"/>
          </p:cNvSpPr>
          <p:nvPr/>
        </p:nvSpPr>
        <p:spPr>
          <a:xfrm xmlns:a="http://schemas.openxmlformats.org/drawingml/2006/main">
            <a:off x="8334375" y="2162175"/>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79754"/>
                </a:solidFill>
                <a:latin typeface="Calibri"/>
                <a:ea typeface="Calibri"/>
                <a:cs typeface="Calibri"/>
              </a:defRPr>
            </a:defPPr>
            <a:lvl1pPr>
              <a:defRPr sz="1725" b="1">
                <a:solidFill>
                  <a:srgbClr val="479754"/>
                </a:solidFill>
                <a:latin typeface="Calibri"/>
                <a:ea typeface="Calibri"/>
                <a:cs typeface="Calibri"/>
              </a:defRPr>
            </a:lvl1pPr>
            <a:lvl2pPr>
              <a:defRPr sz="1725" b="1">
                <a:solidFill>
                  <a:srgbClr val="479754"/>
                </a:solidFill>
                <a:latin typeface="Calibri"/>
                <a:ea typeface="Calibri"/>
                <a:cs typeface="Calibri"/>
              </a:defRPr>
            </a:lvl2pPr>
            <a:lvl3pPr>
              <a:defRPr sz="1725" b="1">
                <a:solidFill>
                  <a:srgbClr val="479754"/>
                </a:solidFill>
                <a:latin typeface="Calibri"/>
                <a:ea typeface="Calibri"/>
                <a:cs typeface="Calibri"/>
              </a:defRPr>
            </a:lvl3pPr>
            <a:lvl4pPr>
              <a:defRPr sz="1725" b="1">
                <a:solidFill>
                  <a:srgbClr val="479754"/>
                </a:solidFill>
                <a:latin typeface="Calibri"/>
                <a:ea typeface="Calibri"/>
                <a:cs typeface="Calibri"/>
              </a:defRPr>
            </a:lvl4pPr>
            <a:lvl5pPr>
              <a:defRPr sz="1725" b="1">
                <a:solidFill>
                  <a:srgbClr val="479754"/>
                </a:solidFill>
                <a:latin typeface="Calibri"/>
                <a:ea typeface="Calibri"/>
                <a:cs typeface="Calibri"/>
              </a:defRPr>
            </a:lvl5pPr>
            <a:lvl6pPr>
              <a:defRPr sz="1725" b="1">
                <a:solidFill>
                  <a:srgbClr val="479754"/>
                </a:solidFill>
                <a:latin typeface="Calibri"/>
                <a:ea typeface="Calibri"/>
                <a:cs typeface="Calibri"/>
              </a:defRPr>
            </a:lvl6pPr>
            <a:lvl7pPr>
              <a:defRPr sz="1725" b="1">
                <a:solidFill>
                  <a:srgbClr val="479754"/>
                </a:solidFill>
                <a:latin typeface="Calibri"/>
                <a:ea typeface="Calibri"/>
                <a:cs typeface="Calibri"/>
              </a:defRPr>
            </a:lvl7pPr>
            <a:lvl8pPr>
              <a:defRPr sz="1725" b="1">
                <a:solidFill>
                  <a:srgbClr val="479754"/>
                </a:solidFill>
                <a:latin typeface="Calibri"/>
                <a:ea typeface="Calibri"/>
                <a:cs typeface="Calibri"/>
              </a:defRPr>
            </a:lvl8pPr>
            <a:lvl9pPr>
              <a:defRPr sz="1725" b="1">
                <a:solidFill>
                  <a:srgbClr val="479754"/>
                </a:solidFill>
                <a:latin typeface="Calibri"/>
                <a:ea typeface="Calibri"/>
                <a:cs typeface="Calibri"/>
              </a:defRPr>
            </a:lvl9pPr>
          </a:lstStyle>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Answer</a:t>
            </a:r>
          </a:p>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Reconciled numbers, citations and uncertainty</a:t>
            </a:r>
          </a:p>
        </p:txBody>
      </p:sp>
      <p:sp>
        <p:nvSpPr>
          <p:cNvPr id="34" name="">
            <a:extLst xmlns:a="http://schemas.openxmlformats.org/drawingml/2006/main">
              <a:ext uri="{FF2B5EF4-FFF2-40B4-BE49-F238E27FC236}">
                <a16:creationId xmlns:a16="http://schemas.microsoft.com/office/drawing/2014/main" id="{A27504AE-C7A4-4023-898C-8BFB119097B9}"/>
              </a:ext>
            </a:extLst>
          </p:cNvPr>
          <p:cNvSpPr>
            <a:spLocks xmlns:a="http://schemas.openxmlformats.org/drawingml/2006/main" noGrp="1"/>
          </p:cNvSpPr>
          <p:nvPr/>
        </p:nvSpPr>
        <p:spPr>
          <a:xfrm xmlns:a="http://schemas.openxmlformats.org/drawingml/2006/main">
            <a:off x="476250" y="3524250"/>
            <a:ext cx="10001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B3A"/>
                </a:solidFill>
                <a:latin typeface="Calibri"/>
                <a:ea typeface="Calibri"/>
                <a:cs typeface="Calibri"/>
              </a:defRPr>
            </a:defPPr>
            <a:lvl1pPr>
              <a:defRPr sz="2175" b="1">
                <a:solidFill>
                  <a:srgbClr val="172B3A"/>
                </a:solidFill>
                <a:latin typeface="Calibri"/>
                <a:ea typeface="Calibri"/>
                <a:cs typeface="Calibri"/>
              </a:defRPr>
            </a:lvl1pPr>
            <a:lvl2pPr>
              <a:defRPr sz="2175" b="1">
                <a:solidFill>
                  <a:srgbClr val="172B3A"/>
                </a:solidFill>
                <a:latin typeface="Calibri"/>
                <a:ea typeface="Calibri"/>
                <a:cs typeface="Calibri"/>
              </a:defRPr>
            </a:lvl2pPr>
            <a:lvl3pPr>
              <a:defRPr sz="2175" b="1">
                <a:solidFill>
                  <a:srgbClr val="172B3A"/>
                </a:solidFill>
                <a:latin typeface="Calibri"/>
                <a:ea typeface="Calibri"/>
                <a:cs typeface="Calibri"/>
              </a:defRPr>
            </a:lvl3pPr>
            <a:lvl4pPr>
              <a:defRPr sz="2175" b="1">
                <a:solidFill>
                  <a:srgbClr val="172B3A"/>
                </a:solidFill>
                <a:latin typeface="Calibri"/>
                <a:ea typeface="Calibri"/>
                <a:cs typeface="Calibri"/>
              </a:defRPr>
            </a:lvl4pPr>
            <a:lvl5pPr>
              <a:defRPr sz="2175" b="1">
                <a:solidFill>
                  <a:srgbClr val="172B3A"/>
                </a:solidFill>
                <a:latin typeface="Calibri"/>
                <a:ea typeface="Calibri"/>
                <a:cs typeface="Calibri"/>
              </a:defRPr>
            </a:lvl5pPr>
            <a:lvl6pPr>
              <a:defRPr sz="2175" b="1">
                <a:solidFill>
                  <a:srgbClr val="172B3A"/>
                </a:solidFill>
                <a:latin typeface="Calibri"/>
                <a:ea typeface="Calibri"/>
                <a:cs typeface="Calibri"/>
              </a:defRPr>
            </a:lvl6pPr>
            <a:lvl7pPr>
              <a:defRPr sz="2175" b="1">
                <a:solidFill>
                  <a:srgbClr val="172B3A"/>
                </a:solidFill>
                <a:latin typeface="Calibri"/>
                <a:ea typeface="Calibri"/>
                <a:cs typeface="Calibri"/>
              </a:defRPr>
            </a:lvl7pPr>
            <a:lvl8pPr>
              <a:defRPr sz="2175" b="1">
                <a:solidFill>
                  <a:srgbClr val="172B3A"/>
                </a:solidFill>
                <a:latin typeface="Calibri"/>
                <a:ea typeface="Calibri"/>
                <a:cs typeface="Calibri"/>
              </a:defRPr>
            </a:lvl8pPr>
            <a:lvl9pPr>
              <a:defRPr sz="2175" b="1">
                <a:solidFill>
                  <a:srgbClr val="172B3A"/>
                </a:solidFill>
                <a:latin typeface="Calibri"/>
                <a:ea typeface="Calibri"/>
                <a:cs typeface="Calibri"/>
              </a:defRPr>
            </a:lvl9pPr>
          </a:lstStyle>
          <a:p xmlns:a="http://schemas.openxmlformats.org/drawingml/2006/main">
            <a:pPr>
              <a:defRPr sz="2175" b="1">
                <a:solidFill>
                  <a:srgbClr val="172B3A"/>
                </a:solidFill>
                <a:latin typeface="Calibri"/>
                <a:ea typeface="Calibri"/>
                <a:cs typeface="Calibri"/>
              </a:defRPr>
            </a:pPr>
            <a:r>
              <a:rPr sz="2175" b="1">
                <a:solidFill>
                  <a:srgbClr val="172B3A"/>
                </a:solidFill>
                <a:latin typeface="Calibri"/>
                <a:ea typeface="Calibri"/>
                <a:cs typeface="Calibri"/>
              </a:rPr>
              <a:t>Example: Why did an IPA’s risk score decline?</a:t>
            </a:r>
          </a:p>
        </p:txBody>
      </p:sp>
      <p:sp>
        <p:nvSpPr>
          <p:cNvPr id="35" name="">
            <a:extLst xmlns:a="http://schemas.openxmlformats.org/drawingml/2006/main">
              <a:ext uri="{FF2B5EF4-FFF2-40B4-BE49-F238E27FC236}">
                <a16:creationId xmlns:a16="http://schemas.microsoft.com/office/drawing/2014/main" id="{8EEBBE8B-0937-4C29-8235-EC344042C615}"/>
              </a:ext>
            </a:extLst>
          </p:cNvPr>
          <p:cNvSpPr>
            <a:spLocks xmlns:a="http://schemas.openxmlformats.org/drawingml/2006/main" noGrp="1"/>
          </p:cNvSpPr>
          <p:nvPr/>
        </p:nvSpPr>
        <p:spPr>
          <a:xfrm xmlns:a="http://schemas.openxmlformats.org/drawingml/2006/main">
            <a:off x="476250" y="414337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87BA8"/>
                </a:solidFill>
                <a:latin typeface="Calibri"/>
                <a:ea typeface="Calibri"/>
                <a:cs typeface="Calibri"/>
              </a:defRPr>
            </a:defPPr>
            <a:lvl1pPr>
              <a:defRPr sz="1875" b="0">
                <a:solidFill>
                  <a:srgbClr val="287BA8"/>
                </a:solidFill>
                <a:latin typeface="Calibri"/>
                <a:ea typeface="Calibri"/>
                <a:cs typeface="Calibri"/>
              </a:defRPr>
            </a:lvl1pPr>
            <a:lvl2pPr>
              <a:defRPr sz="1875" b="0">
                <a:solidFill>
                  <a:srgbClr val="287BA8"/>
                </a:solidFill>
                <a:latin typeface="Calibri"/>
                <a:ea typeface="Calibri"/>
                <a:cs typeface="Calibri"/>
              </a:defRPr>
            </a:lvl2pPr>
            <a:lvl3pPr>
              <a:defRPr sz="1875" b="0">
                <a:solidFill>
                  <a:srgbClr val="287BA8"/>
                </a:solidFill>
                <a:latin typeface="Calibri"/>
                <a:ea typeface="Calibri"/>
                <a:cs typeface="Calibri"/>
              </a:defRPr>
            </a:lvl3pPr>
            <a:lvl4pPr>
              <a:defRPr sz="1875" b="0">
                <a:solidFill>
                  <a:srgbClr val="287BA8"/>
                </a:solidFill>
                <a:latin typeface="Calibri"/>
                <a:ea typeface="Calibri"/>
                <a:cs typeface="Calibri"/>
              </a:defRPr>
            </a:lvl4pPr>
            <a:lvl5pPr>
              <a:defRPr sz="1875" b="0">
                <a:solidFill>
                  <a:srgbClr val="287BA8"/>
                </a:solidFill>
                <a:latin typeface="Calibri"/>
                <a:ea typeface="Calibri"/>
                <a:cs typeface="Calibri"/>
              </a:defRPr>
            </a:lvl5pPr>
            <a:lvl6pPr>
              <a:defRPr sz="1875" b="0">
                <a:solidFill>
                  <a:srgbClr val="287BA8"/>
                </a:solidFill>
                <a:latin typeface="Calibri"/>
                <a:ea typeface="Calibri"/>
                <a:cs typeface="Calibri"/>
              </a:defRPr>
            </a:lvl6pPr>
            <a:lvl7pPr>
              <a:defRPr sz="1875" b="0">
                <a:solidFill>
                  <a:srgbClr val="287BA8"/>
                </a:solidFill>
                <a:latin typeface="Calibri"/>
                <a:ea typeface="Calibri"/>
                <a:cs typeface="Calibri"/>
              </a:defRPr>
            </a:lvl7pPr>
            <a:lvl8pPr>
              <a:defRPr sz="1875" b="0">
                <a:solidFill>
                  <a:srgbClr val="287BA8"/>
                </a:solidFill>
                <a:latin typeface="Calibri"/>
                <a:ea typeface="Calibri"/>
                <a:cs typeface="Calibri"/>
              </a:defRPr>
            </a:lvl8pPr>
            <a:lvl9pPr>
              <a:defRPr sz="1875" b="0">
                <a:solidFill>
                  <a:srgbClr val="287BA8"/>
                </a:solidFill>
                <a:latin typeface="Calibri"/>
                <a:ea typeface="Calibri"/>
                <a:cs typeface="Calibri"/>
              </a:defRPr>
            </a:lvl9pPr>
          </a:lstStyle>
          <a:p xmlns:a="http://schemas.openxmlformats.org/drawingml/2006/main">
            <a:pPr>
              <a:defRPr sz="1875" b="0">
                <a:solidFill>
                  <a:srgbClr val="287BA8"/>
                </a:solidFill>
                <a:latin typeface="Calibri"/>
                <a:ea typeface="Calibri"/>
                <a:cs typeface="Calibri"/>
              </a:defRPr>
            </a:pPr>
            <a:r>
              <a:rPr sz="1875" b="0">
                <a:solidFill>
                  <a:srgbClr val="287BA8"/>
                </a:solidFill>
                <a:latin typeface="Calibri"/>
                <a:ea typeface="Calibri"/>
                <a:cs typeface="Calibri"/>
              </a:rPr>
              <a:t>Cohort and model year  →  driver bridge  →  evidence check  →  analyst review</a:t>
            </a:r>
          </a:p>
        </p:txBody>
      </p:sp>
    </p:spTree>
    <p:extLst>
      <p:ext uri="{BB962C8B-B14F-4D97-AF65-F5344CB8AC3E}">
        <p14:creationId xmlns:p14="http://schemas.microsoft.com/office/powerpoint/2010/main" val="16721755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Roadmap and decision gates</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Each stage produces a useful result and a clear decision about the next investment.</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Timing depends on data access, chart rights and security approval.</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E61FEBA8-120B-49A1-A7FA-4D10134152A6}"/>
              </a:ext>
            </a:extLst>
          </p:cNvPr>
          <p:cNvSpPr>
            <a:spLocks xmlns:a="http://schemas.openxmlformats.org/drawingml/2006/main" noGrp="1"/>
          </p:cNvSpPr>
          <p:nvPr/>
        </p:nvSpPr>
        <p:spPr>
          <a:xfrm xmlns:a="http://schemas.openxmlformats.org/drawingml/2006/main">
            <a:off x="476250" y="1647825"/>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479754"/>
                </a:solidFill>
                <a:latin typeface="Calibri"/>
                <a:ea typeface="Calibri"/>
                <a:cs typeface="Calibri"/>
              </a:defRPr>
            </a:defPPr>
            <a:lvl1pPr>
              <a:defRPr sz="1950" b="1">
                <a:solidFill>
                  <a:srgbClr val="479754"/>
                </a:solidFill>
                <a:latin typeface="Calibri"/>
                <a:ea typeface="Calibri"/>
                <a:cs typeface="Calibri"/>
              </a:defRPr>
            </a:lvl1pPr>
            <a:lvl2pPr>
              <a:defRPr sz="1950" b="1">
                <a:solidFill>
                  <a:srgbClr val="479754"/>
                </a:solidFill>
                <a:latin typeface="Calibri"/>
                <a:ea typeface="Calibri"/>
                <a:cs typeface="Calibri"/>
              </a:defRPr>
            </a:lvl2pPr>
            <a:lvl3pPr>
              <a:defRPr sz="1950" b="1">
                <a:solidFill>
                  <a:srgbClr val="479754"/>
                </a:solidFill>
                <a:latin typeface="Calibri"/>
                <a:ea typeface="Calibri"/>
                <a:cs typeface="Calibri"/>
              </a:defRPr>
            </a:lvl3pPr>
            <a:lvl4pPr>
              <a:defRPr sz="1950" b="1">
                <a:solidFill>
                  <a:srgbClr val="479754"/>
                </a:solidFill>
                <a:latin typeface="Calibri"/>
                <a:ea typeface="Calibri"/>
                <a:cs typeface="Calibri"/>
              </a:defRPr>
            </a:lvl4pPr>
            <a:lvl5pPr>
              <a:defRPr sz="1950" b="1">
                <a:solidFill>
                  <a:srgbClr val="479754"/>
                </a:solidFill>
                <a:latin typeface="Calibri"/>
                <a:ea typeface="Calibri"/>
                <a:cs typeface="Calibri"/>
              </a:defRPr>
            </a:lvl5pPr>
            <a:lvl6pPr>
              <a:defRPr sz="1950" b="1">
                <a:solidFill>
                  <a:srgbClr val="479754"/>
                </a:solidFill>
                <a:latin typeface="Calibri"/>
                <a:ea typeface="Calibri"/>
                <a:cs typeface="Calibri"/>
              </a:defRPr>
            </a:lvl6pPr>
            <a:lvl7pPr>
              <a:defRPr sz="1950" b="1">
                <a:solidFill>
                  <a:srgbClr val="479754"/>
                </a:solidFill>
                <a:latin typeface="Calibri"/>
                <a:ea typeface="Calibri"/>
                <a:cs typeface="Calibri"/>
              </a:defRPr>
            </a:lvl7pPr>
            <a:lvl8pPr>
              <a:defRPr sz="1950" b="1">
                <a:solidFill>
                  <a:srgbClr val="479754"/>
                </a:solidFill>
                <a:latin typeface="Calibri"/>
                <a:ea typeface="Calibri"/>
                <a:cs typeface="Calibri"/>
              </a:defRPr>
            </a:lvl8pPr>
            <a:lvl9pPr>
              <a:defRPr sz="1950" b="1">
                <a:solidFill>
                  <a:srgbClr val="479754"/>
                </a:solidFill>
                <a:latin typeface="Calibri"/>
                <a:ea typeface="Calibri"/>
                <a:cs typeface="Calibri"/>
              </a:defRPr>
            </a:lvl9pPr>
          </a:lstStyle>
          <a:p xmlns:a="http://schemas.openxmlformats.org/drawingml/2006/main">
            <a:pPr>
              <a:defRPr sz="1950" b="1">
                <a:solidFill>
                  <a:srgbClr val="479754"/>
                </a:solidFill>
                <a:latin typeface="Calibri"/>
                <a:ea typeface="Calibri"/>
                <a:cs typeface="Calibri"/>
              </a:defRPr>
            </a:pPr>
            <a:r>
              <a:rPr sz="1950" b="1">
                <a:solidFill>
                  <a:srgbClr val="479754"/>
                </a:solidFill>
                <a:latin typeface="Calibri"/>
                <a:ea typeface="Calibri"/>
                <a:cs typeface="Calibri"/>
              </a:rPr>
              <a:t>1  Prove</a:t>
            </a:r>
          </a:p>
        </p:txBody>
      </p:sp>
      <p:sp>
        <p:nvSpPr>
          <p:cNvPr id="29" name="">
            <a:extLst xmlns:a="http://schemas.openxmlformats.org/drawingml/2006/main">
              <a:ext uri="{FF2B5EF4-FFF2-40B4-BE49-F238E27FC236}">
                <a16:creationId xmlns:a16="http://schemas.microsoft.com/office/drawing/2014/main" id="{BC934469-39D7-49AA-9182-1FA192B7D34E}"/>
              </a:ext>
            </a:extLst>
          </p:cNvPr>
          <p:cNvSpPr>
            <a:spLocks xmlns:a="http://schemas.openxmlformats.org/drawingml/2006/main" noGrp="1"/>
          </p:cNvSpPr>
          <p:nvPr/>
        </p:nvSpPr>
        <p:spPr>
          <a:xfrm xmlns:a="http://schemas.openxmlformats.org/drawingml/2006/main">
            <a:off x="2524125" y="16478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Known answers, chart sample and pilot metric definitions</a:t>
            </a:r>
          </a:p>
        </p:txBody>
      </p:sp>
      <p:sp>
        <p:nvSpPr>
          <p:cNvPr id="30" name="">
            <a:extLst xmlns:a="http://schemas.openxmlformats.org/drawingml/2006/main">
              <a:ext uri="{FF2B5EF4-FFF2-40B4-BE49-F238E27FC236}">
                <a16:creationId xmlns:a16="http://schemas.microsoft.com/office/drawing/2014/main" id="{ACD05647-9006-4FF0-9686-64FFF20CF0EC}"/>
              </a:ext>
            </a:extLst>
          </p:cNvPr>
          <p:cNvSpPr>
            <a:spLocks xmlns:a="http://schemas.openxmlformats.org/drawingml/2006/main" noGrp="1"/>
          </p:cNvSpPr>
          <p:nvPr/>
        </p:nvSpPr>
        <p:spPr>
          <a:xfrm xmlns:a="http://schemas.openxmlformats.org/drawingml/2006/main">
            <a:off x="8524875" y="164782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6636C"/>
                </a:solidFill>
                <a:latin typeface="Calibri"/>
                <a:ea typeface="Calibri"/>
                <a:cs typeface="Calibri"/>
              </a:defRPr>
            </a:defPPr>
            <a:lvl1pPr>
              <a:defRPr sz="1500" b="0">
                <a:solidFill>
                  <a:srgbClr val="56636C"/>
                </a:solidFill>
                <a:latin typeface="Calibri"/>
                <a:ea typeface="Calibri"/>
                <a:cs typeface="Calibri"/>
              </a:defRPr>
            </a:lvl1pPr>
            <a:lvl2pPr>
              <a:defRPr sz="1500" b="0">
                <a:solidFill>
                  <a:srgbClr val="56636C"/>
                </a:solidFill>
                <a:latin typeface="Calibri"/>
                <a:ea typeface="Calibri"/>
                <a:cs typeface="Calibri"/>
              </a:defRPr>
            </a:lvl2pPr>
            <a:lvl3pPr>
              <a:defRPr sz="1500" b="0">
                <a:solidFill>
                  <a:srgbClr val="56636C"/>
                </a:solidFill>
                <a:latin typeface="Calibri"/>
                <a:ea typeface="Calibri"/>
                <a:cs typeface="Calibri"/>
              </a:defRPr>
            </a:lvl3pPr>
            <a:lvl4pPr>
              <a:defRPr sz="1500" b="0">
                <a:solidFill>
                  <a:srgbClr val="56636C"/>
                </a:solidFill>
                <a:latin typeface="Calibri"/>
                <a:ea typeface="Calibri"/>
                <a:cs typeface="Calibri"/>
              </a:defRPr>
            </a:lvl4pPr>
            <a:lvl5pPr>
              <a:defRPr sz="1500" b="0">
                <a:solidFill>
                  <a:srgbClr val="56636C"/>
                </a:solidFill>
                <a:latin typeface="Calibri"/>
                <a:ea typeface="Calibri"/>
                <a:cs typeface="Calibri"/>
              </a:defRPr>
            </a:lvl5pPr>
            <a:lvl6pPr>
              <a:defRPr sz="1500" b="0">
                <a:solidFill>
                  <a:srgbClr val="56636C"/>
                </a:solidFill>
                <a:latin typeface="Calibri"/>
                <a:ea typeface="Calibri"/>
                <a:cs typeface="Calibri"/>
              </a:defRPr>
            </a:lvl6pPr>
            <a:lvl7pPr>
              <a:defRPr sz="1500" b="0">
                <a:solidFill>
                  <a:srgbClr val="56636C"/>
                </a:solidFill>
                <a:latin typeface="Calibri"/>
                <a:ea typeface="Calibri"/>
                <a:cs typeface="Calibri"/>
              </a:defRPr>
            </a:lvl7pPr>
            <a:lvl8pPr>
              <a:defRPr sz="1500" b="0">
                <a:solidFill>
                  <a:srgbClr val="56636C"/>
                </a:solidFill>
                <a:latin typeface="Calibri"/>
                <a:ea typeface="Calibri"/>
                <a:cs typeface="Calibri"/>
              </a:defRPr>
            </a:lvl8pPr>
            <a:lvl9pPr>
              <a:defRPr sz="1500" b="0">
                <a:solidFill>
                  <a:srgbClr val="56636C"/>
                </a:solidFill>
                <a:latin typeface="Calibri"/>
                <a:ea typeface="Calibri"/>
                <a:cs typeface="Calibri"/>
              </a:defRPr>
            </a:lvl9pPr>
          </a:lstStyle>
          <a:p xmlns:a="http://schemas.openxmlformats.org/drawingml/2006/main">
            <a:pPr>
              <a:defRPr sz="1500" b="0">
                <a:solidFill>
                  <a:srgbClr val="56636C"/>
                </a:solidFill>
                <a:latin typeface="Calibri"/>
                <a:ea typeface="Calibri"/>
                <a:cs typeface="Calibri"/>
              </a:defRPr>
            </a:pPr>
            <a:r>
              <a:rPr sz="1500" b="0">
                <a:solidFill>
                  <a:srgbClr val="56636C"/>
                </a:solidFill>
                <a:latin typeface="Calibri"/>
                <a:ea typeface="Calibri"/>
                <a:cs typeface="Calibri"/>
              </a:rPr>
              <a:t>Accuracy and time versus current work</a:t>
            </a:r>
          </a:p>
        </p:txBody>
      </p:sp>
      <p:sp>
        <p:nvSpPr>
          <p:cNvPr id="31" name="">
            <a:extLst xmlns:a="http://schemas.openxmlformats.org/drawingml/2006/main">
              <a:ext uri="{FF2B5EF4-FFF2-40B4-BE49-F238E27FC236}">
                <a16:creationId xmlns:a16="http://schemas.microsoft.com/office/drawing/2014/main" id="{DD9B3494-3631-4A58-BCC6-FB55C59F44D2}"/>
              </a:ext>
            </a:extLst>
          </p:cNvPr>
          <p:cNvSpPr>
            <a:spLocks xmlns:a="http://schemas.openxmlformats.org/drawingml/2006/main" noGrp="1"/>
          </p:cNvSpPr>
          <p:nvPr/>
        </p:nvSpPr>
        <p:spPr>
          <a:xfrm xmlns:a="http://schemas.openxmlformats.org/drawingml/2006/main">
            <a:off x="428625" y="2447925"/>
            <a:ext cx="11239500" cy="19050"/>
          </a:xfrm>
          <a:prstGeom xmlns:a="http://schemas.openxmlformats.org/drawingml/2006/main" prst="rect">
            <a:avLst/>
          </a:prstGeom>
          <a:solidFill xmlns:a="http://schemas.openxmlformats.org/drawingml/2006/main">
            <a:srgbClr val="D9E1E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2BF63EF-FDEB-410D-B03D-91FB29F19610}"/>
              </a:ext>
            </a:extLst>
          </p:cNvPr>
          <p:cNvSpPr>
            <a:spLocks xmlns:a="http://schemas.openxmlformats.org/drawingml/2006/main" noGrp="1"/>
          </p:cNvSpPr>
          <p:nvPr/>
        </p:nvSpPr>
        <p:spPr>
          <a:xfrm xmlns:a="http://schemas.openxmlformats.org/drawingml/2006/main">
            <a:off x="476250" y="2638425"/>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479754"/>
                </a:solidFill>
                <a:latin typeface="Calibri"/>
                <a:ea typeface="Calibri"/>
                <a:cs typeface="Calibri"/>
              </a:defRPr>
            </a:defPPr>
            <a:lvl1pPr>
              <a:defRPr sz="1950" b="1">
                <a:solidFill>
                  <a:srgbClr val="479754"/>
                </a:solidFill>
                <a:latin typeface="Calibri"/>
                <a:ea typeface="Calibri"/>
                <a:cs typeface="Calibri"/>
              </a:defRPr>
            </a:lvl1pPr>
            <a:lvl2pPr>
              <a:defRPr sz="1950" b="1">
                <a:solidFill>
                  <a:srgbClr val="479754"/>
                </a:solidFill>
                <a:latin typeface="Calibri"/>
                <a:ea typeface="Calibri"/>
                <a:cs typeface="Calibri"/>
              </a:defRPr>
            </a:lvl2pPr>
            <a:lvl3pPr>
              <a:defRPr sz="1950" b="1">
                <a:solidFill>
                  <a:srgbClr val="479754"/>
                </a:solidFill>
                <a:latin typeface="Calibri"/>
                <a:ea typeface="Calibri"/>
                <a:cs typeface="Calibri"/>
              </a:defRPr>
            </a:lvl3pPr>
            <a:lvl4pPr>
              <a:defRPr sz="1950" b="1">
                <a:solidFill>
                  <a:srgbClr val="479754"/>
                </a:solidFill>
                <a:latin typeface="Calibri"/>
                <a:ea typeface="Calibri"/>
                <a:cs typeface="Calibri"/>
              </a:defRPr>
            </a:lvl4pPr>
            <a:lvl5pPr>
              <a:defRPr sz="1950" b="1">
                <a:solidFill>
                  <a:srgbClr val="479754"/>
                </a:solidFill>
                <a:latin typeface="Calibri"/>
                <a:ea typeface="Calibri"/>
                <a:cs typeface="Calibri"/>
              </a:defRPr>
            </a:lvl5pPr>
            <a:lvl6pPr>
              <a:defRPr sz="1950" b="1">
                <a:solidFill>
                  <a:srgbClr val="479754"/>
                </a:solidFill>
                <a:latin typeface="Calibri"/>
                <a:ea typeface="Calibri"/>
                <a:cs typeface="Calibri"/>
              </a:defRPr>
            </a:lvl6pPr>
            <a:lvl7pPr>
              <a:defRPr sz="1950" b="1">
                <a:solidFill>
                  <a:srgbClr val="479754"/>
                </a:solidFill>
                <a:latin typeface="Calibri"/>
                <a:ea typeface="Calibri"/>
                <a:cs typeface="Calibri"/>
              </a:defRPr>
            </a:lvl7pPr>
            <a:lvl8pPr>
              <a:defRPr sz="1950" b="1">
                <a:solidFill>
                  <a:srgbClr val="479754"/>
                </a:solidFill>
                <a:latin typeface="Calibri"/>
                <a:ea typeface="Calibri"/>
                <a:cs typeface="Calibri"/>
              </a:defRPr>
            </a:lvl8pPr>
            <a:lvl9pPr>
              <a:defRPr sz="1950" b="1">
                <a:solidFill>
                  <a:srgbClr val="479754"/>
                </a:solidFill>
                <a:latin typeface="Calibri"/>
                <a:ea typeface="Calibri"/>
                <a:cs typeface="Calibri"/>
              </a:defRPr>
            </a:lvl9pPr>
          </a:lstStyle>
          <a:p xmlns:a="http://schemas.openxmlformats.org/drawingml/2006/main">
            <a:pPr>
              <a:defRPr sz="1950" b="1">
                <a:solidFill>
                  <a:srgbClr val="479754"/>
                </a:solidFill>
                <a:latin typeface="Calibri"/>
                <a:ea typeface="Calibri"/>
                <a:cs typeface="Calibri"/>
              </a:defRPr>
            </a:pPr>
            <a:r>
              <a:rPr sz="1950" b="1">
                <a:solidFill>
                  <a:srgbClr val="479754"/>
                </a:solidFill>
                <a:latin typeface="Calibri"/>
                <a:ea typeface="Calibri"/>
                <a:cs typeface="Calibri"/>
              </a:rPr>
              <a:t>2  Connect</a:t>
            </a:r>
          </a:p>
        </p:txBody>
      </p:sp>
      <p:sp>
        <p:nvSpPr>
          <p:cNvPr id="33" name="">
            <a:extLst xmlns:a="http://schemas.openxmlformats.org/drawingml/2006/main">
              <a:ext uri="{FF2B5EF4-FFF2-40B4-BE49-F238E27FC236}">
                <a16:creationId xmlns:a16="http://schemas.microsoft.com/office/drawing/2014/main" id="{045DFAE6-13D4-4124-BF2E-C5F2146D3BCF}"/>
              </a:ext>
            </a:extLst>
          </p:cNvPr>
          <p:cNvSpPr>
            <a:spLocks xmlns:a="http://schemas.openxmlformats.org/drawingml/2006/main" noGrp="1"/>
          </p:cNvSpPr>
          <p:nvPr/>
        </p:nvSpPr>
        <p:spPr>
          <a:xfrm xmlns:a="http://schemas.openxmlformats.org/drawingml/2006/main">
            <a:off x="2524125" y="26384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Read-only data, certified measures and approved flows</a:t>
            </a:r>
          </a:p>
        </p:txBody>
      </p:sp>
      <p:sp>
        <p:nvSpPr>
          <p:cNvPr id="34" name="">
            <a:extLst xmlns:a="http://schemas.openxmlformats.org/drawingml/2006/main">
              <a:ext uri="{FF2B5EF4-FFF2-40B4-BE49-F238E27FC236}">
                <a16:creationId xmlns:a16="http://schemas.microsoft.com/office/drawing/2014/main" id="{DAC850BF-349A-4E97-A8D3-BB76B7F28972}"/>
              </a:ext>
            </a:extLst>
          </p:cNvPr>
          <p:cNvSpPr>
            <a:spLocks xmlns:a="http://schemas.openxmlformats.org/drawingml/2006/main" noGrp="1"/>
          </p:cNvSpPr>
          <p:nvPr/>
        </p:nvSpPr>
        <p:spPr>
          <a:xfrm xmlns:a="http://schemas.openxmlformats.org/drawingml/2006/main">
            <a:off x="8524875" y="263842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6636C"/>
                </a:solidFill>
                <a:latin typeface="Calibri"/>
                <a:ea typeface="Calibri"/>
                <a:cs typeface="Calibri"/>
              </a:defRPr>
            </a:defPPr>
            <a:lvl1pPr>
              <a:defRPr sz="1500" b="0">
                <a:solidFill>
                  <a:srgbClr val="56636C"/>
                </a:solidFill>
                <a:latin typeface="Calibri"/>
                <a:ea typeface="Calibri"/>
                <a:cs typeface="Calibri"/>
              </a:defRPr>
            </a:lvl1pPr>
            <a:lvl2pPr>
              <a:defRPr sz="1500" b="0">
                <a:solidFill>
                  <a:srgbClr val="56636C"/>
                </a:solidFill>
                <a:latin typeface="Calibri"/>
                <a:ea typeface="Calibri"/>
                <a:cs typeface="Calibri"/>
              </a:defRPr>
            </a:lvl2pPr>
            <a:lvl3pPr>
              <a:defRPr sz="1500" b="0">
                <a:solidFill>
                  <a:srgbClr val="56636C"/>
                </a:solidFill>
                <a:latin typeface="Calibri"/>
                <a:ea typeface="Calibri"/>
                <a:cs typeface="Calibri"/>
              </a:defRPr>
            </a:lvl3pPr>
            <a:lvl4pPr>
              <a:defRPr sz="1500" b="0">
                <a:solidFill>
                  <a:srgbClr val="56636C"/>
                </a:solidFill>
                <a:latin typeface="Calibri"/>
                <a:ea typeface="Calibri"/>
                <a:cs typeface="Calibri"/>
              </a:defRPr>
            </a:lvl4pPr>
            <a:lvl5pPr>
              <a:defRPr sz="1500" b="0">
                <a:solidFill>
                  <a:srgbClr val="56636C"/>
                </a:solidFill>
                <a:latin typeface="Calibri"/>
                <a:ea typeface="Calibri"/>
                <a:cs typeface="Calibri"/>
              </a:defRPr>
            </a:lvl5pPr>
            <a:lvl6pPr>
              <a:defRPr sz="1500" b="0">
                <a:solidFill>
                  <a:srgbClr val="56636C"/>
                </a:solidFill>
                <a:latin typeface="Calibri"/>
                <a:ea typeface="Calibri"/>
                <a:cs typeface="Calibri"/>
              </a:defRPr>
            </a:lvl6pPr>
            <a:lvl7pPr>
              <a:defRPr sz="1500" b="0">
                <a:solidFill>
                  <a:srgbClr val="56636C"/>
                </a:solidFill>
                <a:latin typeface="Calibri"/>
                <a:ea typeface="Calibri"/>
                <a:cs typeface="Calibri"/>
              </a:defRPr>
            </a:lvl7pPr>
            <a:lvl8pPr>
              <a:defRPr sz="1500" b="0">
                <a:solidFill>
                  <a:srgbClr val="56636C"/>
                </a:solidFill>
                <a:latin typeface="Calibri"/>
                <a:ea typeface="Calibri"/>
                <a:cs typeface="Calibri"/>
              </a:defRPr>
            </a:lvl8pPr>
            <a:lvl9pPr>
              <a:defRPr sz="1500" b="0">
                <a:solidFill>
                  <a:srgbClr val="56636C"/>
                </a:solidFill>
                <a:latin typeface="Calibri"/>
                <a:ea typeface="Calibri"/>
                <a:cs typeface="Calibri"/>
              </a:defRPr>
            </a:lvl9pPr>
          </a:lstStyle>
          <a:p xmlns:a="http://schemas.openxmlformats.org/drawingml/2006/main">
            <a:pPr>
              <a:defRPr sz="1500" b="0">
                <a:solidFill>
                  <a:srgbClr val="56636C"/>
                </a:solidFill>
                <a:latin typeface="Calibri"/>
                <a:ea typeface="Calibri"/>
                <a:cs typeface="Calibri"/>
              </a:defRPr>
            </a:pPr>
            <a:r>
              <a:rPr sz="1500" b="0">
                <a:solidFill>
                  <a:srgbClr val="56636C"/>
                </a:solidFill>
                <a:latin typeface="Calibri"/>
                <a:ea typeface="Calibri"/>
                <a:cs typeface="Calibri"/>
              </a:rPr>
              <a:t>PHI/security sign-off and unit cost</a:t>
            </a:r>
          </a:p>
        </p:txBody>
      </p:sp>
      <p:sp>
        <p:nvSpPr>
          <p:cNvPr id="35" name="">
            <a:extLst xmlns:a="http://schemas.openxmlformats.org/drawingml/2006/main">
              <a:ext uri="{FF2B5EF4-FFF2-40B4-BE49-F238E27FC236}">
                <a16:creationId xmlns:a16="http://schemas.microsoft.com/office/drawing/2014/main" id="{629C28EB-0A12-41A7-9367-39BE866C8A91}"/>
              </a:ext>
            </a:extLst>
          </p:cNvPr>
          <p:cNvSpPr>
            <a:spLocks xmlns:a="http://schemas.openxmlformats.org/drawingml/2006/main" noGrp="1"/>
          </p:cNvSpPr>
          <p:nvPr/>
        </p:nvSpPr>
        <p:spPr>
          <a:xfrm xmlns:a="http://schemas.openxmlformats.org/drawingml/2006/main">
            <a:off x="428625" y="3438525"/>
            <a:ext cx="11239500" cy="19050"/>
          </a:xfrm>
          <a:prstGeom xmlns:a="http://schemas.openxmlformats.org/drawingml/2006/main" prst="rect">
            <a:avLst/>
          </a:prstGeom>
          <a:solidFill xmlns:a="http://schemas.openxmlformats.org/drawingml/2006/main">
            <a:srgbClr val="D9E1E5"/>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14255AF-8B3B-49FF-9A47-A0A7D8E73011}"/>
              </a:ext>
            </a:extLst>
          </p:cNvPr>
          <p:cNvSpPr>
            <a:spLocks xmlns:a="http://schemas.openxmlformats.org/drawingml/2006/main" noGrp="1"/>
          </p:cNvSpPr>
          <p:nvPr/>
        </p:nvSpPr>
        <p:spPr>
          <a:xfrm xmlns:a="http://schemas.openxmlformats.org/drawingml/2006/main">
            <a:off x="476250" y="3629025"/>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87BA8"/>
                </a:solidFill>
                <a:latin typeface="Calibri"/>
                <a:ea typeface="Calibri"/>
                <a:cs typeface="Calibri"/>
              </a:defRPr>
            </a:defPPr>
            <a:lvl1pPr>
              <a:defRPr sz="1950" b="1">
                <a:solidFill>
                  <a:srgbClr val="287BA8"/>
                </a:solidFill>
                <a:latin typeface="Calibri"/>
                <a:ea typeface="Calibri"/>
                <a:cs typeface="Calibri"/>
              </a:defRPr>
            </a:lvl1pPr>
            <a:lvl2pPr>
              <a:defRPr sz="1950" b="1">
                <a:solidFill>
                  <a:srgbClr val="287BA8"/>
                </a:solidFill>
                <a:latin typeface="Calibri"/>
                <a:ea typeface="Calibri"/>
                <a:cs typeface="Calibri"/>
              </a:defRPr>
            </a:lvl2pPr>
            <a:lvl3pPr>
              <a:defRPr sz="1950" b="1">
                <a:solidFill>
                  <a:srgbClr val="287BA8"/>
                </a:solidFill>
                <a:latin typeface="Calibri"/>
                <a:ea typeface="Calibri"/>
                <a:cs typeface="Calibri"/>
              </a:defRPr>
            </a:lvl3pPr>
            <a:lvl4pPr>
              <a:defRPr sz="1950" b="1">
                <a:solidFill>
                  <a:srgbClr val="287BA8"/>
                </a:solidFill>
                <a:latin typeface="Calibri"/>
                <a:ea typeface="Calibri"/>
                <a:cs typeface="Calibri"/>
              </a:defRPr>
            </a:lvl4pPr>
            <a:lvl5pPr>
              <a:defRPr sz="1950" b="1">
                <a:solidFill>
                  <a:srgbClr val="287BA8"/>
                </a:solidFill>
                <a:latin typeface="Calibri"/>
                <a:ea typeface="Calibri"/>
                <a:cs typeface="Calibri"/>
              </a:defRPr>
            </a:lvl5pPr>
            <a:lvl6pPr>
              <a:defRPr sz="1950" b="1">
                <a:solidFill>
                  <a:srgbClr val="287BA8"/>
                </a:solidFill>
                <a:latin typeface="Calibri"/>
                <a:ea typeface="Calibri"/>
                <a:cs typeface="Calibri"/>
              </a:defRPr>
            </a:lvl6pPr>
            <a:lvl7pPr>
              <a:defRPr sz="1950" b="1">
                <a:solidFill>
                  <a:srgbClr val="287BA8"/>
                </a:solidFill>
                <a:latin typeface="Calibri"/>
                <a:ea typeface="Calibri"/>
                <a:cs typeface="Calibri"/>
              </a:defRPr>
            </a:lvl7pPr>
            <a:lvl8pPr>
              <a:defRPr sz="1950" b="1">
                <a:solidFill>
                  <a:srgbClr val="287BA8"/>
                </a:solidFill>
                <a:latin typeface="Calibri"/>
                <a:ea typeface="Calibri"/>
                <a:cs typeface="Calibri"/>
              </a:defRPr>
            </a:lvl8pPr>
            <a:lvl9pPr>
              <a:defRPr sz="1950" b="1">
                <a:solidFill>
                  <a:srgbClr val="287BA8"/>
                </a:solidFill>
                <a:latin typeface="Calibri"/>
                <a:ea typeface="Calibri"/>
                <a:cs typeface="Calibri"/>
              </a:defRPr>
            </a:lvl9pPr>
          </a:lstStyle>
          <a:p xmlns:a="http://schemas.openxmlformats.org/drawingml/2006/main">
            <a:pPr>
              <a:defRPr sz="1950" b="1">
                <a:solidFill>
                  <a:srgbClr val="287BA8"/>
                </a:solidFill>
                <a:latin typeface="Calibri"/>
                <a:ea typeface="Calibri"/>
                <a:cs typeface="Calibri"/>
              </a:defRPr>
            </a:pPr>
            <a:r>
              <a:rPr sz="1950" b="1">
                <a:solidFill>
                  <a:srgbClr val="287BA8"/>
                </a:solidFill>
                <a:latin typeface="Calibri"/>
                <a:ea typeface="Calibri"/>
                <a:cs typeface="Calibri"/>
              </a:rPr>
              <a:t>3  Operate</a:t>
            </a:r>
          </a:p>
        </p:txBody>
      </p:sp>
      <p:sp>
        <p:nvSpPr>
          <p:cNvPr id="37" name="">
            <a:extLst xmlns:a="http://schemas.openxmlformats.org/drawingml/2006/main">
              <a:ext uri="{FF2B5EF4-FFF2-40B4-BE49-F238E27FC236}">
                <a16:creationId xmlns:a16="http://schemas.microsoft.com/office/drawing/2014/main" id="{EBB39847-D4C1-435E-9473-36C6431AF184}"/>
              </a:ext>
            </a:extLst>
          </p:cNvPr>
          <p:cNvSpPr>
            <a:spLocks xmlns:a="http://schemas.openxmlformats.org/drawingml/2006/main" noGrp="1"/>
          </p:cNvSpPr>
          <p:nvPr/>
        </p:nvSpPr>
        <p:spPr>
          <a:xfrm xmlns:a="http://schemas.openxmlformats.org/drawingml/2006/main">
            <a:off x="2524125" y="36290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Expand certified measures; reviewer queue; monitored use</a:t>
            </a:r>
          </a:p>
        </p:txBody>
      </p:sp>
      <p:sp>
        <p:nvSpPr>
          <p:cNvPr id="38" name="">
            <a:extLst xmlns:a="http://schemas.openxmlformats.org/drawingml/2006/main">
              <a:ext uri="{FF2B5EF4-FFF2-40B4-BE49-F238E27FC236}">
                <a16:creationId xmlns:a16="http://schemas.microsoft.com/office/drawing/2014/main" id="{019AA72E-A025-46E4-AB19-5154278A7A06}"/>
              </a:ext>
            </a:extLst>
          </p:cNvPr>
          <p:cNvSpPr>
            <a:spLocks xmlns:a="http://schemas.openxmlformats.org/drawingml/2006/main" noGrp="1"/>
          </p:cNvSpPr>
          <p:nvPr/>
        </p:nvSpPr>
        <p:spPr>
          <a:xfrm xmlns:a="http://schemas.openxmlformats.org/drawingml/2006/main">
            <a:off x="8524875" y="362902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6636C"/>
                </a:solidFill>
                <a:latin typeface="Calibri"/>
                <a:ea typeface="Calibri"/>
                <a:cs typeface="Calibri"/>
              </a:defRPr>
            </a:defPPr>
            <a:lvl1pPr>
              <a:defRPr sz="1500" b="0">
                <a:solidFill>
                  <a:srgbClr val="56636C"/>
                </a:solidFill>
                <a:latin typeface="Calibri"/>
                <a:ea typeface="Calibri"/>
                <a:cs typeface="Calibri"/>
              </a:defRPr>
            </a:lvl1pPr>
            <a:lvl2pPr>
              <a:defRPr sz="1500" b="0">
                <a:solidFill>
                  <a:srgbClr val="56636C"/>
                </a:solidFill>
                <a:latin typeface="Calibri"/>
                <a:ea typeface="Calibri"/>
                <a:cs typeface="Calibri"/>
              </a:defRPr>
            </a:lvl2pPr>
            <a:lvl3pPr>
              <a:defRPr sz="1500" b="0">
                <a:solidFill>
                  <a:srgbClr val="56636C"/>
                </a:solidFill>
                <a:latin typeface="Calibri"/>
                <a:ea typeface="Calibri"/>
                <a:cs typeface="Calibri"/>
              </a:defRPr>
            </a:lvl3pPr>
            <a:lvl4pPr>
              <a:defRPr sz="1500" b="0">
                <a:solidFill>
                  <a:srgbClr val="56636C"/>
                </a:solidFill>
                <a:latin typeface="Calibri"/>
                <a:ea typeface="Calibri"/>
                <a:cs typeface="Calibri"/>
              </a:defRPr>
            </a:lvl4pPr>
            <a:lvl5pPr>
              <a:defRPr sz="1500" b="0">
                <a:solidFill>
                  <a:srgbClr val="56636C"/>
                </a:solidFill>
                <a:latin typeface="Calibri"/>
                <a:ea typeface="Calibri"/>
                <a:cs typeface="Calibri"/>
              </a:defRPr>
            </a:lvl5pPr>
            <a:lvl6pPr>
              <a:defRPr sz="1500" b="0">
                <a:solidFill>
                  <a:srgbClr val="56636C"/>
                </a:solidFill>
                <a:latin typeface="Calibri"/>
                <a:ea typeface="Calibri"/>
                <a:cs typeface="Calibri"/>
              </a:defRPr>
            </a:lvl6pPr>
            <a:lvl7pPr>
              <a:defRPr sz="1500" b="0">
                <a:solidFill>
                  <a:srgbClr val="56636C"/>
                </a:solidFill>
                <a:latin typeface="Calibri"/>
                <a:ea typeface="Calibri"/>
                <a:cs typeface="Calibri"/>
              </a:defRPr>
            </a:lvl7pPr>
            <a:lvl8pPr>
              <a:defRPr sz="1500" b="0">
                <a:solidFill>
                  <a:srgbClr val="56636C"/>
                </a:solidFill>
                <a:latin typeface="Calibri"/>
                <a:ea typeface="Calibri"/>
                <a:cs typeface="Calibri"/>
              </a:defRPr>
            </a:lvl8pPr>
            <a:lvl9pPr>
              <a:defRPr sz="1500" b="0">
                <a:solidFill>
                  <a:srgbClr val="56636C"/>
                </a:solidFill>
                <a:latin typeface="Calibri"/>
                <a:ea typeface="Calibri"/>
                <a:cs typeface="Calibri"/>
              </a:defRPr>
            </a:lvl9pPr>
          </a:lstStyle>
          <a:p xmlns:a="http://schemas.openxmlformats.org/drawingml/2006/main">
            <a:pPr>
              <a:defRPr sz="1500" b="0">
                <a:solidFill>
                  <a:srgbClr val="56636C"/>
                </a:solidFill>
                <a:latin typeface="Calibri"/>
                <a:ea typeface="Calibri"/>
                <a:cs typeface="Calibri"/>
              </a:defRPr>
            </a:pPr>
            <a:r>
              <a:rPr sz="1500" b="0">
                <a:solidFill>
                  <a:srgbClr val="56636C"/>
                </a:solidFill>
                <a:latin typeface="Calibri"/>
                <a:ea typeface="Calibri"/>
                <a:cs typeface="Calibri"/>
              </a:rPr>
              <a:t>Support owner and measured business impact</a:t>
            </a:r>
          </a:p>
        </p:txBody>
      </p:sp>
      <p:sp>
        <p:nvSpPr>
          <p:cNvPr id="39" name="">
            <a:extLst xmlns:a="http://schemas.openxmlformats.org/drawingml/2006/main">
              <a:ext uri="{FF2B5EF4-FFF2-40B4-BE49-F238E27FC236}">
                <a16:creationId xmlns:a16="http://schemas.microsoft.com/office/drawing/2014/main" id="{A40E4160-3683-4E0D-ACC4-D3EDA2CDE029}"/>
              </a:ext>
            </a:extLst>
          </p:cNvPr>
          <p:cNvSpPr>
            <a:spLocks xmlns:a="http://schemas.openxmlformats.org/drawingml/2006/main" noGrp="1"/>
          </p:cNvSpPr>
          <p:nvPr/>
        </p:nvSpPr>
        <p:spPr>
          <a:xfrm xmlns:a="http://schemas.openxmlformats.org/drawingml/2006/main">
            <a:off x="428625" y="4429125"/>
            <a:ext cx="11239500" cy="19050"/>
          </a:xfrm>
          <a:prstGeom xmlns:a="http://schemas.openxmlformats.org/drawingml/2006/main" prst="rect">
            <a:avLst/>
          </a:prstGeom>
          <a:solidFill xmlns:a="http://schemas.openxmlformats.org/drawingml/2006/main">
            <a:srgbClr val="D9E1E5"/>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7C9EE4E-64D2-4DF0-9D87-C00CBA7201C5}"/>
              </a:ext>
            </a:extLst>
          </p:cNvPr>
          <p:cNvSpPr>
            <a:spLocks xmlns:a="http://schemas.openxmlformats.org/drawingml/2006/main" noGrp="1"/>
          </p:cNvSpPr>
          <p:nvPr/>
        </p:nvSpPr>
        <p:spPr>
          <a:xfrm xmlns:a="http://schemas.openxmlformats.org/drawingml/2006/main">
            <a:off x="476250" y="4619625"/>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87BA8"/>
                </a:solidFill>
                <a:latin typeface="Calibri"/>
                <a:ea typeface="Calibri"/>
                <a:cs typeface="Calibri"/>
              </a:defRPr>
            </a:defPPr>
            <a:lvl1pPr>
              <a:defRPr sz="1950" b="1">
                <a:solidFill>
                  <a:srgbClr val="287BA8"/>
                </a:solidFill>
                <a:latin typeface="Calibri"/>
                <a:ea typeface="Calibri"/>
                <a:cs typeface="Calibri"/>
              </a:defRPr>
            </a:lvl1pPr>
            <a:lvl2pPr>
              <a:defRPr sz="1950" b="1">
                <a:solidFill>
                  <a:srgbClr val="287BA8"/>
                </a:solidFill>
                <a:latin typeface="Calibri"/>
                <a:ea typeface="Calibri"/>
                <a:cs typeface="Calibri"/>
              </a:defRPr>
            </a:lvl2pPr>
            <a:lvl3pPr>
              <a:defRPr sz="1950" b="1">
                <a:solidFill>
                  <a:srgbClr val="287BA8"/>
                </a:solidFill>
                <a:latin typeface="Calibri"/>
                <a:ea typeface="Calibri"/>
                <a:cs typeface="Calibri"/>
              </a:defRPr>
            </a:lvl3pPr>
            <a:lvl4pPr>
              <a:defRPr sz="1950" b="1">
                <a:solidFill>
                  <a:srgbClr val="287BA8"/>
                </a:solidFill>
                <a:latin typeface="Calibri"/>
                <a:ea typeface="Calibri"/>
                <a:cs typeface="Calibri"/>
              </a:defRPr>
            </a:lvl4pPr>
            <a:lvl5pPr>
              <a:defRPr sz="1950" b="1">
                <a:solidFill>
                  <a:srgbClr val="287BA8"/>
                </a:solidFill>
                <a:latin typeface="Calibri"/>
                <a:ea typeface="Calibri"/>
                <a:cs typeface="Calibri"/>
              </a:defRPr>
            </a:lvl5pPr>
            <a:lvl6pPr>
              <a:defRPr sz="1950" b="1">
                <a:solidFill>
                  <a:srgbClr val="287BA8"/>
                </a:solidFill>
                <a:latin typeface="Calibri"/>
                <a:ea typeface="Calibri"/>
                <a:cs typeface="Calibri"/>
              </a:defRPr>
            </a:lvl6pPr>
            <a:lvl7pPr>
              <a:defRPr sz="1950" b="1">
                <a:solidFill>
                  <a:srgbClr val="287BA8"/>
                </a:solidFill>
                <a:latin typeface="Calibri"/>
                <a:ea typeface="Calibri"/>
                <a:cs typeface="Calibri"/>
              </a:defRPr>
            </a:lvl7pPr>
            <a:lvl8pPr>
              <a:defRPr sz="1950" b="1">
                <a:solidFill>
                  <a:srgbClr val="287BA8"/>
                </a:solidFill>
                <a:latin typeface="Calibri"/>
                <a:ea typeface="Calibri"/>
                <a:cs typeface="Calibri"/>
              </a:defRPr>
            </a:lvl8pPr>
            <a:lvl9pPr>
              <a:defRPr sz="1950" b="1">
                <a:solidFill>
                  <a:srgbClr val="287BA8"/>
                </a:solidFill>
                <a:latin typeface="Calibri"/>
                <a:ea typeface="Calibri"/>
                <a:cs typeface="Calibri"/>
              </a:defRPr>
            </a:lvl9pPr>
          </a:lstStyle>
          <a:p xmlns:a="http://schemas.openxmlformats.org/drawingml/2006/main">
            <a:pPr>
              <a:defRPr sz="1950" b="1">
                <a:solidFill>
                  <a:srgbClr val="287BA8"/>
                </a:solidFill>
                <a:latin typeface="Calibri"/>
                <a:ea typeface="Calibri"/>
                <a:cs typeface="Calibri"/>
              </a:defRPr>
            </a:pPr>
            <a:r>
              <a:rPr sz="1950" b="1">
                <a:solidFill>
                  <a:srgbClr val="287BA8"/>
                </a:solidFill>
                <a:latin typeface="Calibri"/>
                <a:ea typeface="Calibri"/>
                <a:cs typeface="Calibri"/>
              </a:rPr>
              <a:t>4  Extend</a:t>
            </a:r>
          </a:p>
        </p:txBody>
      </p:sp>
      <p:sp>
        <p:nvSpPr>
          <p:cNvPr id="41" name="">
            <a:extLst xmlns:a="http://schemas.openxmlformats.org/drawingml/2006/main">
              <a:ext uri="{FF2B5EF4-FFF2-40B4-BE49-F238E27FC236}">
                <a16:creationId xmlns:a16="http://schemas.microsoft.com/office/drawing/2014/main" id="{A5E35324-6D27-4402-9A44-0D0179F1906C}"/>
              </a:ext>
            </a:extLst>
          </p:cNvPr>
          <p:cNvSpPr>
            <a:spLocks xmlns:a="http://schemas.openxmlformats.org/drawingml/2006/main" noGrp="1"/>
          </p:cNvSpPr>
          <p:nvPr/>
        </p:nvSpPr>
        <p:spPr>
          <a:xfrm xmlns:a="http://schemas.openxmlformats.org/drawingml/2006/main">
            <a:off x="2524125" y="46196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Stars, provider workflows and approved alerts</a:t>
            </a:r>
          </a:p>
        </p:txBody>
      </p:sp>
      <p:sp>
        <p:nvSpPr>
          <p:cNvPr id="42" name="">
            <a:extLst xmlns:a="http://schemas.openxmlformats.org/drawingml/2006/main">
              <a:ext uri="{FF2B5EF4-FFF2-40B4-BE49-F238E27FC236}">
                <a16:creationId xmlns:a16="http://schemas.microsoft.com/office/drawing/2014/main" id="{CA8C454A-2C19-426C-9FE6-C0C88844A3A8}"/>
              </a:ext>
            </a:extLst>
          </p:cNvPr>
          <p:cNvSpPr>
            <a:spLocks xmlns:a="http://schemas.openxmlformats.org/drawingml/2006/main" noGrp="1"/>
          </p:cNvSpPr>
          <p:nvPr/>
        </p:nvSpPr>
        <p:spPr>
          <a:xfrm xmlns:a="http://schemas.openxmlformats.org/drawingml/2006/main">
            <a:off x="8524875" y="461962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6636C"/>
                </a:solidFill>
                <a:latin typeface="Calibri"/>
                <a:ea typeface="Calibri"/>
                <a:cs typeface="Calibri"/>
              </a:defRPr>
            </a:defPPr>
            <a:lvl1pPr>
              <a:defRPr sz="1500" b="0">
                <a:solidFill>
                  <a:srgbClr val="56636C"/>
                </a:solidFill>
                <a:latin typeface="Calibri"/>
                <a:ea typeface="Calibri"/>
                <a:cs typeface="Calibri"/>
              </a:defRPr>
            </a:lvl1pPr>
            <a:lvl2pPr>
              <a:defRPr sz="1500" b="0">
                <a:solidFill>
                  <a:srgbClr val="56636C"/>
                </a:solidFill>
                <a:latin typeface="Calibri"/>
                <a:ea typeface="Calibri"/>
                <a:cs typeface="Calibri"/>
              </a:defRPr>
            </a:lvl2pPr>
            <a:lvl3pPr>
              <a:defRPr sz="1500" b="0">
                <a:solidFill>
                  <a:srgbClr val="56636C"/>
                </a:solidFill>
                <a:latin typeface="Calibri"/>
                <a:ea typeface="Calibri"/>
                <a:cs typeface="Calibri"/>
              </a:defRPr>
            </a:lvl3pPr>
            <a:lvl4pPr>
              <a:defRPr sz="1500" b="0">
                <a:solidFill>
                  <a:srgbClr val="56636C"/>
                </a:solidFill>
                <a:latin typeface="Calibri"/>
                <a:ea typeface="Calibri"/>
                <a:cs typeface="Calibri"/>
              </a:defRPr>
            </a:lvl4pPr>
            <a:lvl5pPr>
              <a:defRPr sz="1500" b="0">
                <a:solidFill>
                  <a:srgbClr val="56636C"/>
                </a:solidFill>
                <a:latin typeface="Calibri"/>
                <a:ea typeface="Calibri"/>
                <a:cs typeface="Calibri"/>
              </a:defRPr>
            </a:lvl5pPr>
            <a:lvl6pPr>
              <a:defRPr sz="1500" b="0">
                <a:solidFill>
                  <a:srgbClr val="56636C"/>
                </a:solidFill>
                <a:latin typeface="Calibri"/>
                <a:ea typeface="Calibri"/>
                <a:cs typeface="Calibri"/>
              </a:defRPr>
            </a:lvl6pPr>
            <a:lvl7pPr>
              <a:defRPr sz="1500" b="0">
                <a:solidFill>
                  <a:srgbClr val="56636C"/>
                </a:solidFill>
                <a:latin typeface="Calibri"/>
                <a:ea typeface="Calibri"/>
                <a:cs typeface="Calibri"/>
              </a:defRPr>
            </a:lvl7pPr>
            <a:lvl8pPr>
              <a:defRPr sz="1500" b="0">
                <a:solidFill>
                  <a:srgbClr val="56636C"/>
                </a:solidFill>
                <a:latin typeface="Calibri"/>
                <a:ea typeface="Calibri"/>
                <a:cs typeface="Calibri"/>
              </a:defRPr>
            </a:lvl8pPr>
            <a:lvl9pPr>
              <a:defRPr sz="1500" b="0">
                <a:solidFill>
                  <a:srgbClr val="56636C"/>
                </a:solidFill>
                <a:latin typeface="Calibri"/>
                <a:ea typeface="Calibri"/>
                <a:cs typeface="Calibri"/>
              </a:defRPr>
            </a:lvl9pPr>
          </a:lstStyle>
          <a:p xmlns:a="http://schemas.openxmlformats.org/drawingml/2006/main">
            <a:pPr>
              <a:defRPr sz="1500" b="0">
                <a:solidFill>
                  <a:srgbClr val="56636C"/>
                </a:solidFill>
                <a:latin typeface="Calibri"/>
                <a:ea typeface="Calibri"/>
                <a:cs typeface="Calibri"/>
              </a:defRPr>
            </a:pPr>
            <a:r>
              <a:rPr sz="1500" b="0">
                <a:solidFill>
                  <a:srgbClr val="56636C"/>
                </a:solidFill>
                <a:latin typeface="Calibri"/>
                <a:ea typeface="Calibri"/>
                <a:cs typeface="Calibri"/>
              </a:rPr>
              <a:t>Action owner and incremental value</a:t>
            </a:r>
          </a:p>
        </p:txBody>
      </p:sp>
    </p:spTree>
    <p:extLst>
      <p:ext uri="{BB962C8B-B14F-4D97-AF65-F5344CB8AC3E}">
        <p14:creationId xmlns:p14="http://schemas.microsoft.com/office/powerpoint/2010/main" val="16721755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Managed services and ownership</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Microsoft services reduce infrastructure work while CareAllies retains application logic.</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Select only the services the pilot needs; confirm production suitability with IT.</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09A45C5D-A2D2-4F41-B60F-CE33BA457AB7}"/>
              </a:ext>
            </a:extLst>
          </p:cNvPr>
          <p:cNvSpPr>
            <a:spLocks xmlns:a="http://schemas.openxmlformats.org/drawingml/2006/main" noGrp="1"/>
          </p:cNvSpPr>
          <p:nvPr/>
        </p:nvSpPr>
        <p:spPr>
          <a:xfrm xmlns:a="http://schemas.openxmlformats.org/drawingml/2006/main">
            <a:off x="419100" y="1724025"/>
            <a:ext cx="54673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1DCA9EE6-CFCC-4D38-B4DF-986E56A2528A}"/>
              </a:ext>
            </a:extLst>
          </p:cNvPr>
          <p:cNvSpPr>
            <a:spLocks xmlns:a="http://schemas.openxmlformats.org/drawingml/2006/main" noGrp="1"/>
          </p:cNvSpPr>
          <p:nvPr/>
        </p:nvSpPr>
        <p:spPr>
          <a:xfrm xmlns:a="http://schemas.openxmlformats.org/drawingml/2006/main">
            <a:off x="6115050" y="1724025"/>
            <a:ext cx="56578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0" name="">
            <a:extLst xmlns:a="http://schemas.openxmlformats.org/drawingml/2006/main">
              <a:ext uri="{FF2B5EF4-FFF2-40B4-BE49-F238E27FC236}">
                <a16:creationId xmlns:a16="http://schemas.microsoft.com/office/drawing/2014/main" id="{34D58F57-D525-462F-B7E0-3C33BAD99388}"/>
              </a:ext>
            </a:extLst>
          </p:cNvPr>
          <p:cNvSpPr>
            <a:spLocks xmlns:a="http://schemas.openxmlformats.org/drawingml/2006/main" noGrp="1"/>
          </p:cNvSpPr>
          <p:nvPr/>
        </p:nvSpPr>
        <p:spPr>
          <a:xfrm xmlns:a="http://schemas.openxmlformats.org/drawingml/2006/main">
            <a:off x="647700" y="1971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79754"/>
                </a:solidFill>
                <a:latin typeface="Calibri"/>
                <a:ea typeface="Calibri"/>
                <a:cs typeface="Calibri"/>
              </a:defRPr>
            </a:defPPr>
            <a:lvl1pPr>
              <a:defRPr sz="2175" b="1">
                <a:solidFill>
                  <a:srgbClr val="479754"/>
                </a:solidFill>
                <a:latin typeface="Calibri"/>
                <a:ea typeface="Calibri"/>
                <a:cs typeface="Calibri"/>
              </a:defRPr>
            </a:lvl1pPr>
            <a:lvl2pPr>
              <a:defRPr sz="2175" b="1">
                <a:solidFill>
                  <a:srgbClr val="479754"/>
                </a:solidFill>
                <a:latin typeface="Calibri"/>
                <a:ea typeface="Calibri"/>
                <a:cs typeface="Calibri"/>
              </a:defRPr>
            </a:lvl2pPr>
            <a:lvl3pPr>
              <a:defRPr sz="2175" b="1">
                <a:solidFill>
                  <a:srgbClr val="479754"/>
                </a:solidFill>
                <a:latin typeface="Calibri"/>
                <a:ea typeface="Calibri"/>
                <a:cs typeface="Calibri"/>
              </a:defRPr>
            </a:lvl3pPr>
            <a:lvl4pPr>
              <a:defRPr sz="2175" b="1">
                <a:solidFill>
                  <a:srgbClr val="479754"/>
                </a:solidFill>
                <a:latin typeface="Calibri"/>
                <a:ea typeface="Calibri"/>
                <a:cs typeface="Calibri"/>
              </a:defRPr>
            </a:lvl4pPr>
            <a:lvl5pPr>
              <a:defRPr sz="2175" b="1">
                <a:solidFill>
                  <a:srgbClr val="479754"/>
                </a:solidFill>
                <a:latin typeface="Calibri"/>
                <a:ea typeface="Calibri"/>
                <a:cs typeface="Calibri"/>
              </a:defRPr>
            </a:lvl5pPr>
            <a:lvl6pPr>
              <a:defRPr sz="2175" b="1">
                <a:solidFill>
                  <a:srgbClr val="479754"/>
                </a:solidFill>
                <a:latin typeface="Calibri"/>
                <a:ea typeface="Calibri"/>
                <a:cs typeface="Calibri"/>
              </a:defRPr>
            </a:lvl6pPr>
            <a:lvl7pPr>
              <a:defRPr sz="2175" b="1">
                <a:solidFill>
                  <a:srgbClr val="479754"/>
                </a:solidFill>
                <a:latin typeface="Calibri"/>
                <a:ea typeface="Calibri"/>
                <a:cs typeface="Calibri"/>
              </a:defRPr>
            </a:lvl7pPr>
            <a:lvl8pPr>
              <a:defRPr sz="2175" b="1">
                <a:solidFill>
                  <a:srgbClr val="479754"/>
                </a:solidFill>
                <a:latin typeface="Calibri"/>
                <a:ea typeface="Calibri"/>
                <a:cs typeface="Calibri"/>
              </a:defRPr>
            </a:lvl8pPr>
            <a:lvl9pPr>
              <a:defRPr sz="2175" b="1">
                <a:solidFill>
                  <a:srgbClr val="479754"/>
                </a:solidFill>
                <a:latin typeface="Calibri"/>
                <a:ea typeface="Calibri"/>
                <a:cs typeface="Calibri"/>
              </a:defRPr>
            </a:lvl9pPr>
          </a:lstStyle>
          <a:p xmlns:a="http://schemas.openxmlformats.org/drawingml/2006/main">
            <a:pPr>
              <a:defRPr sz="2175" b="1">
                <a:solidFill>
                  <a:srgbClr val="479754"/>
                </a:solidFill>
                <a:latin typeface="Calibri"/>
                <a:ea typeface="Calibri"/>
                <a:cs typeface="Calibri"/>
              </a:defRPr>
            </a:pPr>
            <a:r>
              <a:rPr sz="2175" b="1">
                <a:solidFill>
                  <a:srgbClr val="479754"/>
                </a:solidFill>
                <a:latin typeface="Calibri"/>
                <a:ea typeface="Calibri"/>
                <a:cs typeface="Calibri"/>
              </a:rPr>
              <a:t>Candidate Azure stack</a:t>
            </a:r>
          </a:p>
        </p:txBody>
      </p:sp>
      <p:sp>
        <p:nvSpPr>
          <p:cNvPr id="31" name="">
            <a:extLst xmlns:a="http://schemas.openxmlformats.org/drawingml/2006/main">
              <a:ext uri="{FF2B5EF4-FFF2-40B4-BE49-F238E27FC236}">
                <a16:creationId xmlns:a16="http://schemas.microsoft.com/office/drawing/2014/main" id="{C5E03AB0-0793-4695-B8EF-F4E9BE8F343B}"/>
              </a:ext>
            </a:extLst>
          </p:cNvPr>
          <p:cNvSpPr>
            <a:spLocks xmlns:a="http://schemas.openxmlformats.org/drawingml/2006/main" noGrp="1"/>
          </p:cNvSpPr>
          <p:nvPr/>
        </p:nvSpPr>
        <p:spPr>
          <a:xfrm xmlns:a="http://schemas.openxmlformats.org/drawingml/2006/main">
            <a:off x="647700" y="2619375"/>
            <a:ext cx="49530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Foundry: approved model and evaluation</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Document Intelligence: chart extraction</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AI Search: cited document retrieval</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Entra and Azure Monitor: access and operations</a:t>
            </a:r>
          </a:p>
        </p:txBody>
      </p:sp>
      <p:sp>
        <p:nvSpPr>
          <p:cNvPr id="32" name="">
            <a:extLst xmlns:a="http://schemas.openxmlformats.org/drawingml/2006/main">
              <a:ext uri="{FF2B5EF4-FFF2-40B4-BE49-F238E27FC236}">
                <a16:creationId xmlns:a16="http://schemas.microsoft.com/office/drawing/2014/main" id="{00DA1540-AE1F-4C4D-8408-BA857BF99A6D}"/>
              </a:ext>
            </a:extLst>
          </p:cNvPr>
          <p:cNvSpPr>
            <a:spLocks xmlns:a="http://schemas.openxmlformats.org/drawingml/2006/main" noGrp="1"/>
          </p:cNvSpPr>
          <p:nvPr/>
        </p:nvSpPr>
        <p:spPr>
          <a:xfrm xmlns:a="http://schemas.openxmlformats.org/drawingml/2006/main">
            <a:off x="6343650" y="1971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7BA8"/>
                </a:solidFill>
                <a:latin typeface="Calibri"/>
                <a:ea typeface="Calibri"/>
                <a:cs typeface="Calibri"/>
              </a:defRPr>
            </a:defPPr>
            <a:lvl1pPr>
              <a:defRPr sz="2175" b="1">
                <a:solidFill>
                  <a:srgbClr val="287BA8"/>
                </a:solidFill>
                <a:latin typeface="Calibri"/>
                <a:ea typeface="Calibri"/>
                <a:cs typeface="Calibri"/>
              </a:defRPr>
            </a:lvl1pPr>
            <a:lvl2pPr>
              <a:defRPr sz="2175" b="1">
                <a:solidFill>
                  <a:srgbClr val="287BA8"/>
                </a:solidFill>
                <a:latin typeface="Calibri"/>
                <a:ea typeface="Calibri"/>
                <a:cs typeface="Calibri"/>
              </a:defRPr>
            </a:lvl2pPr>
            <a:lvl3pPr>
              <a:defRPr sz="2175" b="1">
                <a:solidFill>
                  <a:srgbClr val="287BA8"/>
                </a:solidFill>
                <a:latin typeface="Calibri"/>
                <a:ea typeface="Calibri"/>
                <a:cs typeface="Calibri"/>
              </a:defRPr>
            </a:lvl3pPr>
            <a:lvl4pPr>
              <a:defRPr sz="2175" b="1">
                <a:solidFill>
                  <a:srgbClr val="287BA8"/>
                </a:solidFill>
                <a:latin typeface="Calibri"/>
                <a:ea typeface="Calibri"/>
                <a:cs typeface="Calibri"/>
              </a:defRPr>
            </a:lvl4pPr>
            <a:lvl5pPr>
              <a:defRPr sz="2175" b="1">
                <a:solidFill>
                  <a:srgbClr val="287BA8"/>
                </a:solidFill>
                <a:latin typeface="Calibri"/>
                <a:ea typeface="Calibri"/>
                <a:cs typeface="Calibri"/>
              </a:defRPr>
            </a:lvl5pPr>
            <a:lvl6pPr>
              <a:defRPr sz="2175" b="1">
                <a:solidFill>
                  <a:srgbClr val="287BA8"/>
                </a:solidFill>
                <a:latin typeface="Calibri"/>
                <a:ea typeface="Calibri"/>
                <a:cs typeface="Calibri"/>
              </a:defRPr>
            </a:lvl6pPr>
            <a:lvl7pPr>
              <a:defRPr sz="2175" b="1">
                <a:solidFill>
                  <a:srgbClr val="287BA8"/>
                </a:solidFill>
                <a:latin typeface="Calibri"/>
                <a:ea typeface="Calibri"/>
                <a:cs typeface="Calibri"/>
              </a:defRPr>
            </a:lvl7pPr>
            <a:lvl8pPr>
              <a:defRPr sz="2175" b="1">
                <a:solidFill>
                  <a:srgbClr val="287BA8"/>
                </a:solidFill>
                <a:latin typeface="Calibri"/>
                <a:ea typeface="Calibri"/>
                <a:cs typeface="Calibri"/>
              </a:defRPr>
            </a:lvl8pPr>
            <a:lvl9pPr>
              <a:defRPr sz="2175" b="1">
                <a:solidFill>
                  <a:srgbClr val="287BA8"/>
                </a:solidFill>
                <a:latin typeface="Calibri"/>
                <a:ea typeface="Calibri"/>
                <a:cs typeface="Calibri"/>
              </a:defRPr>
            </a:lvl9pPr>
          </a:lstStyle>
          <a:p xmlns:a="http://schemas.openxmlformats.org/drawingml/2006/main">
            <a:pPr>
              <a:defRPr sz="2175" b="1">
                <a:solidFill>
                  <a:srgbClr val="287BA8"/>
                </a:solidFill>
                <a:latin typeface="Calibri"/>
                <a:ea typeface="Calibri"/>
                <a:cs typeface="Calibri"/>
              </a:defRPr>
            </a:pPr>
            <a:r>
              <a:rPr sz="2175" b="1">
                <a:solidFill>
                  <a:srgbClr val="287BA8"/>
                </a:solidFill>
                <a:latin typeface="Calibri"/>
                <a:ea typeface="Calibri"/>
                <a:cs typeface="Calibri"/>
              </a:rPr>
              <a:t>Joint delivery</a:t>
            </a:r>
          </a:p>
        </p:txBody>
      </p:sp>
      <p:sp>
        <p:nvSpPr>
          <p:cNvPr id="33" name="">
            <a:extLst xmlns:a="http://schemas.openxmlformats.org/drawingml/2006/main">
              <a:ext uri="{FF2B5EF4-FFF2-40B4-BE49-F238E27FC236}">
                <a16:creationId xmlns:a16="http://schemas.microsoft.com/office/drawing/2014/main" id="{84419AFE-7CED-47BA-A88D-19F250B9982F}"/>
              </a:ext>
            </a:extLst>
          </p:cNvPr>
          <p:cNvSpPr>
            <a:spLocks xmlns:a="http://schemas.openxmlformats.org/drawingml/2006/main" noGrp="1"/>
          </p:cNvSpPr>
          <p:nvPr/>
        </p:nvSpPr>
        <p:spPr>
          <a:xfrm xmlns:a="http://schemas.openxmlformats.org/drawingml/2006/main">
            <a:off x="6343650" y="2619375"/>
            <a:ext cx="51435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CareAllies + IT: certified semantic measures</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CareAllies: workflows and answer validation</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architecture, identity and data access</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SMEs + security: review and PHI approval</a:t>
            </a:r>
          </a:p>
        </p:txBody>
      </p:sp>
    </p:spTree>
    <p:extLst>
      <p:ext uri="{BB962C8B-B14F-4D97-AF65-F5344CB8AC3E}">
        <p14:creationId xmlns:p14="http://schemas.microsoft.com/office/powerpoint/2010/main" val="1672175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Leadership decision</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Authorize a bounded evaluation and return with evidence before a scale commitment.</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Confirm use-case priority and assign owners for the unresolved data decisions.</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A3FCDC1B-5109-4356-B7B5-ECB3623CDAA9}"/>
              </a:ext>
            </a:extLst>
          </p:cNvPr>
          <p:cNvSpPr>
            <a:spLocks xmlns:a="http://schemas.openxmlformats.org/drawingml/2006/main" noGrp="1"/>
          </p:cNvSpPr>
          <p:nvPr/>
        </p:nvSpPr>
        <p:spPr>
          <a:xfrm xmlns:a="http://schemas.openxmlformats.org/drawingml/2006/main">
            <a:off x="419100" y="1724025"/>
            <a:ext cx="54673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4254E3D6-0259-4A12-A974-18BF2851FB64}"/>
              </a:ext>
            </a:extLst>
          </p:cNvPr>
          <p:cNvSpPr>
            <a:spLocks xmlns:a="http://schemas.openxmlformats.org/drawingml/2006/main" noGrp="1"/>
          </p:cNvSpPr>
          <p:nvPr/>
        </p:nvSpPr>
        <p:spPr>
          <a:xfrm xmlns:a="http://schemas.openxmlformats.org/drawingml/2006/main">
            <a:off x="6115050" y="1724025"/>
            <a:ext cx="56578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0" name="">
            <a:extLst xmlns:a="http://schemas.openxmlformats.org/drawingml/2006/main">
              <a:ext uri="{FF2B5EF4-FFF2-40B4-BE49-F238E27FC236}">
                <a16:creationId xmlns:a16="http://schemas.microsoft.com/office/drawing/2014/main" id="{D90505C5-D029-4618-B0A9-774514ED8C9F}"/>
              </a:ext>
            </a:extLst>
          </p:cNvPr>
          <p:cNvSpPr>
            <a:spLocks xmlns:a="http://schemas.openxmlformats.org/drawingml/2006/main" noGrp="1"/>
          </p:cNvSpPr>
          <p:nvPr/>
        </p:nvSpPr>
        <p:spPr>
          <a:xfrm xmlns:a="http://schemas.openxmlformats.org/drawingml/2006/main">
            <a:off x="647700" y="1971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79754"/>
                </a:solidFill>
                <a:latin typeface="Calibri"/>
                <a:ea typeface="Calibri"/>
                <a:cs typeface="Calibri"/>
              </a:defRPr>
            </a:defPPr>
            <a:lvl1pPr>
              <a:defRPr sz="2175" b="1">
                <a:solidFill>
                  <a:srgbClr val="479754"/>
                </a:solidFill>
                <a:latin typeface="Calibri"/>
                <a:ea typeface="Calibri"/>
                <a:cs typeface="Calibri"/>
              </a:defRPr>
            </a:lvl1pPr>
            <a:lvl2pPr>
              <a:defRPr sz="2175" b="1">
                <a:solidFill>
                  <a:srgbClr val="479754"/>
                </a:solidFill>
                <a:latin typeface="Calibri"/>
                <a:ea typeface="Calibri"/>
                <a:cs typeface="Calibri"/>
              </a:defRPr>
            </a:lvl2pPr>
            <a:lvl3pPr>
              <a:defRPr sz="2175" b="1">
                <a:solidFill>
                  <a:srgbClr val="479754"/>
                </a:solidFill>
                <a:latin typeface="Calibri"/>
                <a:ea typeface="Calibri"/>
                <a:cs typeface="Calibri"/>
              </a:defRPr>
            </a:lvl3pPr>
            <a:lvl4pPr>
              <a:defRPr sz="2175" b="1">
                <a:solidFill>
                  <a:srgbClr val="479754"/>
                </a:solidFill>
                <a:latin typeface="Calibri"/>
                <a:ea typeface="Calibri"/>
                <a:cs typeface="Calibri"/>
              </a:defRPr>
            </a:lvl4pPr>
            <a:lvl5pPr>
              <a:defRPr sz="2175" b="1">
                <a:solidFill>
                  <a:srgbClr val="479754"/>
                </a:solidFill>
                <a:latin typeface="Calibri"/>
                <a:ea typeface="Calibri"/>
                <a:cs typeface="Calibri"/>
              </a:defRPr>
            </a:lvl5pPr>
            <a:lvl6pPr>
              <a:defRPr sz="2175" b="1">
                <a:solidFill>
                  <a:srgbClr val="479754"/>
                </a:solidFill>
                <a:latin typeface="Calibri"/>
                <a:ea typeface="Calibri"/>
                <a:cs typeface="Calibri"/>
              </a:defRPr>
            </a:lvl6pPr>
            <a:lvl7pPr>
              <a:defRPr sz="2175" b="1">
                <a:solidFill>
                  <a:srgbClr val="479754"/>
                </a:solidFill>
                <a:latin typeface="Calibri"/>
                <a:ea typeface="Calibri"/>
                <a:cs typeface="Calibri"/>
              </a:defRPr>
            </a:lvl7pPr>
            <a:lvl8pPr>
              <a:defRPr sz="2175" b="1">
                <a:solidFill>
                  <a:srgbClr val="479754"/>
                </a:solidFill>
                <a:latin typeface="Calibri"/>
                <a:ea typeface="Calibri"/>
                <a:cs typeface="Calibri"/>
              </a:defRPr>
            </a:lvl8pPr>
            <a:lvl9pPr>
              <a:defRPr sz="2175" b="1">
                <a:solidFill>
                  <a:srgbClr val="479754"/>
                </a:solidFill>
                <a:latin typeface="Calibri"/>
                <a:ea typeface="Calibri"/>
                <a:cs typeface="Calibri"/>
              </a:defRPr>
            </a:lvl9pPr>
          </a:lstStyle>
          <a:p xmlns:a="http://schemas.openxmlformats.org/drawingml/2006/main">
            <a:pPr>
              <a:defRPr sz="2175" b="1">
                <a:solidFill>
                  <a:srgbClr val="479754"/>
                </a:solidFill>
                <a:latin typeface="Calibri"/>
                <a:ea typeface="Calibri"/>
                <a:cs typeface="Calibri"/>
              </a:defRPr>
            </a:pPr>
            <a:r>
              <a:rPr sz="2175" b="1">
                <a:solidFill>
                  <a:srgbClr val="479754"/>
                </a:solidFill>
                <a:latin typeface="Calibri"/>
                <a:ea typeface="Calibri"/>
                <a:cs typeface="Calibri"/>
              </a:rPr>
              <a:t>Approve</a:t>
            </a:r>
          </a:p>
        </p:txBody>
      </p:sp>
      <p:sp>
        <p:nvSpPr>
          <p:cNvPr id="31" name="">
            <a:extLst xmlns:a="http://schemas.openxmlformats.org/drawingml/2006/main">
              <a:ext uri="{FF2B5EF4-FFF2-40B4-BE49-F238E27FC236}">
                <a16:creationId xmlns:a16="http://schemas.microsoft.com/office/drawing/2014/main" id="{4342D08E-9A15-4DE0-A10C-8E64361B24A5}"/>
              </a:ext>
            </a:extLst>
          </p:cNvPr>
          <p:cNvSpPr>
            <a:spLocks xmlns:a="http://schemas.openxmlformats.org/drawingml/2006/main" noGrp="1"/>
          </p:cNvSpPr>
          <p:nvPr/>
        </p:nvSpPr>
        <p:spPr>
          <a:xfrm xmlns:a="http://schemas.openxmlformats.org/drawingml/2006/main">
            <a:off x="647700" y="2619375"/>
            <a:ext cx="49530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Business sponsor and dedicated team capacity</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Synthetic Foundry pilot with capped usage</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path to current data and chart rights</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Named SMEs and security partner</a:t>
            </a:r>
          </a:p>
        </p:txBody>
      </p:sp>
      <p:sp>
        <p:nvSpPr>
          <p:cNvPr id="32" name="">
            <a:extLst xmlns:a="http://schemas.openxmlformats.org/drawingml/2006/main">
              <a:ext uri="{FF2B5EF4-FFF2-40B4-BE49-F238E27FC236}">
                <a16:creationId xmlns:a16="http://schemas.microsoft.com/office/drawing/2014/main" id="{E3CD260B-9DD2-4D97-8079-11AC03AFCA81}"/>
              </a:ext>
            </a:extLst>
          </p:cNvPr>
          <p:cNvSpPr>
            <a:spLocks xmlns:a="http://schemas.openxmlformats.org/drawingml/2006/main" noGrp="1"/>
          </p:cNvSpPr>
          <p:nvPr/>
        </p:nvSpPr>
        <p:spPr>
          <a:xfrm xmlns:a="http://schemas.openxmlformats.org/drawingml/2006/main">
            <a:off x="6343650" y="1971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7BA8"/>
                </a:solidFill>
                <a:latin typeface="Calibri"/>
                <a:ea typeface="Calibri"/>
                <a:cs typeface="Calibri"/>
              </a:defRPr>
            </a:defPPr>
            <a:lvl1pPr>
              <a:defRPr sz="2175" b="1">
                <a:solidFill>
                  <a:srgbClr val="287BA8"/>
                </a:solidFill>
                <a:latin typeface="Calibri"/>
                <a:ea typeface="Calibri"/>
                <a:cs typeface="Calibri"/>
              </a:defRPr>
            </a:lvl1pPr>
            <a:lvl2pPr>
              <a:defRPr sz="2175" b="1">
                <a:solidFill>
                  <a:srgbClr val="287BA8"/>
                </a:solidFill>
                <a:latin typeface="Calibri"/>
                <a:ea typeface="Calibri"/>
                <a:cs typeface="Calibri"/>
              </a:defRPr>
            </a:lvl2pPr>
            <a:lvl3pPr>
              <a:defRPr sz="2175" b="1">
                <a:solidFill>
                  <a:srgbClr val="287BA8"/>
                </a:solidFill>
                <a:latin typeface="Calibri"/>
                <a:ea typeface="Calibri"/>
                <a:cs typeface="Calibri"/>
              </a:defRPr>
            </a:lvl3pPr>
            <a:lvl4pPr>
              <a:defRPr sz="2175" b="1">
                <a:solidFill>
                  <a:srgbClr val="287BA8"/>
                </a:solidFill>
                <a:latin typeface="Calibri"/>
                <a:ea typeface="Calibri"/>
                <a:cs typeface="Calibri"/>
              </a:defRPr>
            </a:lvl4pPr>
            <a:lvl5pPr>
              <a:defRPr sz="2175" b="1">
                <a:solidFill>
                  <a:srgbClr val="287BA8"/>
                </a:solidFill>
                <a:latin typeface="Calibri"/>
                <a:ea typeface="Calibri"/>
                <a:cs typeface="Calibri"/>
              </a:defRPr>
            </a:lvl5pPr>
            <a:lvl6pPr>
              <a:defRPr sz="2175" b="1">
                <a:solidFill>
                  <a:srgbClr val="287BA8"/>
                </a:solidFill>
                <a:latin typeface="Calibri"/>
                <a:ea typeface="Calibri"/>
                <a:cs typeface="Calibri"/>
              </a:defRPr>
            </a:lvl6pPr>
            <a:lvl7pPr>
              <a:defRPr sz="2175" b="1">
                <a:solidFill>
                  <a:srgbClr val="287BA8"/>
                </a:solidFill>
                <a:latin typeface="Calibri"/>
                <a:ea typeface="Calibri"/>
                <a:cs typeface="Calibri"/>
              </a:defRPr>
            </a:lvl7pPr>
            <a:lvl8pPr>
              <a:defRPr sz="2175" b="1">
                <a:solidFill>
                  <a:srgbClr val="287BA8"/>
                </a:solidFill>
                <a:latin typeface="Calibri"/>
                <a:ea typeface="Calibri"/>
                <a:cs typeface="Calibri"/>
              </a:defRPr>
            </a:lvl8pPr>
            <a:lvl9pPr>
              <a:defRPr sz="2175" b="1">
                <a:solidFill>
                  <a:srgbClr val="287BA8"/>
                </a:solidFill>
                <a:latin typeface="Calibri"/>
                <a:ea typeface="Calibri"/>
                <a:cs typeface="Calibri"/>
              </a:defRPr>
            </a:lvl9pPr>
          </a:lstStyle>
          <a:p xmlns:a="http://schemas.openxmlformats.org/drawingml/2006/main">
            <a:pPr>
              <a:defRPr sz="2175" b="1">
                <a:solidFill>
                  <a:srgbClr val="287BA8"/>
                </a:solidFill>
                <a:latin typeface="Calibri"/>
                <a:ea typeface="Calibri"/>
                <a:cs typeface="Calibri"/>
              </a:defRPr>
            </a:pPr>
            <a:r>
              <a:rPr sz="2175" b="1">
                <a:solidFill>
                  <a:srgbClr val="287BA8"/>
                </a:solidFill>
                <a:latin typeface="Calibri"/>
                <a:ea typeface="Calibri"/>
                <a:cs typeface="Calibri"/>
              </a:rPr>
              <a:t>Decide after pilot</a:t>
            </a:r>
          </a:p>
        </p:txBody>
      </p:sp>
      <p:sp>
        <p:nvSpPr>
          <p:cNvPr id="33" name="">
            <a:extLst xmlns:a="http://schemas.openxmlformats.org/drawingml/2006/main">
              <a:ext uri="{FF2B5EF4-FFF2-40B4-BE49-F238E27FC236}">
                <a16:creationId xmlns:a16="http://schemas.microsoft.com/office/drawing/2014/main" id="{C2DCC5EE-DEDE-4F0C-A838-12CD19784FC9}"/>
              </a:ext>
            </a:extLst>
          </p:cNvPr>
          <p:cNvSpPr>
            <a:spLocks xmlns:a="http://schemas.openxmlformats.org/drawingml/2006/main" noGrp="1"/>
          </p:cNvSpPr>
          <p:nvPr/>
        </p:nvSpPr>
        <p:spPr>
          <a:xfrm xmlns:a="http://schemas.openxmlformats.org/drawingml/2006/main">
            <a:off x="6343650" y="2619375"/>
            <a:ext cx="51435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Accuracy and reviewer burden</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Analyst time and cost per case</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Vendor comparison on the same tasks</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Support model and PHI gate</a:t>
            </a:r>
          </a:p>
        </p:txBody>
      </p:sp>
    </p:spTree>
    <p:extLst>
      <p:ext uri="{BB962C8B-B14F-4D97-AF65-F5344CB8AC3E}">
        <p14:creationId xmlns:p14="http://schemas.microsoft.com/office/powerpoint/2010/main" val="16721755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2026-10-28T15:34:43.6510000Z</dcterms:created>
  <dcterms:modified xsi:type="dcterms:W3CDTF">2026-10-28T15:34:43.6510000Z</dcterms:modified>
</coreProperties>
</file>