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b7c439e0a874164" /><Relationship Type="http://schemas.openxmlformats.org/officeDocument/2006/relationships/extended-properties" Target="/docProps/app.xml" Id="R7f71884ea0b14bf8" /><Relationship Type="http://schemas.openxmlformats.org/officeDocument/2006/relationships/officeDocument" Target="/ppt/presentation.xml" Id="Rd49c1dfd7daf407c" /></Relationships>
</file>

<file path=ppt/presentation.xml><?xml version="1.0" encoding="utf-8"?>
<p:presentation xmlns:p="http://schemas.openxmlformats.org/presentationml/2006/main">
  <p:sldMasterIdLst>
    <p:sldMasterId xmlns:r="http://schemas.openxmlformats.org/officeDocument/2006/relationships" id="2147483648" r:id="R9bf4d76ababd46f9"/>
  </p:sldMasterIdLst>
  <p:notesMasterIdLst>
    <p:notesMasterId xmlns:r="http://schemas.openxmlformats.org/officeDocument/2006/relationships" r:id="R57fb91fd076841c2"/>
  </p:notesMasterIdLst>
  <p:sldIdLst>
    <p:sldId xmlns:r="http://schemas.openxmlformats.org/officeDocument/2006/relationships" id="256" r:id="R1cdddb06858147db"/>
    <p:sldId xmlns:r="http://schemas.openxmlformats.org/officeDocument/2006/relationships" id="257" r:id="Rf8bf0cc4091b48dc"/>
    <p:sldId xmlns:r="http://schemas.openxmlformats.org/officeDocument/2006/relationships" id="258" r:id="R92e0cf93c6b64198"/>
    <p:sldId xmlns:r="http://schemas.openxmlformats.org/officeDocument/2006/relationships" id="259" r:id="R912c612489e24ff6"/>
    <p:sldId xmlns:r="http://schemas.openxmlformats.org/officeDocument/2006/relationships" id="260" r:id="Rb9ec85580afc4271"/>
    <p:sldId xmlns:r="http://schemas.openxmlformats.org/officeDocument/2006/relationships" id="261" r:id="Rbf599c29fe7a4f76"/>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4b4a22adfbf146c4" /><Relationship Type="http://schemas.openxmlformats.org/officeDocument/2006/relationships/slideMaster" Target="/ppt/slideMasters/slideMaster1.xml" Id="R9bf4d76ababd46f9" /><Relationship Type="http://schemas.openxmlformats.org/officeDocument/2006/relationships/notesMaster" Target="/ppt/notesMasters/notesMaster1.xml" Id="R57fb91fd076841c2" /><Relationship Type="http://schemas.openxmlformats.org/officeDocument/2006/relationships/presProps" Target="/ppt/presProps.xml" Id="Rc8ed7bb9baf54118" /><Relationship Type="http://schemas.openxmlformats.org/officeDocument/2006/relationships/viewProps" Target="/ppt/viewProps.xml" Id="Rfdd42adc3f1f472a" /><Relationship Type="http://schemas.openxmlformats.org/officeDocument/2006/relationships/tableStyles" Target="/ppt/tableStyles.xml" Id="R48e5b605b44d4473" /><Relationship Type="http://schemas.openxmlformats.org/officeDocument/2006/relationships/slide" Target="/ppt/slides/slide1.xml" Id="R1cdddb06858147db" /><Relationship Type="http://schemas.openxmlformats.org/officeDocument/2006/relationships/slide" Target="/ppt/slides/slide2.xml" Id="Rf8bf0cc4091b48dc" /><Relationship Type="http://schemas.openxmlformats.org/officeDocument/2006/relationships/slide" Target="/ppt/slides/slide3.xml" Id="R92e0cf93c6b64198" /><Relationship Type="http://schemas.openxmlformats.org/officeDocument/2006/relationships/slide" Target="/ppt/slides/slide4.xml" Id="R912c612489e24ff6" /><Relationship Type="http://schemas.openxmlformats.org/officeDocument/2006/relationships/slide" Target="/ppt/slides/slide5.xml" Id="Rb9ec85580afc4271" /><Relationship Type="http://schemas.openxmlformats.org/officeDocument/2006/relationships/slide" Target="/ppt/slides/slide6.xml" Id="Rbf599c29fe7a4f7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3cbfc050d142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b9b2e4ccf74127" /><Relationship Type="http://schemas.openxmlformats.org/officeDocument/2006/relationships/notesMaster" Target="/ppt/notesMasters/notesMaster1.xml" Id="Rb2262eb68385424b"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caeac0cf1f49cd" /><Relationship Type="http://schemas.openxmlformats.org/officeDocument/2006/relationships/notesMaster" Target="/ppt/notesMasters/notesMaster1.xml" Id="R4efcc16848f040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82d9c3db46c4a92" /><Relationship Type="http://schemas.openxmlformats.org/officeDocument/2006/relationships/notesMaster" Target="/ppt/notesMasters/notesMaster1.xml" Id="Rc65d49b07a9f4738" /></Relationships>
</file>

<file path=ppt/notesSlides/_rels/notesSlide4.xml.rels>&#65279;<?xml version="1.0" encoding="utf-8"?><Relationships xmlns="http://schemas.openxmlformats.org/package/2006/relationships"><Relationship Type="http://schemas.openxmlformats.org/officeDocument/2006/relationships/slide" Target="/ppt/slides/slide4.xml" Id="R54d5dbe2023b48d7" /><Relationship Type="http://schemas.openxmlformats.org/officeDocument/2006/relationships/notesMaster" Target="/ppt/notesMasters/notesMaster1.xml" Id="R8d314de171c441d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167a3e34d94d97" /><Relationship Type="http://schemas.openxmlformats.org/officeDocument/2006/relationships/notesMaster" Target="/ppt/notesMasters/notesMaster1.xml" Id="R9b2a8c75528b4198"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7aa013fcd94fec" /><Relationship Type="http://schemas.openxmlformats.org/officeDocument/2006/relationships/notesMaster" Target="/ppt/notesMasters/notesMaster1.xml" Id="R784d1f1470924e7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proposal is to develop and own differentiated CareAllies VBC applications while reusing managed Azure services and the IT-approved foundation. Ask leadership to authorize named capacity, a synthetic-data environment and a capped pilot. This does not request all six project budgets or permission to use PHI. The two pilot lanes can run in parallel. Risk assistant can start with structured synthetic or approved read-only views; chart lane needs access rights, an adjudicated sample and an approved extraction route.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Risk pilot details: The El Paso example in the meeting is a candidate reference case; secure the analyst’s final work and sources. Define member-month grain, population, attribution period, CMS model year, source refresh, and competing hypotheses. A satisfying answer quantifies membership dilution, documentation and timing separately, then states uncertainty. Chart benchmark: sample across handwriting, scan quality and templates; preserve page/span coordinates. Validate against adjudicated cases and report precision, recall, false positives, misses, processing time and human review. Do not present $3,000 per HCC as universal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Foundry architecture has resource-level governance and project-level isolation: https://learn.microsoft.com/en-us/azure/foundry/concepts/architecture . Agent Service can manage prompt or hosted agents, identity and scaling, but is optional for a simple first query: https://learn.microsoft.com/en-us/azure/foundry/agents/overview . Document Intelligence Read supports handwritten and printed text and page locations: https://learn.microsoft.com/en-us/azure/ai-services/document-intelligence/prebuilt/read?view=doc-intel-4.0.0 . AI Search provides retrieval; agentic Foundry IQ portal features may be preview and require checking before production: https://learn.microsoft.com/en-us/azure/search/agentic-retrieval-overview . Fabric data agent works over curated Fabric/Power BI sources, but quality depends on prepared semantic models: https://learn.microsoft.com/en-us/fabric/data-science/semantic-model-best-practices . Do not equate RAG with querying a database or assume every component is needed on day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precise language: a model sold by Azure is Microsoft-hosted in Azure; prompts are not shared with the model provider nor used to train foundation models without permission, but this does not mean Microsoft is absent from processing. Choose region/geography deliberately, avoiding Global if policy disallows it: https://learn.microsoft.com/en-us/azure/foundry/responsible-ai/openai/data-privacy . Set managed identities, RBAC and private endpoints where required: https://learn.microsoft.com/en-us/azure/foundry/agents/how-to/virtual-networks . Foundry traces can include prompts, outputs and sensitive content; scope telemetry permissions and retention: https://learn.microsoft.com/en-us/azure/foundry/observability/concepts/trace-data . An Azure BAA supports compliance but does not make the solution compliant by default: https://learn.microsoft.com/en-us/azure/compliance/offerings/offering-hipaa-us . Confirm exact service/model terms with security. No general web tools, uncontrolled SQL or autonomous coding/measure closure in the clinical pilot.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CareAllies should own code, prompts, VBC measures, user workflow, versioned business rules and acceptance criteria. IT should own or approve tenant architecture, identity, private connections, secrets, logging policy, deployment pipeline and incident response. Data owners certify source views, grain, refresh, historical rules and row-level access. Establish joint ownership of service-level objectives and escalation before production. Compare Arcadia native features and roadmap against identical test cases; buy a component if it outperforms the CareAllies alternative. Microsoft Fabric supports promotion and certification of quality items if that becomes the semantic platform: https://learn.microsoft.com/en-us/fabric/fundamentals/endorsement-promote-certify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Request a sponsor, CareAllies product owner, IT/cloud architect, security lead, data owner, risk SME and clinical/Stars SME. Set a capped budget after modeling tokens, pages, search SKU, logging, storage and human review. Azure Cost Management budgets alert but do not hard-stop spend; configure quotas or explicit shutdown controls if required: https://learn.microsoft.com/en-us/azure/cost-management-billing/costs/tutorial-acm-create-budgets . Pilot gates: known-answer accuracy, citations and calculation reconciliation, chart extraction precision/recall and false positive rate, analyst/reviewer time, unit cost, latency and incident/support design. Secure Arcadia chart export terms and Nova historical data requirements. Production approval separately addresses PHI, authorization, operations, resilience and a build/buy comparison.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768a05d50645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18928d19d44670" /><Relationship Type="http://schemas.openxmlformats.org/officeDocument/2006/relationships/slideLayout" Target="/ppt/slideLayouts/slideLayout1.xml" Id="Rb3d78d2b258e42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d78d2b258e42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20e3683c0e044b3" /><Relationship Type="http://schemas.openxmlformats.org/officeDocument/2006/relationships/notesSlide" Target="/ppt/notesSlides/notesSlide1.xml" Id="R8dc0fbdd542c42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b9fd40f7644da0" /><Relationship Type="http://schemas.openxmlformats.org/officeDocument/2006/relationships/notesSlide" Target="/ppt/notesSlides/notesSlide2.xml" Id="Rfb42a5f7fea044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87d775e86134ae2" /><Relationship Type="http://schemas.openxmlformats.org/officeDocument/2006/relationships/notesSlide" Target="/ppt/notesSlides/notesSlide3.xml" Id="R3b2067feeea2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8ceb5eb838842d9" /><Relationship Type="http://schemas.openxmlformats.org/officeDocument/2006/relationships/notesSlide" Target="/ppt/notesSlides/notesSlide4.xml" Id="R96f0397f73d0493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03465b48bd34d18" /><Relationship Type="http://schemas.openxmlformats.org/officeDocument/2006/relationships/notesSlide" Target="/ppt/notesSlides/notesSlide5.xml" Id="Rd67118831a1849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af992695d2b42f3" /><Relationship Type="http://schemas.openxmlformats.org/officeDocument/2006/relationships/notesSlide" Target="/ppt/notesSlides/notesSlide6.xml" Id="Rad6dd4c06a534d35"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Decision requested</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 measured CareAllies pilot, jointly governed with IT.</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Approve a pilot now. Decide on PHI and production only after evidence and security review.</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71CD36CC-B958-44E7-BDB8-B7701EAC8F7B}"/>
              </a:ext>
            </a:extLst>
          </p:cNvPr>
          <p:cNvSpPr>
            <a:spLocks xmlns:a="http://schemas.openxmlformats.org/drawingml/2006/main" noGrp="1"/>
          </p:cNvSpPr>
          <p:nvPr/>
        </p:nvSpPr>
        <p:spPr>
          <a:xfrm xmlns:a="http://schemas.openxmlformats.org/drawingml/2006/main">
            <a:off x="419100" y="1714500"/>
            <a:ext cx="11353800" cy="12001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29" name="">
            <a:extLst xmlns:a="http://schemas.openxmlformats.org/drawingml/2006/main">
              <a:ext uri="{FF2B5EF4-FFF2-40B4-BE49-F238E27FC236}">
                <a16:creationId xmlns:a16="http://schemas.microsoft.com/office/drawing/2014/main" id="{35F8ED97-D71C-4D13-A0D4-F6215ED08EE8}"/>
              </a:ext>
            </a:extLst>
          </p:cNvPr>
          <p:cNvSpPr>
            <a:spLocks xmlns:a="http://schemas.openxmlformats.org/drawingml/2006/main" noGrp="1"/>
          </p:cNvSpPr>
          <p:nvPr/>
        </p:nvSpPr>
        <p:spPr>
          <a:xfrm xmlns:a="http://schemas.openxmlformats.org/drawingml/2006/main">
            <a:off x="657225" y="197167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172B3A"/>
                </a:solidFill>
                <a:latin typeface="Calibri"/>
                <a:ea typeface="Calibri"/>
                <a:cs typeface="Calibri"/>
              </a:defRPr>
            </a:defPPr>
            <a:lvl1pPr>
              <a:defRPr sz="2250" b="1">
                <a:solidFill>
                  <a:srgbClr val="172B3A"/>
                </a:solidFill>
                <a:latin typeface="Calibri"/>
                <a:ea typeface="Calibri"/>
                <a:cs typeface="Calibri"/>
              </a:defRPr>
            </a:lvl1pPr>
            <a:lvl2pPr>
              <a:defRPr sz="2250" b="1">
                <a:solidFill>
                  <a:srgbClr val="172B3A"/>
                </a:solidFill>
                <a:latin typeface="Calibri"/>
                <a:ea typeface="Calibri"/>
                <a:cs typeface="Calibri"/>
              </a:defRPr>
            </a:lvl2pPr>
            <a:lvl3pPr>
              <a:defRPr sz="2250" b="1">
                <a:solidFill>
                  <a:srgbClr val="172B3A"/>
                </a:solidFill>
                <a:latin typeface="Calibri"/>
                <a:ea typeface="Calibri"/>
                <a:cs typeface="Calibri"/>
              </a:defRPr>
            </a:lvl3pPr>
            <a:lvl4pPr>
              <a:defRPr sz="2250" b="1">
                <a:solidFill>
                  <a:srgbClr val="172B3A"/>
                </a:solidFill>
                <a:latin typeface="Calibri"/>
                <a:ea typeface="Calibri"/>
                <a:cs typeface="Calibri"/>
              </a:defRPr>
            </a:lvl4pPr>
            <a:lvl5pPr>
              <a:defRPr sz="2250" b="1">
                <a:solidFill>
                  <a:srgbClr val="172B3A"/>
                </a:solidFill>
                <a:latin typeface="Calibri"/>
                <a:ea typeface="Calibri"/>
                <a:cs typeface="Calibri"/>
              </a:defRPr>
            </a:lvl5pPr>
            <a:lvl6pPr>
              <a:defRPr sz="2250" b="1">
                <a:solidFill>
                  <a:srgbClr val="172B3A"/>
                </a:solidFill>
                <a:latin typeface="Calibri"/>
                <a:ea typeface="Calibri"/>
                <a:cs typeface="Calibri"/>
              </a:defRPr>
            </a:lvl6pPr>
            <a:lvl7pPr>
              <a:defRPr sz="2250" b="1">
                <a:solidFill>
                  <a:srgbClr val="172B3A"/>
                </a:solidFill>
                <a:latin typeface="Calibri"/>
                <a:ea typeface="Calibri"/>
                <a:cs typeface="Calibri"/>
              </a:defRPr>
            </a:lvl7pPr>
            <a:lvl8pPr>
              <a:defRPr sz="2250" b="1">
                <a:solidFill>
                  <a:srgbClr val="172B3A"/>
                </a:solidFill>
                <a:latin typeface="Calibri"/>
                <a:ea typeface="Calibri"/>
                <a:cs typeface="Calibri"/>
              </a:defRPr>
            </a:lvl8pPr>
            <a:lvl9pPr>
              <a:defRPr sz="2250" b="1">
                <a:solidFill>
                  <a:srgbClr val="172B3A"/>
                </a:solidFill>
                <a:latin typeface="Calibri"/>
                <a:ea typeface="Calibri"/>
                <a:cs typeface="Calibri"/>
              </a:defRPr>
            </a:lvl9pPr>
          </a:lstStyle>
          <a:p xmlns:a="http://schemas.openxmlformats.org/drawingml/2006/main">
            <a:pPr>
              <a:defRPr sz="2250" b="1">
                <a:solidFill>
                  <a:srgbClr val="172B3A"/>
                </a:solidFill>
                <a:latin typeface="Calibri"/>
                <a:ea typeface="Calibri"/>
                <a:cs typeface="Calibri"/>
              </a:defRPr>
            </a:pPr>
            <a:r>
              <a:rPr sz="2250" b="1">
                <a:solidFill>
                  <a:srgbClr val="172B3A"/>
                </a:solidFill>
                <a:latin typeface="Calibri"/>
                <a:ea typeface="Calibri"/>
                <a:cs typeface="Calibri"/>
              </a:rPr>
              <a:t>CareAllies owns the VBC applications and business logic.</a:t>
            </a:r>
          </a:p>
        </p:txBody>
      </p:sp>
      <p:sp>
        <p:nvSpPr>
          <p:cNvPr id="30" name="">
            <a:extLst xmlns:a="http://schemas.openxmlformats.org/drawingml/2006/main">
              <a:ext uri="{FF2B5EF4-FFF2-40B4-BE49-F238E27FC236}">
                <a16:creationId xmlns:a16="http://schemas.microsoft.com/office/drawing/2014/main" id="{23122694-2386-46BC-B2B4-438E787A374D}"/>
              </a:ext>
            </a:extLst>
          </p:cNvPr>
          <p:cNvSpPr>
            <a:spLocks xmlns:a="http://schemas.openxmlformats.org/drawingml/2006/main" noGrp="1"/>
          </p:cNvSpPr>
          <p:nvPr/>
        </p:nvSpPr>
        <p:spPr>
          <a:xfrm xmlns:a="http://schemas.openxmlformats.org/drawingml/2006/main">
            <a:off x="657225" y="24765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75" b="0">
                <a:solidFill>
                  <a:srgbClr val="56636C"/>
                </a:solidFill>
                <a:latin typeface="Calibri"/>
                <a:ea typeface="Calibri"/>
                <a:cs typeface="Calibri"/>
              </a:defRPr>
            </a:defPPr>
            <a:lvl1pPr>
              <a:defRPr sz="1575" b="0">
                <a:solidFill>
                  <a:srgbClr val="56636C"/>
                </a:solidFill>
                <a:latin typeface="Calibri"/>
                <a:ea typeface="Calibri"/>
                <a:cs typeface="Calibri"/>
              </a:defRPr>
            </a:lvl1pPr>
            <a:lvl2pPr>
              <a:defRPr sz="1575" b="0">
                <a:solidFill>
                  <a:srgbClr val="56636C"/>
                </a:solidFill>
                <a:latin typeface="Calibri"/>
                <a:ea typeface="Calibri"/>
                <a:cs typeface="Calibri"/>
              </a:defRPr>
            </a:lvl2pPr>
            <a:lvl3pPr>
              <a:defRPr sz="1575" b="0">
                <a:solidFill>
                  <a:srgbClr val="56636C"/>
                </a:solidFill>
                <a:latin typeface="Calibri"/>
                <a:ea typeface="Calibri"/>
                <a:cs typeface="Calibri"/>
              </a:defRPr>
            </a:lvl3pPr>
            <a:lvl4pPr>
              <a:defRPr sz="1575" b="0">
                <a:solidFill>
                  <a:srgbClr val="56636C"/>
                </a:solidFill>
                <a:latin typeface="Calibri"/>
                <a:ea typeface="Calibri"/>
                <a:cs typeface="Calibri"/>
              </a:defRPr>
            </a:lvl4pPr>
            <a:lvl5pPr>
              <a:defRPr sz="1575" b="0">
                <a:solidFill>
                  <a:srgbClr val="56636C"/>
                </a:solidFill>
                <a:latin typeface="Calibri"/>
                <a:ea typeface="Calibri"/>
                <a:cs typeface="Calibri"/>
              </a:defRPr>
            </a:lvl5pPr>
            <a:lvl6pPr>
              <a:defRPr sz="1575" b="0">
                <a:solidFill>
                  <a:srgbClr val="56636C"/>
                </a:solidFill>
                <a:latin typeface="Calibri"/>
                <a:ea typeface="Calibri"/>
                <a:cs typeface="Calibri"/>
              </a:defRPr>
            </a:lvl6pPr>
            <a:lvl7pPr>
              <a:defRPr sz="1575" b="0">
                <a:solidFill>
                  <a:srgbClr val="56636C"/>
                </a:solidFill>
                <a:latin typeface="Calibri"/>
                <a:ea typeface="Calibri"/>
                <a:cs typeface="Calibri"/>
              </a:defRPr>
            </a:lvl7pPr>
            <a:lvl8pPr>
              <a:defRPr sz="1575" b="0">
                <a:solidFill>
                  <a:srgbClr val="56636C"/>
                </a:solidFill>
                <a:latin typeface="Calibri"/>
                <a:ea typeface="Calibri"/>
                <a:cs typeface="Calibri"/>
              </a:defRPr>
            </a:lvl8pPr>
            <a:lvl9pPr>
              <a:defRPr sz="1575" b="0">
                <a:solidFill>
                  <a:srgbClr val="56636C"/>
                </a:solidFill>
                <a:latin typeface="Calibri"/>
                <a:ea typeface="Calibri"/>
                <a:cs typeface="Calibri"/>
              </a:defRPr>
            </a:lvl9pPr>
          </a:lstStyle>
          <a:p xmlns:a="http://schemas.openxmlformats.org/drawingml/2006/main">
            <a:pPr>
              <a:defRPr sz="1575" b="0">
                <a:solidFill>
                  <a:srgbClr val="56636C"/>
                </a:solidFill>
                <a:latin typeface="Calibri"/>
                <a:ea typeface="Calibri"/>
                <a:cs typeface="Calibri"/>
              </a:defRPr>
            </a:pPr>
            <a:r>
              <a:rPr sz="1575" b="0">
                <a:solidFill>
                  <a:srgbClr val="56636C"/>
                </a:solidFill>
                <a:latin typeface="Calibri"/>
                <a:ea typeface="Calibri"/>
                <a:cs typeface="Calibri"/>
              </a:rPr>
              <a:t>IT provides the approved cloud, data-access and security foundation.</a:t>
            </a:r>
          </a:p>
        </p:txBody>
      </p:sp>
      <p:sp>
        <p:nvSpPr>
          <p:cNvPr id="31" name="">
            <a:extLst xmlns:a="http://schemas.openxmlformats.org/drawingml/2006/main">
              <a:ext uri="{FF2B5EF4-FFF2-40B4-BE49-F238E27FC236}">
                <a16:creationId xmlns:a16="http://schemas.microsoft.com/office/drawing/2014/main" id="{811E6781-1F07-43B0-BE7C-9825576F964F}"/>
              </a:ext>
            </a:extLst>
          </p:cNvPr>
          <p:cNvSpPr>
            <a:spLocks xmlns:a="http://schemas.openxmlformats.org/drawingml/2006/main" noGrp="1"/>
          </p:cNvSpPr>
          <p:nvPr/>
        </p:nvSpPr>
        <p:spPr>
          <a:xfrm xmlns:a="http://schemas.openxmlformats.org/drawingml/2006/main">
            <a:off x="419100" y="3228975"/>
            <a:ext cx="5467350" cy="213360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287BA8"/>
                </a:gs>
                <a:gs pos="100000">
                  <a:srgbClr val="E5E9EB"/>
                </a:gs>
              </a:gsLst>
              <a:lin ang="0"/>
            </a:gradFill>
          </a:ln>
        </p:spPr>
      </p:sp>
      <p:sp>
        <p:nvSpPr>
          <p:cNvPr id="32" name="">
            <a:extLst xmlns:a="http://schemas.openxmlformats.org/drawingml/2006/main">
              <a:ext uri="{FF2B5EF4-FFF2-40B4-BE49-F238E27FC236}">
                <a16:creationId xmlns:a16="http://schemas.microsoft.com/office/drawing/2014/main" id="{25D4AC6B-E3F1-4436-BCCD-4B3018B9DE97}"/>
              </a:ext>
            </a:extLst>
          </p:cNvPr>
          <p:cNvSpPr>
            <a:spLocks xmlns:a="http://schemas.openxmlformats.org/drawingml/2006/main" noGrp="1"/>
          </p:cNvSpPr>
          <p:nvPr/>
        </p:nvSpPr>
        <p:spPr>
          <a:xfrm xmlns:a="http://schemas.openxmlformats.org/drawingml/2006/main">
            <a:off x="6115050" y="3228975"/>
            <a:ext cx="5657850" cy="213360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33" name="">
            <a:extLst xmlns:a="http://schemas.openxmlformats.org/drawingml/2006/main">
              <a:ext uri="{FF2B5EF4-FFF2-40B4-BE49-F238E27FC236}">
                <a16:creationId xmlns:a16="http://schemas.microsoft.com/office/drawing/2014/main" id="{DBC645B2-E538-452F-888F-CDBFC1A0E231}"/>
              </a:ext>
            </a:extLst>
          </p:cNvPr>
          <p:cNvSpPr>
            <a:spLocks xmlns:a="http://schemas.openxmlformats.org/drawingml/2006/main" noGrp="1"/>
          </p:cNvSpPr>
          <p:nvPr/>
        </p:nvSpPr>
        <p:spPr>
          <a:xfrm xmlns:a="http://schemas.openxmlformats.org/drawingml/2006/main">
            <a:off x="647700" y="34575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287BA8"/>
                </a:solidFill>
                <a:latin typeface="Calibri"/>
                <a:ea typeface="Calibri"/>
                <a:cs typeface="Calibri"/>
              </a:defRPr>
            </a:defPPr>
            <a:lvl1pPr>
              <a:defRPr sz="1950" b="1">
                <a:solidFill>
                  <a:srgbClr val="287BA8"/>
                </a:solidFill>
                <a:latin typeface="Calibri"/>
                <a:ea typeface="Calibri"/>
                <a:cs typeface="Calibri"/>
              </a:defRPr>
            </a:lvl1pPr>
            <a:lvl2pPr>
              <a:defRPr sz="1950" b="1">
                <a:solidFill>
                  <a:srgbClr val="287BA8"/>
                </a:solidFill>
                <a:latin typeface="Calibri"/>
                <a:ea typeface="Calibri"/>
                <a:cs typeface="Calibri"/>
              </a:defRPr>
            </a:lvl2pPr>
            <a:lvl3pPr>
              <a:defRPr sz="1950" b="1">
                <a:solidFill>
                  <a:srgbClr val="287BA8"/>
                </a:solidFill>
                <a:latin typeface="Calibri"/>
                <a:ea typeface="Calibri"/>
                <a:cs typeface="Calibri"/>
              </a:defRPr>
            </a:lvl3pPr>
            <a:lvl4pPr>
              <a:defRPr sz="1950" b="1">
                <a:solidFill>
                  <a:srgbClr val="287BA8"/>
                </a:solidFill>
                <a:latin typeface="Calibri"/>
                <a:ea typeface="Calibri"/>
                <a:cs typeface="Calibri"/>
              </a:defRPr>
            </a:lvl4pPr>
            <a:lvl5pPr>
              <a:defRPr sz="1950" b="1">
                <a:solidFill>
                  <a:srgbClr val="287BA8"/>
                </a:solidFill>
                <a:latin typeface="Calibri"/>
                <a:ea typeface="Calibri"/>
                <a:cs typeface="Calibri"/>
              </a:defRPr>
            </a:lvl5pPr>
            <a:lvl6pPr>
              <a:defRPr sz="1950" b="1">
                <a:solidFill>
                  <a:srgbClr val="287BA8"/>
                </a:solidFill>
                <a:latin typeface="Calibri"/>
                <a:ea typeface="Calibri"/>
                <a:cs typeface="Calibri"/>
              </a:defRPr>
            </a:lvl6pPr>
            <a:lvl7pPr>
              <a:defRPr sz="1950" b="1">
                <a:solidFill>
                  <a:srgbClr val="287BA8"/>
                </a:solidFill>
                <a:latin typeface="Calibri"/>
                <a:ea typeface="Calibri"/>
                <a:cs typeface="Calibri"/>
              </a:defRPr>
            </a:lvl7pPr>
            <a:lvl8pPr>
              <a:defRPr sz="1950" b="1">
                <a:solidFill>
                  <a:srgbClr val="287BA8"/>
                </a:solidFill>
                <a:latin typeface="Calibri"/>
                <a:ea typeface="Calibri"/>
                <a:cs typeface="Calibri"/>
              </a:defRPr>
            </a:lvl8pPr>
            <a:lvl9pPr>
              <a:defRPr sz="1950" b="1">
                <a:solidFill>
                  <a:srgbClr val="287BA8"/>
                </a:solidFill>
                <a:latin typeface="Calibri"/>
                <a:ea typeface="Calibri"/>
                <a:cs typeface="Calibri"/>
              </a:defRPr>
            </a:lvl9pPr>
          </a:lstStyle>
          <a:p xmlns:a="http://schemas.openxmlformats.org/drawingml/2006/main">
            <a:pPr>
              <a:defRPr sz="1950" b="1">
                <a:solidFill>
                  <a:srgbClr val="287BA8"/>
                </a:solidFill>
                <a:latin typeface="Calibri"/>
                <a:ea typeface="Calibri"/>
                <a:cs typeface="Calibri"/>
              </a:defRPr>
            </a:pPr>
            <a:r>
              <a:rPr sz="1950" b="1">
                <a:solidFill>
                  <a:srgbClr val="287BA8"/>
                </a:solidFill>
                <a:latin typeface="Calibri"/>
                <a:ea typeface="Calibri"/>
                <a:cs typeface="Calibri"/>
              </a:rPr>
              <a:t>Approve the pilot</a:t>
            </a:r>
          </a:p>
        </p:txBody>
      </p:sp>
      <p:sp>
        <p:nvSpPr>
          <p:cNvPr id="34" name="">
            <a:extLst xmlns:a="http://schemas.openxmlformats.org/drawingml/2006/main">
              <a:ext uri="{FF2B5EF4-FFF2-40B4-BE49-F238E27FC236}">
                <a16:creationId xmlns:a16="http://schemas.microsoft.com/office/drawing/2014/main" id="{EB0F4DA5-1F8D-4587-A4AE-97ECEEEDB77B}"/>
              </a:ext>
            </a:extLst>
          </p:cNvPr>
          <p:cNvSpPr>
            <a:spLocks xmlns:a="http://schemas.openxmlformats.org/drawingml/2006/main" noGrp="1"/>
          </p:cNvSpPr>
          <p:nvPr/>
        </p:nvSpPr>
        <p:spPr>
          <a:xfrm xmlns:a="http://schemas.openxmlformats.org/drawingml/2006/main">
            <a:off x="647700" y="4000500"/>
            <a:ext cx="490537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One risk investigation workflow</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One chart-extraction benchmark</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Named CareAllies and IT owners</a:t>
            </a:r>
          </a:p>
        </p:txBody>
      </p:sp>
      <p:sp>
        <p:nvSpPr>
          <p:cNvPr id="35" name="">
            <a:extLst xmlns:a="http://schemas.openxmlformats.org/drawingml/2006/main">
              <a:ext uri="{FF2B5EF4-FFF2-40B4-BE49-F238E27FC236}">
                <a16:creationId xmlns:a16="http://schemas.microsoft.com/office/drawing/2014/main" id="{1745F972-783B-4A35-8918-134F3D2A68E1}"/>
              </a:ext>
            </a:extLst>
          </p:cNvPr>
          <p:cNvSpPr>
            <a:spLocks xmlns:a="http://schemas.openxmlformats.org/drawingml/2006/main" noGrp="1"/>
          </p:cNvSpPr>
          <p:nvPr/>
        </p:nvSpPr>
        <p:spPr>
          <a:xfrm xmlns:a="http://schemas.openxmlformats.org/drawingml/2006/main">
            <a:off x="6343650" y="34575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479754"/>
                </a:solidFill>
                <a:latin typeface="Calibri"/>
                <a:ea typeface="Calibri"/>
                <a:cs typeface="Calibri"/>
              </a:defRPr>
            </a:defPPr>
            <a:lvl1pPr>
              <a:defRPr sz="1950" b="1">
                <a:solidFill>
                  <a:srgbClr val="479754"/>
                </a:solidFill>
                <a:latin typeface="Calibri"/>
                <a:ea typeface="Calibri"/>
                <a:cs typeface="Calibri"/>
              </a:defRPr>
            </a:lvl1pPr>
            <a:lvl2pPr>
              <a:defRPr sz="1950" b="1">
                <a:solidFill>
                  <a:srgbClr val="479754"/>
                </a:solidFill>
                <a:latin typeface="Calibri"/>
                <a:ea typeface="Calibri"/>
                <a:cs typeface="Calibri"/>
              </a:defRPr>
            </a:lvl2pPr>
            <a:lvl3pPr>
              <a:defRPr sz="1950" b="1">
                <a:solidFill>
                  <a:srgbClr val="479754"/>
                </a:solidFill>
                <a:latin typeface="Calibri"/>
                <a:ea typeface="Calibri"/>
                <a:cs typeface="Calibri"/>
              </a:defRPr>
            </a:lvl3pPr>
            <a:lvl4pPr>
              <a:defRPr sz="1950" b="1">
                <a:solidFill>
                  <a:srgbClr val="479754"/>
                </a:solidFill>
                <a:latin typeface="Calibri"/>
                <a:ea typeface="Calibri"/>
                <a:cs typeface="Calibri"/>
              </a:defRPr>
            </a:lvl4pPr>
            <a:lvl5pPr>
              <a:defRPr sz="1950" b="1">
                <a:solidFill>
                  <a:srgbClr val="479754"/>
                </a:solidFill>
                <a:latin typeface="Calibri"/>
                <a:ea typeface="Calibri"/>
                <a:cs typeface="Calibri"/>
              </a:defRPr>
            </a:lvl5pPr>
            <a:lvl6pPr>
              <a:defRPr sz="1950" b="1">
                <a:solidFill>
                  <a:srgbClr val="479754"/>
                </a:solidFill>
                <a:latin typeface="Calibri"/>
                <a:ea typeface="Calibri"/>
                <a:cs typeface="Calibri"/>
              </a:defRPr>
            </a:lvl6pPr>
            <a:lvl7pPr>
              <a:defRPr sz="1950" b="1">
                <a:solidFill>
                  <a:srgbClr val="479754"/>
                </a:solidFill>
                <a:latin typeface="Calibri"/>
                <a:ea typeface="Calibri"/>
                <a:cs typeface="Calibri"/>
              </a:defRPr>
            </a:lvl7pPr>
            <a:lvl8pPr>
              <a:defRPr sz="1950" b="1">
                <a:solidFill>
                  <a:srgbClr val="479754"/>
                </a:solidFill>
                <a:latin typeface="Calibri"/>
                <a:ea typeface="Calibri"/>
                <a:cs typeface="Calibri"/>
              </a:defRPr>
            </a:lvl8pPr>
            <a:lvl9pPr>
              <a:defRPr sz="1950" b="1">
                <a:solidFill>
                  <a:srgbClr val="479754"/>
                </a:solidFill>
                <a:latin typeface="Calibri"/>
                <a:ea typeface="Calibri"/>
                <a:cs typeface="Calibri"/>
              </a:defRPr>
            </a:lvl9pPr>
          </a:lstStyle>
          <a:p xmlns:a="http://schemas.openxmlformats.org/drawingml/2006/main">
            <a:pPr>
              <a:defRPr sz="1950" b="1">
                <a:solidFill>
                  <a:srgbClr val="479754"/>
                </a:solidFill>
                <a:latin typeface="Calibri"/>
                <a:ea typeface="Calibri"/>
                <a:cs typeface="Calibri"/>
              </a:defRPr>
            </a:pPr>
            <a:r>
              <a:rPr sz="1950" b="1">
                <a:solidFill>
                  <a:srgbClr val="479754"/>
                </a:solidFill>
                <a:latin typeface="Calibri"/>
                <a:ea typeface="Calibri"/>
                <a:cs typeface="Calibri"/>
              </a:rPr>
              <a:t>Defer the scale decision</a:t>
            </a:r>
          </a:p>
        </p:txBody>
      </p:sp>
      <p:sp>
        <p:nvSpPr>
          <p:cNvPr id="36" name="">
            <a:extLst xmlns:a="http://schemas.openxmlformats.org/drawingml/2006/main">
              <a:ext uri="{FF2B5EF4-FFF2-40B4-BE49-F238E27FC236}">
                <a16:creationId xmlns:a16="http://schemas.microsoft.com/office/drawing/2014/main" id="{180A5B3F-862E-4ACC-8672-E5F57682A5A8}"/>
              </a:ext>
            </a:extLst>
          </p:cNvPr>
          <p:cNvSpPr>
            <a:spLocks xmlns:a="http://schemas.openxmlformats.org/drawingml/2006/main" noGrp="1"/>
          </p:cNvSpPr>
          <p:nvPr/>
        </p:nvSpPr>
        <p:spPr>
          <a:xfrm xmlns:a="http://schemas.openxmlformats.org/drawingml/2006/main">
            <a:off x="6343650" y="4000500"/>
            <a:ext cx="50482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PHI and production require a separate gate, with accuracy, cost, access and support results.</a:t>
            </a:r>
          </a:p>
        </p:txBody>
      </p:sp>
    </p:spTree>
    <p:extLst>
      <p:ext uri="{BB962C8B-B14F-4D97-AF65-F5344CB8AC3E}">
        <p14:creationId xmlns:p14="http://schemas.microsoft.com/office/powerpoint/2010/main" val="167217552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Two pilots with known answers</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The first build tests outcomes that analysts and SMEs can verify.</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Both pilots use known answers. No model output becomes an official result on its own.</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6BCA9C36-880D-445E-92D6-732C5DD21BCD}"/>
              </a:ext>
            </a:extLst>
          </p:cNvPr>
          <p:cNvSpPr>
            <a:spLocks xmlns:a="http://schemas.openxmlformats.org/drawingml/2006/main" noGrp="1"/>
          </p:cNvSpPr>
          <p:nvPr/>
        </p:nvSpPr>
        <p:spPr>
          <a:xfrm xmlns:a="http://schemas.openxmlformats.org/drawingml/2006/main">
            <a:off x="419100" y="1714500"/>
            <a:ext cx="54673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29" name="">
            <a:extLst xmlns:a="http://schemas.openxmlformats.org/drawingml/2006/main">
              <a:ext uri="{FF2B5EF4-FFF2-40B4-BE49-F238E27FC236}">
                <a16:creationId xmlns:a16="http://schemas.microsoft.com/office/drawing/2014/main" id="{6015D9E4-EFE9-4205-95EF-AADBC9279845}"/>
              </a:ext>
            </a:extLst>
          </p:cNvPr>
          <p:cNvSpPr>
            <a:spLocks xmlns:a="http://schemas.openxmlformats.org/drawingml/2006/main" noGrp="1"/>
          </p:cNvSpPr>
          <p:nvPr/>
        </p:nvSpPr>
        <p:spPr>
          <a:xfrm xmlns:a="http://schemas.openxmlformats.org/drawingml/2006/main">
            <a:off x="6115050" y="1714500"/>
            <a:ext cx="56578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287BA8"/>
                </a:gs>
                <a:gs pos="100000">
                  <a:srgbClr val="E5E9EB"/>
                </a:gs>
              </a:gsLst>
              <a:lin ang="0"/>
            </a:gradFill>
          </a:ln>
        </p:spPr>
      </p:sp>
      <p:sp>
        <p:nvSpPr>
          <p:cNvPr id="30" name="">
            <a:extLst xmlns:a="http://schemas.openxmlformats.org/drawingml/2006/main">
              <a:ext uri="{FF2B5EF4-FFF2-40B4-BE49-F238E27FC236}">
                <a16:creationId xmlns:a16="http://schemas.microsoft.com/office/drawing/2014/main" id="{ACA8DAEC-5460-4FAE-A55C-B139681490EC}"/>
              </a:ext>
            </a:extLst>
          </p:cNvPr>
          <p:cNvSpPr>
            <a:spLocks xmlns:a="http://schemas.openxmlformats.org/drawingml/2006/main" noGrp="1"/>
          </p:cNvSpPr>
          <p:nvPr/>
        </p:nvSpPr>
        <p:spPr>
          <a:xfrm xmlns:a="http://schemas.openxmlformats.org/drawingml/2006/main">
            <a:off x="647700" y="19526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479754"/>
                </a:solidFill>
                <a:latin typeface="Calibri"/>
                <a:ea typeface="Calibri"/>
                <a:cs typeface="Calibri"/>
              </a:defRPr>
            </a:defPPr>
            <a:lvl1pPr>
              <a:defRPr sz="2025" b="1">
                <a:solidFill>
                  <a:srgbClr val="479754"/>
                </a:solidFill>
                <a:latin typeface="Calibri"/>
                <a:ea typeface="Calibri"/>
                <a:cs typeface="Calibri"/>
              </a:defRPr>
            </a:lvl1pPr>
            <a:lvl2pPr>
              <a:defRPr sz="2025" b="1">
                <a:solidFill>
                  <a:srgbClr val="479754"/>
                </a:solidFill>
                <a:latin typeface="Calibri"/>
                <a:ea typeface="Calibri"/>
                <a:cs typeface="Calibri"/>
              </a:defRPr>
            </a:lvl2pPr>
            <a:lvl3pPr>
              <a:defRPr sz="2025" b="1">
                <a:solidFill>
                  <a:srgbClr val="479754"/>
                </a:solidFill>
                <a:latin typeface="Calibri"/>
                <a:ea typeface="Calibri"/>
                <a:cs typeface="Calibri"/>
              </a:defRPr>
            </a:lvl3pPr>
            <a:lvl4pPr>
              <a:defRPr sz="2025" b="1">
                <a:solidFill>
                  <a:srgbClr val="479754"/>
                </a:solidFill>
                <a:latin typeface="Calibri"/>
                <a:ea typeface="Calibri"/>
                <a:cs typeface="Calibri"/>
              </a:defRPr>
            </a:lvl4pPr>
            <a:lvl5pPr>
              <a:defRPr sz="2025" b="1">
                <a:solidFill>
                  <a:srgbClr val="479754"/>
                </a:solidFill>
                <a:latin typeface="Calibri"/>
                <a:ea typeface="Calibri"/>
                <a:cs typeface="Calibri"/>
              </a:defRPr>
            </a:lvl5pPr>
            <a:lvl6pPr>
              <a:defRPr sz="2025" b="1">
                <a:solidFill>
                  <a:srgbClr val="479754"/>
                </a:solidFill>
                <a:latin typeface="Calibri"/>
                <a:ea typeface="Calibri"/>
                <a:cs typeface="Calibri"/>
              </a:defRPr>
            </a:lvl6pPr>
            <a:lvl7pPr>
              <a:defRPr sz="2025" b="1">
                <a:solidFill>
                  <a:srgbClr val="479754"/>
                </a:solidFill>
                <a:latin typeface="Calibri"/>
                <a:ea typeface="Calibri"/>
                <a:cs typeface="Calibri"/>
              </a:defRPr>
            </a:lvl7pPr>
            <a:lvl8pPr>
              <a:defRPr sz="2025" b="1">
                <a:solidFill>
                  <a:srgbClr val="479754"/>
                </a:solidFill>
                <a:latin typeface="Calibri"/>
                <a:ea typeface="Calibri"/>
                <a:cs typeface="Calibri"/>
              </a:defRPr>
            </a:lvl8pPr>
            <a:lvl9pPr>
              <a:defRPr sz="2025" b="1">
                <a:solidFill>
                  <a:srgbClr val="479754"/>
                </a:solidFill>
                <a:latin typeface="Calibri"/>
                <a:ea typeface="Calibri"/>
                <a:cs typeface="Calibri"/>
              </a:defRPr>
            </a:lvl9pPr>
          </a:lstStyle>
          <a:p xmlns:a="http://schemas.openxmlformats.org/drawingml/2006/main">
            <a:pPr>
              <a:defRPr sz="2025" b="1">
                <a:solidFill>
                  <a:srgbClr val="479754"/>
                </a:solidFill>
                <a:latin typeface="Calibri"/>
                <a:ea typeface="Calibri"/>
                <a:cs typeface="Calibri"/>
              </a:defRPr>
            </a:pPr>
            <a:r>
              <a:rPr sz="2025" b="1">
                <a:solidFill>
                  <a:srgbClr val="479754"/>
                </a:solidFill>
                <a:latin typeface="Calibri"/>
                <a:ea typeface="Calibri"/>
                <a:cs typeface="Calibri"/>
              </a:rPr>
              <a:t>Risk investigation</a:t>
            </a:r>
          </a:p>
        </p:txBody>
      </p:sp>
      <p:sp>
        <p:nvSpPr>
          <p:cNvPr id="31" name="">
            <a:extLst xmlns:a="http://schemas.openxmlformats.org/drawingml/2006/main">
              <a:ext uri="{FF2B5EF4-FFF2-40B4-BE49-F238E27FC236}">
                <a16:creationId xmlns:a16="http://schemas.microsoft.com/office/drawing/2014/main" id="{DF332143-F6CD-4034-98E6-92DBC1321824}"/>
              </a:ext>
            </a:extLst>
          </p:cNvPr>
          <p:cNvSpPr>
            <a:spLocks xmlns:a="http://schemas.openxmlformats.org/drawingml/2006/main" noGrp="1"/>
          </p:cNvSpPr>
          <p:nvPr/>
        </p:nvSpPr>
        <p:spPr>
          <a:xfrm xmlns:a="http://schemas.openxmlformats.org/drawingml/2006/main">
            <a:off x="647700" y="2590800"/>
            <a:ext cx="4924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Question: Why is an IPA’s risk score lower?</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Recreate the analyst’s bridge across membership, MMR, claims and risk references.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Measure: correct drivers and time saved.</a:t>
            </a:r>
          </a:p>
        </p:txBody>
      </p:sp>
      <p:sp>
        <p:nvSpPr>
          <p:cNvPr id="32" name="">
            <a:extLst xmlns:a="http://schemas.openxmlformats.org/drawingml/2006/main">
              <a:ext uri="{FF2B5EF4-FFF2-40B4-BE49-F238E27FC236}">
                <a16:creationId xmlns:a16="http://schemas.microsoft.com/office/drawing/2014/main" id="{DBA47AF8-268E-47C2-B315-07442227BA9D}"/>
              </a:ext>
            </a:extLst>
          </p:cNvPr>
          <p:cNvSpPr>
            <a:spLocks xmlns:a="http://schemas.openxmlformats.org/drawingml/2006/main" noGrp="1"/>
          </p:cNvSpPr>
          <p:nvPr/>
        </p:nvSpPr>
        <p:spPr>
          <a:xfrm xmlns:a="http://schemas.openxmlformats.org/drawingml/2006/main">
            <a:off x="6343650" y="19526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7BA8"/>
                </a:solidFill>
                <a:latin typeface="Calibri"/>
                <a:ea typeface="Calibri"/>
                <a:cs typeface="Calibri"/>
              </a:defRPr>
            </a:defPPr>
            <a:lvl1pPr>
              <a:defRPr sz="2025" b="1">
                <a:solidFill>
                  <a:srgbClr val="287BA8"/>
                </a:solidFill>
                <a:latin typeface="Calibri"/>
                <a:ea typeface="Calibri"/>
                <a:cs typeface="Calibri"/>
              </a:defRPr>
            </a:lvl1pPr>
            <a:lvl2pPr>
              <a:defRPr sz="2025" b="1">
                <a:solidFill>
                  <a:srgbClr val="287BA8"/>
                </a:solidFill>
                <a:latin typeface="Calibri"/>
                <a:ea typeface="Calibri"/>
                <a:cs typeface="Calibri"/>
              </a:defRPr>
            </a:lvl2pPr>
            <a:lvl3pPr>
              <a:defRPr sz="2025" b="1">
                <a:solidFill>
                  <a:srgbClr val="287BA8"/>
                </a:solidFill>
                <a:latin typeface="Calibri"/>
                <a:ea typeface="Calibri"/>
                <a:cs typeface="Calibri"/>
              </a:defRPr>
            </a:lvl3pPr>
            <a:lvl4pPr>
              <a:defRPr sz="2025" b="1">
                <a:solidFill>
                  <a:srgbClr val="287BA8"/>
                </a:solidFill>
                <a:latin typeface="Calibri"/>
                <a:ea typeface="Calibri"/>
                <a:cs typeface="Calibri"/>
              </a:defRPr>
            </a:lvl4pPr>
            <a:lvl5pPr>
              <a:defRPr sz="2025" b="1">
                <a:solidFill>
                  <a:srgbClr val="287BA8"/>
                </a:solidFill>
                <a:latin typeface="Calibri"/>
                <a:ea typeface="Calibri"/>
                <a:cs typeface="Calibri"/>
              </a:defRPr>
            </a:lvl5pPr>
            <a:lvl6pPr>
              <a:defRPr sz="2025" b="1">
                <a:solidFill>
                  <a:srgbClr val="287BA8"/>
                </a:solidFill>
                <a:latin typeface="Calibri"/>
                <a:ea typeface="Calibri"/>
                <a:cs typeface="Calibri"/>
              </a:defRPr>
            </a:lvl6pPr>
            <a:lvl7pPr>
              <a:defRPr sz="2025" b="1">
                <a:solidFill>
                  <a:srgbClr val="287BA8"/>
                </a:solidFill>
                <a:latin typeface="Calibri"/>
                <a:ea typeface="Calibri"/>
                <a:cs typeface="Calibri"/>
              </a:defRPr>
            </a:lvl7pPr>
            <a:lvl8pPr>
              <a:defRPr sz="2025" b="1">
                <a:solidFill>
                  <a:srgbClr val="287BA8"/>
                </a:solidFill>
                <a:latin typeface="Calibri"/>
                <a:ea typeface="Calibri"/>
                <a:cs typeface="Calibri"/>
              </a:defRPr>
            </a:lvl8pPr>
            <a:lvl9pPr>
              <a:defRPr sz="2025" b="1">
                <a:solidFill>
                  <a:srgbClr val="287BA8"/>
                </a:solidFill>
                <a:latin typeface="Calibri"/>
                <a:ea typeface="Calibri"/>
                <a:cs typeface="Calibri"/>
              </a:defRPr>
            </a:lvl9pPr>
          </a:lstStyle>
          <a:p xmlns:a="http://schemas.openxmlformats.org/drawingml/2006/main">
            <a:pPr>
              <a:defRPr sz="2025" b="1">
                <a:solidFill>
                  <a:srgbClr val="287BA8"/>
                </a:solidFill>
                <a:latin typeface="Calibri"/>
                <a:ea typeface="Calibri"/>
                <a:cs typeface="Calibri"/>
              </a:defRPr>
            </a:pPr>
            <a:r>
              <a:rPr sz="2025" b="1">
                <a:solidFill>
                  <a:srgbClr val="287BA8"/>
                </a:solidFill>
                <a:latin typeface="Calibri"/>
                <a:ea typeface="Calibri"/>
                <a:cs typeface="Calibri"/>
              </a:rPr>
              <a:t>Chart evidence</a:t>
            </a:r>
          </a:p>
        </p:txBody>
      </p:sp>
      <p:sp>
        <p:nvSpPr>
          <p:cNvPr id="33" name="">
            <a:extLst xmlns:a="http://schemas.openxmlformats.org/drawingml/2006/main">
              <a:ext uri="{FF2B5EF4-FFF2-40B4-BE49-F238E27FC236}">
                <a16:creationId xmlns:a16="http://schemas.microsoft.com/office/drawing/2014/main" id="{0D472F84-3081-4DC6-93A6-14074F8B5DC7}"/>
              </a:ext>
            </a:extLst>
          </p:cNvPr>
          <p:cNvSpPr>
            <a:spLocks xmlns:a="http://schemas.openxmlformats.org/drawingml/2006/main" noGrp="1"/>
          </p:cNvSpPr>
          <p:nvPr/>
        </p:nvSpPr>
        <p:spPr>
          <a:xfrm xmlns:a="http://schemas.openxmlformats.org/drawingml/2006/main">
            <a:off x="6343650" y="2590800"/>
            <a:ext cx="51149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Extract clinical evidence from digital and handwritten charts with page references.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Compare against SME decisions.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Measure: extraction accuracy, review effort and cost.</a:t>
            </a:r>
          </a:p>
        </p:txBody>
      </p:sp>
    </p:spTree>
    <p:extLst>
      <p:ext uri="{BB962C8B-B14F-4D97-AF65-F5344CB8AC3E}">
        <p14:creationId xmlns:p14="http://schemas.microsoft.com/office/powerpoint/2010/main" val="167217552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Managed Azure shortlist</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Use services where they remove provisioning and maintenance work.</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Queries calculate structured metrics. Retrieval supplies documents. The LLM explains both.</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FFDFF1DA-3561-4D70-9D34-DED53DB42624}"/>
              </a:ext>
            </a:extLst>
          </p:cNvPr>
          <p:cNvSpPr>
            <a:spLocks xmlns:a="http://schemas.openxmlformats.org/drawingml/2006/main" noGrp="1"/>
          </p:cNvSpPr>
          <p:nvPr/>
        </p:nvSpPr>
        <p:spPr>
          <a:xfrm xmlns:a="http://schemas.openxmlformats.org/drawingml/2006/main">
            <a:off x="419100" y="1714500"/>
            <a:ext cx="54673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29" name="">
            <a:extLst xmlns:a="http://schemas.openxmlformats.org/drawingml/2006/main">
              <a:ext uri="{FF2B5EF4-FFF2-40B4-BE49-F238E27FC236}">
                <a16:creationId xmlns:a16="http://schemas.microsoft.com/office/drawing/2014/main" id="{7BDCD1F0-6772-4169-A12B-38B73AB18C22}"/>
              </a:ext>
            </a:extLst>
          </p:cNvPr>
          <p:cNvSpPr>
            <a:spLocks xmlns:a="http://schemas.openxmlformats.org/drawingml/2006/main" noGrp="1"/>
          </p:cNvSpPr>
          <p:nvPr/>
        </p:nvSpPr>
        <p:spPr>
          <a:xfrm xmlns:a="http://schemas.openxmlformats.org/drawingml/2006/main">
            <a:off x="6115050" y="1714500"/>
            <a:ext cx="56578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287BA8"/>
                </a:gs>
                <a:gs pos="100000">
                  <a:srgbClr val="E5E9EB"/>
                </a:gs>
              </a:gsLst>
              <a:lin ang="0"/>
            </a:gradFill>
          </a:ln>
        </p:spPr>
      </p:sp>
      <p:sp>
        <p:nvSpPr>
          <p:cNvPr id="30" name="">
            <a:extLst xmlns:a="http://schemas.openxmlformats.org/drawingml/2006/main">
              <a:ext uri="{FF2B5EF4-FFF2-40B4-BE49-F238E27FC236}">
                <a16:creationId xmlns:a16="http://schemas.microsoft.com/office/drawing/2014/main" id="{8242C305-9BAF-4A36-908F-BAB0C1174B35}"/>
              </a:ext>
            </a:extLst>
          </p:cNvPr>
          <p:cNvSpPr>
            <a:spLocks xmlns:a="http://schemas.openxmlformats.org/drawingml/2006/main" noGrp="1"/>
          </p:cNvSpPr>
          <p:nvPr/>
        </p:nvSpPr>
        <p:spPr>
          <a:xfrm xmlns:a="http://schemas.openxmlformats.org/drawingml/2006/main">
            <a:off x="647700" y="19526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479754"/>
                </a:solidFill>
                <a:latin typeface="Calibri"/>
                <a:ea typeface="Calibri"/>
                <a:cs typeface="Calibri"/>
              </a:defRPr>
            </a:defPPr>
            <a:lvl1pPr>
              <a:defRPr sz="2025" b="1">
                <a:solidFill>
                  <a:srgbClr val="479754"/>
                </a:solidFill>
                <a:latin typeface="Calibri"/>
                <a:ea typeface="Calibri"/>
                <a:cs typeface="Calibri"/>
              </a:defRPr>
            </a:lvl1pPr>
            <a:lvl2pPr>
              <a:defRPr sz="2025" b="1">
                <a:solidFill>
                  <a:srgbClr val="479754"/>
                </a:solidFill>
                <a:latin typeface="Calibri"/>
                <a:ea typeface="Calibri"/>
                <a:cs typeface="Calibri"/>
              </a:defRPr>
            </a:lvl2pPr>
            <a:lvl3pPr>
              <a:defRPr sz="2025" b="1">
                <a:solidFill>
                  <a:srgbClr val="479754"/>
                </a:solidFill>
                <a:latin typeface="Calibri"/>
                <a:ea typeface="Calibri"/>
                <a:cs typeface="Calibri"/>
              </a:defRPr>
            </a:lvl3pPr>
            <a:lvl4pPr>
              <a:defRPr sz="2025" b="1">
                <a:solidFill>
                  <a:srgbClr val="479754"/>
                </a:solidFill>
                <a:latin typeface="Calibri"/>
                <a:ea typeface="Calibri"/>
                <a:cs typeface="Calibri"/>
              </a:defRPr>
            </a:lvl4pPr>
            <a:lvl5pPr>
              <a:defRPr sz="2025" b="1">
                <a:solidFill>
                  <a:srgbClr val="479754"/>
                </a:solidFill>
                <a:latin typeface="Calibri"/>
                <a:ea typeface="Calibri"/>
                <a:cs typeface="Calibri"/>
              </a:defRPr>
            </a:lvl5pPr>
            <a:lvl6pPr>
              <a:defRPr sz="2025" b="1">
                <a:solidFill>
                  <a:srgbClr val="479754"/>
                </a:solidFill>
                <a:latin typeface="Calibri"/>
                <a:ea typeface="Calibri"/>
                <a:cs typeface="Calibri"/>
              </a:defRPr>
            </a:lvl6pPr>
            <a:lvl7pPr>
              <a:defRPr sz="2025" b="1">
                <a:solidFill>
                  <a:srgbClr val="479754"/>
                </a:solidFill>
                <a:latin typeface="Calibri"/>
                <a:ea typeface="Calibri"/>
                <a:cs typeface="Calibri"/>
              </a:defRPr>
            </a:lvl7pPr>
            <a:lvl8pPr>
              <a:defRPr sz="2025" b="1">
                <a:solidFill>
                  <a:srgbClr val="479754"/>
                </a:solidFill>
                <a:latin typeface="Calibri"/>
                <a:ea typeface="Calibri"/>
                <a:cs typeface="Calibri"/>
              </a:defRPr>
            </a:lvl8pPr>
            <a:lvl9pPr>
              <a:defRPr sz="2025" b="1">
                <a:solidFill>
                  <a:srgbClr val="479754"/>
                </a:solidFill>
                <a:latin typeface="Calibri"/>
                <a:ea typeface="Calibri"/>
                <a:cs typeface="Calibri"/>
              </a:defRPr>
            </a:lvl9pPr>
          </a:lstStyle>
          <a:p xmlns:a="http://schemas.openxmlformats.org/drawingml/2006/main">
            <a:pPr>
              <a:defRPr sz="2025" b="1">
                <a:solidFill>
                  <a:srgbClr val="479754"/>
                </a:solidFill>
                <a:latin typeface="Calibri"/>
                <a:ea typeface="Calibri"/>
                <a:cs typeface="Calibri"/>
              </a:defRPr>
            </a:pPr>
            <a:r>
              <a:rPr sz="2025" b="1">
                <a:solidFill>
                  <a:srgbClr val="479754"/>
                </a:solidFill>
                <a:latin typeface="Calibri"/>
                <a:ea typeface="Calibri"/>
                <a:cs typeface="Calibri"/>
              </a:rPr>
              <a:t>Core for pilot</a:t>
            </a:r>
          </a:p>
        </p:txBody>
      </p:sp>
      <p:sp>
        <p:nvSpPr>
          <p:cNvPr id="31" name="">
            <a:extLst xmlns:a="http://schemas.openxmlformats.org/drawingml/2006/main">
              <a:ext uri="{FF2B5EF4-FFF2-40B4-BE49-F238E27FC236}">
                <a16:creationId xmlns:a16="http://schemas.microsoft.com/office/drawing/2014/main" id="{E064044A-0909-45A2-8EBD-8B019B0A0730}"/>
              </a:ext>
            </a:extLst>
          </p:cNvPr>
          <p:cNvSpPr>
            <a:spLocks xmlns:a="http://schemas.openxmlformats.org/drawingml/2006/main" noGrp="1"/>
          </p:cNvSpPr>
          <p:nvPr/>
        </p:nvSpPr>
        <p:spPr>
          <a:xfrm xmlns:a="http://schemas.openxmlformats.org/drawingml/2006/main">
            <a:off x="647700" y="2590800"/>
            <a:ext cx="4924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Microsoft Foundry: approved model deployment and project boundary.</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Foundry evaluation and Azure Monitor: quality, latency and cost.</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Document Intelligence: chart reading.</a:t>
            </a:r>
          </a:p>
        </p:txBody>
      </p:sp>
      <p:sp>
        <p:nvSpPr>
          <p:cNvPr id="32" name="">
            <a:extLst xmlns:a="http://schemas.openxmlformats.org/drawingml/2006/main">
              <a:ext uri="{FF2B5EF4-FFF2-40B4-BE49-F238E27FC236}">
                <a16:creationId xmlns:a16="http://schemas.microsoft.com/office/drawing/2014/main" id="{31F5C281-6D0E-45F0-92BE-85A0650901EC}"/>
              </a:ext>
            </a:extLst>
          </p:cNvPr>
          <p:cNvSpPr>
            <a:spLocks xmlns:a="http://schemas.openxmlformats.org/drawingml/2006/main" noGrp="1"/>
          </p:cNvSpPr>
          <p:nvPr/>
        </p:nvSpPr>
        <p:spPr>
          <a:xfrm xmlns:a="http://schemas.openxmlformats.org/drawingml/2006/main">
            <a:off x="6343650" y="19526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7BA8"/>
                </a:solidFill>
                <a:latin typeface="Calibri"/>
                <a:ea typeface="Calibri"/>
                <a:cs typeface="Calibri"/>
              </a:defRPr>
            </a:defPPr>
            <a:lvl1pPr>
              <a:defRPr sz="2025" b="1">
                <a:solidFill>
                  <a:srgbClr val="287BA8"/>
                </a:solidFill>
                <a:latin typeface="Calibri"/>
                <a:ea typeface="Calibri"/>
                <a:cs typeface="Calibri"/>
              </a:defRPr>
            </a:lvl1pPr>
            <a:lvl2pPr>
              <a:defRPr sz="2025" b="1">
                <a:solidFill>
                  <a:srgbClr val="287BA8"/>
                </a:solidFill>
                <a:latin typeface="Calibri"/>
                <a:ea typeface="Calibri"/>
                <a:cs typeface="Calibri"/>
              </a:defRPr>
            </a:lvl2pPr>
            <a:lvl3pPr>
              <a:defRPr sz="2025" b="1">
                <a:solidFill>
                  <a:srgbClr val="287BA8"/>
                </a:solidFill>
                <a:latin typeface="Calibri"/>
                <a:ea typeface="Calibri"/>
                <a:cs typeface="Calibri"/>
              </a:defRPr>
            </a:lvl3pPr>
            <a:lvl4pPr>
              <a:defRPr sz="2025" b="1">
                <a:solidFill>
                  <a:srgbClr val="287BA8"/>
                </a:solidFill>
                <a:latin typeface="Calibri"/>
                <a:ea typeface="Calibri"/>
                <a:cs typeface="Calibri"/>
              </a:defRPr>
            </a:lvl4pPr>
            <a:lvl5pPr>
              <a:defRPr sz="2025" b="1">
                <a:solidFill>
                  <a:srgbClr val="287BA8"/>
                </a:solidFill>
                <a:latin typeface="Calibri"/>
                <a:ea typeface="Calibri"/>
                <a:cs typeface="Calibri"/>
              </a:defRPr>
            </a:lvl5pPr>
            <a:lvl6pPr>
              <a:defRPr sz="2025" b="1">
                <a:solidFill>
                  <a:srgbClr val="287BA8"/>
                </a:solidFill>
                <a:latin typeface="Calibri"/>
                <a:ea typeface="Calibri"/>
                <a:cs typeface="Calibri"/>
              </a:defRPr>
            </a:lvl6pPr>
            <a:lvl7pPr>
              <a:defRPr sz="2025" b="1">
                <a:solidFill>
                  <a:srgbClr val="287BA8"/>
                </a:solidFill>
                <a:latin typeface="Calibri"/>
                <a:ea typeface="Calibri"/>
                <a:cs typeface="Calibri"/>
              </a:defRPr>
            </a:lvl7pPr>
            <a:lvl8pPr>
              <a:defRPr sz="2025" b="1">
                <a:solidFill>
                  <a:srgbClr val="287BA8"/>
                </a:solidFill>
                <a:latin typeface="Calibri"/>
                <a:ea typeface="Calibri"/>
                <a:cs typeface="Calibri"/>
              </a:defRPr>
            </a:lvl8pPr>
            <a:lvl9pPr>
              <a:defRPr sz="2025" b="1">
                <a:solidFill>
                  <a:srgbClr val="287BA8"/>
                </a:solidFill>
                <a:latin typeface="Calibri"/>
                <a:ea typeface="Calibri"/>
                <a:cs typeface="Calibri"/>
              </a:defRPr>
            </a:lvl9pPr>
          </a:lstStyle>
          <a:p xmlns:a="http://schemas.openxmlformats.org/drawingml/2006/main">
            <a:pPr>
              <a:defRPr sz="2025" b="1">
                <a:solidFill>
                  <a:srgbClr val="287BA8"/>
                </a:solidFill>
                <a:latin typeface="Calibri"/>
                <a:ea typeface="Calibri"/>
                <a:cs typeface="Calibri"/>
              </a:defRPr>
            </a:pPr>
            <a:r>
              <a:rPr sz="2025" b="1">
                <a:solidFill>
                  <a:srgbClr val="287BA8"/>
                </a:solidFill>
                <a:latin typeface="Calibri"/>
                <a:ea typeface="Calibri"/>
                <a:cs typeface="Calibri"/>
              </a:rPr>
              <a:t>Add when needed</a:t>
            </a:r>
          </a:p>
        </p:txBody>
      </p:sp>
      <p:sp>
        <p:nvSpPr>
          <p:cNvPr id="33" name="">
            <a:extLst xmlns:a="http://schemas.openxmlformats.org/drawingml/2006/main">
              <a:ext uri="{FF2B5EF4-FFF2-40B4-BE49-F238E27FC236}">
                <a16:creationId xmlns:a16="http://schemas.microsoft.com/office/drawing/2014/main" id="{C4611EE9-811B-45DE-99EA-18CBB5631683}"/>
              </a:ext>
            </a:extLst>
          </p:cNvPr>
          <p:cNvSpPr>
            <a:spLocks xmlns:a="http://schemas.openxmlformats.org/drawingml/2006/main" noGrp="1"/>
          </p:cNvSpPr>
          <p:nvPr/>
        </p:nvSpPr>
        <p:spPr>
          <a:xfrm xmlns:a="http://schemas.openxmlformats.org/drawingml/2006/main">
            <a:off x="6343650" y="2590800"/>
            <a:ext cx="51149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Azure AI Search: guidance and document retrieval.</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Agent Service: managed runtime if tool orchestration adds value.</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Fabric semantic model: if it fits the future data architecture.</a:t>
            </a:r>
          </a:p>
        </p:txBody>
      </p:sp>
    </p:spTree>
    <p:extLst>
      <p:ext uri="{BB962C8B-B14F-4D97-AF65-F5344CB8AC3E}">
        <p14:creationId xmlns:p14="http://schemas.microsoft.com/office/powerpoint/2010/main" val="167217552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Security is a design gate</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A model approval covers one component, not the whole data flow.</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Internal use alone does not authorize PHI. Paul and IT approve the exact configuration.</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19178ED0-7F78-4BEC-A4C5-A01CE3F6D88D}"/>
              </a:ext>
            </a:extLst>
          </p:cNvPr>
          <p:cNvSpPr>
            <a:spLocks xmlns:a="http://schemas.openxmlformats.org/drawingml/2006/main" noGrp="1"/>
          </p:cNvSpPr>
          <p:nvPr/>
        </p:nvSpPr>
        <p:spPr>
          <a:xfrm xmlns:a="http://schemas.openxmlformats.org/drawingml/2006/main">
            <a:off x="419100" y="1714500"/>
            <a:ext cx="54673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29" name="">
            <a:extLst xmlns:a="http://schemas.openxmlformats.org/drawingml/2006/main">
              <a:ext uri="{FF2B5EF4-FFF2-40B4-BE49-F238E27FC236}">
                <a16:creationId xmlns:a16="http://schemas.microsoft.com/office/drawing/2014/main" id="{3BD8D327-EFE7-499A-BB2C-018FBAD1C74C}"/>
              </a:ext>
            </a:extLst>
          </p:cNvPr>
          <p:cNvSpPr>
            <a:spLocks xmlns:a="http://schemas.openxmlformats.org/drawingml/2006/main" noGrp="1"/>
          </p:cNvSpPr>
          <p:nvPr/>
        </p:nvSpPr>
        <p:spPr>
          <a:xfrm xmlns:a="http://schemas.openxmlformats.org/drawingml/2006/main">
            <a:off x="6115050" y="1714500"/>
            <a:ext cx="56578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287BA8"/>
                </a:gs>
                <a:gs pos="100000">
                  <a:srgbClr val="E5E9EB"/>
                </a:gs>
              </a:gsLst>
              <a:lin ang="0"/>
            </a:gradFill>
          </a:ln>
        </p:spPr>
      </p:sp>
      <p:sp>
        <p:nvSpPr>
          <p:cNvPr id="30" name="">
            <a:extLst xmlns:a="http://schemas.openxmlformats.org/drawingml/2006/main">
              <a:ext uri="{FF2B5EF4-FFF2-40B4-BE49-F238E27FC236}">
                <a16:creationId xmlns:a16="http://schemas.microsoft.com/office/drawing/2014/main" id="{55E8411A-6B45-4E1B-86C4-2B2C0F509873}"/>
              </a:ext>
            </a:extLst>
          </p:cNvPr>
          <p:cNvSpPr>
            <a:spLocks xmlns:a="http://schemas.openxmlformats.org/drawingml/2006/main" noGrp="1"/>
          </p:cNvSpPr>
          <p:nvPr/>
        </p:nvSpPr>
        <p:spPr>
          <a:xfrm xmlns:a="http://schemas.openxmlformats.org/drawingml/2006/main">
            <a:off x="647700" y="19526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479754"/>
                </a:solidFill>
                <a:latin typeface="Calibri"/>
                <a:ea typeface="Calibri"/>
                <a:cs typeface="Calibri"/>
              </a:defRPr>
            </a:defPPr>
            <a:lvl1pPr>
              <a:defRPr sz="2025" b="1">
                <a:solidFill>
                  <a:srgbClr val="479754"/>
                </a:solidFill>
                <a:latin typeface="Calibri"/>
                <a:ea typeface="Calibri"/>
                <a:cs typeface="Calibri"/>
              </a:defRPr>
            </a:lvl1pPr>
            <a:lvl2pPr>
              <a:defRPr sz="2025" b="1">
                <a:solidFill>
                  <a:srgbClr val="479754"/>
                </a:solidFill>
                <a:latin typeface="Calibri"/>
                <a:ea typeface="Calibri"/>
                <a:cs typeface="Calibri"/>
              </a:defRPr>
            </a:lvl2pPr>
            <a:lvl3pPr>
              <a:defRPr sz="2025" b="1">
                <a:solidFill>
                  <a:srgbClr val="479754"/>
                </a:solidFill>
                <a:latin typeface="Calibri"/>
                <a:ea typeface="Calibri"/>
                <a:cs typeface="Calibri"/>
              </a:defRPr>
            </a:lvl3pPr>
            <a:lvl4pPr>
              <a:defRPr sz="2025" b="1">
                <a:solidFill>
                  <a:srgbClr val="479754"/>
                </a:solidFill>
                <a:latin typeface="Calibri"/>
                <a:ea typeface="Calibri"/>
                <a:cs typeface="Calibri"/>
              </a:defRPr>
            </a:lvl4pPr>
            <a:lvl5pPr>
              <a:defRPr sz="2025" b="1">
                <a:solidFill>
                  <a:srgbClr val="479754"/>
                </a:solidFill>
                <a:latin typeface="Calibri"/>
                <a:ea typeface="Calibri"/>
                <a:cs typeface="Calibri"/>
              </a:defRPr>
            </a:lvl5pPr>
            <a:lvl6pPr>
              <a:defRPr sz="2025" b="1">
                <a:solidFill>
                  <a:srgbClr val="479754"/>
                </a:solidFill>
                <a:latin typeface="Calibri"/>
                <a:ea typeface="Calibri"/>
                <a:cs typeface="Calibri"/>
              </a:defRPr>
            </a:lvl6pPr>
            <a:lvl7pPr>
              <a:defRPr sz="2025" b="1">
                <a:solidFill>
                  <a:srgbClr val="479754"/>
                </a:solidFill>
                <a:latin typeface="Calibri"/>
                <a:ea typeface="Calibri"/>
                <a:cs typeface="Calibri"/>
              </a:defRPr>
            </a:lvl7pPr>
            <a:lvl8pPr>
              <a:defRPr sz="2025" b="1">
                <a:solidFill>
                  <a:srgbClr val="479754"/>
                </a:solidFill>
                <a:latin typeface="Calibri"/>
                <a:ea typeface="Calibri"/>
                <a:cs typeface="Calibri"/>
              </a:defRPr>
            </a:lvl8pPr>
            <a:lvl9pPr>
              <a:defRPr sz="2025" b="1">
                <a:solidFill>
                  <a:srgbClr val="479754"/>
                </a:solidFill>
                <a:latin typeface="Calibri"/>
                <a:ea typeface="Calibri"/>
                <a:cs typeface="Calibri"/>
              </a:defRPr>
            </a:lvl9pPr>
          </a:lstStyle>
          <a:p xmlns:a="http://schemas.openxmlformats.org/drawingml/2006/main">
            <a:pPr>
              <a:defRPr sz="2025" b="1">
                <a:solidFill>
                  <a:srgbClr val="479754"/>
                </a:solidFill>
                <a:latin typeface="Calibri"/>
                <a:ea typeface="Calibri"/>
                <a:cs typeface="Calibri"/>
              </a:defRPr>
            </a:pPr>
            <a:r>
              <a:rPr sz="2025" b="1">
                <a:solidFill>
                  <a:srgbClr val="479754"/>
                </a:solidFill>
                <a:latin typeface="Calibri"/>
                <a:ea typeface="Calibri"/>
                <a:cs typeface="Calibri"/>
              </a:rPr>
              <a:t>Pilot boundary</a:t>
            </a:r>
          </a:p>
        </p:txBody>
      </p:sp>
      <p:sp>
        <p:nvSpPr>
          <p:cNvPr id="31" name="">
            <a:extLst xmlns:a="http://schemas.openxmlformats.org/drawingml/2006/main">
              <a:ext uri="{FF2B5EF4-FFF2-40B4-BE49-F238E27FC236}">
                <a16:creationId xmlns:a16="http://schemas.microsoft.com/office/drawing/2014/main" id="{84C5E7CB-9CF1-4282-9AD0-7D6A7182CC7E}"/>
              </a:ext>
            </a:extLst>
          </p:cNvPr>
          <p:cNvSpPr>
            <a:spLocks xmlns:a="http://schemas.openxmlformats.org/drawingml/2006/main" noGrp="1"/>
          </p:cNvSpPr>
          <p:nvPr/>
        </p:nvSpPr>
        <p:spPr>
          <a:xfrm xmlns:a="http://schemas.openxmlformats.org/drawingml/2006/main">
            <a:off x="647700" y="2590800"/>
            <a:ext cx="4924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Synthetic data first.</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Approved Azure model and processing geography.</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Entra identity, least privilege and read-only tools.</a:t>
            </a:r>
          </a:p>
        </p:txBody>
      </p:sp>
      <p:sp>
        <p:nvSpPr>
          <p:cNvPr id="32" name="">
            <a:extLst xmlns:a="http://schemas.openxmlformats.org/drawingml/2006/main">
              <a:ext uri="{FF2B5EF4-FFF2-40B4-BE49-F238E27FC236}">
                <a16:creationId xmlns:a16="http://schemas.microsoft.com/office/drawing/2014/main" id="{79EC7AF7-D751-4E0A-9584-2823FFE62498}"/>
              </a:ext>
            </a:extLst>
          </p:cNvPr>
          <p:cNvSpPr>
            <a:spLocks xmlns:a="http://schemas.openxmlformats.org/drawingml/2006/main" noGrp="1"/>
          </p:cNvSpPr>
          <p:nvPr/>
        </p:nvSpPr>
        <p:spPr>
          <a:xfrm xmlns:a="http://schemas.openxmlformats.org/drawingml/2006/main">
            <a:off x="6343650" y="19526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7BA8"/>
                </a:solidFill>
                <a:latin typeface="Calibri"/>
                <a:ea typeface="Calibri"/>
                <a:cs typeface="Calibri"/>
              </a:defRPr>
            </a:defPPr>
            <a:lvl1pPr>
              <a:defRPr sz="2025" b="1">
                <a:solidFill>
                  <a:srgbClr val="287BA8"/>
                </a:solidFill>
                <a:latin typeface="Calibri"/>
                <a:ea typeface="Calibri"/>
                <a:cs typeface="Calibri"/>
              </a:defRPr>
            </a:lvl1pPr>
            <a:lvl2pPr>
              <a:defRPr sz="2025" b="1">
                <a:solidFill>
                  <a:srgbClr val="287BA8"/>
                </a:solidFill>
                <a:latin typeface="Calibri"/>
                <a:ea typeface="Calibri"/>
                <a:cs typeface="Calibri"/>
              </a:defRPr>
            </a:lvl2pPr>
            <a:lvl3pPr>
              <a:defRPr sz="2025" b="1">
                <a:solidFill>
                  <a:srgbClr val="287BA8"/>
                </a:solidFill>
                <a:latin typeface="Calibri"/>
                <a:ea typeface="Calibri"/>
                <a:cs typeface="Calibri"/>
              </a:defRPr>
            </a:lvl3pPr>
            <a:lvl4pPr>
              <a:defRPr sz="2025" b="1">
                <a:solidFill>
                  <a:srgbClr val="287BA8"/>
                </a:solidFill>
                <a:latin typeface="Calibri"/>
                <a:ea typeface="Calibri"/>
                <a:cs typeface="Calibri"/>
              </a:defRPr>
            </a:lvl4pPr>
            <a:lvl5pPr>
              <a:defRPr sz="2025" b="1">
                <a:solidFill>
                  <a:srgbClr val="287BA8"/>
                </a:solidFill>
                <a:latin typeface="Calibri"/>
                <a:ea typeface="Calibri"/>
                <a:cs typeface="Calibri"/>
              </a:defRPr>
            </a:lvl5pPr>
            <a:lvl6pPr>
              <a:defRPr sz="2025" b="1">
                <a:solidFill>
                  <a:srgbClr val="287BA8"/>
                </a:solidFill>
                <a:latin typeface="Calibri"/>
                <a:ea typeface="Calibri"/>
                <a:cs typeface="Calibri"/>
              </a:defRPr>
            </a:lvl6pPr>
            <a:lvl7pPr>
              <a:defRPr sz="2025" b="1">
                <a:solidFill>
                  <a:srgbClr val="287BA8"/>
                </a:solidFill>
                <a:latin typeface="Calibri"/>
                <a:ea typeface="Calibri"/>
                <a:cs typeface="Calibri"/>
              </a:defRPr>
            </a:lvl7pPr>
            <a:lvl8pPr>
              <a:defRPr sz="2025" b="1">
                <a:solidFill>
                  <a:srgbClr val="287BA8"/>
                </a:solidFill>
                <a:latin typeface="Calibri"/>
                <a:ea typeface="Calibri"/>
                <a:cs typeface="Calibri"/>
              </a:defRPr>
            </a:lvl8pPr>
            <a:lvl9pPr>
              <a:defRPr sz="2025" b="1">
                <a:solidFill>
                  <a:srgbClr val="287BA8"/>
                </a:solidFill>
                <a:latin typeface="Calibri"/>
                <a:ea typeface="Calibri"/>
                <a:cs typeface="Calibri"/>
              </a:defRPr>
            </a:lvl9pPr>
          </a:lstStyle>
          <a:p xmlns:a="http://schemas.openxmlformats.org/drawingml/2006/main">
            <a:pPr>
              <a:defRPr sz="2025" b="1">
                <a:solidFill>
                  <a:srgbClr val="287BA8"/>
                </a:solidFill>
                <a:latin typeface="Calibri"/>
                <a:ea typeface="Calibri"/>
                <a:cs typeface="Calibri"/>
              </a:defRPr>
            </a:pPr>
            <a:r>
              <a:rPr sz="2025" b="1">
                <a:solidFill>
                  <a:srgbClr val="287BA8"/>
                </a:solidFill>
                <a:latin typeface="Calibri"/>
                <a:ea typeface="Calibri"/>
                <a:cs typeface="Calibri"/>
              </a:rPr>
              <a:t>PHI gate</a:t>
            </a:r>
          </a:p>
        </p:txBody>
      </p:sp>
      <p:sp>
        <p:nvSpPr>
          <p:cNvPr id="33" name="">
            <a:extLst xmlns:a="http://schemas.openxmlformats.org/drawingml/2006/main">
              <a:ext uri="{FF2B5EF4-FFF2-40B4-BE49-F238E27FC236}">
                <a16:creationId xmlns:a16="http://schemas.microsoft.com/office/drawing/2014/main" id="{D643F5C4-F122-43CF-AB57-040C4A8ADC7F}"/>
              </a:ext>
            </a:extLst>
          </p:cNvPr>
          <p:cNvSpPr>
            <a:spLocks xmlns:a="http://schemas.openxmlformats.org/drawingml/2006/main" noGrp="1"/>
          </p:cNvSpPr>
          <p:nvPr/>
        </p:nvSpPr>
        <p:spPr>
          <a:xfrm xmlns:a="http://schemas.openxmlformats.org/drawingml/2006/main">
            <a:off x="6343650" y="2590800"/>
            <a:ext cx="51149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Approve chart flow, search index, agent state and logs.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Check private networking, retention and access.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Test leakage, citations and human review.</a:t>
            </a:r>
          </a:p>
        </p:txBody>
      </p:sp>
    </p:spTree>
    <p:extLst>
      <p:ext uri="{BB962C8B-B14F-4D97-AF65-F5344CB8AC3E}">
        <p14:creationId xmlns:p14="http://schemas.microsoft.com/office/powerpoint/2010/main" val="16721755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Ownership and governance</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CareAllies leads the product. IT designs and operates the approved boundary.</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Joint sign-off moves a prototype into a certified business application.</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EBC20B8F-E6BF-4ADD-A895-1939B8256A3E}"/>
              </a:ext>
            </a:extLst>
          </p:cNvPr>
          <p:cNvSpPr>
            <a:spLocks xmlns:a="http://schemas.openxmlformats.org/drawingml/2006/main" noGrp="1"/>
          </p:cNvSpPr>
          <p:nvPr/>
        </p:nvSpPr>
        <p:spPr>
          <a:xfrm xmlns:a="http://schemas.openxmlformats.org/drawingml/2006/main">
            <a:off x="419100" y="1714500"/>
            <a:ext cx="54673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29" name="">
            <a:extLst xmlns:a="http://schemas.openxmlformats.org/drawingml/2006/main">
              <a:ext uri="{FF2B5EF4-FFF2-40B4-BE49-F238E27FC236}">
                <a16:creationId xmlns:a16="http://schemas.microsoft.com/office/drawing/2014/main" id="{DD9A5ECF-C7A1-4EF3-BEB9-7F9DFA15CA29}"/>
              </a:ext>
            </a:extLst>
          </p:cNvPr>
          <p:cNvSpPr>
            <a:spLocks xmlns:a="http://schemas.openxmlformats.org/drawingml/2006/main" noGrp="1"/>
          </p:cNvSpPr>
          <p:nvPr/>
        </p:nvSpPr>
        <p:spPr>
          <a:xfrm xmlns:a="http://schemas.openxmlformats.org/drawingml/2006/main">
            <a:off x="6115050" y="1714500"/>
            <a:ext cx="56578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287BA8"/>
                </a:gs>
                <a:gs pos="100000">
                  <a:srgbClr val="E5E9EB"/>
                </a:gs>
              </a:gsLst>
              <a:lin ang="0"/>
            </a:gradFill>
          </a:ln>
        </p:spPr>
      </p:sp>
      <p:sp>
        <p:nvSpPr>
          <p:cNvPr id="30" name="">
            <a:extLst xmlns:a="http://schemas.openxmlformats.org/drawingml/2006/main">
              <a:ext uri="{FF2B5EF4-FFF2-40B4-BE49-F238E27FC236}">
                <a16:creationId xmlns:a16="http://schemas.microsoft.com/office/drawing/2014/main" id="{53F02E2F-D0F0-4A96-9ACF-25D9EE269911}"/>
              </a:ext>
            </a:extLst>
          </p:cNvPr>
          <p:cNvSpPr>
            <a:spLocks xmlns:a="http://schemas.openxmlformats.org/drawingml/2006/main" noGrp="1"/>
          </p:cNvSpPr>
          <p:nvPr/>
        </p:nvSpPr>
        <p:spPr>
          <a:xfrm xmlns:a="http://schemas.openxmlformats.org/drawingml/2006/main">
            <a:off x="647700" y="19526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479754"/>
                </a:solidFill>
                <a:latin typeface="Calibri"/>
                <a:ea typeface="Calibri"/>
                <a:cs typeface="Calibri"/>
              </a:defRPr>
            </a:defPPr>
            <a:lvl1pPr>
              <a:defRPr sz="2025" b="1">
                <a:solidFill>
                  <a:srgbClr val="479754"/>
                </a:solidFill>
                <a:latin typeface="Calibri"/>
                <a:ea typeface="Calibri"/>
                <a:cs typeface="Calibri"/>
              </a:defRPr>
            </a:lvl1pPr>
            <a:lvl2pPr>
              <a:defRPr sz="2025" b="1">
                <a:solidFill>
                  <a:srgbClr val="479754"/>
                </a:solidFill>
                <a:latin typeface="Calibri"/>
                <a:ea typeface="Calibri"/>
                <a:cs typeface="Calibri"/>
              </a:defRPr>
            </a:lvl2pPr>
            <a:lvl3pPr>
              <a:defRPr sz="2025" b="1">
                <a:solidFill>
                  <a:srgbClr val="479754"/>
                </a:solidFill>
                <a:latin typeface="Calibri"/>
                <a:ea typeface="Calibri"/>
                <a:cs typeface="Calibri"/>
              </a:defRPr>
            </a:lvl3pPr>
            <a:lvl4pPr>
              <a:defRPr sz="2025" b="1">
                <a:solidFill>
                  <a:srgbClr val="479754"/>
                </a:solidFill>
                <a:latin typeface="Calibri"/>
                <a:ea typeface="Calibri"/>
                <a:cs typeface="Calibri"/>
              </a:defRPr>
            </a:lvl4pPr>
            <a:lvl5pPr>
              <a:defRPr sz="2025" b="1">
                <a:solidFill>
                  <a:srgbClr val="479754"/>
                </a:solidFill>
                <a:latin typeface="Calibri"/>
                <a:ea typeface="Calibri"/>
                <a:cs typeface="Calibri"/>
              </a:defRPr>
            </a:lvl5pPr>
            <a:lvl6pPr>
              <a:defRPr sz="2025" b="1">
                <a:solidFill>
                  <a:srgbClr val="479754"/>
                </a:solidFill>
                <a:latin typeface="Calibri"/>
                <a:ea typeface="Calibri"/>
                <a:cs typeface="Calibri"/>
              </a:defRPr>
            </a:lvl6pPr>
            <a:lvl7pPr>
              <a:defRPr sz="2025" b="1">
                <a:solidFill>
                  <a:srgbClr val="479754"/>
                </a:solidFill>
                <a:latin typeface="Calibri"/>
                <a:ea typeface="Calibri"/>
                <a:cs typeface="Calibri"/>
              </a:defRPr>
            </a:lvl7pPr>
            <a:lvl8pPr>
              <a:defRPr sz="2025" b="1">
                <a:solidFill>
                  <a:srgbClr val="479754"/>
                </a:solidFill>
                <a:latin typeface="Calibri"/>
                <a:ea typeface="Calibri"/>
                <a:cs typeface="Calibri"/>
              </a:defRPr>
            </a:lvl8pPr>
            <a:lvl9pPr>
              <a:defRPr sz="2025" b="1">
                <a:solidFill>
                  <a:srgbClr val="479754"/>
                </a:solidFill>
                <a:latin typeface="Calibri"/>
                <a:ea typeface="Calibri"/>
                <a:cs typeface="Calibri"/>
              </a:defRPr>
            </a:lvl9pPr>
          </a:lstStyle>
          <a:p xmlns:a="http://schemas.openxmlformats.org/drawingml/2006/main">
            <a:pPr>
              <a:defRPr sz="2025" b="1">
                <a:solidFill>
                  <a:srgbClr val="479754"/>
                </a:solidFill>
                <a:latin typeface="Calibri"/>
                <a:ea typeface="Calibri"/>
                <a:cs typeface="Calibri"/>
              </a:defRPr>
            </a:pPr>
            <a:r>
              <a:rPr sz="2025" b="1">
                <a:solidFill>
                  <a:srgbClr val="479754"/>
                </a:solidFill>
                <a:latin typeface="Calibri"/>
                <a:ea typeface="Calibri"/>
                <a:cs typeface="Calibri"/>
              </a:rPr>
              <a:t>CareAllies</a:t>
            </a:r>
          </a:p>
        </p:txBody>
      </p:sp>
      <p:sp>
        <p:nvSpPr>
          <p:cNvPr id="31" name="">
            <a:extLst xmlns:a="http://schemas.openxmlformats.org/drawingml/2006/main">
              <a:ext uri="{FF2B5EF4-FFF2-40B4-BE49-F238E27FC236}">
                <a16:creationId xmlns:a16="http://schemas.microsoft.com/office/drawing/2014/main" id="{2083B1E4-739C-43C6-91C8-3FE9422024B9}"/>
              </a:ext>
            </a:extLst>
          </p:cNvPr>
          <p:cNvSpPr>
            <a:spLocks xmlns:a="http://schemas.openxmlformats.org/drawingml/2006/main" noGrp="1"/>
          </p:cNvSpPr>
          <p:nvPr/>
        </p:nvSpPr>
        <p:spPr>
          <a:xfrm xmlns:a="http://schemas.openxmlformats.org/drawingml/2006/main">
            <a:off x="647700" y="2590800"/>
            <a:ext cx="4924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Use cases, metric definitions and workflows.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Application logic and evaluation cases.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SME review and business outcomes.</a:t>
            </a:r>
          </a:p>
        </p:txBody>
      </p:sp>
      <p:sp>
        <p:nvSpPr>
          <p:cNvPr id="32" name="">
            <a:extLst xmlns:a="http://schemas.openxmlformats.org/drawingml/2006/main">
              <a:ext uri="{FF2B5EF4-FFF2-40B4-BE49-F238E27FC236}">
                <a16:creationId xmlns:a16="http://schemas.microsoft.com/office/drawing/2014/main" id="{DBF694C9-853B-49AF-AACC-855C0E2972B7}"/>
              </a:ext>
            </a:extLst>
          </p:cNvPr>
          <p:cNvSpPr>
            <a:spLocks xmlns:a="http://schemas.openxmlformats.org/drawingml/2006/main" noGrp="1"/>
          </p:cNvSpPr>
          <p:nvPr/>
        </p:nvSpPr>
        <p:spPr>
          <a:xfrm xmlns:a="http://schemas.openxmlformats.org/drawingml/2006/main">
            <a:off x="6343650" y="19526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7BA8"/>
                </a:solidFill>
                <a:latin typeface="Calibri"/>
                <a:ea typeface="Calibri"/>
                <a:cs typeface="Calibri"/>
              </a:defRPr>
            </a:defPPr>
            <a:lvl1pPr>
              <a:defRPr sz="2025" b="1">
                <a:solidFill>
                  <a:srgbClr val="287BA8"/>
                </a:solidFill>
                <a:latin typeface="Calibri"/>
                <a:ea typeface="Calibri"/>
                <a:cs typeface="Calibri"/>
              </a:defRPr>
            </a:lvl1pPr>
            <a:lvl2pPr>
              <a:defRPr sz="2025" b="1">
                <a:solidFill>
                  <a:srgbClr val="287BA8"/>
                </a:solidFill>
                <a:latin typeface="Calibri"/>
                <a:ea typeface="Calibri"/>
                <a:cs typeface="Calibri"/>
              </a:defRPr>
            </a:lvl2pPr>
            <a:lvl3pPr>
              <a:defRPr sz="2025" b="1">
                <a:solidFill>
                  <a:srgbClr val="287BA8"/>
                </a:solidFill>
                <a:latin typeface="Calibri"/>
                <a:ea typeface="Calibri"/>
                <a:cs typeface="Calibri"/>
              </a:defRPr>
            </a:lvl3pPr>
            <a:lvl4pPr>
              <a:defRPr sz="2025" b="1">
                <a:solidFill>
                  <a:srgbClr val="287BA8"/>
                </a:solidFill>
                <a:latin typeface="Calibri"/>
                <a:ea typeface="Calibri"/>
                <a:cs typeface="Calibri"/>
              </a:defRPr>
            </a:lvl4pPr>
            <a:lvl5pPr>
              <a:defRPr sz="2025" b="1">
                <a:solidFill>
                  <a:srgbClr val="287BA8"/>
                </a:solidFill>
                <a:latin typeface="Calibri"/>
                <a:ea typeface="Calibri"/>
                <a:cs typeface="Calibri"/>
              </a:defRPr>
            </a:lvl5pPr>
            <a:lvl6pPr>
              <a:defRPr sz="2025" b="1">
                <a:solidFill>
                  <a:srgbClr val="287BA8"/>
                </a:solidFill>
                <a:latin typeface="Calibri"/>
                <a:ea typeface="Calibri"/>
                <a:cs typeface="Calibri"/>
              </a:defRPr>
            </a:lvl6pPr>
            <a:lvl7pPr>
              <a:defRPr sz="2025" b="1">
                <a:solidFill>
                  <a:srgbClr val="287BA8"/>
                </a:solidFill>
                <a:latin typeface="Calibri"/>
                <a:ea typeface="Calibri"/>
                <a:cs typeface="Calibri"/>
              </a:defRPr>
            </a:lvl7pPr>
            <a:lvl8pPr>
              <a:defRPr sz="2025" b="1">
                <a:solidFill>
                  <a:srgbClr val="287BA8"/>
                </a:solidFill>
                <a:latin typeface="Calibri"/>
                <a:ea typeface="Calibri"/>
                <a:cs typeface="Calibri"/>
              </a:defRPr>
            </a:lvl8pPr>
            <a:lvl9pPr>
              <a:defRPr sz="2025" b="1">
                <a:solidFill>
                  <a:srgbClr val="287BA8"/>
                </a:solidFill>
                <a:latin typeface="Calibri"/>
                <a:ea typeface="Calibri"/>
                <a:cs typeface="Calibri"/>
              </a:defRPr>
            </a:lvl9pPr>
          </a:lstStyle>
          <a:p xmlns:a="http://schemas.openxmlformats.org/drawingml/2006/main">
            <a:pPr>
              <a:defRPr sz="2025" b="1">
                <a:solidFill>
                  <a:srgbClr val="287BA8"/>
                </a:solidFill>
                <a:latin typeface="Calibri"/>
                <a:ea typeface="Calibri"/>
                <a:cs typeface="Calibri"/>
              </a:defRPr>
            </a:pPr>
            <a:r>
              <a:rPr sz="2025" b="1">
                <a:solidFill>
                  <a:srgbClr val="287BA8"/>
                </a:solidFill>
                <a:latin typeface="Calibri"/>
                <a:ea typeface="Calibri"/>
                <a:cs typeface="Calibri"/>
              </a:rPr>
              <a:t>IT and security</a:t>
            </a:r>
          </a:p>
        </p:txBody>
      </p:sp>
      <p:sp>
        <p:nvSpPr>
          <p:cNvPr id="33" name="">
            <a:extLst xmlns:a="http://schemas.openxmlformats.org/drawingml/2006/main">
              <a:ext uri="{FF2B5EF4-FFF2-40B4-BE49-F238E27FC236}">
                <a16:creationId xmlns:a16="http://schemas.microsoft.com/office/drawing/2014/main" id="{699C02BD-13B7-4023-8534-A11CA12C4C22}"/>
              </a:ext>
            </a:extLst>
          </p:cNvPr>
          <p:cNvSpPr>
            <a:spLocks xmlns:a="http://schemas.openxmlformats.org/drawingml/2006/main" noGrp="1"/>
          </p:cNvSpPr>
          <p:nvPr/>
        </p:nvSpPr>
        <p:spPr>
          <a:xfrm xmlns:a="http://schemas.openxmlformats.org/drawingml/2006/main">
            <a:off x="6343650" y="2590800"/>
            <a:ext cx="51149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Model and service approval.</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Network, identity and data access.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Monitoring and production operations.</a:t>
            </a:r>
          </a:p>
        </p:txBody>
      </p:sp>
    </p:spTree>
    <p:extLst>
      <p:ext uri="{BB962C8B-B14F-4D97-AF65-F5344CB8AC3E}">
        <p14:creationId xmlns:p14="http://schemas.microsoft.com/office/powerpoint/2010/main" val="16721755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Rectangle 26">
            <a:extLst xmlns:a="http://schemas.openxmlformats.org/drawingml/2006/main">
              <a:ext uri="{FF2B5EF4-FFF2-40B4-BE49-F238E27FC236}">
                <a16:creationId xmlns:a16="http://schemas.microsoft.com/office/drawing/2014/main" id="{DF8B229D-A31B-434E-AE54-253942519EC3}"/>
              </a:ext>
            </a:extLst>
          </p:cNvPr>
          <p:cNvSpPr>
            <a:spLocks xmlns:a="http://schemas.openxmlformats.org/drawingml/2006/main" noGrp="1"/>
          </p:cNvSpPr>
          <p:nvPr/>
        </p:nvSpPr>
        <p:spPr>
          <a:xfrm xmlns:a="http://schemas.openxmlformats.org/drawingml/2006/main">
            <a:off x="419100" y="361950"/>
            <a:ext cx="11353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a:solidFill>
                  <a:srgbClr val="172B3A"/>
                </a:solidFill>
                <a:latin typeface="Calibri"/>
                <a:ea typeface="Calibri"/>
                <a:cs typeface="Calibri"/>
              </a:defRPr>
            </a:defPPr>
            <a:lvl1pPr>
              <a:defRPr sz="2850">
                <a:solidFill>
                  <a:srgbClr val="172B3A"/>
                </a:solidFill>
                <a:latin typeface="Calibri"/>
                <a:ea typeface="Calibri"/>
                <a:cs typeface="Calibri"/>
              </a:defRPr>
            </a:lvl1pPr>
            <a:lvl2pPr>
              <a:defRPr sz="2850">
                <a:solidFill>
                  <a:srgbClr val="172B3A"/>
                </a:solidFill>
                <a:latin typeface="Calibri"/>
                <a:ea typeface="Calibri"/>
                <a:cs typeface="Calibri"/>
              </a:defRPr>
            </a:lvl2pPr>
            <a:lvl3pPr>
              <a:defRPr sz="2850">
                <a:solidFill>
                  <a:srgbClr val="172B3A"/>
                </a:solidFill>
                <a:latin typeface="Calibri"/>
                <a:ea typeface="Calibri"/>
                <a:cs typeface="Calibri"/>
              </a:defRPr>
            </a:lvl3pPr>
            <a:lvl4pPr>
              <a:defRPr sz="2850">
                <a:solidFill>
                  <a:srgbClr val="172B3A"/>
                </a:solidFill>
                <a:latin typeface="Calibri"/>
                <a:ea typeface="Calibri"/>
                <a:cs typeface="Calibri"/>
              </a:defRPr>
            </a:lvl4pPr>
            <a:lvl5pPr>
              <a:defRPr sz="2850">
                <a:solidFill>
                  <a:srgbClr val="172B3A"/>
                </a:solidFill>
                <a:latin typeface="Calibri"/>
                <a:ea typeface="Calibri"/>
                <a:cs typeface="Calibri"/>
              </a:defRPr>
            </a:lvl5pPr>
            <a:lvl6pPr>
              <a:defRPr sz="2850">
                <a:solidFill>
                  <a:srgbClr val="172B3A"/>
                </a:solidFill>
                <a:latin typeface="Calibri"/>
                <a:ea typeface="Calibri"/>
                <a:cs typeface="Calibri"/>
              </a:defRPr>
            </a:lvl6pPr>
            <a:lvl7pPr>
              <a:defRPr sz="2850">
                <a:solidFill>
                  <a:srgbClr val="172B3A"/>
                </a:solidFill>
                <a:latin typeface="Calibri"/>
                <a:ea typeface="Calibri"/>
                <a:cs typeface="Calibri"/>
              </a:defRPr>
            </a:lvl7pPr>
            <a:lvl8pPr>
              <a:defRPr sz="2850">
                <a:solidFill>
                  <a:srgbClr val="172B3A"/>
                </a:solidFill>
                <a:latin typeface="Calibri"/>
                <a:ea typeface="Calibri"/>
                <a:cs typeface="Calibri"/>
              </a:defRPr>
            </a:lvl8pPr>
            <a:lvl9pPr>
              <a:defRPr sz="2850">
                <a:solidFill>
                  <a:srgbClr val="172B3A"/>
                </a:solidFill>
                <a:latin typeface="Calibri"/>
                <a:ea typeface="Calibri"/>
                <a:cs typeface="Calibri"/>
              </a:defRPr>
            </a:lvl9pPr>
          </a:lstStyle>
          <a:p xmlns:a="http://schemas.openxmlformats.org/drawingml/2006/main">
            <a:pPr>
              <a:buNone/>
              <a:defRPr sz="2850" b="0">
                <a:solidFill>
                  <a:srgbClr val="172B3A"/>
                </a:solidFill>
                <a:latin typeface="Calibri"/>
                <a:ea typeface="Calibri"/>
                <a:cs typeface="Calibri"/>
              </a:defRPr>
            </a:pPr>
            <a:r>
              <a:rPr sz="2850" b="0">
                <a:solidFill>
                  <a:srgbClr val="172B3A"/>
                </a:solidFill>
                <a:latin typeface="Calibri"/>
                <a:ea typeface="Calibri"/>
                <a:cs typeface="Calibri"/>
              </a:rPr>
              <a:t>Approval and funding package</a:t>
            </a:r>
          </a:p>
        </p:txBody>
      </p:sp>
      <p:sp>
        <p:nvSpPr>
          <p:cNvPr id="2" name="Rectangle 1">
            <a:extLst xmlns:a="http://schemas.openxmlformats.org/drawingml/2006/main">
              <a:ext uri="{FF2B5EF4-FFF2-40B4-BE49-F238E27FC236}">
                <a16:creationId xmlns:a16="http://schemas.microsoft.com/office/drawing/2014/main" id="{0065CC6E-4060-4512-BBE3-B3C0C564CE97}"/>
              </a:ext>
            </a:extLst>
          </p:cNvPr>
          <p:cNvSpPr>
            <a:spLocks xmlns:a="http://schemas.openxmlformats.org/drawingml/2006/main" noGrp="1"/>
          </p:cNvSpPr>
          <p:nvPr/>
        </p:nvSpPr>
        <p:spPr>
          <a:xfrm xmlns:a="http://schemas.openxmlformats.org/drawingml/2006/main">
            <a:off x="438150" y="971550"/>
            <a:ext cx="11315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a:solidFill>
                  <a:srgbClr val="56636C"/>
                </a:solidFill>
                <a:latin typeface="Calibri"/>
                <a:ea typeface="Calibri"/>
                <a:cs typeface="Calibri"/>
              </a:defRPr>
            </a:defPPr>
            <a:lvl1pPr>
              <a:defRPr sz="1425">
                <a:solidFill>
                  <a:srgbClr val="56636C"/>
                </a:solidFill>
                <a:latin typeface="Calibri"/>
                <a:ea typeface="Calibri"/>
                <a:cs typeface="Calibri"/>
              </a:defRPr>
            </a:lvl1pPr>
            <a:lvl2pPr>
              <a:defRPr sz="1425">
                <a:solidFill>
                  <a:srgbClr val="56636C"/>
                </a:solidFill>
                <a:latin typeface="Calibri"/>
                <a:ea typeface="Calibri"/>
                <a:cs typeface="Calibri"/>
              </a:defRPr>
            </a:lvl2pPr>
            <a:lvl3pPr>
              <a:defRPr sz="1425">
                <a:solidFill>
                  <a:srgbClr val="56636C"/>
                </a:solidFill>
                <a:latin typeface="Calibri"/>
                <a:ea typeface="Calibri"/>
                <a:cs typeface="Calibri"/>
              </a:defRPr>
            </a:lvl3pPr>
            <a:lvl4pPr>
              <a:defRPr sz="1425">
                <a:solidFill>
                  <a:srgbClr val="56636C"/>
                </a:solidFill>
                <a:latin typeface="Calibri"/>
                <a:ea typeface="Calibri"/>
                <a:cs typeface="Calibri"/>
              </a:defRPr>
            </a:lvl4pPr>
            <a:lvl5pPr>
              <a:defRPr sz="1425">
                <a:solidFill>
                  <a:srgbClr val="56636C"/>
                </a:solidFill>
                <a:latin typeface="Calibri"/>
                <a:ea typeface="Calibri"/>
                <a:cs typeface="Calibri"/>
              </a:defRPr>
            </a:lvl5pPr>
            <a:lvl6pPr>
              <a:defRPr sz="1425">
                <a:solidFill>
                  <a:srgbClr val="56636C"/>
                </a:solidFill>
                <a:latin typeface="Calibri"/>
                <a:ea typeface="Calibri"/>
                <a:cs typeface="Calibri"/>
              </a:defRPr>
            </a:lvl6pPr>
            <a:lvl7pPr>
              <a:defRPr sz="1425">
                <a:solidFill>
                  <a:srgbClr val="56636C"/>
                </a:solidFill>
                <a:latin typeface="Calibri"/>
                <a:ea typeface="Calibri"/>
                <a:cs typeface="Calibri"/>
              </a:defRPr>
            </a:lvl7pPr>
            <a:lvl8pPr>
              <a:defRPr sz="1425">
                <a:solidFill>
                  <a:srgbClr val="56636C"/>
                </a:solidFill>
                <a:latin typeface="Calibri"/>
                <a:ea typeface="Calibri"/>
                <a:cs typeface="Calibri"/>
              </a:defRPr>
            </a:lvl8pPr>
            <a:lvl9pPr>
              <a:defRPr sz="1425">
                <a:solidFill>
                  <a:srgbClr val="56636C"/>
                </a:solidFill>
                <a:latin typeface="Calibri"/>
                <a:ea typeface="Calibri"/>
                <a:cs typeface="Calibri"/>
              </a:defRPr>
            </a:lvl9pPr>
          </a:lstStyle>
          <a:p xmlns:a="http://schemas.openxmlformats.org/drawingml/2006/main">
            <a:pPr>
              <a:buNone/>
              <a:defRPr sz="1425" b="0">
                <a:solidFill>
                  <a:srgbClr val="56636C"/>
                </a:solidFill>
                <a:latin typeface="Calibri"/>
                <a:ea typeface="Calibri"/>
                <a:cs typeface="Calibri"/>
              </a:defRPr>
            </a:pPr>
            <a:r>
              <a:rPr sz="1425" b="0">
                <a:solidFill>
                  <a:srgbClr val="56636C"/>
                </a:solidFill>
                <a:latin typeface="Calibri"/>
                <a:ea typeface="Calibri"/>
                <a:cs typeface="Calibri"/>
              </a:rPr>
              <a:t>Leadership can authorize a capped test without committing to a full platform.</a:t>
            </a:r>
          </a:p>
        </p:txBody>
      </p:sp>
      <p:sp>
        <p:nvSpPr>
          <p:cNvPr id="3" name="Rectangle 2">
            <a:extLst xmlns:a="http://schemas.openxmlformats.org/drawingml/2006/main">
              <a:ext uri="{FF2B5EF4-FFF2-40B4-BE49-F238E27FC236}">
                <a16:creationId xmlns:a16="http://schemas.microsoft.com/office/drawing/2014/main" id="{FF3A9BE3-3DD8-4721-A4B4-638692475822}"/>
              </a:ext>
            </a:extLst>
          </p:cNvPr>
          <p:cNvSpPr>
            <a:spLocks xmlns:a="http://schemas.openxmlformats.org/drawingml/2006/main" noGrp="1"/>
          </p:cNvSpPr>
          <p:nvPr/>
        </p:nvSpPr>
        <p:spPr>
          <a:xfrm xmlns:a="http://schemas.openxmlformats.org/drawingml/2006/main">
            <a:off x="0" y="5934075"/>
            <a:ext cx="12192000" cy="438150"/>
          </a:xfrm>
          <a:prstGeom xmlns:a="http://schemas.openxmlformats.org/drawingml/2006/main" prst="rect">
            <a:avLst/>
          </a:prstGeom>
          <a:solidFill xmlns:a="http://schemas.openxmlformats.org/drawingml/2006/main">
            <a:srgbClr val="E8EAEB"/>
          </a:solidFill>
          <a:ln xmlns:a="http://schemas.openxmlformats.org/drawingml/2006/main" w="0">
            <a:noFill/>
          </a:ln>
        </p:spPr>
        <p:txBody>
          <a:bodyPr xmlns:a="http://schemas.openxmlformats.org/drawingml/2006/main"/>
          <a:lstStyle xmlns:a="http://schemas.openxmlformats.org/drawingml/2006/main"/>
          <a:p xmlns:a="http://schemas.openxmlformats.org/drawingml/2006/main">
            <a:endParaRPr/>
          </a:p>
        </p:txBody>
      </p:sp>
      <p:sp>
        <p:nvSpPr>
          <p:cNvPr id="4" name="Rectangle 3">
            <a:extLst xmlns:a="http://schemas.openxmlformats.org/drawingml/2006/main">
              <a:ext uri="{FF2B5EF4-FFF2-40B4-BE49-F238E27FC236}">
                <a16:creationId xmlns:a16="http://schemas.microsoft.com/office/drawing/2014/main" id="{5F867F42-113A-4919-A8F3-F6F4FBB02ED1}"/>
              </a:ext>
            </a:extLst>
          </p:cNvPr>
          <p:cNvSpPr>
            <a:spLocks xmlns:a="http://schemas.openxmlformats.org/drawingml/2006/main" noGrp="1"/>
          </p:cNvSpPr>
          <p:nvPr/>
        </p:nvSpPr>
        <p:spPr>
          <a:xfrm xmlns:a="http://schemas.openxmlformats.org/drawingml/2006/main">
            <a:off x="381000" y="6029325"/>
            <a:ext cx="1143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172B3A"/>
                </a:solidFill>
                <a:latin typeface="Calibri"/>
                <a:ea typeface="Calibri"/>
                <a:cs typeface="Calibri"/>
              </a:defRPr>
            </a:defPPr>
            <a:lvl1pPr>
              <a:defRPr sz="1275">
                <a:solidFill>
                  <a:srgbClr val="172B3A"/>
                </a:solidFill>
                <a:latin typeface="Calibri"/>
                <a:ea typeface="Calibri"/>
                <a:cs typeface="Calibri"/>
              </a:defRPr>
            </a:lvl1pPr>
            <a:lvl2pPr>
              <a:defRPr sz="1275">
                <a:solidFill>
                  <a:srgbClr val="172B3A"/>
                </a:solidFill>
                <a:latin typeface="Calibri"/>
                <a:ea typeface="Calibri"/>
                <a:cs typeface="Calibri"/>
              </a:defRPr>
            </a:lvl2pPr>
            <a:lvl3pPr>
              <a:defRPr sz="1275">
                <a:solidFill>
                  <a:srgbClr val="172B3A"/>
                </a:solidFill>
                <a:latin typeface="Calibri"/>
                <a:ea typeface="Calibri"/>
                <a:cs typeface="Calibri"/>
              </a:defRPr>
            </a:lvl3pPr>
            <a:lvl4pPr>
              <a:defRPr sz="1275">
                <a:solidFill>
                  <a:srgbClr val="172B3A"/>
                </a:solidFill>
                <a:latin typeface="Calibri"/>
                <a:ea typeface="Calibri"/>
                <a:cs typeface="Calibri"/>
              </a:defRPr>
            </a:lvl4pPr>
            <a:lvl5pPr>
              <a:defRPr sz="1275">
                <a:solidFill>
                  <a:srgbClr val="172B3A"/>
                </a:solidFill>
                <a:latin typeface="Calibri"/>
                <a:ea typeface="Calibri"/>
                <a:cs typeface="Calibri"/>
              </a:defRPr>
            </a:lvl5pPr>
            <a:lvl6pPr>
              <a:defRPr sz="1275">
                <a:solidFill>
                  <a:srgbClr val="172B3A"/>
                </a:solidFill>
                <a:latin typeface="Calibri"/>
                <a:ea typeface="Calibri"/>
                <a:cs typeface="Calibri"/>
              </a:defRPr>
            </a:lvl6pPr>
            <a:lvl7pPr>
              <a:defRPr sz="1275">
                <a:solidFill>
                  <a:srgbClr val="172B3A"/>
                </a:solidFill>
                <a:latin typeface="Calibri"/>
                <a:ea typeface="Calibri"/>
                <a:cs typeface="Calibri"/>
              </a:defRPr>
            </a:lvl7pPr>
            <a:lvl8pPr>
              <a:defRPr sz="1275">
                <a:solidFill>
                  <a:srgbClr val="172B3A"/>
                </a:solidFill>
                <a:latin typeface="Calibri"/>
                <a:ea typeface="Calibri"/>
                <a:cs typeface="Calibri"/>
              </a:defRPr>
            </a:lvl8pPr>
            <a:lvl9pPr>
              <a:defRPr sz="1275">
                <a:solidFill>
                  <a:srgbClr val="172B3A"/>
                </a:solidFill>
                <a:latin typeface="Calibri"/>
                <a:ea typeface="Calibri"/>
                <a:cs typeface="Calibri"/>
              </a:defRPr>
            </a:lvl9pPr>
          </a:lstStyle>
          <a:p xmlns:a="http://schemas.openxmlformats.org/drawingml/2006/main">
            <a:pPr>
              <a:buNone/>
              <a:defRPr sz="1275" b="0">
                <a:solidFill>
                  <a:srgbClr val="172B3A"/>
                </a:solidFill>
                <a:latin typeface="Calibri"/>
                <a:ea typeface="Calibri"/>
                <a:cs typeface="Calibri"/>
              </a:defRPr>
            </a:pPr>
            <a:r>
              <a:rPr sz="1275" b="0">
                <a:solidFill>
                  <a:srgbClr val="172B3A"/>
                </a:solidFill>
                <a:latin typeface="Calibri"/>
                <a:ea typeface="Calibri"/>
                <a:cs typeface="Calibri"/>
              </a:rPr>
              <a:t>Return with a scale recommendation and vendor comparison after the benchmark.</a:t>
            </a:r>
          </a:p>
        </p:txBody>
      </p:sp>
      <p:sp>
        <p:nvSpPr>
          <p:cNvPr id="5" name="Rectangle 4">
            <a:extLst xmlns:a="http://schemas.openxmlformats.org/drawingml/2006/main">
              <a:ext uri="{FF2B5EF4-FFF2-40B4-BE49-F238E27FC236}">
                <a16:creationId xmlns:a16="http://schemas.microsoft.com/office/drawing/2014/main" id="{ADA9894A-30E7-436E-841F-08B9E0C55460}"/>
              </a:ext>
            </a:extLst>
          </p:cNvPr>
          <p:cNvSpPr>
            <a:spLocks xmlns:a="http://schemas.openxmlformats.org/drawingml/2006/main" noGrp="1"/>
          </p:cNvSpPr>
          <p:nvPr/>
        </p:nvSpPr>
        <p:spPr>
          <a:xfrm xmlns:a="http://schemas.openxmlformats.org/drawingml/2006/main">
            <a:off x="457200" y="6524625"/>
            <a:ext cx="6286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825" b="0">
                <a:solidFill>
                  <a:srgbClr val="56636C"/>
                </a:solidFill>
              </a:defRPr>
            </a:pPr>
            <a:r>
              <a:rPr sz="825" b="0">
                <a:solidFill>
                  <a:srgbClr val="56636C"/>
                </a:solidFill>
              </a:rPr>
              <a:t>Confidential. Property of CareAllies. © 2026 CareAllies</a:t>
            </a:r>
          </a:p>
        </p:txBody>
      </p:sp>
      <p:sp>
        <p:nvSpPr>
          <p:cNvPr id="6" name="Rectangle 5">
            <a:extLst xmlns:a="http://schemas.openxmlformats.org/drawingml/2006/main">
              <a:ext uri="{FF2B5EF4-FFF2-40B4-BE49-F238E27FC236}">
                <a16:creationId xmlns:a16="http://schemas.microsoft.com/office/drawing/2014/main" id="{7FDCCAD9-77EF-475D-8D1A-2F60CAA30410}"/>
              </a:ext>
            </a:extLst>
          </p:cNvPr>
          <p:cNvSpPr>
            <a:spLocks xmlns:a="http://schemas.openxmlformats.org/drawingml/2006/main" noGrp="1"/>
          </p:cNvSpPr>
          <p:nvPr/>
        </p:nvSpPr>
        <p:spPr>
          <a:xfrm xmlns:a="http://schemas.openxmlformats.org/drawingml/2006/main">
            <a:off x="7620000" y="6515100"/>
            <a:ext cx="2381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975" b="0">
                <a:solidFill>
                  <a:srgbClr val="56636C"/>
                </a:solidFill>
              </a:defRPr>
            </a:pPr>
            <a:r>
              <a:rPr sz="975" b="0">
                <a:solidFill>
                  <a:srgbClr val="56636C"/>
                </a:solidFill>
              </a:rPr>
              <a:t>BIDE | HEALTHCARE AI</a:t>
            </a:r>
          </a:p>
        </p:txBody>
      </p:sp>
      <p:sp>
        <p:nvSpPr>
          <p:cNvPr id="7" name="Rectangle 6">
            <a:extLst xmlns:a="http://schemas.openxmlformats.org/drawingml/2006/main">
              <a:ext uri="{FF2B5EF4-FFF2-40B4-BE49-F238E27FC236}">
                <a16:creationId xmlns:a16="http://schemas.microsoft.com/office/drawing/2014/main" id="{D1982A9B-8B38-406C-9CF1-479D2F70FBC2}"/>
              </a:ext>
            </a:extLst>
          </p:cNvPr>
          <p:cNvSpPr>
            <a:spLocks xmlns:a="http://schemas.openxmlformats.org/drawingml/2006/main" noGrp="1"/>
          </p:cNvSpPr>
          <p:nvPr/>
        </p:nvSpPr>
        <p:spPr>
          <a:xfrm xmlns:a="http://schemas.openxmlformats.org/drawingml/2006/main">
            <a:off x="10334625" y="6467475"/>
            <a:ext cx="142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p xmlns:a="http://schemas.openxmlformats.org/drawingml/2006/main">
            <a:pPr>
              <a:buNone/>
              <a:defRPr sz="1800" b="0">
                <a:solidFill>
                  <a:srgbClr val="172B3A"/>
                </a:solidFill>
              </a:defRPr>
            </a:pPr>
            <a:r>
              <a:rPr sz="1800" b="0">
                <a:solidFill>
                  <a:srgbClr val="172B3A"/>
                </a:solidFill>
              </a:rPr>
              <a:t>CareAllies.</a:t>
            </a:r>
          </a:p>
        </p:txBody>
      </p:sp>
      <p:sp>
        <p:nvSpPr>
          <p:cNvPr id="28" name="">
            <a:extLst xmlns:a="http://schemas.openxmlformats.org/drawingml/2006/main">
              <a:ext uri="{FF2B5EF4-FFF2-40B4-BE49-F238E27FC236}">
                <a16:creationId xmlns:a16="http://schemas.microsoft.com/office/drawing/2014/main" id="{6077E81C-15AD-46A4-BE76-F57B637BD66E}"/>
              </a:ext>
            </a:extLst>
          </p:cNvPr>
          <p:cNvSpPr>
            <a:spLocks xmlns:a="http://schemas.openxmlformats.org/drawingml/2006/main" noGrp="1"/>
          </p:cNvSpPr>
          <p:nvPr/>
        </p:nvSpPr>
        <p:spPr>
          <a:xfrm xmlns:a="http://schemas.openxmlformats.org/drawingml/2006/main">
            <a:off x="419100" y="1714500"/>
            <a:ext cx="54673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479754"/>
                </a:gs>
                <a:gs pos="100000">
                  <a:srgbClr val="E5E9EB"/>
                </a:gs>
              </a:gsLst>
              <a:lin ang="0"/>
            </a:gradFill>
          </a:ln>
        </p:spPr>
      </p:sp>
      <p:sp>
        <p:nvSpPr>
          <p:cNvPr id="29" name="">
            <a:extLst xmlns:a="http://schemas.openxmlformats.org/drawingml/2006/main">
              <a:ext uri="{FF2B5EF4-FFF2-40B4-BE49-F238E27FC236}">
                <a16:creationId xmlns:a16="http://schemas.microsoft.com/office/drawing/2014/main" id="{B9E09EFC-44EF-47AD-97A9-E00D0166A61E}"/>
              </a:ext>
            </a:extLst>
          </p:cNvPr>
          <p:cNvSpPr>
            <a:spLocks xmlns:a="http://schemas.openxmlformats.org/drawingml/2006/main" noGrp="1"/>
          </p:cNvSpPr>
          <p:nvPr/>
        </p:nvSpPr>
        <p:spPr>
          <a:xfrm xmlns:a="http://schemas.openxmlformats.org/drawingml/2006/main">
            <a:off x="6115050" y="1714500"/>
            <a:ext cx="5657850" cy="3714750"/>
          </a:xfrm>
          <a:prstGeom xmlns:a="http://schemas.openxmlformats.org/drawingml/2006/main" prst="rect">
            <a:avLst/>
          </a:prstGeom>
          <a:solidFill xmlns:a="http://schemas.openxmlformats.org/drawingml/2006/main">
            <a:srgbClr val="FFFFFF"/>
          </a:solidFill>
          <a:ln xmlns:a="http://schemas.openxmlformats.org/drawingml/2006/main" w="16193">
            <a:gradFill>
              <a:gsLst>
                <a:gs pos="0">
                  <a:srgbClr val="287BA8"/>
                </a:gs>
                <a:gs pos="100000">
                  <a:srgbClr val="E5E9EB"/>
                </a:gs>
              </a:gsLst>
              <a:lin ang="0"/>
            </a:gradFill>
          </a:ln>
        </p:spPr>
      </p:sp>
      <p:sp>
        <p:nvSpPr>
          <p:cNvPr id="30" name="">
            <a:extLst xmlns:a="http://schemas.openxmlformats.org/drawingml/2006/main">
              <a:ext uri="{FF2B5EF4-FFF2-40B4-BE49-F238E27FC236}">
                <a16:creationId xmlns:a16="http://schemas.microsoft.com/office/drawing/2014/main" id="{096B3C71-5074-44FE-9542-EC9E157013FD}"/>
              </a:ext>
            </a:extLst>
          </p:cNvPr>
          <p:cNvSpPr>
            <a:spLocks xmlns:a="http://schemas.openxmlformats.org/drawingml/2006/main" noGrp="1"/>
          </p:cNvSpPr>
          <p:nvPr/>
        </p:nvSpPr>
        <p:spPr>
          <a:xfrm xmlns:a="http://schemas.openxmlformats.org/drawingml/2006/main">
            <a:off x="647700" y="195262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479754"/>
                </a:solidFill>
                <a:latin typeface="Calibri"/>
                <a:ea typeface="Calibri"/>
                <a:cs typeface="Calibri"/>
              </a:defRPr>
            </a:defPPr>
            <a:lvl1pPr>
              <a:defRPr sz="2025" b="1">
                <a:solidFill>
                  <a:srgbClr val="479754"/>
                </a:solidFill>
                <a:latin typeface="Calibri"/>
                <a:ea typeface="Calibri"/>
                <a:cs typeface="Calibri"/>
              </a:defRPr>
            </a:lvl1pPr>
            <a:lvl2pPr>
              <a:defRPr sz="2025" b="1">
                <a:solidFill>
                  <a:srgbClr val="479754"/>
                </a:solidFill>
                <a:latin typeface="Calibri"/>
                <a:ea typeface="Calibri"/>
                <a:cs typeface="Calibri"/>
              </a:defRPr>
            </a:lvl2pPr>
            <a:lvl3pPr>
              <a:defRPr sz="2025" b="1">
                <a:solidFill>
                  <a:srgbClr val="479754"/>
                </a:solidFill>
                <a:latin typeface="Calibri"/>
                <a:ea typeface="Calibri"/>
                <a:cs typeface="Calibri"/>
              </a:defRPr>
            </a:lvl3pPr>
            <a:lvl4pPr>
              <a:defRPr sz="2025" b="1">
                <a:solidFill>
                  <a:srgbClr val="479754"/>
                </a:solidFill>
                <a:latin typeface="Calibri"/>
                <a:ea typeface="Calibri"/>
                <a:cs typeface="Calibri"/>
              </a:defRPr>
            </a:lvl4pPr>
            <a:lvl5pPr>
              <a:defRPr sz="2025" b="1">
                <a:solidFill>
                  <a:srgbClr val="479754"/>
                </a:solidFill>
                <a:latin typeface="Calibri"/>
                <a:ea typeface="Calibri"/>
                <a:cs typeface="Calibri"/>
              </a:defRPr>
            </a:lvl5pPr>
            <a:lvl6pPr>
              <a:defRPr sz="2025" b="1">
                <a:solidFill>
                  <a:srgbClr val="479754"/>
                </a:solidFill>
                <a:latin typeface="Calibri"/>
                <a:ea typeface="Calibri"/>
                <a:cs typeface="Calibri"/>
              </a:defRPr>
            </a:lvl6pPr>
            <a:lvl7pPr>
              <a:defRPr sz="2025" b="1">
                <a:solidFill>
                  <a:srgbClr val="479754"/>
                </a:solidFill>
                <a:latin typeface="Calibri"/>
                <a:ea typeface="Calibri"/>
                <a:cs typeface="Calibri"/>
              </a:defRPr>
            </a:lvl7pPr>
            <a:lvl8pPr>
              <a:defRPr sz="2025" b="1">
                <a:solidFill>
                  <a:srgbClr val="479754"/>
                </a:solidFill>
                <a:latin typeface="Calibri"/>
                <a:ea typeface="Calibri"/>
                <a:cs typeface="Calibri"/>
              </a:defRPr>
            </a:lvl8pPr>
            <a:lvl9pPr>
              <a:defRPr sz="2025" b="1">
                <a:solidFill>
                  <a:srgbClr val="479754"/>
                </a:solidFill>
                <a:latin typeface="Calibri"/>
                <a:ea typeface="Calibri"/>
                <a:cs typeface="Calibri"/>
              </a:defRPr>
            </a:lvl9pPr>
          </a:lstStyle>
          <a:p xmlns:a="http://schemas.openxmlformats.org/drawingml/2006/main">
            <a:pPr>
              <a:defRPr sz="2025" b="1">
                <a:solidFill>
                  <a:srgbClr val="479754"/>
                </a:solidFill>
                <a:latin typeface="Calibri"/>
                <a:ea typeface="Calibri"/>
                <a:cs typeface="Calibri"/>
              </a:defRPr>
            </a:pPr>
            <a:r>
              <a:rPr sz="2025" b="1">
                <a:solidFill>
                  <a:srgbClr val="479754"/>
                </a:solidFill>
                <a:latin typeface="Calibri"/>
                <a:ea typeface="Calibri"/>
                <a:cs typeface="Calibri"/>
              </a:rPr>
              <a:t>Approval needed</a:t>
            </a:r>
          </a:p>
        </p:txBody>
      </p:sp>
      <p:sp>
        <p:nvSpPr>
          <p:cNvPr id="31" name="">
            <a:extLst xmlns:a="http://schemas.openxmlformats.org/drawingml/2006/main">
              <a:ext uri="{FF2B5EF4-FFF2-40B4-BE49-F238E27FC236}">
                <a16:creationId xmlns:a16="http://schemas.microsoft.com/office/drawing/2014/main" id="{DAC918A1-8DC6-47BB-9A45-5CBD4628664D}"/>
              </a:ext>
            </a:extLst>
          </p:cNvPr>
          <p:cNvSpPr>
            <a:spLocks xmlns:a="http://schemas.openxmlformats.org/drawingml/2006/main" noGrp="1"/>
          </p:cNvSpPr>
          <p:nvPr/>
        </p:nvSpPr>
        <p:spPr>
          <a:xfrm xmlns:a="http://schemas.openxmlformats.org/drawingml/2006/main">
            <a:off x="647700" y="2590800"/>
            <a:ext cx="49244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Sponsor and named team capacity.</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Foundry project and model shortlist.</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Read-only data path and chart rights.</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Pilot security plan.</a:t>
            </a:r>
          </a:p>
        </p:txBody>
      </p:sp>
      <p:sp>
        <p:nvSpPr>
          <p:cNvPr id="32" name="">
            <a:extLst xmlns:a="http://schemas.openxmlformats.org/drawingml/2006/main">
              <a:ext uri="{FF2B5EF4-FFF2-40B4-BE49-F238E27FC236}">
                <a16:creationId xmlns:a16="http://schemas.microsoft.com/office/drawing/2014/main" id="{403BD24B-1EEC-40E0-97E5-79C83EE21D1A}"/>
              </a:ext>
            </a:extLst>
          </p:cNvPr>
          <p:cNvSpPr>
            <a:spLocks xmlns:a="http://schemas.openxmlformats.org/drawingml/2006/main" noGrp="1"/>
          </p:cNvSpPr>
          <p:nvPr/>
        </p:nvSpPr>
        <p:spPr>
          <a:xfrm xmlns:a="http://schemas.openxmlformats.org/drawingml/2006/main">
            <a:off x="6343650" y="1952625"/>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287BA8"/>
                </a:solidFill>
                <a:latin typeface="Calibri"/>
                <a:ea typeface="Calibri"/>
                <a:cs typeface="Calibri"/>
              </a:defRPr>
            </a:defPPr>
            <a:lvl1pPr>
              <a:defRPr sz="2025" b="1">
                <a:solidFill>
                  <a:srgbClr val="287BA8"/>
                </a:solidFill>
                <a:latin typeface="Calibri"/>
                <a:ea typeface="Calibri"/>
                <a:cs typeface="Calibri"/>
              </a:defRPr>
            </a:lvl1pPr>
            <a:lvl2pPr>
              <a:defRPr sz="2025" b="1">
                <a:solidFill>
                  <a:srgbClr val="287BA8"/>
                </a:solidFill>
                <a:latin typeface="Calibri"/>
                <a:ea typeface="Calibri"/>
                <a:cs typeface="Calibri"/>
              </a:defRPr>
            </a:lvl2pPr>
            <a:lvl3pPr>
              <a:defRPr sz="2025" b="1">
                <a:solidFill>
                  <a:srgbClr val="287BA8"/>
                </a:solidFill>
                <a:latin typeface="Calibri"/>
                <a:ea typeface="Calibri"/>
                <a:cs typeface="Calibri"/>
              </a:defRPr>
            </a:lvl3pPr>
            <a:lvl4pPr>
              <a:defRPr sz="2025" b="1">
                <a:solidFill>
                  <a:srgbClr val="287BA8"/>
                </a:solidFill>
                <a:latin typeface="Calibri"/>
                <a:ea typeface="Calibri"/>
                <a:cs typeface="Calibri"/>
              </a:defRPr>
            </a:lvl4pPr>
            <a:lvl5pPr>
              <a:defRPr sz="2025" b="1">
                <a:solidFill>
                  <a:srgbClr val="287BA8"/>
                </a:solidFill>
                <a:latin typeface="Calibri"/>
                <a:ea typeface="Calibri"/>
                <a:cs typeface="Calibri"/>
              </a:defRPr>
            </a:lvl5pPr>
            <a:lvl6pPr>
              <a:defRPr sz="2025" b="1">
                <a:solidFill>
                  <a:srgbClr val="287BA8"/>
                </a:solidFill>
                <a:latin typeface="Calibri"/>
                <a:ea typeface="Calibri"/>
                <a:cs typeface="Calibri"/>
              </a:defRPr>
            </a:lvl6pPr>
            <a:lvl7pPr>
              <a:defRPr sz="2025" b="1">
                <a:solidFill>
                  <a:srgbClr val="287BA8"/>
                </a:solidFill>
                <a:latin typeface="Calibri"/>
                <a:ea typeface="Calibri"/>
                <a:cs typeface="Calibri"/>
              </a:defRPr>
            </a:lvl7pPr>
            <a:lvl8pPr>
              <a:defRPr sz="2025" b="1">
                <a:solidFill>
                  <a:srgbClr val="287BA8"/>
                </a:solidFill>
                <a:latin typeface="Calibri"/>
                <a:ea typeface="Calibri"/>
                <a:cs typeface="Calibri"/>
              </a:defRPr>
            </a:lvl8pPr>
            <a:lvl9pPr>
              <a:defRPr sz="2025" b="1">
                <a:solidFill>
                  <a:srgbClr val="287BA8"/>
                </a:solidFill>
                <a:latin typeface="Calibri"/>
                <a:ea typeface="Calibri"/>
                <a:cs typeface="Calibri"/>
              </a:defRPr>
            </a:lvl9pPr>
          </a:lstStyle>
          <a:p xmlns:a="http://schemas.openxmlformats.org/drawingml/2006/main">
            <a:pPr>
              <a:defRPr sz="2025" b="1">
                <a:solidFill>
                  <a:srgbClr val="287BA8"/>
                </a:solidFill>
                <a:latin typeface="Calibri"/>
                <a:ea typeface="Calibri"/>
                <a:cs typeface="Calibri"/>
              </a:defRPr>
            </a:pPr>
            <a:r>
              <a:rPr sz="2025" b="1">
                <a:solidFill>
                  <a:srgbClr val="287BA8"/>
                </a:solidFill>
                <a:latin typeface="Calibri"/>
                <a:ea typeface="Calibri"/>
                <a:cs typeface="Calibri"/>
              </a:rPr>
              <a:t>Funding and exit criteria</a:t>
            </a:r>
          </a:p>
        </p:txBody>
      </p:sp>
      <p:sp>
        <p:nvSpPr>
          <p:cNvPr id="33" name="">
            <a:extLst xmlns:a="http://schemas.openxmlformats.org/drawingml/2006/main">
              <a:ext uri="{FF2B5EF4-FFF2-40B4-BE49-F238E27FC236}">
                <a16:creationId xmlns:a16="http://schemas.microsoft.com/office/drawing/2014/main" id="{D70F61BB-4740-4496-928C-7C1BD83D72B6}"/>
              </a:ext>
            </a:extLst>
          </p:cNvPr>
          <p:cNvSpPr>
            <a:spLocks xmlns:a="http://schemas.openxmlformats.org/drawingml/2006/main" noGrp="1"/>
          </p:cNvSpPr>
          <p:nvPr/>
        </p:nvSpPr>
        <p:spPr>
          <a:xfrm xmlns:a="http://schemas.openxmlformats.org/drawingml/2006/main">
            <a:off x="6343650" y="2590800"/>
            <a:ext cx="511492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172B3A"/>
                </a:solidFill>
                <a:latin typeface="Calibri"/>
                <a:ea typeface="Calibri"/>
                <a:cs typeface="Calibri"/>
              </a:defRPr>
            </a:defPPr>
            <a:lvl1pPr>
              <a:defRPr sz="1725" b="0">
                <a:solidFill>
                  <a:srgbClr val="172B3A"/>
                </a:solidFill>
                <a:latin typeface="Calibri"/>
                <a:ea typeface="Calibri"/>
                <a:cs typeface="Calibri"/>
              </a:defRPr>
            </a:lvl1pPr>
            <a:lvl2pPr>
              <a:defRPr sz="1725" b="0">
                <a:solidFill>
                  <a:srgbClr val="172B3A"/>
                </a:solidFill>
                <a:latin typeface="Calibri"/>
                <a:ea typeface="Calibri"/>
                <a:cs typeface="Calibri"/>
              </a:defRPr>
            </a:lvl2pPr>
            <a:lvl3pPr>
              <a:defRPr sz="1725" b="0">
                <a:solidFill>
                  <a:srgbClr val="172B3A"/>
                </a:solidFill>
                <a:latin typeface="Calibri"/>
                <a:ea typeface="Calibri"/>
                <a:cs typeface="Calibri"/>
              </a:defRPr>
            </a:lvl3pPr>
            <a:lvl4pPr>
              <a:defRPr sz="1725" b="0">
                <a:solidFill>
                  <a:srgbClr val="172B3A"/>
                </a:solidFill>
                <a:latin typeface="Calibri"/>
                <a:ea typeface="Calibri"/>
                <a:cs typeface="Calibri"/>
              </a:defRPr>
            </a:lvl4pPr>
            <a:lvl5pPr>
              <a:defRPr sz="1725" b="0">
                <a:solidFill>
                  <a:srgbClr val="172B3A"/>
                </a:solidFill>
                <a:latin typeface="Calibri"/>
                <a:ea typeface="Calibri"/>
                <a:cs typeface="Calibri"/>
              </a:defRPr>
            </a:lvl5pPr>
            <a:lvl6pPr>
              <a:defRPr sz="1725" b="0">
                <a:solidFill>
                  <a:srgbClr val="172B3A"/>
                </a:solidFill>
                <a:latin typeface="Calibri"/>
                <a:ea typeface="Calibri"/>
                <a:cs typeface="Calibri"/>
              </a:defRPr>
            </a:lvl6pPr>
            <a:lvl7pPr>
              <a:defRPr sz="1725" b="0">
                <a:solidFill>
                  <a:srgbClr val="172B3A"/>
                </a:solidFill>
                <a:latin typeface="Calibri"/>
                <a:ea typeface="Calibri"/>
                <a:cs typeface="Calibri"/>
              </a:defRPr>
            </a:lvl7pPr>
            <a:lvl8pPr>
              <a:defRPr sz="1725" b="0">
                <a:solidFill>
                  <a:srgbClr val="172B3A"/>
                </a:solidFill>
                <a:latin typeface="Calibri"/>
                <a:ea typeface="Calibri"/>
                <a:cs typeface="Calibri"/>
              </a:defRPr>
            </a:lvl8pPr>
            <a:lvl9pPr>
              <a:defRPr sz="1725" b="0">
                <a:solidFill>
                  <a:srgbClr val="172B3A"/>
                </a:solidFill>
                <a:latin typeface="Calibri"/>
                <a:ea typeface="Calibri"/>
                <a:cs typeface="Calibri"/>
              </a:defRPr>
            </a:lvl9pPr>
          </a:lstStyle>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Capped model, OCR, search, storage and monitor usage.</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SME and engineering time.</a:t>
            </a:r>
          </a:p>
          <a:p xmlns:a="http://schemas.openxmlformats.org/drawingml/2006/main">
            <a:r>
              <a:t/>
            </a:r>
          </a:p>
          <a:p xmlns:a="http://schemas.openxmlformats.org/drawingml/2006/main">
            <a:pPr>
              <a:defRPr sz="1725" b="0">
                <a:solidFill>
                  <a:srgbClr val="172B3A"/>
                </a:solidFill>
                <a:latin typeface="Calibri"/>
                <a:ea typeface="Calibri"/>
                <a:cs typeface="Calibri"/>
              </a:defRPr>
            </a:pPr>
            <a:r>
              <a:rPr sz="1725" b="0">
                <a:solidFill>
                  <a:srgbClr val="172B3A"/>
                </a:solidFill>
                <a:latin typeface="Calibri"/>
                <a:ea typeface="Calibri"/>
                <a:cs typeface="Calibri"/>
              </a:rPr>
              <a:t>Accuracy, time and cost versus current process.</a:t>
            </a:r>
          </a:p>
        </p:txBody>
      </p:sp>
    </p:spTree>
    <p:extLst>
      <p:ext uri="{BB962C8B-B14F-4D97-AF65-F5344CB8AC3E}">
        <p14:creationId xmlns:p14="http://schemas.microsoft.com/office/powerpoint/2010/main" val="167217552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2026-10-26T00:19:26.0020000Z</dcterms:created>
  <dcterms:modified xsi:type="dcterms:W3CDTF">2026-10-26T00:19:26.0020000Z</dcterms:modified>
</coreProperties>
</file>