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CareAllies.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CareAllies AI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7D6DE"/>
                </a:solidFill>
                <a:latin typeface="Calibri"/>
              </a:rPr>
              <a:t>Intelligence Layer Requirements, Prioritization Roadmap &amp; Portfolio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886200"/>
            <a:ext cx="2011680" cy="38100"/>
          </a:xfrm>
          <a:prstGeom prst="rect">
            <a:avLst/>
          </a:prstGeom>
          <a:solidFill>
            <a:srgbClr val="28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AA5A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6035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A5AC"/>
                </a:solidFill>
                <a:latin typeface="Calibri"/>
              </a:rPr>
              <a:t>BIDE | HEALTHCARE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Projects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Six initiatives. Shared capabilities support independently scoped business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E3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Clinical Documentation</a:t>
            </a:r>
          </a:p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Convert clinical records into structured, traceable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546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9754"/>
                </a:solidFill>
                <a:latin typeface="Calibri"/>
              </a:rPr>
              <a:t>1  | 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5448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Audit the Auditor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Compare evidence with audit decisions to target secondary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546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2  | 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CareAllies AI</a:t>
            </a:r>
          </a:p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Intelligence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Connect governed data, knowledge, retrieval, and analytical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87BA8"/>
                </a:solidFill>
                <a:latin typeface="Calibri"/>
              </a:rPr>
              <a:t>3  |  SHARED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49039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E3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Automated Risk Score</a:t>
            </a:r>
          </a:p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Investigator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39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Calculate and explain the drivers of risk-score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4923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479754"/>
                </a:solidFill>
                <a:latin typeface="Calibri"/>
              </a:rPr>
              <a:t>4  |  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49039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1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Stars Performance</a:t>
            </a:r>
          </a:p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Investigator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663439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Investigate performance, find chart evidence, and prioritize gaps.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34923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5  |  APPLICATION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49039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931919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Provider Behavior</a:t>
            </a:r>
          </a:p>
          <a:p>
            <a:pPr algn="l"/>
            <a:r>
              <a:rPr sz="1600" b="1" i="0">
                <a:solidFill>
                  <a:srgbClr val="172B3A"/>
                </a:solidFill>
                <a:latin typeface="Calibri"/>
              </a:rPr>
              <a:t>Profiling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663439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Identify behavioral segments and engagement opportunities.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349239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87BA8"/>
                </a:solidFill>
                <a:latin typeface="Calibri"/>
              </a:rPr>
              <a:t>6  |  APPLICATION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172B3A"/>
                </a:solidFill>
                <a:latin typeface="Calibri"/>
              </a:rPr>
              <a:t>Build reusable evidence and knowledge capabilities. Prove value through focused applications.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6537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5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CareAllies AI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Core technical requirements for the shared platform every application depends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2004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287BA8"/>
                </a:solidFill>
                <a:latin typeface="Calibri"/>
              </a:rPr>
              <a:t>3  |  SHARED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430000" cy="841248"/>
          </a:xfrm>
          <a:prstGeom prst="roundRect">
            <a:avLst>
              <a:gd name="adj" fmla="val 8000"/>
            </a:avLst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82296" cy="841248"/>
          </a:xfrm>
          <a:prstGeom prst="rect">
            <a:avLst/>
          </a:prstGeom>
          <a:solidFill>
            <a:srgbClr val="28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Governed Data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73352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Federated/virtualized query path across Teradata (claims, membership) and Redshift (clinical notes); row/column-level RBAC per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11430000" cy="841248"/>
          </a:xfrm>
          <a:prstGeom prst="roundRect">
            <a:avLst>
              <a:gd name="adj" fmla="val 8000"/>
            </a:avLst>
          </a:prstGeom>
          <a:solidFill>
            <a:srgbClr val="E3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82296" cy="841248"/>
          </a:xfrm>
          <a:prstGeom prst="rect">
            <a:avLst/>
          </a:prstGeom>
          <a:solidFill>
            <a:srgbClr val="479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Deterministic SQL &amp; Rules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87752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Tool-calling layer so the LLM invokes exact SQL against governed views rather than computing figures itself — the core audit-safety guardrail.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429000"/>
            <a:ext cx="11430000" cy="841248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82296" cy="841248"/>
          </a:xfrm>
          <a:prstGeom prst="rect">
            <a:avLst/>
          </a:prstGeom>
          <a:solidFill>
            <a:srgbClr val="D18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0215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RAG with Citations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02152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Vector store over embedded SOPs, methodologies, and structured clinical evidence; every retrieval returns source- and date-stamped citations.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343400"/>
            <a:ext cx="11430000" cy="841248"/>
          </a:xfrm>
          <a:prstGeom prst="roundRect">
            <a:avLst>
              <a:gd name="adj" fmla="val 8000"/>
            </a:avLst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82296" cy="841248"/>
          </a:xfrm>
          <a:prstGeom prst="rect">
            <a:avLst/>
          </a:prstGeom>
          <a:solidFill>
            <a:srgbClr val="28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1655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LLM 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416552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HIPAA-eligible, BAA-covered inference (e.g., Amazon Bedrock) so PHI-adjacent prompts stay inside the AWS security boundary.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257800"/>
            <a:ext cx="11430000" cy="841248"/>
          </a:xfrm>
          <a:prstGeom prst="roundRect">
            <a:avLst>
              <a:gd name="adj" fmla="val 8000"/>
            </a:avLst>
          </a:prstGeom>
          <a:solidFill>
            <a:srgbClr val="E3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82296" cy="841248"/>
          </a:xfrm>
          <a:prstGeom prst="rect">
            <a:avLst/>
          </a:prstGeom>
          <a:solidFill>
            <a:srgbClr val="479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3095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Permissions, Audit &amp;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30952"/>
            <a:ext cx="7772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72B3A"/>
                </a:solidFill>
                <a:latin typeface="Calibri"/>
              </a:rPr>
              <a:t>IAM/ABAC access control, full query/generation audit logging, and a pre-release hallucination/accuracy evaluation harness.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537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Intelligence Layer —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Data sources, core services, governance, and the API surface applications consume.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Teradata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Claims &amp; Membership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41732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AWS Redshift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Clinical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E3F1E5"/>
          </a:solidFill>
          <a:ln w="15875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Documentation Intelligence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Output (Structured Evidence)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417320"/>
            <a:ext cx="2697480" cy="68580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Business Knowledge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SOPs / Methodologies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31720"/>
            <a:ext cx="1133856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566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DATA ACCESS &amp; GOVERNANCE — Federated query (Teradata QueryGrid / AWS Glue-Athena)  ·  PHI de-identification  ·  RBAC / IAM row &amp; column security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14500.0" y="2103120"/>
            <a:ext cx="0.0" cy="22860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94860.0" y="2103120"/>
            <a:ext cx="0.0" cy="22860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75220.0" y="2103120"/>
            <a:ext cx="0.0" cy="22860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55580.0" y="2103120"/>
            <a:ext cx="0.0" cy="22860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3246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Governed SQL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&amp; Rules Engine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(deterministic calc)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14500.0" y="2971800"/>
            <a:ext cx="0.0" cy="27432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3246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9050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RAG / Retrieval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+ Vector Store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(citations, embeddings)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94860.0" y="2971800"/>
            <a:ext cx="0.0" cy="27432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80" y="3246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DCEBF5"/>
          </a:solidFill>
          <a:ln w="1905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LLM Services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(Amazon Bedrock: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Claude / Titan)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5220.0" y="2971800"/>
            <a:ext cx="0.0" cy="27432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06840" y="3246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DCEBF5"/>
          </a:solidFill>
          <a:ln w="1905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Orchestration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(LangChain / LlamaIndex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or Bedrock Agents)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55580.0" y="2971800"/>
            <a:ext cx="0.0" cy="27432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5760" y="4343400"/>
            <a:ext cx="11338560" cy="6400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566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PERMISSIONS, AUDIT &amp; EVALUATION — IAM / ABAC access control  ·  Full audit logging  ·  Hallucination &amp; accuracy evaluation before release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14500.0" y="4160520"/>
            <a:ext cx="0.0" cy="1828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94860.0" y="4160520"/>
            <a:ext cx="0.0" cy="1828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75220.0" y="4160520"/>
            <a:ext cx="0.0" cy="1828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55580.0" y="4160520"/>
            <a:ext cx="0.0" cy="1828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26080" y="5257800"/>
            <a:ext cx="6309360" cy="502920"/>
          </a:xfrm>
          <a:prstGeom prst="roundRect">
            <a:avLst>
              <a:gd name="adj" fmla="val 15000"/>
            </a:avLst>
          </a:prstGeom>
          <a:solidFill>
            <a:srgbClr val="FDF3E3"/>
          </a:solidFill>
          <a:ln w="19050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B3A"/>
                </a:solidFill>
                <a:latin typeface="Calibri"/>
              </a:rPr>
              <a:t>GOVERNED APIs — single interface exposed to all applications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983480"/>
            <a:ext cx="0" cy="27432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5760" y="598932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17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Consuming Applications:  Audit the Auditor  ·  Risk Score Investigator  ·  Stars Investigator  ·  Provider Profiling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5760720"/>
            <a:ext cx="0" cy="22860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Portfolio Architecture — How the Six Projects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Applications select the reusable services they need from the shared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Teradata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(Claims &amp; Membership)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AWS Redshift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(Clinical Notes)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Docs / Scans / EHR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Inbound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71600"/>
            <a:ext cx="2697480" cy="64008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875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Business Knowledge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(SOPs, Methodologies)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5074920" cy="685800"/>
          </a:xfrm>
          <a:prstGeom prst="roundRect">
            <a:avLst>
              <a:gd name="adj" fmla="val 10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CAPABILITY 1 — Clinical Documentation Intelligence  (OCR / Extraction / Evidence)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75220.0" y="2011680"/>
            <a:ext cx="0.0" cy="1828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37360" y="3063240"/>
            <a:ext cx="8686800" cy="777240"/>
          </a:xfrm>
          <a:prstGeom prst="roundRect">
            <a:avLst>
              <a:gd name="adj" fmla="val 10000"/>
            </a:avLst>
          </a:prstGeom>
          <a:solidFill>
            <a:srgbClr val="DCEBF5"/>
          </a:solidFill>
          <a:ln w="22225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CAPABILITY 3 — SHARED PLATFORM: CareAllies AI Intelligence Layer</a:t>
            </a:r>
          </a:p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B3A"/>
                </a:solidFill>
                <a:latin typeface="Calibri"/>
              </a:rPr>
              <a:t>LLM Services | RAG + Citations | Governed SQL + Rules | APIs | Permissions &amp; Evaluation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14500.0" y="2011680"/>
            <a:ext cx="1485900.0" cy="105156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572000" y="2011680"/>
            <a:ext cx="22860.0" cy="105156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858000" y="2880360"/>
            <a:ext cx="914400" cy="1828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869680" y="2011680"/>
            <a:ext cx="1485900.0" cy="105156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" y="42519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17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APP 2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Audit the Auditor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4460.0" y="3840480"/>
            <a:ext cx="0.0" cy="4114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51760" y="42519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APP 4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Risk Score Investigator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26180.0" y="3840480"/>
            <a:ext cx="0.0" cy="4114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983480" y="42519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17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APP 5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Stars Performance Investigator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7900.0" y="3840480"/>
            <a:ext cx="0.0" cy="4114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0" y="42519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APP 5b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Stars Clinical Evidence Detection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89620.0" y="3840480"/>
            <a:ext cx="0.0" cy="4114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42519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DCEBF5"/>
          </a:solidFill>
          <a:ln w="1905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APP 6</a:t>
            </a:r>
          </a:p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B3A"/>
                </a:solidFill>
                <a:latin typeface="Calibri"/>
              </a:rPr>
              <a:t>Provider Behavior Profiling (ML)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21340.0" y="3840480"/>
            <a:ext cx="0.0" cy="411480"/>
          </a:xfrm>
          <a:prstGeom prst="bentConnector3">
            <a:avLst/>
          </a:prstGeom>
          <a:ln w="1270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98480" y="2011680"/>
            <a:ext cx="0" cy="2240280"/>
          </a:xfrm>
          <a:prstGeom prst="bentConnector3">
            <a:avLst/>
          </a:prstGeom>
          <a:ln w="12700">
            <a:solidFill>
              <a:srgbClr val="9AA5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7080" y="2743200"/>
            <a:ext cx="1188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6636C"/>
                </a:solidFill>
                <a:latin typeface="Calibri"/>
              </a:rPr>
              <a:t>direct data</a:t>
            </a:r>
          </a:p>
          <a:p>
            <a:pPr algn="l"/>
            <a:r>
              <a:rPr sz="850" b="0" i="0">
                <a:solidFill>
                  <a:srgbClr val="56636C"/>
                </a:solidFill>
                <a:latin typeface="Calibri"/>
              </a:rPr>
              <a:t>access</a:t>
            </a:r>
          </a:p>
          <a:p>
            <a:pPr algn="l"/>
            <a:r>
              <a:rPr sz="850" b="0" i="0">
                <a:solidFill>
                  <a:srgbClr val="56636C"/>
                </a:solidFill>
                <a:latin typeface="Calibri"/>
              </a:rPr>
              <a:t>(ML)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37360" y="5394960"/>
            <a:ext cx="8686800" cy="548640"/>
          </a:xfrm>
          <a:prstGeom prst="roundRect">
            <a:avLst>
              <a:gd name="adj" fmla="val 10000"/>
            </a:avLst>
          </a:prstGeom>
          <a:solidFill>
            <a:srgbClr val="17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alibri"/>
              </a:rPr>
              <a:t>Analysts, Auditors, Risk Adjustment &amp; Stars Teams — Users, Decisions, KPIs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94460.0" y="5166360"/>
            <a:ext cx="0.0" cy="228600"/>
          </a:xfrm>
          <a:prstGeom prst="bentConnector3">
            <a:avLst/>
          </a:prstGeom>
          <a:ln w="9525">
            <a:solidFill>
              <a:srgbClr val="9AA5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26180.0" y="5166360"/>
            <a:ext cx="0.0" cy="228600"/>
          </a:xfrm>
          <a:prstGeom prst="bentConnector3">
            <a:avLst/>
          </a:prstGeom>
          <a:ln w="9525">
            <a:solidFill>
              <a:srgbClr val="9AA5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57900.0" y="5166360"/>
            <a:ext cx="0.0" cy="228600"/>
          </a:xfrm>
          <a:prstGeom prst="bentConnector3">
            <a:avLst/>
          </a:prstGeom>
          <a:ln w="9525">
            <a:solidFill>
              <a:srgbClr val="9AA5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89620.0" y="5166360"/>
            <a:ext cx="0.0" cy="228600"/>
          </a:xfrm>
          <a:prstGeom prst="bentConnector3">
            <a:avLst/>
          </a:prstGeom>
          <a:ln w="9525">
            <a:solidFill>
              <a:srgbClr val="9AA5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721340.0" y="5166360"/>
            <a:ext cx="0.0" cy="228600"/>
          </a:xfrm>
          <a:prstGeom prst="bentConnector3">
            <a:avLst/>
          </a:prstGeom>
          <a:ln w="9525">
            <a:solidFill>
              <a:srgbClr val="9AA5A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6537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5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Implementation Prioritization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Sequenced by dependency, ground truth availability, and compliance sensitivity.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DCEBF5"/>
          </a:solidFill>
          <a:ln w="1905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WAVE 0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Foundation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Weeks 0–6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Intelligence Layer core build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(data access, SQL/rules,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permissions, audit)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355848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Provider Behavior Profiling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(traditional ML — parallel track)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1851660.0"/>
            <a:ext cx="182880" cy="0.0"/>
          </a:xfrm>
          <a:prstGeom prst="bentConnector3">
            <a:avLst/>
          </a:prstGeom>
          <a:ln w="1905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46304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WAVE 1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First Proof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Weeks 6–14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37744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Clinical Documentation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Intelligence (capability)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355848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Audit the Auditor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(pilot — existing audit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ground truth)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1851660.0"/>
            <a:ext cx="182880" cy="0.0"/>
          </a:xfrm>
          <a:prstGeom prst="bentConnector3">
            <a:avLst/>
          </a:prstGeom>
          <a:ln w="1905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6480" y="146304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9050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WAVE 2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Expand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Weeks 14–22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37744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Automated Risk Score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Investigator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355848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Reuses Wave 0 SQL/rules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+ Wave 1 evidence layer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60" y="1851660.0"/>
            <a:ext cx="182880" cy="0.0"/>
          </a:xfrm>
          <a:prstGeom prst="bentConnector3">
            <a:avLst/>
          </a:prstGeom>
          <a:ln w="19050">
            <a:solidFill>
              <a:srgbClr val="5663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6840" y="146304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9050">
            <a:solidFill>
              <a:srgbClr val="17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WAVE 3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Scale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B3A"/>
                </a:solidFill>
                <a:latin typeface="Calibri"/>
              </a:rPr>
              <a:t>Weeks 22–30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37744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Stars Performance Investigator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355848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Stars Clinical Evidence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4334256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72B3A"/>
                </a:solidFill>
                <a:latin typeface="Calibri"/>
              </a:rPr>
              <a:t>Reuses all prior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80644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56636C"/>
                </a:solidFill>
                <a:latin typeface="Calibri"/>
              </a:rPr>
              <a:t>Sequencing logic: build the shared platform first → validate on pilots with existing ground truth (Audit, Provider ML) → extend to compliance-sensitive scoring (Risk Investigator) → scale to the full Stars suite once evidence and RAG are proven.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6537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5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Data Foundation: Teradata + Redshift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Claims/membership and clinical notes must be reachable from one governed access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DCEBF5"/>
          </a:solidFill>
          <a:ln w="1905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Federated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72B3A"/>
                </a:solidFill>
                <a:latin typeface="Calibri"/>
              </a:rPr>
              <a:t>Keep data in place. Use Teradata QueryGrid or AWS Glue/Athena federation so the LLM's governed SQL tool queries both systems in one logical call. Fastest path to pilot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572000"/>
            <a:ext cx="3566160" cy="4572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6451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287BA8"/>
                </a:solidFill>
                <a:latin typeface="Calibri"/>
              </a:rPr>
              <a:t>Recommended for Wave 0–2 pilots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Unified Analytics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028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72B3A"/>
                </a:solidFill>
                <a:latin typeface="Calibri"/>
              </a:rPr>
              <a:t>Sync a governed subset of Teradata claims into a common analytics layer (lakehouse or Redshift) purpose-built for AI workloads. Teradata remains system of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572000"/>
            <a:ext cx="3566160" cy="4572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6451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479754"/>
                </a:solidFill>
                <a:latin typeface="Calibri"/>
              </a:rPr>
              <a:t>Consider for scaling Wave 3+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9050">
            <a:solidFill>
              <a:srgbClr val="D18A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2763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Full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24028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72B3A"/>
                </a:solidFill>
                <a:latin typeface="Calibri"/>
              </a:rPr>
              <a:t>Fully migrate Teradata into Redshift, consolidating all data under one platform. Multi-month effort — treat as a separate initiative, not a prerequisite for AI pilots.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572000"/>
            <a:ext cx="3566160" cy="45720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6451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D18A39"/>
                </a:solidFill>
                <a:latin typeface="Calibri"/>
              </a:rPr>
              <a:t>Longer-term, parallel workstream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172B3A"/>
                </a:solidFill>
                <a:latin typeface="Calibri"/>
              </a:rPr>
              <a:t>Given pilot speed requirements, the federated or governed-subset-sync approach is more realistic than a full migration up front.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537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72B3A"/>
                </a:solidFill>
                <a:latin typeface="Calibri"/>
              </a:rPr>
              <a:t>Shared Investment, Independent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412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6636C"/>
                </a:solidFill>
                <a:latin typeface="Calibri"/>
              </a:rPr>
              <a:t>Each pilot can validate a business outcome while contributing reusable components.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566160" cy="502920"/>
          </a:xfrm>
          <a:prstGeom prst="roundRect">
            <a:avLst>
              <a:gd name="adj" fmla="val 12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Clinical evidence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Start: clinical extraction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Reuse: traceable evidence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Prove: audit secondary review or selected Stars measures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Measure: evidence accuracy and reviewer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3566160" cy="502920"/>
          </a:xfrm>
          <a:prstGeom prst="roundRect">
            <a:avLst>
              <a:gd name="adj" fmla="val 12000"/>
            </a:avLst>
          </a:prstGeom>
          <a:solidFill>
            <a:srgbClr val="DCEBF5"/>
          </a:solidFill>
          <a:ln w="19050">
            <a:solidFill>
              <a:srgbClr val="28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18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Analytics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Start: governed SQL + rules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Reuse: metric definitions and investigation logic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Prove: risk-score driver analysis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Measure: reconciliation accuracy and analyst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566160" cy="502920"/>
          </a:xfrm>
          <a:prstGeom prst="roundRect">
            <a:avLst>
              <a:gd name="adj" fmla="val 12000"/>
            </a:avLst>
          </a:prstGeom>
          <a:solidFill>
            <a:srgbClr val="E3F1E5"/>
          </a:solidFill>
          <a:ln w="19050">
            <a:solidFill>
              <a:srgbClr val="479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18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72B3A"/>
                </a:solidFill>
                <a:latin typeface="Calibri"/>
              </a:rPr>
              <a:t>Provider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Start: historical features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Reuse: provider feature pipeline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Prove: stable segments linked to engagement outcomes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172B3A"/>
                </a:solidFill>
                <a:latin typeface="Calibri"/>
              </a:rPr>
              <a:t>•  Measure: segment stability and out-of-time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172B3A"/>
                </a:solidFill>
                <a:latin typeface="Calibri"/>
              </a:rPr>
              <a:t>Select bounded pilots based on data access, ground truth, measurable value, and approval readiness.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6636C"/>
                </a:solidFill>
                <a:latin typeface="Calibri"/>
              </a:rPr>
              <a:t>Confidential. Property of CareAllies. © 2026 CareAllies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537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6636C"/>
                </a:solidFill>
                <a:latin typeface="Calibri"/>
              </a:rPr>
              <a:t>BIDE | HEALTHCARE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2B3A"/>
                </a:solidFill>
                <a:latin typeface="Calibri"/>
              </a:rPr>
              <a:t>CareAllies.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