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46304"/>
          </a:xfrm>
          <a:prstGeom prst="rect">
            <a:avLst/>
          </a:prstGeom>
          <a:solidFill>
            <a:srgbClr val="25A55B"/>
          </a:solidFill>
          <a:ln w="12700">
            <a:solidFill>
              <a:srgbClr val="25A5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772400" cy="91440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3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CareAllies®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3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Accountable Care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3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640080" cy="50292"/>
          </a:xfrm>
          <a:prstGeom prst="rect">
            <a:avLst/>
          </a:prstGeom>
          <a:solidFill>
            <a:srgbClr val="25A55B"/>
          </a:solidFill>
          <a:ln w="12700">
            <a:solidFill>
              <a:srgbClr val="25A5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1444752"/>
            <a:ext cx="868680" cy="50292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19072"/>
            <a:ext cx="6766560" cy="1024128"/>
          </a:xfrm>
          <a:prstGeom prst="roundRect">
            <a:avLst>
              <a:gd name="adj" fmla="val 10714"/>
            </a:avLst>
          </a:prstGeom>
          <a:solidFill>
            <a:srgbClr val="0B3D5D"/>
          </a:solidFill>
          <a:ln w="12700">
            <a:solidFill>
              <a:srgbClr val="0B3D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EE8F2"/>
                </a:solidFill>
              </a:rPr>
              <a:t>PROVIDER REFERENCE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8952" y="212140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Shared Savings Program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Clinical Quality Measures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44768" y="1719072"/>
            <a:ext cx="1124712" cy="1024128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90195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2026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Guide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" y="3072384"/>
            <a:ext cx="329184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6B98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98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3072384"/>
            <a:ext cx="329184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006B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305409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6B98"/>
                </a:solidFill>
              </a:rPr>
              <a:t>What are clinical quality measures (CQMs)?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347472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D2A33"/>
                </a:solidFill>
              </a:rPr>
              <a:t>A mechanism for assessing observations, treatment, processes, experience, and outcomes of patient care.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621792" y="4178808"/>
            <a:ext cx="329184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25A55B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A55B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4178808"/>
            <a:ext cx="329184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25A5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160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A55B"/>
                </a:solidFill>
              </a:rPr>
              <a:t>Reporting pathways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0704" y="4590288"/>
            <a:ext cx="1965960" cy="393192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6B4C"/>
                </a:solidFill>
              </a:rPr>
              <a:t>Electronic Clinical Quality Measures (eCQMs)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63824" y="4590288"/>
            <a:ext cx="1188720" cy="393192"/>
          </a:xfrm>
          <a:prstGeom prst="rect">
            <a:avLst/>
          </a:prstGeom>
          <a:solidFill>
            <a:srgbClr val="EAF6FA"/>
          </a:solidFill>
          <a:ln>
            <a:solidFill>
              <a:srgbClr val="EAF6F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D5D"/>
                </a:solidFill>
              </a:rPr>
              <a:t>MIPS CQMs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98848" y="4590288"/>
            <a:ext cx="1417320" cy="393192"/>
          </a:xfrm>
          <a:prstGeom prst="rect">
            <a:avLst/>
          </a:prstGeom>
          <a:solidFill>
            <a:srgbClr val="EAF6FA"/>
          </a:solidFill>
          <a:ln>
            <a:solidFill>
              <a:srgbClr val="EAF6F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D5D"/>
                </a:solidFill>
              </a:rPr>
              <a:t>Medicare CQMs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" y="5285232"/>
            <a:ext cx="329184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57A92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7A92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5285232"/>
            <a:ext cx="329184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057A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52669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7A92"/>
                </a:solidFill>
              </a:rPr>
              <a:t>Population reported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0704" y="5696712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D"/>
                </a:solidFill>
              </a:rPr>
              <a:t>eCQMs or MIPS CQMs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3D5D"/>
                </a:solidFill>
              </a:rPr>
              <a:t>All patient / all payer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30752" y="5696712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D"/>
                </a:solidFill>
              </a:rPr>
              <a:t>Medicare CQMs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3D5D"/>
                </a:solidFill>
              </a:rPr>
              <a:t>Medicare only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6647688"/>
            <a:ext cx="329184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6B98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98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" y="6647688"/>
            <a:ext cx="329184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006B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66294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6B98"/>
                </a:solidFill>
              </a:rPr>
              <a:t>2026 CQM measures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" y="7114032"/>
            <a:ext cx="1243584" cy="713232"/>
          </a:xfrm>
          <a:prstGeom prst="rect">
            <a:avLst/>
          </a:prstGeom>
          <a:solidFill>
            <a:srgbClr val="EEF7FA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3D5D"/>
                </a:solidFill>
              </a:rPr>
              <a:t>Diabetes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0B3D5D"/>
                </a:solidFill>
              </a:rPr>
              <a:t>Glycemic Status &gt;9%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658368" y="7114032"/>
            <a:ext cx="1243584" cy="54864"/>
          </a:xfrm>
          <a:prstGeom prst="rect">
            <a:avLst/>
          </a:prstGeom>
          <a:solidFill>
            <a:srgbClr val="006B98"/>
          </a:solidFill>
          <a:ln w="12700">
            <a:solidFill>
              <a:srgbClr val="006B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7114032"/>
            <a:ext cx="1243584" cy="713232"/>
          </a:xfrm>
          <a:prstGeom prst="rect">
            <a:avLst/>
          </a:prstGeom>
          <a:solidFill>
            <a:srgbClr val="EEF7FA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3D5D"/>
                </a:solidFill>
              </a:rPr>
              <a:t>Screening for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0B3D5D"/>
                </a:solidFill>
              </a:rPr>
              <a:t>Depression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2011680" y="7114032"/>
            <a:ext cx="1243584" cy="54864"/>
          </a:xfrm>
          <a:prstGeom prst="rect">
            <a:avLst/>
          </a:prstGeom>
          <a:solidFill>
            <a:srgbClr val="006B98"/>
          </a:solidFill>
          <a:ln w="12700">
            <a:solidFill>
              <a:srgbClr val="006B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7114032"/>
            <a:ext cx="1243584" cy="713232"/>
          </a:xfrm>
          <a:prstGeom prst="rect">
            <a:avLst/>
          </a:prstGeom>
          <a:solidFill>
            <a:srgbClr val="EEF7FA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3D5D"/>
                </a:solidFill>
              </a:rPr>
              <a:t>Controlling High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0B3D5D"/>
                </a:solidFill>
              </a:rPr>
              <a:t>Blood Pressure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3364992" y="7114032"/>
            <a:ext cx="1243584" cy="54864"/>
          </a:xfrm>
          <a:prstGeom prst="rect">
            <a:avLst/>
          </a:prstGeom>
          <a:solidFill>
            <a:srgbClr val="006B98"/>
          </a:solidFill>
          <a:ln w="12700">
            <a:solidFill>
              <a:srgbClr val="006B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7114032"/>
            <a:ext cx="1243584" cy="713232"/>
          </a:xfrm>
          <a:prstGeom prst="rect">
            <a:avLst/>
          </a:prstGeom>
          <a:solidFill>
            <a:srgbClr val="EEF7FA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B3D5D"/>
                </a:solidFill>
              </a:rPr>
              <a:t>Breast Cancer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0B3D5D"/>
                </a:solidFill>
              </a:rPr>
              <a:t>Screening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4718304" y="7114032"/>
            <a:ext cx="1243584" cy="54864"/>
          </a:xfrm>
          <a:prstGeom prst="rect">
            <a:avLst/>
          </a:prstGeom>
          <a:solidFill>
            <a:srgbClr val="006B98"/>
          </a:solidFill>
          <a:ln w="12700">
            <a:solidFill>
              <a:srgbClr val="006B9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7114032"/>
            <a:ext cx="1243584" cy="713232"/>
          </a:xfrm>
          <a:prstGeom prst="rect">
            <a:avLst/>
          </a:prstGeom>
          <a:solidFill>
            <a:srgbClr val="FDEEEF"/>
          </a:solidFill>
          <a:ln w="12700">
            <a:solidFill>
              <a:srgbClr val="F1C3C6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C7464A"/>
                </a:solidFill>
              </a:rPr>
              <a:t>Colorectal Cancer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C7464A"/>
                </a:solidFill>
              </a:rPr>
              <a:t>Screening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6071616" y="7114032"/>
            <a:ext cx="1243584" cy="54864"/>
          </a:xfrm>
          <a:prstGeom prst="rect">
            <a:avLst/>
          </a:prstGeom>
          <a:solidFill>
            <a:srgbClr val="C7464A"/>
          </a:solidFill>
          <a:ln w="12700">
            <a:solidFill>
              <a:srgbClr val="C746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8174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3D5D"/>
                </a:solidFill>
              </a:rPr>
              <a:t>Quality Performance Standard (QPS)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58368" y="84856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D2A33"/>
                </a:solidFill>
              </a:rPr>
              <a:t>Minimum quality performance score ACOs must achieve to be eligible to share in savings at the maximum rate.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658368" y="8942832"/>
            <a:ext cx="6446520" cy="301752"/>
          </a:xfrm>
          <a:prstGeom prst="rect">
            <a:avLst/>
          </a:prstGeom>
          <a:solidFill>
            <a:srgbClr val="0AA6C8"/>
          </a:solidFill>
          <a:ln>
            <a:solidFill>
              <a:srgbClr val="0AA6C8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Why this matters: QPS is the gatekeeper for maximum shared savings eligibility.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502920" y="947318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D6D78"/>
                </a:solidFill>
              </a:rPr>
              <a:t>Property of CareAllies. Do not duplicate or distribute. Use limited solely to authorized recipients.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D6D78"/>
                </a:solidFill>
              </a:rPr>
              <a:t>© 2026 CareAllies, Inc.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502920" y="929944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i="1" dirty="0">
                <a:solidFill>
                  <a:srgbClr val="5D6D78"/>
                </a:solidFill>
              </a:rPr>
              <a:t>Source: healthit.gov FAQ . What are clinical quality measures?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5998464" y="94000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3D5D"/>
                </a:solidFill>
              </a:rPr>
              <a:t>CareAllies.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742432" y="9372600"/>
            <a:ext cx="118872" cy="118872"/>
          </a:xfrm>
          <a:prstGeom prst="ellipse">
            <a:avLst/>
          </a:prstGeom>
          <a:solidFill>
            <a:srgbClr val="25A55B"/>
          </a:solidFill>
          <a:ln w="12700">
            <a:solidFill>
              <a:srgbClr val="25A55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70448" y="9464040"/>
            <a:ext cx="100584" cy="100584"/>
          </a:xfrm>
          <a:prstGeom prst="ellipse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46304"/>
          </a:xfrm>
          <a:prstGeom prst="rect">
            <a:avLst/>
          </a:prstGeom>
          <a:solidFill>
            <a:srgbClr val="25A55B"/>
          </a:solidFill>
          <a:ln w="12700">
            <a:solidFill>
              <a:srgbClr val="25A5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7772400" cy="91440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3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CareAllies®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3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Accountable Care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3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640080" cy="50292"/>
          </a:xfrm>
          <a:prstGeom prst="rect">
            <a:avLst/>
          </a:prstGeom>
          <a:solidFill>
            <a:srgbClr val="25A55B"/>
          </a:solidFill>
          <a:ln w="12700">
            <a:solidFill>
              <a:srgbClr val="25A5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1444752"/>
            <a:ext cx="868680" cy="50292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19072"/>
            <a:ext cx="6766560" cy="1024128"/>
          </a:xfrm>
          <a:prstGeom prst="roundRect">
            <a:avLst>
              <a:gd name="adj" fmla="val 10714"/>
            </a:avLst>
          </a:prstGeom>
          <a:solidFill>
            <a:srgbClr val="0B3D5D"/>
          </a:solidFill>
          <a:ln w="12700">
            <a:solidFill>
              <a:srgbClr val="0B3D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EE8F2"/>
                </a:solidFill>
              </a:rPr>
              <a:t>2026 QUALITY PATHWAY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8952" y="212140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QPS Requirements &amp;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Medicare CQM Thresholds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44768" y="1719072"/>
            <a:ext cx="1124712" cy="1024128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90195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2026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Guide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05409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D5D"/>
                </a:solidFill>
              </a:rPr>
              <a:t>How an ACO reaches the Quality Performance Standard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" y="3547872"/>
            <a:ext cx="31272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3"/>
                </a:solidFill>
              </a:rPr>
              <a:t>eCQMs or MIPS CQMs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3"/>
                </a:solidFill>
              </a:rPr>
              <a:t>Score at or above the 10th percentile on one outcome measure AND the 40th percentile on one remaining measure.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547872"/>
            <a:ext cx="91440" cy="1051560"/>
          </a:xfrm>
          <a:prstGeom prst="rect">
            <a:avLst/>
          </a:prstGeom>
          <a:solidFill>
            <a:srgbClr val="25A55B"/>
          </a:solidFill>
          <a:ln w="12700">
            <a:solidFill>
              <a:srgbClr val="25A5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3547872"/>
            <a:ext cx="31272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A33"/>
                </a:solidFill>
              </a:rPr>
              <a:t>Medicare CQMs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A33"/>
                </a:solidFill>
              </a:rPr>
              <a:t>Health-equity adjusted performance score at or above the 40th percentile across all MIPS quality measures.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86784" y="3547872"/>
            <a:ext cx="91440" cy="1051560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800600"/>
            <a:ext cx="6455664" cy="365760"/>
          </a:xfrm>
          <a:prstGeom prst="rect">
            <a:avLst/>
          </a:prstGeom>
          <a:solidFill>
            <a:srgbClr val="006B98"/>
          </a:solidFill>
          <a:ln>
            <a:solidFill>
              <a:srgbClr val="006B98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ACOs that do not meet minimum QPS are not eligible for shared savings at the maximum rate.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02920" y="55229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B3D5D"/>
                </a:solidFill>
              </a:rPr>
              <a:t>2026 thresholds for the Medicare CQM pathway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85216" y="5998464"/>
            <a:ext cx="1325880" cy="73152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6108192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3D5D"/>
                </a:solidFill>
              </a:rPr>
              <a:t>Diabetes: Glycemic Status Assessment &gt;9%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585216" y="6830568"/>
            <a:ext cx="1325880" cy="347472"/>
          </a:xfrm>
          <a:prstGeom prst="rect">
            <a:avLst/>
          </a:prstGeom>
          <a:solidFill>
            <a:srgbClr val="EAF8F0"/>
          </a:solidFill>
          <a:ln w="12700">
            <a:solidFill>
              <a:srgbClr val="D2EBD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6B4C"/>
                </a:solidFill>
              </a:rPr>
              <a:t>≤ 17.14%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984248" y="5998464"/>
            <a:ext cx="1325880" cy="73152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84248" y="6108192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3D5D"/>
                </a:solidFill>
              </a:rPr>
              <a:t>Screening for Depression and Follow-up Plan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1984248" y="6830568"/>
            <a:ext cx="1325880" cy="347472"/>
          </a:xfrm>
          <a:prstGeom prst="rect">
            <a:avLst/>
          </a:prstGeom>
          <a:solidFill>
            <a:srgbClr val="EAF8F0"/>
          </a:solidFill>
          <a:ln w="12700">
            <a:solidFill>
              <a:srgbClr val="D2EBD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6B4C"/>
                </a:solidFill>
              </a:rPr>
              <a:t>≥ 72.71%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3383280" y="5998464"/>
            <a:ext cx="1325880" cy="73152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6108192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3D5D"/>
                </a:solidFill>
              </a:rPr>
              <a:t>Controlling High Blood Pressure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3383280" y="6830568"/>
            <a:ext cx="1325880" cy="347472"/>
          </a:xfrm>
          <a:prstGeom prst="rect">
            <a:avLst/>
          </a:prstGeom>
          <a:solidFill>
            <a:srgbClr val="EAF8F0"/>
          </a:solidFill>
          <a:ln w="12700">
            <a:solidFill>
              <a:srgbClr val="D2EBD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6B4C"/>
                </a:solidFill>
              </a:rPr>
              <a:t>≥ 74.32%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782312" y="5998464"/>
            <a:ext cx="1325880" cy="73152"/>
          </a:xfrm>
          <a:prstGeom prst="rect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6108192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3D5D"/>
                </a:solidFill>
              </a:rPr>
              <a:t>Breast Cancer Screening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782312" y="6830568"/>
            <a:ext cx="1325880" cy="347472"/>
          </a:xfrm>
          <a:prstGeom prst="rect">
            <a:avLst/>
          </a:prstGeom>
          <a:solidFill>
            <a:srgbClr val="EAF8F0"/>
          </a:solidFill>
          <a:ln w="12700">
            <a:solidFill>
              <a:srgbClr val="D2EBD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6B4C"/>
                </a:solidFill>
              </a:rPr>
              <a:t>≥ 63.90%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181344" y="5998464"/>
            <a:ext cx="1325880" cy="73152"/>
          </a:xfrm>
          <a:prstGeom prst="rect">
            <a:avLst/>
          </a:prstGeom>
          <a:solidFill>
            <a:srgbClr val="C7464A"/>
          </a:solidFill>
          <a:ln w="12700">
            <a:solidFill>
              <a:srgbClr val="C746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6108192"/>
            <a:ext cx="1325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C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C7464A"/>
                </a:solidFill>
              </a:rPr>
              <a:t>Colorectal Cancer Screening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6181344" y="6830568"/>
            <a:ext cx="1325880" cy="347472"/>
          </a:xfrm>
          <a:prstGeom prst="rect">
            <a:avLst/>
          </a:prstGeom>
          <a:solidFill>
            <a:srgbClr val="FDEEEF"/>
          </a:solidFill>
          <a:ln w="12700">
            <a:solidFill>
              <a:srgbClr val="F1C3C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7464A"/>
                </a:solidFill>
              </a:rPr>
              <a:t>≥ 63.90%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58368" y="7754112"/>
            <a:ext cx="6455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D"/>
                </a:solidFill>
              </a:rPr>
              <a:t>CareAllies Accountable Care Solutions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D5D"/>
                </a:solidFill>
              </a:rPr>
              <a:t>2026 quality reporting pathway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578608" y="8284464"/>
            <a:ext cx="2615184" cy="429768"/>
          </a:xfrm>
          <a:prstGeom prst="rect">
            <a:avLst/>
          </a:prstGeom>
          <a:solidFill>
            <a:srgbClr val="25A55B"/>
          </a:solidFill>
          <a:ln>
            <a:solidFill>
              <a:srgbClr val="25A55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Medicare CQM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" y="8887968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D2A33"/>
                </a:solidFill>
              </a:rPr>
              <a:t>Questions? Contact Renee Davis at (251) 232-6398 or renee_davis@careallies.com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502920" y="947318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D6D78"/>
                </a:solidFill>
              </a:rPr>
              <a:t>Property of CareAllies. Do not duplicate or distribute. Use limited solely to authorized recipients.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5D6D78"/>
                </a:solidFill>
              </a:rPr>
              <a:t>© 2026 CareAllies, Inc.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502920" y="929944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i="1" dirty="0">
                <a:solidFill>
                  <a:srgbClr val="5D6D78"/>
                </a:solidFill>
              </a:rPr>
              <a:t>Source: CMS . Medicare Shared Savings Program Quality Performance Standard for PY 2026, 40th Percentile.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5998464" y="94000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3D5D"/>
                </a:solidFill>
              </a:rPr>
              <a:t>CareAllies.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742432" y="9372600"/>
            <a:ext cx="118872" cy="118872"/>
          </a:xfrm>
          <a:prstGeom prst="ellipse">
            <a:avLst/>
          </a:prstGeom>
          <a:solidFill>
            <a:srgbClr val="25A55B"/>
          </a:solidFill>
          <a:ln w="12700">
            <a:solidFill>
              <a:srgbClr val="25A5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70448" y="9464040"/>
            <a:ext cx="100584" cy="100584"/>
          </a:xfrm>
          <a:prstGeom prst="ellipse">
            <a:avLst/>
          </a:prstGeom>
          <a:solidFill>
            <a:srgbClr val="0AA6C8"/>
          </a:solidFill>
          <a:ln w="12700">
            <a:solidFill>
              <a:srgbClr val="0AA6C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CareAllies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Savings Program Clinical Quality Measures</dc:title>
  <dc:subject>CareAllies SSP Clinical Quality Measures Flyer Refresh</dc:subject>
  <dc:creator>OpenAI</dc:creator>
  <cp:lastModifiedBy>OpenAI</cp:lastModifiedBy>
  <cp:revision>1</cp:revision>
  <dcterms:created xsi:type="dcterms:W3CDTF">2026-08-19T14:43:56Z</dcterms:created>
  <dcterms:modified xsi:type="dcterms:W3CDTF">2026-08-19T14:43:56Z</dcterms:modified>
</cp:coreProperties>
</file>